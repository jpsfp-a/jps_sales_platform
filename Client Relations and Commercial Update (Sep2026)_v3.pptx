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4" r:id="rId5"/>
    <p:sldMasterId id="2147483666" r:id="rId6"/>
    <p:sldMasterId id="2147483668" r:id="rId7"/>
    <p:sldMasterId id="2147483671" r:id="rId8"/>
  </p:sldMasterIdLst>
  <p:notesMasterIdLst>
    <p:notesMasterId r:id="rId16"/>
  </p:notesMasterIdLst>
  <p:sldIdLst>
    <p:sldId id="281" r:id="rId24"/>
    <p:sldId id="273" r:id="rId9"/>
    <p:sldId id="276" r:id="rId13"/>
    <p:sldId id="279" r:id="rId22"/>
    <p:sldId id="275" r:id="rId12"/>
    <p:sldId id="277" r:id="rId14"/>
    <p:sldId id="280" r:id="rId23"/>
    <p:sldId id="278" r:id="rId15"/>
    <p:sldId id="265" r:id="rId10"/>
    <p:sldId id="27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83684F-A723-ABDF-0A2A-01B597A4C65C}" name="Mario Ashman" initials="MA" userId="S::mashman@jpsco.com::1081a874-2d6a-4896-999d-9f9eca258b3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6CC"/>
    <a:srgbClr val="C98A00"/>
    <a:srgbClr val="1E8C5A"/>
    <a:srgbClr val="009ED9"/>
    <a:srgbClr val="FFFF00"/>
    <a:srgbClr val="05235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64112" autoAdjust="0"/>
  </p:normalViewPr>
  <p:slideViewPr>
    <p:cSldViewPr snapToGrid="0">
      <p:cViewPr varScale="1">
        <p:scale>
          <a:sx n="44" d="100"/>
          <a:sy n="44" d="100"/>
        </p:scale>
        <p:origin x="13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1651-432C-A8A5-B50FCEBA4FF8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1651-432C-A8A5-B50FCEBA4FF8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1651-432C-A8A5-B50FCEBA4FF8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1651-432C-A8A5-B50FCEBA4FF8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1651-432C-A8A5-B50FCEBA4FF8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1651-432C-A8A5-B50FCEBA4FF8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1651-432C-A8A5-B50FCEBA4FF8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1651-432C-A8A5-B50FCEBA4FF8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1651-432C-A8A5-B50FCEBA4FF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61-5B40-AC40-6390558165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5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1-80A3-42BF-9B40-55E925115526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80A3-42BF-9B40-55E925115526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80A3-42BF-9B40-55E925115526}"/>
              </c:ext>
            </c:extLst>
          </c:dPt>
          <c:dPt>
            <c:idx val="3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7-80A3-42BF-9B40-55E925115526}"/>
              </c:ext>
            </c:extLst>
          </c:dPt>
          <c:dPt>
            <c:idx val="4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9-80A3-42BF-9B40-55E925115526}"/>
              </c:ext>
            </c:extLst>
          </c:dPt>
          <c:dPt>
            <c:idx val="5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B-80A3-42BF-9B40-55E925115526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80A3-42BF-9B40-55E925115526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80A3-42BF-9B40-55E925115526}"/>
              </c:ext>
            </c:extLst>
          </c:dPt>
          <c:dPt>
            <c:idx val="8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11-80A3-42BF-9B40-55E925115526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11.8</c:v>
                </c:pt>
                <c:pt idx="1">
                  <c:v>3.8</c:v>
                </c:pt>
                <c:pt idx="2">
                  <c:v>2.4</c:v>
                </c:pt>
                <c:pt idx="3">
                  <c:v>7.2</c:v>
                </c:pt>
                <c:pt idx="4">
                  <c:v>2.2000000000000002</c:v>
                </c:pt>
                <c:pt idx="5">
                  <c:v>3.1</c:v>
                </c:pt>
                <c:pt idx="6">
                  <c:v>10.9</c:v>
                </c:pt>
                <c:pt idx="7">
                  <c:v>4.8</c:v>
                </c:pt>
                <c:pt idx="8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AC-7045-844D-EF41ADA6B8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PAC Kingston</c:v>
                </c:pt>
                <c:pt idx="1">
                  <c:v>Princess Resorts</c:v>
                </c:pt>
                <c:pt idx="2">
                  <c:v>Dreams (Hilton)</c:v>
                </c:pt>
                <c:pt idx="3">
                  <c:v>Royalton ×2</c:v>
                </c:pt>
                <c:pt idx="4">
                  <c:v>Moon Palace</c:v>
                </c:pt>
                <c:pt idx="5">
                  <c:v>MBJ Airport</c:v>
                </c:pt>
                <c:pt idx="6">
                  <c:v>Iberostar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256</c:v>
                </c:pt>
                <c:pt idx="1">
                  <c:v>300</c:v>
                </c:pt>
                <c:pt idx="2">
                  <c:v>365</c:v>
                </c:pt>
                <c:pt idx="3">
                  <c:v>487</c:v>
                </c:pt>
                <c:pt idx="4">
                  <c:v>590</c:v>
                </c:pt>
                <c:pt idx="5">
                  <c:v>602</c:v>
                </c:pt>
                <c:pt idx="6">
                  <c:v>933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79-8341-AE9A-6AE00A826FD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0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D262-4A12-8F80-74BA90D0434E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D262-4A12-8F80-74BA90D0434E}"/>
              </c:ext>
            </c:extLst>
          </c:dPt>
          <c:dPt>
            <c:idx val="2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5-D262-4A12-8F80-74BA90D0434E}"/>
              </c:ext>
            </c:extLst>
          </c:dPt>
          <c:dPt>
            <c:idx val="3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7-D262-4A12-8F80-74BA90D0434E}"/>
              </c:ext>
            </c:extLst>
          </c:dPt>
          <c:dPt>
            <c:idx val="4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9-D262-4A12-8F80-74BA90D0434E}"/>
              </c:ext>
            </c:extLst>
          </c:dPt>
          <c:dPt>
            <c:idx val="5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B-D262-4A12-8F80-74BA90D0434E}"/>
              </c:ext>
            </c:extLst>
          </c:dPt>
          <c:dPt>
            <c:idx val="6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D-D262-4A12-8F80-74BA90D0434E}"/>
              </c:ext>
            </c:extLst>
          </c:dPt>
          <c:dPt>
            <c:idx val="7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0F-D262-4A12-8F80-74BA90D0434E}"/>
              </c:ext>
            </c:extLst>
          </c:dPt>
          <c:dPt>
            <c:idx val="8"/>
            <c:invertIfNegative val="1"/>
            <c:bubble3D val="0"/>
            <c:spPr>
              <a:solidFill>
                <a:srgbClr val="C23B32"/>
              </a:solidFill>
            </c:spPr>
            <c:extLst>
              <c:ext xmlns:c16="http://schemas.microsoft.com/office/drawing/2014/chart" uri="{C3380CC4-5D6E-409C-BE32-E72D297353CC}">
                <c16:uniqueId val="{00000011-D262-4A12-8F80-74BA90D0434E}"/>
              </c:ext>
            </c:extLst>
          </c:dPt>
          <c:dLbls>
            <c:numFmt formatCode="\+0.0;\−0.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0.9</c:v>
                </c:pt>
                <c:pt idx="1">
                  <c:v>0.8</c:v>
                </c:pt>
                <c:pt idx="2">
                  <c:v>0.7</c:v>
                </c:pt>
                <c:pt idx="3">
                  <c:v>0.4</c:v>
                </c:pt>
                <c:pt idx="4">
                  <c:v>-1.2</c:v>
                </c:pt>
                <c:pt idx="5">
                  <c:v>-2.1</c:v>
                </c:pt>
                <c:pt idx="6">
                  <c:v>-2.4</c:v>
                </c:pt>
                <c:pt idx="7">
                  <c:v>-3.7</c:v>
                </c:pt>
                <c:pt idx="8">
                  <c:v>-7.2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56-494C-A056-B9C7D178B68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4"/>
          <c:min val="-9.1999999999999993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22438A"/>
            </a:solidFill>
          </c:spPr>
          <c:invertIfNegative val="0"/>
          <c:dPt>
            <c:idx val="0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1-0233-4C2D-B486-59C383846BE7}"/>
              </c:ext>
            </c:extLst>
          </c:dPt>
          <c:dPt>
            <c:idx val="1"/>
            <c:invertIfNegative val="1"/>
            <c:bubble3D val="0"/>
            <c:spPr>
              <a:solidFill>
                <a:srgbClr val="1E8C5A"/>
              </a:solidFill>
            </c:spPr>
            <c:extLst>
              <c:ext xmlns:c16="http://schemas.microsoft.com/office/drawing/2014/chart" uri="{C3380CC4-5D6E-409C-BE32-E72D297353CC}">
                <c16:uniqueId val="{00000003-0233-4C2D-B486-59C383846BE7}"/>
              </c:ext>
            </c:extLst>
          </c:dPt>
          <c:dPt>
            <c:idx val="2"/>
            <c:invertIfNegative val="1"/>
            <c:bubble3D val="0"/>
            <c:spPr>
              <a:solidFill>
                <a:srgbClr val="6B7785"/>
              </a:solidFill>
            </c:spPr>
            <c:extLst>
              <c:ext xmlns:c16="http://schemas.microsoft.com/office/drawing/2014/chart" uri="{C3380CC4-5D6E-409C-BE32-E72D297353CC}">
                <c16:uniqueId val="{00000005-0233-4C2D-B486-59C383846BE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wrap="none" anchor="ctr"/>
              <a:lstStyle/>
              <a:p>
                <a:pPr>
                  <a:defRPr sz="1100" b="1">
                    <a:solidFill>
                      <a:srgbClr val="1F293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Dec 2026
6 hotels</c:v>
                </c:pt>
                <c:pt idx="1">
                  <c:v>H1 2027
8 hotels</c:v>
                </c:pt>
                <c:pt idx="2">
                  <c:v>2028
1 hotel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1.78</c:v>
                </c:pt>
                <c:pt idx="1">
                  <c:v>2.27</c:v>
                </c:pt>
                <c:pt idx="2">
                  <c:v>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FDE-1341-BB26-A684C4DD5AD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C9D3E0"/>
            </a:solidFill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.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100">
          <a:solidFill>
            <a:srgbClr val="1F2933"/>
          </a:solidFill>
          <a:latin typeface="Arial"/>
        </a:defRPr>
      </a:pPr>
      <a:endParaRPr lang="en-US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YTD</c:v>
                </c:pt>
              </c:strCache>
            </c:strRef>
          </c:tx>
          <c:spPr>
            <a:solidFill>
              <a:srgbClr val="009FDA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5.266000000000002</c:v>
                </c:pt>
                <c:pt idx="1">
                  <c:v>4.342999999999996</c:v>
                </c:pt>
                <c:pt idx="2">
                  <c:v>3.633999999999997</c:v>
                </c:pt>
                <c:pt idx="3">
                  <c:v>7.308000000000007</c:v>
                </c:pt>
                <c:pt idx="4">
                  <c:v>-4.777999999999999</c:v>
                </c:pt>
                <c:pt idx="5">
                  <c:v>-2.642999999999997</c:v>
                </c:pt>
                <c:pt idx="6">
                  <c:v>-8.50800000000001</c:v>
                </c:pt>
                <c:pt idx="7">
                  <c:v>-11.149000000000001</c:v>
                </c:pt>
                <c:pt idx="8">
                  <c:v>-3.159000000000006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September</c:v>
                </c:pt>
              </c:strCache>
            </c:strRef>
          </c:tx>
          <c:spPr>
            <a:solidFill>
              <a:srgbClr val="062552"/>
            </a:solidFill>
          </c:spPr>
          <c:invertIfNegative val="0"/>
          <c:cat>
            <c:strRef>
              <c:f>Sheet1!$A$2:$A$10</c:f>
              <c:strCache>
                <c:ptCount val="9"/>
                <c:pt idx="0">
                  <c:v>Distilleries</c:v>
                </c:pt>
                <c:pt idx="1">
                  <c:v>Food manufacturing</c:v>
                </c:pt>
                <c:pt idx="2">
                  <c:v>Hospitals</c:v>
                </c:pt>
                <c:pt idx="3">
                  <c:v>Cement</c:v>
                </c:pt>
                <c:pt idx="4">
                  <c:v>Telecoms</c:v>
                </c:pt>
                <c:pt idx="5">
                  <c:v>Poultry</c:v>
                </c:pt>
                <c:pt idx="6">
                  <c:v>Water, irrigation</c:v>
                </c:pt>
                <c:pt idx="7">
                  <c:v>Hotels and motels</c:v>
                </c:pt>
                <c:pt idx="8">
                  <c:v>Mining (incl. Alcoa)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0.8740000000000001</c:v>
                </c:pt>
                <c:pt idx="1">
                  <c:v>0.815</c:v>
                </c:pt>
                <c:pt idx="2">
                  <c:v>0.7449999999999997</c:v>
                </c:pt>
                <c:pt idx="3">
                  <c:v>0.4220000000000006</c:v>
                </c:pt>
                <c:pt idx="4">
                  <c:v>-1.2169999999999996</c:v>
                </c:pt>
                <c:pt idx="5">
                  <c:v>-2.112</c:v>
                </c:pt>
                <c:pt idx="6">
                  <c:v>-2.4190000000000005</c:v>
                </c:pt>
                <c:pt idx="7">
                  <c:v>-3.7129999999999974</c:v>
                </c:pt>
                <c:pt idx="8">
                  <c:v>-7.219999999999999</c:v>
                </c:pt>
              </c:numCache>
            </c:numRef>
          </c:val>
        </c:ser>
        <c:dLbls>
          <c:numFmt formatCode="+0.0;-0.0" sourceLinked="0"/>
          <c:txPr>
            <a:bodyPr/>
            <a:lstStyle/>
            <a:p>
              <a:pPr>
                <a:defRPr sz="700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low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Commercial total</c:v>
                </c:pt>
              </c:strCache>
            </c:strRef>
          </c:tx>
          <c:spPr>
            <a:ln w="28575">
              <a:solidFill>
                <a:srgbClr val="062552"/>
              </a:solidFill>
            </a:ln>
          </c:spPr>
          <c:marker>
            <c:spPr>
              <a:solidFill>
                <a:srgbClr val="062552"/>
              </a:solidFill>
              <a:ln>
                <a:solidFill>
                  <a:srgbClr val="062552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-14.130671033463804</c:v>
                </c:pt>
                <c:pt idx="1">
                  <c:v>-16.258757021179292</c:v>
                </c:pt>
                <c:pt idx="2">
                  <c:v>-4.3995452775207555</c:v>
                </c:pt>
                <c:pt idx="3">
                  <c:v>-4.916167467365029</c:v>
                </c:pt>
                <c:pt idx="4">
                  <c:v>3.6295806117216722</c:v>
                </c:pt>
                <c:pt idx="5">
                  <c:v>-4.033534737266398</c:v>
                </c:pt>
                <c:pt idx="6">
                  <c:v>-2.657403298090344</c:v>
                </c:pt>
                <c:pt idx="7">
                  <c:v>-3.744421898931627</c:v>
                </c:pt>
                <c:pt idx="8">
                  <c:v>-5.848770546903204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Hotels</c:v>
                </c:pt>
              </c:strCache>
            </c:strRef>
          </c:tx>
          <c:spPr>
            <a:ln w="28575">
              <a:solidFill>
                <a:srgbClr val="C00000"/>
              </a:solidFill>
            </a:ln>
          </c:spPr>
          <c:marker>
            <c:spPr>
              <a:solidFill>
                <a:srgbClr val="C00000"/>
              </a:solidFill>
              <a:ln>
                <a:solidFill>
                  <a:srgbClr val="C00000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-31.16647265740119</c:v>
                </c:pt>
                <c:pt idx="1">
                  <c:v>-36.65258149373758</c:v>
                </c:pt>
                <c:pt idx="2">
                  <c:v>-23.367535844894604</c:v>
                </c:pt>
                <c:pt idx="3">
                  <c:v>-25.373240054476465</c:v>
                </c:pt>
                <c:pt idx="4">
                  <c:v>-20.60509934590251</c:v>
                </c:pt>
                <c:pt idx="5">
                  <c:v>-27.554060522002455</c:v>
                </c:pt>
                <c:pt idx="6">
                  <c:v>-23.08002475212557</c:v>
                </c:pt>
                <c:pt idx="7">
                  <c:v>-21.206372766944504</c:v>
                </c:pt>
                <c:pt idx="8">
                  <c:v>-19.2037064492539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Water supply</c:v>
                </c:pt>
              </c:strCache>
            </c:strRef>
          </c:tx>
          <c:spPr>
            <a:ln w="28575">
              <a:solidFill>
                <a:srgbClr val="009FDA"/>
              </a:solidFill>
            </a:ln>
          </c:spPr>
          <c:marker>
            <c:spPr>
              <a:solidFill>
                <a:srgbClr val="009FDA"/>
              </a:solidFill>
              <a:ln>
                <a:solidFill>
                  <a:srgbClr val="009FDA"/>
                </a:solidFill>
              </a:ln>
            </c:spPr>
          </c:marker>
          <c:cat>
            <c:strRef>
              <c:f>Sheet1!$A$2:$A$10</c:f>
              <c:strCache>
                <c:ptCount val="9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-20.978759609608765</c:v>
                </c:pt>
                <c:pt idx="1">
                  <c:v>-20.58586912857715</c:v>
                </c:pt>
                <c:pt idx="2">
                  <c:v>-14.244901625736617</c:v>
                </c:pt>
                <c:pt idx="3">
                  <c:v>-11.605030658153614</c:v>
                </c:pt>
                <c:pt idx="4">
                  <c:v>-3.7129081860995727</c:v>
                </c:pt>
                <c:pt idx="5">
                  <c:v>-5.744862304930365</c:v>
                </c:pt>
                <c:pt idx="6">
                  <c:v>-2.5955808099030753</c:v>
                </c:pt>
                <c:pt idx="7">
                  <c:v>-1.212392103571458</c:v>
                </c:pt>
                <c:pt idx="8">
                  <c:v>-0.6328617955215665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.0"/>
          <c:min val="-40.0"/>
        </c:scaling>
        <c:delete val="0"/>
        <c:axPos val="l"/>
        <c:majorGridlines>
          <c:spPr>
            <a:ln>
              <a:solidFill>
                <a:srgbClr val="D9E1F2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DF4709-F812-034D-AC3F-8BAC9F3E7EFE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74F39-87EF-FC4F-BF56-84027A0A6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TALKING POINTS</a:t>
            </a:r>
          </a:p>
          <a:p>
            <a:r>
              <a:rPr dirty="0"/>
              <a:t>This slide reports Client Relations and Commercial in three parts: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we protect key accounts through service and reliability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what we are losing or at risk of losing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how commercial revenue is tracking.</a:t>
            </a:r>
            <a:endParaRPr lang="en-US" dirty="0"/>
          </a:p>
          <a:p>
            <a:pPr marL="0" indent="0">
              <a:buFontTx/>
              <a:buNone/>
            </a:pPr>
            <a:endParaRPr lang="en-JM" dirty="0"/>
          </a:p>
          <a:p>
            <a:pPr marL="0" indent="0">
              <a:buFontTx/>
              <a:buNone/>
            </a:pPr>
            <a:r>
              <a:rPr dirty="0"/>
              <a:t>The bottom band shows how we will build the commercial model from January 2027.</a:t>
            </a:r>
          </a:p>
          <a:p>
            <a:pPr marL="171450" indent="-171450">
              <a:buFontTx/>
              <a:buChar char="-"/>
            </a:pPr>
            <a:r>
              <a:rPr dirty="0"/>
              <a:t>Protect: service to our largest customers is on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Top-50 accounts averaged 1.8 hours per sustained outage in September, the best month of 2026;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January reflects Hurricane Melissa restoration and July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 All four engagement KPIs were met and stakeholder engagement is at 305% of the year-to-date target.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The five Negril resorts behind 468 interruptions have had their issues resolved.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Twelve customer issues were open at 1 October, seven for more than ten days, including the power-quality cases at KFTL, Pepsi and Red Stripe that the COO is leading.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Ahead of hotel reopenings the team is checking supply, reliability and capacity with tourism customers.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Outages and power quality are among the reasons Dreams, Moon Palace and Royalton gave for self-generating.</a:t>
            </a:r>
          </a:p>
          <a:p>
            <a:endParaRPr lang="en-US" dirty="0"/>
          </a:p>
          <a:p>
            <a:r>
              <a:rPr dirty="0"/>
              <a:t>Retain: J$4.16 billion of revenue is at risk across 18 accounts.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In September PAC Kingston took a further 4 MW of solar live and Alcoa's TG4 returned it to self-generation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Kirkvine</a:t>
            </a:r>
            <a:r>
              <a:rPr dirty="0"/>
              <a:t> follows in October (about 30% less load).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Royalton is evaluating JPS as its main backup, a J$487 million win-back.</a:t>
            </a:r>
          </a:p>
          <a:p>
            <a:endParaRPr lang="en-US" dirty="0"/>
          </a:p>
          <a:p>
            <a:r>
              <a:rPr dirty="0"/>
              <a:t>Grow: commercial sales were 6.3% below budget, with RT40 to RT70 15.2 GWh short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 and Caribbean Broilers' billing timing explain 8.3 GWh.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2027 pipeline is J$1.17 billion and 1,982 hotel rooms reopen in December.</a:t>
            </a:r>
          </a:p>
          <a:p>
            <a:endParaRPr lang="en-US" dirty="0"/>
          </a:p>
          <a:p>
            <a:r>
              <a:rPr dirty="0"/>
              <a:t>From January 2027 we build the commercial model: commercial leadership and a weekly deal desk, the Commercial Academy, a priced revenue-at-risk register in February, Tier 1 commercial offers in March, standby and hybrid riders filed with the OUR and a shadow revenue scorecard for key account executives in Q2.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</a:t>
            </a:r>
          </a:p>
          <a:p>
            <a:r>
              <a:t>Contents now list every section, including the MyJPS App slide that was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Protect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Monthly outage duration for top-50 accounts fell to 1.8 hours in September, the best month of the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January and July spikes reflect Hurricane Melissa restoration and the 610-hour </a:t>
            </a:r>
            <a:r>
              <a:rPr dirty="0" err="1"/>
              <a:t>Windalco</a:t>
            </a:r>
            <a:r>
              <a:rPr dirty="0"/>
              <a:t> </a:t>
            </a:r>
            <a:r>
              <a:rPr dirty="0" err="1"/>
              <a:t>Ewarton</a:t>
            </a:r>
            <a:r>
              <a:rPr dirty="0"/>
              <a:t> outage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Tourism accounts made up half of all interruptions, mainly five Negril resorts, now resolved through feeder, transmission and vegetation wor</a:t>
            </a:r>
            <a:r>
              <a:rPr lang="en-US" dirty="0"/>
              <a:t>k</a:t>
            </a:r>
          </a:p>
          <a:p>
            <a:pPr marL="171450" indent="-171450">
              <a:buFontTx/>
              <a:buChar char="-"/>
            </a:pPr>
            <a:r>
              <a:rPr lang="en-US" dirty="0"/>
              <a:t>M</a:t>
            </a:r>
            <a:r>
              <a:rPr dirty="0"/>
              <a:t>anufacturing was 32%, led by </a:t>
            </a:r>
            <a:r>
              <a:rPr dirty="0" err="1"/>
              <a:t>Alpart</a:t>
            </a:r>
            <a:r>
              <a:rPr dirty="0"/>
              <a:t>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Engagement KPIs are all at or above target. </a:t>
            </a:r>
            <a:endParaRPr lang="en-US" dirty="0"/>
          </a:p>
          <a:p>
            <a:pPr marL="0" indent="0">
              <a:buFontTx/>
              <a:buNone/>
            </a:pPr>
            <a:endParaRPr lang="en-US" dirty="0"/>
          </a:p>
          <a:p>
            <a:pPr marL="0" indent="0">
              <a:buFontTx/>
              <a:buNone/>
            </a:pPr>
            <a:r>
              <a:rPr dirty="0"/>
              <a:t>Twelve customer issues were open at 1 October: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ix voltage or power quality, two outage response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T</a:t>
            </a:r>
            <a:r>
              <a:rPr dirty="0"/>
              <a:t>wo billing and two line or site works; three more were closed in the week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Seven have been open more than ten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Retain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A</a:t>
            </a:r>
            <a:r>
              <a:rPr dirty="0"/>
              <a:t>ccounts at the planning stage, where engagement and offers can still change the decision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Customers cite energy cost and power quality as the main reasons for self-generating (Excellence also cites reliability; Sutherland cites cost), with sustainability goals a growing third.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Commercial sales (RT20 to RT70) were 180.2 GWh against a 192.4 GWh budget.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gap is in RT40 to RT70 (15.2 GWh below budget)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S</a:t>
            </a:r>
            <a:r>
              <a:rPr dirty="0"/>
              <a:t>mall commercial ran 3.0 GWh above.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Alcoa's move to self-generation (6.5 GWh) and Caribbean Broilers' billing timing (1.8 GWh) explain 8.3 GWh.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Alcoa billing is confirmed as import-only. </a:t>
            </a:r>
            <a:endParaRPr lang="en-US" dirty="0"/>
          </a:p>
          <a:p>
            <a:pPr marL="171450" lvl="0" indent="-171450">
              <a:buFontTx/>
              <a:buChar char="-"/>
            </a:pPr>
            <a:r>
              <a:rPr dirty="0"/>
              <a:t>Account-level forecast accuracy for large customers was 60%. 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dirty="0"/>
              <a:t>12.2 GWh shortfall.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Grow</a:t>
            </a:r>
            <a:r>
              <a:rPr dirty="0"/>
              <a:t>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Fifteen hotels with 5,018 rooms closed after Hurricane Melissa, worth about J$4.52 billion a year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1,982 rooms return in December, 2,524 in the first half of 2027 and 512 in 2028.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Hotel sales were 3.7 GWh below budget in September.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New load in 2026 totals 25.67 GWh across six projects, and the 2027 pipeline is J$1.17 billion across 13 projects, of which NWC is three projects and 18.53 GWh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T</a:t>
            </a:r>
            <a:r>
              <a:rPr dirty="0" err="1"/>
              <a:t>ourism</a:t>
            </a:r>
            <a:r>
              <a:rPr dirty="0"/>
              <a:t> and housing are The Pinnacle, Gore and HAJ. NWC is both the largest growth opportunity and on the defection watchlist, so the relationship needs a joint energy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Backup </a:t>
            </a:r>
            <a:r>
              <a:rPr b="1" dirty="0"/>
              <a:t>commercial model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/>
              <a:t>K</a:t>
            </a:r>
            <a:r>
              <a:rPr dirty="0"/>
              <a:t>eep everything that makes the team's service strong and add the capabilities to own revenue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P</a:t>
            </a:r>
            <a:r>
              <a:rPr dirty="0"/>
              <a:t>riced offers designed with Engineering, a revenue-at-risk register, KAE-owned forecasts and commercial KPIs.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build starts in January 2027 with commercial leadership, a weekly deal desk and the Commercial Academy.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dirty="0"/>
              <a:t>The revenue-at-risk register follows in February and Tier 1 commercial offers in March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JM" dirty="0"/>
              <a:t>S</a:t>
            </a:r>
            <a:r>
              <a:rPr dirty="0" err="1"/>
              <a:t>tandby</a:t>
            </a:r>
            <a:r>
              <a:rPr dirty="0"/>
              <a:t> and hybrid riders are filed with the OUR </a:t>
            </a:r>
            <a:r>
              <a:rPr lang="en-US" dirty="0"/>
              <a:t>(TBD: Dependent on rate case submission)</a:t>
            </a:r>
          </a:p>
          <a:p>
            <a:pPr marL="628650" lvl="1" indent="-171450">
              <a:buFontTx/>
              <a:buChar char="-"/>
            </a:pPr>
            <a:r>
              <a:rPr dirty="0"/>
              <a:t>KPIs also start in shadow mode before becoming targets. </a:t>
            </a:r>
            <a:endParaRPr lang="en-US" dirty="0"/>
          </a:p>
          <a:p>
            <a:pPr marL="0" lvl="0" indent="0">
              <a:buFontTx/>
              <a:buNone/>
            </a:pPr>
            <a:endParaRPr lang="en-JM" dirty="0"/>
          </a:p>
          <a:p>
            <a:pPr marL="0" lvl="0" indent="0">
              <a:buFontTx/>
              <a:buNone/>
            </a:pPr>
            <a:r>
              <a:rPr lang="en-JM" dirty="0"/>
              <a:t>ELT ask will be to </a:t>
            </a:r>
            <a:r>
              <a:rPr dirty="0"/>
              <a:t>support flexible contracting with key accounts and reliability investment on key-account feeders.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RT40 to RT70, January to September 2026 against 2025. Non-fuel revenue ties to billing components (energy, demand, customer charge). Retention is measured on accounts billed in both periods.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Outlook figures are the held forecast by rate class. The monthly series is billed commercial sales (RT20 to RT70), hotel customers and water supply customers, 2026 against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message: volume is recovering, but revenue is concentrated in a few large accounts that can leave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 i="0">
                <a:solidFill>
                  <a:schemeClr val="accent4"/>
                </a:solidFill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12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PowerPoint Cover 1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008ED-8DAD-3DDF-C241-E7D740AB3E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64" y="753395"/>
            <a:ext cx="9144000" cy="722479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10112C-CAD0-ACAA-EF44-D38B25816E8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1264" y="1660944"/>
            <a:ext cx="9144000" cy="62964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Aptos ExtraBold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24883C95-2656-864D-EFCC-2C3C6D7BC25C}"/>
              </a:ext>
            </a:extLst>
          </p:cNvPr>
          <p:cNvSpPr/>
          <p:nvPr userDrawn="1"/>
        </p:nvSpPr>
        <p:spPr>
          <a:xfrm>
            <a:off x="-132522" y="6033388"/>
            <a:ext cx="7389578" cy="629648"/>
          </a:xfrm>
          <a:custGeom>
            <a:avLst/>
            <a:gdLst/>
            <a:ahLst/>
            <a:cxnLst/>
            <a:rect l="l" t="t" r="r" b="b"/>
            <a:pathLst>
              <a:path w="10396075" h="885825">
                <a:moveTo>
                  <a:pt x="0" y="0"/>
                </a:moveTo>
                <a:lnTo>
                  <a:pt x="10396075" y="0"/>
                </a:lnTo>
                <a:lnTo>
                  <a:pt x="10396075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5912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23C6F31-8823-3A1C-B52A-8FE872C73897}"/>
              </a:ext>
            </a:extLst>
          </p:cNvPr>
          <p:cNvSpPr/>
          <p:nvPr userDrawn="1"/>
        </p:nvSpPr>
        <p:spPr>
          <a:xfrm>
            <a:off x="7336480" y="6197157"/>
            <a:ext cx="3483107" cy="302109"/>
          </a:xfrm>
          <a:custGeom>
            <a:avLst/>
            <a:gdLst/>
            <a:ahLst/>
            <a:cxnLst/>
            <a:rect l="l" t="t" r="r" b="b"/>
            <a:pathLst>
              <a:path w="4900239" h="425024">
                <a:moveTo>
                  <a:pt x="0" y="0"/>
                </a:moveTo>
                <a:lnTo>
                  <a:pt x="4900239" y="0"/>
                </a:lnTo>
                <a:lnTo>
                  <a:pt x="4900239" y="425024"/>
                </a:lnTo>
                <a:lnTo>
                  <a:pt x="0" y="4250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4794DDB2-EB20-4483-670B-29F286D1B57B}"/>
              </a:ext>
            </a:extLst>
          </p:cNvPr>
          <p:cNvSpPr/>
          <p:nvPr userDrawn="1"/>
        </p:nvSpPr>
        <p:spPr>
          <a:xfrm>
            <a:off x="10899011" y="6033388"/>
            <a:ext cx="1905088" cy="629649"/>
          </a:xfrm>
          <a:custGeom>
            <a:avLst/>
            <a:gdLst/>
            <a:ahLst/>
            <a:cxnLst/>
            <a:rect l="l" t="t" r="r" b="b"/>
            <a:pathLst>
              <a:path w="2680184" h="885825">
                <a:moveTo>
                  <a:pt x="0" y="0"/>
                </a:moveTo>
                <a:lnTo>
                  <a:pt x="2680184" y="0"/>
                </a:lnTo>
                <a:lnTo>
                  <a:pt x="2680184" y="885825"/>
                </a:lnTo>
                <a:lnTo>
                  <a:pt x="0" y="8858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2341"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30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7498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ransition Slide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8D68B-9D38-D375-0E0B-E71B45CF29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002630"/>
            <a:ext cx="10515600" cy="285273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Separator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AA4C5-586B-46CD-F4E4-A44AA15915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21858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21D76-F7F7-44F4-0928-16192EA5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7EDF8654-4A5A-410F-70D5-0CB8DD014DC0}"/>
              </a:ext>
            </a:extLst>
          </p:cNvPr>
          <p:cNvSpPr/>
          <p:nvPr userDrawn="1"/>
        </p:nvSpPr>
        <p:spPr>
          <a:xfrm>
            <a:off x="418641" y="2002631"/>
            <a:ext cx="234787" cy="2852737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077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t Slid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FCE64-907E-2DFA-F136-C1E5CDCA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0894C-98E2-34B4-5B80-C191EDBE7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EF8B9-305F-D62C-1E11-AD8FA8B98E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B04DC9-7F3E-7532-D80E-54314305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589295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9F5E3-F3CF-1106-B32E-82CAC701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50033CA9-4BE9-FDD0-037D-C73A3E682E1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15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8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A39AC746-0F8C-8731-3C35-4469604CC322}"/>
              </a:ext>
            </a:extLst>
          </p:cNvPr>
          <p:cNvGrpSpPr/>
          <p:nvPr userDrawn="1"/>
        </p:nvGrpSpPr>
        <p:grpSpPr>
          <a:xfrm>
            <a:off x="0" y="0"/>
            <a:ext cx="8021053" cy="6858000"/>
            <a:chOff x="0" y="0"/>
            <a:chExt cx="3694747" cy="2709333"/>
          </a:xfrm>
        </p:grpSpPr>
        <p:sp>
          <p:nvSpPr>
            <p:cNvPr id="11" name="Freeform 4">
              <a:extLst>
                <a:ext uri="{FF2B5EF4-FFF2-40B4-BE49-F238E27FC236}">
                  <a16:creationId xmlns:a16="http://schemas.microsoft.com/office/drawing/2014/main" id="{7BE17A93-7FBF-2E2F-8B58-82E731C41C76}"/>
                </a:ext>
              </a:extLst>
            </p:cNvPr>
            <p:cNvSpPr/>
            <p:nvPr/>
          </p:nvSpPr>
          <p:spPr>
            <a:xfrm>
              <a:off x="0" y="0"/>
              <a:ext cx="3694747" cy="2709333"/>
            </a:xfrm>
            <a:custGeom>
              <a:avLst/>
              <a:gdLst/>
              <a:ahLst/>
              <a:cxnLst/>
              <a:rect l="l" t="t" r="r" b="b"/>
              <a:pathLst>
                <a:path w="3694747" h="2709333">
                  <a:moveTo>
                    <a:pt x="0" y="0"/>
                  </a:moveTo>
                  <a:lnTo>
                    <a:pt x="3694747" y="0"/>
                  </a:lnTo>
                  <a:lnTo>
                    <a:pt x="369474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1C60A4">
                    <a:alpha val="100000"/>
                  </a:srgbClr>
                </a:gs>
                <a:gs pos="100000">
                  <a:srgbClr val="062552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5">
              <a:extLst>
                <a:ext uri="{FF2B5EF4-FFF2-40B4-BE49-F238E27FC236}">
                  <a16:creationId xmlns:a16="http://schemas.microsoft.com/office/drawing/2014/main" id="{4F536023-7B7E-5E02-7BDB-8029957D9838}"/>
                </a:ext>
              </a:extLst>
            </p:cNvPr>
            <p:cNvSpPr txBox="1"/>
            <p:nvPr/>
          </p:nvSpPr>
          <p:spPr>
            <a:xfrm>
              <a:off x="0" y="-38100"/>
              <a:ext cx="3694747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208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ple Samp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21C56-D50C-E00F-A566-6510789F0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Timeline Example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7EFC4-7E64-FCB0-691D-3FEA22FBD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733249" cy="399264"/>
          </a:xfrm>
        </p:spPr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3FA75-D5B7-7721-506F-2C139D327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lnSpc>
                <a:spcPct val="100000"/>
              </a:lnSpc>
              <a:defRPr sz="11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DA6D51-0096-3EF2-8EA8-65807A921332}"/>
              </a:ext>
            </a:extLst>
          </p:cNvPr>
          <p:cNvGrpSpPr/>
          <p:nvPr userDrawn="1"/>
        </p:nvGrpSpPr>
        <p:grpSpPr>
          <a:xfrm>
            <a:off x="1202571" y="2143158"/>
            <a:ext cx="946844" cy="971454"/>
            <a:chOff x="0" y="-14473"/>
            <a:chExt cx="556826" cy="571299"/>
          </a:xfrm>
        </p:grpSpPr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8AAF412B-C6FB-58D8-CD2A-88EAEA032B0D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4">
              <a:extLst>
                <a:ext uri="{FF2B5EF4-FFF2-40B4-BE49-F238E27FC236}">
                  <a16:creationId xmlns:a16="http://schemas.microsoft.com/office/drawing/2014/main" id="{3ADC7E24-88FE-D365-A98D-C65B6F5E92A0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1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C868748-0B27-5CDD-AE5C-4800B2233183}"/>
              </a:ext>
            </a:extLst>
          </p:cNvPr>
          <p:cNvGrpSpPr/>
          <p:nvPr userDrawn="1"/>
        </p:nvGrpSpPr>
        <p:grpSpPr>
          <a:xfrm>
            <a:off x="8714997" y="4262647"/>
            <a:ext cx="2457578" cy="1776564"/>
            <a:chOff x="0" y="-28575"/>
            <a:chExt cx="3276771" cy="2368753"/>
          </a:xfrm>
        </p:grpSpPr>
        <p:sp>
          <p:nvSpPr>
            <p:cNvPr id="49" name="TextBox 6">
              <a:extLst>
                <a:ext uri="{FF2B5EF4-FFF2-40B4-BE49-F238E27FC236}">
                  <a16:creationId xmlns:a16="http://schemas.microsoft.com/office/drawing/2014/main" id="{4A229842-87A8-33EA-DE8E-2C0A9FB39D2E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2015</a:t>
              </a:r>
            </a:p>
          </p:txBody>
        </p:sp>
        <p:sp>
          <p:nvSpPr>
            <p:cNvPr id="50" name="TextBox 7">
              <a:extLst>
                <a:ext uri="{FF2B5EF4-FFF2-40B4-BE49-F238E27FC236}">
                  <a16:creationId xmlns:a16="http://schemas.microsoft.com/office/drawing/2014/main" id="{50297581-D24E-B736-C2E3-1E629C725569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amet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adipiscing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elit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.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Vivamus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consectetur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odio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 </a:t>
              </a:r>
              <a:r>
                <a:rPr lang="en-US" sz="1600" spc="26" err="1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aliquam</a:t>
              </a: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, 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C20D0A38-4D5E-6B41-7A74-4C009A0B102E}"/>
              </a:ext>
            </a:extLst>
          </p:cNvPr>
          <p:cNvGrpSpPr/>
          <p:nvPr userDrawn="1"/>
        </p:nvGrpSpPr>
        <p:grpSpPr>
          <a:xfrm>
            <a:off x="451184" y="4262647"/>
            <a:ext cx="2457578" cy="1776564"/>
            <a:chOff x="0" y="-28575"/>
            <a:chExt cx="3276771" cy="2368753"/>
          </a:xfrm>
        </p:grpSpPr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B335BCA9-845D-3C1C-61E6-EA2B82CF218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1980</a:t>
              </a:r>
            </a:p>
          </p:txBody>
        </p:sp>
        <p:sp>
          <p:nvSpPr>
            <p:cNvPr id="48" name="TextBox 10">
              <a:extLst>
                <a:ext uri="{FF2B5EF4-FFF2-40B4-BE49-F238E27FC236}">
                  <a16:creationId xmlns:a16="http://schemas.microsoft.com/office/drawing/2014/main" id="{C400E550-EB0D-905B-3FC9-7AF480269C46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CF7EB83-DA75-A735-2374-55CEFCA42838}"/>
              </a:ext>
            </a:extLst>
          </p:cNvPr>
          <p:cNvGrpSpPr/>
          <p:nvPr userDrawn="1"/>
        </p:nvGrpSpPr>
        <p:grpSpPr>
          <a:xfrm>
            <a:off x="3205788" y="4262647"/>
            <a:ext cx="2457578" cy="1776564"/>
            <a:chOff x="0" y="-28575"/>
            <a:chExt cx="3276771" cy="2368753"/>
          </a:xfrm>
        </p:grpSpPr>
        <p:sp>
          <p:nvSpPr>
            <p:cNvPr id="45" name="TextBox 12">
              <a:extLst>
                <a:ext uri="{FF2B5EF4-FFF2-40B4-BE49-F238E27FC236}">
                  <a16:creationId xmlns:a16="http://schemas.microsoft.com/office/drawing/2014/main" id="{F2158044-E681-9E6D-315D-1E5F8C79133F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1981</a:t>
              </a:r>
            </a:p>
          </p:txBody>
        </p:sp>
        <p:sp>
          <p:nvSpPr>
            <p:cNvPr id="46" name="TextBox 13">
              <a:extLst>
                <a:ext uri="{FF2B5EF4-FFF2-40B4-BE49-F238E27FC236}">
                  <a16:creationId xmlns:a16="http://schemas.microsoft.com/office/drawing/2014/main" id="{7B544EC8-4E09-2AFA-C2AA-5438BD21479A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EBEFF6-F57A-9EE1-EE47-A067270E2CCC}"/>
              </a:ext>
            </a:extLst>
          </p:cNvPr>
          <p:cNvGrpSpPr/>
          <p:nvPr userDrawn="1"/>
        </p:nvGrpSpPr>
        <p:grpSpPr>
          <a:xfrm>
            <a:off x="5960393" y="4262647"/>
            <a:ext cx="2457578" cy="1776564"/>
            <a:chOff x="0" y="-28575"/>
            <a:chExt cx="3276771" cy="2368753"/>
          </a:xfrm>
        </p:grpSpPr>
        <p:sp>
          <p:nvSpPr>
            <p:cNvPr id="43" name="TextBox 15">
              <a:extLst>
                <a:ext uri="{FF2B5EF4-FFF2-40B4-BE49-F238E27FC236}">
                  <a16:creationId xmlns:a16="http://schemas.microsoft.com/office/drawing/2014/main" id="{F48B2A52-DA7A-B5F2-AE66-392C17119451}"/>
                </a:ext>
              </a:extLst>
            </p:cNvPr>
            <p:cNvSpPr txBox="1"/>
            <p:nvPr userDrawn="1"/>
          </p:nvSpPr>
          <p:spPr>
            <a:xfrm>
              <a:off x="0" y="-28575"/>
              <a:ext cx="3276771" cy="410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2000" b="1">
                  <a:solidFill>
                    <a:srgbClr val="191919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2011</a:t>
              </a:r>
            </a:p>
          </p:txBody>
        </p:sp>
        <p:sp>
          <p:nvSpPr>
            <p:cNvPr id="44" name="TextBox 16">
              <a:extLst>
                <a:ext uri="{FF2B5EF4-FFF2-40B4-BE49-F238E27FC236}">
                  <a16:creationId xmlns:a16="http://schemas.microsoft.com/office/drawing/2014/main" id="{FC7E0932-21D0-3824-DE1F-86208194ECDB}"/>
                </a:ext>
              </a:extLst>
            </p:cNvPr>
            <p:cNvSpPr txBox="1"/>
            <p:nvPr userDrawn="1"/>
          </p:nvSpPr>
          <p:spPr>
            <a:xfrm>
              <a:off x="0" y="698703"/>
              <a:ext cx="3276771" cy="1641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00000"/>
                </a:lnSpc>
              </a:pPr>
              <a:r>
                <a:rPr lang="en-US" sz="1600" spc="26">
                  <a:solidFill>
                    <a:srgbClr val="191919"/>
                  </a:solidFill>
                  <a:latin typeface="Aileron"/>
                  <a:ea typeface="Aileron"/>
                  <a:cs typeface="Aileron"/>
                  <a:sym typeface="Aileron"/>
                </a:rPr>
                <a:t>Lorem ipsum dolor sit amet, consectetur adipiscing elit. Vivamus consectetur odio aliquam, 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B46210-36A3-661B-DC89-11523C75E9CB}"/>
              </a:ext>
            </a:extLst>
          </p:cNvPr>
          <p:cNvGrpSpPr/>
          <p:nvPr userDrawn="1"/>
        </p:nvGrpSpPr>
        <p:grpSpPr>
          <a:xfrm>
            <a:off x="4027070" y="2125884"/>
            <a:ext cx="946844" cy="971454"/>
            <a:chOff x="0" y="-14473"/>
            <a:chExt cx="556826" cy="571299"/>
          </a:xfrm>
        </p:grpSpPr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FF92C169-4533-35D8-F865-37BCE2C88335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E4E9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28">
              <a:extLst>
                <a:ext uri="{FF2B5EF4-FFF2-40B4-BE49-F238E27FC236}">
                  <a16:creationId xmlns:a16="http://schemas.microsoft.com/office/drawing/2014/main" id="{524C1F9B-974F-33AF-76B3-AD3A8BBC2D51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2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5EFC44-4732-467D-0BB9-9639FFAE5D5C}"/>
              </a:ext>
            </a:extLst>
          </p:cNvPr>
          <p:cNvGrpSpPr/>
          <p:nvPr userDrawn="1"/>
        </p:nvGrpSpPr>
        <p:grpSpPr>
          <a:xfrm>
            <a:off x="6713372" y="2143158"/>
            <a:ext cx="946844" cy="971454"/>
            <a:chOff x="0" y="-14473"/>
            <a:chExt cx="556826" cy="571299"/>
          </a:xfrm>
        </p:grpSpPr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F6FA1B7-7695-A8F9-9930-6ABC935139CF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6255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1">
              <a:extLst>
                <a:ext uri="{FF2B5EF4-FFF2-40B4-BE49-F238E27FC236}">
                  <a16:creationId xmlns:a16="http://schemas.microsoft.com/office/drawing/2014/main" id="{7B6E1EE0-FE91-8AD9-36A2-1EC012E34EFB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3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AFD45E0-CFEB-C722-3C2F-676614F9A6BD}"/>
              </a:ext>
            </a:extLst>
          </p:cNvPr>
          <p:cNvGrpSpPr/>
          <p:nvPr userDrawn="1"/>
        </p:nvGrpSpPr>
        <p:grpSpPr>
          <a:xfrm>
            <a:off x="9468772" y="2143158"/>
            <a:ext cx="946844" cy="971454"/>
            <a:chOff x="0" y="-14473"/>
            <a:chExt cx="556826" cy="571299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749AB401-36D5-BF2E-2A63-B11D712ABE32}"/>
                </a:ext>
              </a:extLst>
            </p:cNvPr>
            <p:cNvSpPr/>
            <p:nvPr userDrawn="1"/>
          </p:nvSpPr>
          <p:spPr>
            <a:xfrm>
              <a:off x="0" y="0"/>
              <a:ext cx="556826" cy="556826"/>
            </a:xfrm>
            <a:custGeom>
              <a:avLst/>
              <a:gdLst/>
              <a:ahLst/>
              <a:cxnLst/>
              <a:rect l="l" t="t" r="r" b="b"/>
              <a:pathLst>
                <a:path w="556826" h="556826">
                  <a:moveTo>
                    <a:pt x="278413" y="0"/>
                  </a:moveTo>
                  <a:cubicBezTo>
                    <a:pt x="124650" y="0"/>
                    <a:pt x="0" y="124650"/>
                    <a:pt x="0" y="278413"/>
                  </a:cubicBezTo>
                  <a:cubicBezTo>
                    <a:pt x="0" y="432176"/>
                    <a:pt x="124650" y="556826"/>
                    <a:pt x="278413" y="556826"/>
                  </a:cubicBezTo>
                  <a:cubicBezTo>
                    <a:pt x="432176" y="556826"/>
                    <a:pt x="556826" y="432176"/>
                    <a:pt x="556826" y="278413"/>
                  </a:cubicBezTo>
                  <a:cubicBezTo>
                    <a:pt x="556826" y="124650"/>
                    <a:pt x="432176" y="0"/>
                    <a:pt x="278413" y="0"/>
                  </a:cubicBezTo>
                  <a:close/>
                </a:path>
              </a:pathLst>
            </a:custGeom>
            <a:solidFill>
              <a:srgbClr val="009FD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4">
              <a:extLst>
                <a:ext uri="{FF2B5EF4-FFF2-40B4-BE49-F238E27FC236}">
                  <a16:creationId xmlns:a16="http://schemas.microsoft.com/office/drawing/2014/main" id="{37647DDC-735C-32A2-CE57-A46D0AE04D54}"/>
                </a:ext>
              </a:extLst>
            </p:cNvPr>
            <p:cNvSpPr txBox="1"/>
            <p:nvPr userDrawn="1"/>
          </p:nvSpPr>
          <p:spPr>
            <a:xfrm>
              <a:off x="52202" y="-14473"/>
              <a:ext cx="452421" cy="519096"/>
            </a:xfrm>
            <a:prstGeom prst="rect">
              <a:avLst/>
            </a:prstGeom>
          </p:spPr>
          <p:txBody>
            <a:bodyPr lIns="0" tIns="0" rIns="0" bIns="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919"/>
                </a:lnSpc>
              </a:pPr>
              <a:r>
                <a:rPr lang="en-US" sz="2799" b="1">
                  <a:solidFill>
                    <a:srgbClr val="FFFFFF"/>
                  </a:solidFill>
                  <a:latin typeface="Gotham Bold"/>
                  <a:ea typeface="Gotham Bold"/>
                  <a:cs typeface="Gotham Bold"/>
                  <a:sym typeface="Gotham Bold"/>
                </a:rPr>
                <a:t>4</a:t>
              </a:r>
            </a:p>
          </p:txBody>
        </p:sp>
      </p:grpSp>
      <p:sp>
        <p:nvSpPr>
          <p:cNvPr id="18" name="AutoShape 38">
            <a:extLst>
              <a:ext uri="{FF2B5EF4-FFF2-40B4-BE49-F238E27FC236}">
                <a16:creationId xmlns:a16="http://schemas.microsoft.com/office/drawing/2014/main" id="{5B55CC53-4B0B-1F7A-E6CF-1D807C272B88}"/>
              </a:ext>
            </a:extLst>
          </p:cNvPr>
          <p:cNvSpPr/>
          <p:nvPr userDrawn="1"/>
        </p:nvSpPr>
        <p:spPr>
          <a:xfrm>
            <a:off x="1675993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9" name="AutoShape 39">
            <a:extLst>
              <a:ext uri="{FF2B5EF4-FFF2-40B4-BE49-F238E27FC236}">
                <a16:creationId xmlns:a16="http://schemas.microsoft.com/office/drawing/2014/main" id="{147CB15D-6D2B-85B2-EA0A-A2D72009459A}"/>
              </a:ext>
            </a:extLst>
          </p:cNvPr>
          <p:cNvSpPr/>
          <p:nvPr userDrawn="1"/>
        </p:nvSpPr>
        <p:spPr>
          <a:xfrm>
            <a:off x="4500492" y="3097338"/>
            <a:ext cx="0" cy="810133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40">
            <a:extLst>
              <a:ext uri="{FF2B5EF4-FFF2-40B4-BE49-F238E27FC236}">
                <a16:creationId xmlns:a16="http://schemas.microsoft.com/office/drawing/2014/main" id="{26EBBA74-6593-863D-9566-7B0F68E2231E}"/>
              </a:ext>
            </a:extLst>
          </p:cNvPr>
          <p:cNvSpPr/>
          <p:nvPr userDrawn="1"/>
        </p:nvSpPr>
        <p:spPr>
          <a:xfrm>
            <a:off x="71867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1" name="AutoShape 41">
            <a:extLst>
              <a:ext uri="{FF2B5EF4-FFF2-40B4-BE49-F238E27FC236}">
                <a16:creationId xmlns:a16="http://schemas.microsoft.com/office/drawing/2014/main" id="{87B37EE5-3174-E60F-EB7F-28EAFCDB990B}"/>
              </a:ext>
            </a:extLst>
          </p:cNvPr>
          <p:cNvSpPr/>
          <p:nvPr userDrawn="1"/>
        </p:nvSpPr>
        <p:spPr>
          <a:xfrm>
            <a:off x="9942194" y="3114613"/>
            <a:ext cx="0" cy="792119"/>
          </a:xfrm>
          <a:prstGeom prst="line">
            <a:avLst/>
          </a:prstGeom>
          <a:ln w="47625" cap="flat">
            <a:solidFill>
              <a:srgbClr val="009FDA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44">
            <a:extLst>
              <a:ext uri="{FF2B5EF4-FFF2-40B4-BE49-F238E27FC236}">
                <a16:creationId xmlns:a16="http://schemas.microsoft.com/office/drawing/2014/main" id="{B173C173-30D8-B176-A7DA-38D50DA243C0}"/>
              </a:ext>
            </a:extLst>
          </p:cNvPr>
          <p:cNvSpPr/>
          <p:nvPr userDrawn="1"/>
        </p:nvSpPr>
        <p:spPr>
          <a:xfrm flipV="1">
            <a:off x="2149415" y="2623916"/>
            <a:ext cx="1877655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45">
            <a:extLst>
              <a:ext uri="{FF2B5EF4-FFF2-40B4-BE49-F238E27FC236}">
                <a16:creationId xmlns:a16="http://schemas.microsoft.com/office/drawing/2014/main" id="{683F0CD1-60C5-B175-6B13-F66EA667B0AD}"/>
              </a:ext>
            </a:extLst>
          </p:cNvPr>
          <p:cNvSpPr/>
          <p:nvPr userDrawn="1"/>
        </p:nvSpPr>
        <p:spPr>
          <a:xfrm>
            <a:off x="4973915" y="2623916"/>
            <a:ext cx="1739457" cy="17275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46">
            <a:extLst>
              <a:ext uri="{FF2B5EF4-FFF2-40B4-BE49-F238E27FC236}">
                <a16:creationId xmlns:a16="http://schemas.microsoft.com/office/drawing/2014/main" id="{F428AD71-9119-EE29-B4D0-C39466C2D067}"/>
              </a:ext>
            </a:extLst>
          </p:cNvPr>
          <p:cNvSpPr/>
          <p:nvPr userDrawn="1"/>
        </p:nvSpPr>
        <p:spPr>
          <a:xfrm>
            <a:off x="7660216" y="2641190"/>
            <a:ext cx="1808556" cy="0"/>
          </a:xfrm>
          <a:prstGeom prst="line">
            <a:avLst/>
          </a:prstGeom>
          <a:ln w="57150" cap="flat">
            <a:solidFill>
              <a:srgbClr val="009FD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Freeform 5">
            <a:extLst>
              <a:ext uri="{FF2B5EF4-FFF2-40B4-BE49-F238E27FC236}">
                <a16:creationId xmlns:a16="http://schemas.microsoft.com/office/drawing/2014/main" id="{CCF2BEBE-A490-1991-D680-2F8AB220AA36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32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rgbClr val="009FDA">
                <a:alpha val="100000"/>
              </a:srgbClr>
            </a:gs>
            <a:gs pos="50000">
              <a:srgbClr val="1C60A4">
                <a:alpha val="100000"/>
              </a:srgbClr>
            </a:gs>
            <a:gs pos="100000">
              <a:srgbClr val="062552">
                <a:alpha val="10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4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468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168157-1DC9-22D1-0001-75C67BEB22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6541168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34C7-6070-455B-5757-8B2127252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58E30A04-BB51-F8B2-76A7-827154EB7D7F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chemeClr val="accent5"/>
          </a:solidFill>
        </p:spPr>
        <p:txBody>
          <a:bodyPr/>
          <a:lstStyle/>
          <a:p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7245E5-5600-E311-777B-C0493CB9B0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Title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B021ECB-6A16-32DF-45AB-AEA262BB34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070100"/>
            <a:ext cx="10631488" cy="344805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accent1">
                    <a:lumMod val="50000"/>
                  </a:schemeClr>
                </a:solidFill>
                <a:latin typeface="Gotham Book" panose="0200060404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b="0" i="0">
                <a:latin typeface="Gotham Book" panose="02000604040000020004" pitchFamily="2" charset="0"/>
              </a:rPr>
              <a:t>Insert Paragraph Details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36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9E393-2E9A-9983-45BF-77A29608D9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607995"/>
            <a:ext cx="3932237" cy="1172679"/>
          </a:xfrm>
        </p:spPr>
        <p:txBody>
          <a:bodyPr anchor="t"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Your Header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C9BD8-2B4F-4CEE-835C-9912AAF944D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sz="28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400">
                <a:solidFill>
                  <a:schemeClr val="accent1">
                    <a:lumMod val="50000"/>
                  </a:schemeClr>
                </a:solidFill>
              </a:defRPr>
            </a:lvl3pPr>
            <a:lvl4pPr>
              <a:defRPr sz="2000">
                <a:solidFill>
                  <a:schemeClr val="accent1">
                    <a:lumMod val="50000"/>
                  </a:schemeClr>
                </a:solidFill>
              </a:defRPr>
            </a:lvl4pPr>
            <a:lvl5pPr>
              <a:defRPr sz="2000">
                <a:solidFill>
                  <a:schemeClr val="accent1">
                    <a:lumMod val="50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Insert Photo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656C8-AD1A-1557-910F-A40E7EAEA07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Insert Summary Here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FC0C9-500F-FE4D-7059-F06EBA9D9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043863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480E6-F565-AA43-351F-D8B3E480C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BB0E02BF-5253-F5F0-3096-EB50B28B9845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115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954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499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113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ntent Comparsio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5E47-28A2-4DE1-91DD-68A71DB53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Header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642E3-70CD-6249-58A9-1483B2D1E24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41965-2B63-7326-2D37-A044736B0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FF09C-0629-E8E5-B98C-DDF722B4A9A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Content 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007F4-CD3B-4E37-791D-3B5449C5B0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 sz="2400"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9335F6-EA20-37E5-0F8F-006B8D0DB6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332621" cy="365125"/>
          </a:xfrm>
        </p:spPr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Presentation Title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B4896-C432-D26C-F220-63E926D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BC735769-813A-3295-ED20-E1F9D4AD47C0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4629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7237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Content Slid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BFC8-12A5-8D51-8F48-E22A44642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/>
              <a:t>Header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6E6FB-C2B6-6443-F2D8-137E1E61904D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>
              <a:defRPr>
                <a:solidFill>
                  <a:schemeClr val="accent1">
                    <a:lumMod val="75000"/>
                  </a:schemeClr>
                </a:solidFill>
              </a:defRPr>
            </a:lvl2pPr>
            <a:lvl3pPr>
              <a:defRPr>
                <a:solidFill>
                  <a:schemeClr val="accent1">
                    <a:lumMod val="75000"/>
                  </a:schemeClr>
                </a:solidFill>
              </a:defRPr>
            </a:lvl3pPr>
            <a:lvl4pPr>
              <a:defRPr>
                <a:solidFill>
                  <a:schemeClr val="accent1">
                    <a:lumMod val="75000"/>
                  </a:schemeClr>
                </a:solidFill>
              </a:defRPr>
            </a:lvl4pPr>
            <a:lvl5pPr>
              <a:defRPr>
                <a:solidFill>
                  <a:schemeClr val="accent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/>
              <a:t>Content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4301E-F966-7C12-6F91-9890B2ADA6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199" y="6356350"/>
            <a:ext cx="649625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0E6A6-2064-40D0-F432-F19CE867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D543828D-1C57-47CD-71D6-DCDD0B47004B}"/>
              </a:ext>
            </a:extLst>
          </p:cNvPr>
          <p:cNvSpPr/>
          <p:nvPr userDrawn="1"/>
        </p:nvSpPr>
        <p:spPr>
          <a:xfrm>
            <a:off x="548124" y="616016"/>
            <a:ext cx="160193" cy="797749"/>
          </a:xfrm>
          <a:custGeom>
            <a:avLst/>
            <a:gdLst/>
            <a:ahLst/>
            <a:cxnLst/>
            <a:rect l="l" t="t" r="r" b="b"/>
            <a:pathLst>
              <a:path w="87478" h="435632">
                <a:moveTo>
                  <a:pt x="0" y="0"/>
                </a:moveTo>
                <a:lnTo>
                  <a:pt x="87478" y="0"/>
                </a:lnTo>
                <a:lnTo>
                  <a:pt x="87478" y="435632"/>
                </a:lnTo>
                <a:lnTo>
                  <a:pt x="0" y="435632"/>
                </a:lnTo>
                <a:close/>
              </a:path>
            </a:pathLst>
          </a:custGeom>
          <a:solidFill>
            <a:srgbClr val="00B0F0"/>
          </a:solid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64499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5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026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50" r:id="rId3"/>
    <p:sldLayoutId id="2147483651" r:id="rId4"/>
    <p:sldLayoutId id="2147483652" r:id="rId5"/>
    <p:sldLayoutId id="2147483653" r:id="rId6"/>
    <p:sldLayoutId id="2147483663" r:id="rId7"/>
    <p:sldLayoutId id="2147483654" r:id="rId8"/>
    <p:sldLayoutId id="2147483655" r:id="rId9"/>
    <p:sldLayoutId id="2147483660" r:id="rId10"/>
    <p:sldLayoutId id="2147483656" r:id="rId11"/>
    <p:sldLayoutId id="2147483661" r:id="rId12"/>
    <p:sldLayoutId id="214748367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08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18B40F0A-320E-6442-A923-5A57A6A8D9C5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5349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816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F0A751-1161-B5E5-857A-F6D2DD78D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1548A-6721-D520-895E-CB2ECA019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26EA-AB8E-FC2B-091F-C087201288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13154-829B-3A43-2A1A-A6A041890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00FEF-A83D-8D73-E4C2-319D8E1648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A070A489-3A69-A542-8CBF-69A14DF4633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 5">
            <a:extLst>
              <a:ext uri="{FF2B5EF4-FFF2-40B4-BE49-F238E27FC236}">
                <a16:creationId xmlns:a16="http://schemas.microsoft.com/office/drawing/2014/main" id="{5752760B-33EF-16A0-4C1A-D5DA671FA413}"/>
              </a:ext>
            </a:extLst>
          </p:cNvPr>
          <p:cNvSpPr/>
          <p:nvPr userDrawn="1"/>
        </p:nvSpPr>
        <p:spPr>
          <a:xfrm>
            <a:off x="11138841" y="365125"/>
            <a:ext cx="814370" cy="276441"/>
          </a:xfrm>
          <a:custGeom>
            <a:avLst/>
            <a:gdLst/>
            <a:ahLst/>
            <a:cxnLst/>
            <a:rect l="l" t="t" r="r" b="b"/>
            <a:pathLst>
              <a:path w="3746416" h="1271736">
                <a:moveTo>
                  <a:pt x="0" y="0"/>
                </a:moveTo>
                <a:lnTo>
                  <a:pt x="3746416" y="0"/>
                </a:lnTo>
                <a:lnTo>
                  <a:pt x="3746416" y="1271737"/>
                </a:lnTo>
                <a:lnTo>
                  <a:pt x="0" y="12717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9931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Aptos Black" panose="020B00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Relationship Id="rId4" Type="http://schemas.openxmlformats.org/officeDocument/2006/relationships/chart" Target="../charts/char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 anchor="ctr"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&amp; COMMERCIAL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7" y="1158240"/>
            <a:ext cx="10485119" cy="2231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on target | Commercial sales 6.3% below budget, J$4.16B at risk: building a commercial model</a:t>
            </a:r>
          </a:p>
        </p:txBody>
      </p:sp>
      <p:sp>
        <p:nvSpPr>
          <p:cNvPr id="4" name="PROTECT column"/>
          <p:cNvSpPr/>
          <p:nvPr/>
        </p:nvSpPr>
        <p:spPr>
          <a:xfrm>
            <a:off x="612648" y="1591056"/>
            <a:ext cx="4224528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PROTECT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3081528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Service &amp; reliability</a:t>
            </a:r>
          </a:p>
        </p:txBody>
      </p:sp>
      <p:sp>
        <p:nvSpPr>
          <p:cNvPr id="7" name="RAG GREEN"/>
          <p:cNvSpPr/>
          <p:nvPr/>
        </p:nvSpPr>
        <p:spPr>
          <a:xfrm>
            <a:off x="3886200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1E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GREEN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2344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1E8C5A"/>
                </a:solidFill>
                <a:latin typeface="Arial"/>
              </a:rPr>
              <a:t>1.8</a:t>
            </a:r>
            <a:r>
              <a:rPr lang="en-US" sz="1300" b="1" dirty="0">
                <a:solidFill>
                  <a:srgbClr val="1E8C5A"/>
                </a:solidFill>
                <a:latin typeface="Arial"/>
              </a:rPr>
              <a:t> hrs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29968" y="2194560"/>
            <a:ext cx="2642616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Top-50 average sustained outage, Sept: lowest of 2026 (benchmark 4 hrs)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389534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Monthly average, hrs (red: above 4-hr benchmark)</a:t>
            </a:r>
          </a:p>
        </p:txBody>
      </p:sp>
      <p:graphicFrame>
        <p:nvGraphicFramePr>
          <p:cNvPr id="11" name="Outage duration chart"/>
          <p:cNvGraphicFramePr>
            <a:graphicFrameLocks noGrp="1"/>
          </p:cNvGraphicFramePr>
          <p:nvPr/>
        </p:nvGraphicFramePr>
        <p:xfrm>
          <a:off x="685800" y="2852928"/>
          <a:ext cx="4078224" cy="768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2" name="Connector 11"/>
          <p:cNvCxnSpPr/>
          <p:nvPr/>
        </p:nvCxnSpPr>
        <p:spPr>
          <a:xfrm>
            <a:off x="777240" y="364845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370332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Engagement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703320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4 of 4 met · stakeholder 305%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92277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97763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Open issues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97763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12 open · </a:t>
            </a:r>
            <a:r>
              <a:rPr lang="en-US" sz="1100" b="0" dirty="0">
                <a:solidFill>
                  <a:srgbClr val="C98A00"/>
                </a:solidFill>
                <a:latin typeface="Arial"/>
              </a:rPr>
              <a:t>7 over 10 days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19709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25195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Negril resorts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25195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468 interruptions YTD; resolved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47141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526279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Hotel readiness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526279"/>
            <a:ext cx="24323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Supply checks before reopening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4745736"/>
            <a:ext cx="3895343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800599"/>
            <a:ext cx="389534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Reliability is our first defence: outages and power quality drive defection decisions</a:t>
            </a:r>
          </a:p>
        </p:txBody>
      </p:sp>
      <p:sp>
        <p:nvSpPr>
          <p:cNvPr id="26" name="RETAIN column"/>
          <p:cNvSpPr/>
          <p:nvPr/>
        </p:nvSpPr>
        <p:spPr>
          <a:xfrm>
            <a:off x="4933188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97780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RETAIN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7780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Defection</a:t>
            </a:r>
          </a:p>
        </p:txBody>
      </p:sp>
      <p:sp>
        <p:nvSpPr>
          <p:cNvPr id="29" name="RAG RED"/>
          <p:cNvSpPr/>
          <p:nvPr/>
        </p:nvSpPr>
        <p:spPr>
          <a:xfrm>
            <a:off x="7260336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97780" y="2194560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J$4.16B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7396" y="2194560"/>
            <a:ext cx="144932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at risk · 18 accounts · 89.5 GWh</a:t>
            </a:r>
          </a:p>
        </p:txBody>
      </p:sp>
      <p:sp>
        <p:nvSpPr>
          <p:cNvPr id="32" name="Stage 7 planning"/>
          <p:cNvSpPr/>
          <p:nvPr/>
        </p:nvSpPr>
        <p:spPr>
          <a:xfrm>
            <a:off x="509778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33" name="Stage 7 partial"/>
          <p:cNvSpPr/>
          <p:nvPr/>
        </p:nvSpPr>
        <p:spPr>
          <a:xfrm>
            <a:off x="6244590" y="2779776"/>
            <a:ext cx="1119378" cy="256032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34" name="Stage 4 exited"/>
          <p:cNvSpPr/>
          <p:nvPr/>
        </p:nvSpPr>
        <p:spPr>
          <a:xfrm>
            <a:off x="7391400" y="2779776"/>
            <a:ext cx="627888" cy="256032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97780" y="3163824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97780" y="3218688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Retention YTD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59068" y="3218688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99.6% vs 100% target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97780" y="3474720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097780" y="3529584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Lost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59068" y="3529584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Alcoa (Aug), PAC (Oct)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97780" y="378561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097780" y="3840479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Next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59068" y="3840479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Windalco Kirkvine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97780" y="4096511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97780" y="4151375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Win-back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9068" y="4151375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Royalton: J$487M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97780" y="4407407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97780" y="4480559"/>
            <a:ext cx="2948940" cy="5303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Each lost kWh raises costs for remaining customers and makes self-generation more attractive</a:t>
            </a:r>
          </a:p>
        </p:txBody>
      </p:sp>
      <p:sp>
        <p:nvSpPr>
          <p:cNvPr id="49" name="GROW column"/>
          <p:cNvSpPr/>
          <p:nvPr/>
        </p:nvSpPr>
        <p:spPr>
          <a:xfrm>
            <a:off x="8307324" y="1591056"/>
            <a:ext cx="3278124" cy="356616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71916" y="1700784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GROW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1916" y="1901952"/>
            <a:ext cx="213512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1" dirty="0">
                <a:solidFill>
                  <a:srgbClr val="22438A"/>
                </a:solidFill>
                <a:latin typeface="Arial"/>
              </a:rPr>
              <a:t>Sales</a:t>
            </a:r>
          </a:p>
        </p:txBody>
      </p:sp>
      <p:sp>
        <p:nvSpPr>
          <p:cNvPr id="52" name="RAG RED"/>
          <p:cNvSpPr/>
          <p:nvPr/>
        </p:nvSpPr>
        <p:spPr>
          <a:xfrm>
            <a:off x="10634472" y="1773936"/>
            <a:ext cx="786384" cy="237744"/>
          </a:xfrm>
          <a:prstGeom prst="roundRect">
            <a:avLst>
              <a:gd name="adj" fmla="val 50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RED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71916" y="2194560"/>
            <a:ext cx="1298448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lang="en-US" sz="2400" b="1" dirty="0">
                <a:solidFill>
                  <a:srgbClr val="C23B32"/>
                </a:solidFill>
                <a:latin typeface="Arial"/>
              </a:rPr>
              <a:t>−6.3%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8652" y="2194560"/>
            <a:ext cx="1632204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Sept commercial sales vs budget: 180.2 vs 192.4 GWh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471916" y="2779776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71916" y="2834640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YTD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33204" y="2834640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+0.4% bud, −5.7% 2025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471916" y="3090672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471916" y="3145536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Accuracy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33204" y="3145536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23B32"/>
                </a:solidFill>
                <a:latin typeface="Arial"/>
              </a:rPr>
              <a:t>60% Sept, 80% YTD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8471916" y="3401568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8471916" y="3456432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New load 2026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33204" y="3456432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6 projects, 25.67 GWh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471916" y="3712463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471916" y="3767327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2027 pipeline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33204" y="3767327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J$1.17B, 23.72 GWh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471916" y="4023359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8471916" y="4078223"/>
            <a:ext cx="11155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Hotels, Dec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33204" y="4078223"/>
            <a:ext cx="178765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E8C5A"/>
                </a:solidFill>
                <a:latin typeface="Arial"/>
              </a:rPr>
              <a:t>1,982 rooms, J$1.78B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471916" y="4334255"/>
            <a:ext cx="2948940" cy="0"/>
          </a:xfrm>
          <a:prstGeom prst="line">
            <a:avLst/>
          </a:prstGeom>
          <a:ln w="9525">
            <a:solidFill>
              <a:srgbClr val="C9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471916" y="4407407"/>
            <a:ext cx="29489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Alcoa's move to self-generation explains 6.5 GWh of the 12.2 GWh September gap</a:t>
            </a:r>
          </a:p>
        </p:txBody>
      </p:sp>
      <p:sp>
        <p:nvSpPr>
          <p:cNvPr id="72" name="Commercial model progress"/>
          <p:cNvSpPr/>
          <p:nvPr/>
        </p:nvSpPr>
        <p:spPr>
          <a:xfrm>
            <a:off x="612648" y="5248656"/>
            <a:ext cx="10972800" cy="14813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95528" y="5340096"/>
            <a:ext cx="7498079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BUILDING THE COMMERCIAL MODEL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   from January 2027: service excellence to revenue ownership</a:t>
            </a:r>
          </a:p>
        </p:txBody>
      </p:sp>
      <p:sp>
        <p:nvSpPr>
          <p:cNvPr id="74" name="Oval 73"/>
          <p:cNvSpPr/>
          <p:nvPr/>
        </p:nvSpPr>
        <p:spPr>
          <a:xfrm>
            <a:off x="8458200" y="5367528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86593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Starts Jan 2027</a:t>
            </a:r>
          </a:p>
        </p:txBody>
      </p:sp>
      <p:sp>
        <p:nvSpPr>
          <p:cNvPr id="76" name="Oval 75"/>
          <p:cNvSpPr/>
          <p:nvPr/>
        </p:nvSpPr>
        <p:spPr>
          <a:xfrm>
            <a:off x="10058400" y="5367528"/>
            <a:ext cx="146304" cy="146304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259568" y="5340096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Planned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68680" y="5888736"/>
            <a:ext cx="8823960" cy="0"/>
          </a:xfrm>
          <a:prstGeom prst="line">
            <a:avLst/>
          </a:prstGeom>
          <a:ln w="15875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95528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552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552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lead and deal desk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552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Weekly pricing decisions</a:t>
            </a:r>
          </a:p>
        </p:txBody>
      </p:sp>
      <p:sp>
        <p:nvSpPr>
          <p:cNvPr id="83" name="Oval 82"/>
          <p:cNvSpPr/>
          <p:nvPr/>
        </p:nvSpPr>
        <p:spPr>
          <a:xfrm>
            <a:off x="2560320" y="5815584"/>
            <a:ext cx="146304" cy="146304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560320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00"/>
                </a:solidFill>
                <a:latin typeface="Arial"/>
              </a:rPr>
              <a:t>Jan 2027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60320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Commercial Academy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60320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KAE skills: pricing, energy economics</a:t>
            </a:r>
          </a:p>
        </p:txBody>
      </p:sp>
      <p:sp>
        <p:nvSpPr>
          <p:cNvPr id="87" name="Oval 86"/>
          <p:cNvSpPr/>
          <p:nvPr/>
        </p:nvSpPr>
        <p:spPr>
          <a:xfrm>
            <a:off x="4325112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325112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Feb 2027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325112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Revenue-at-risk register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25112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Every Tier 1 account priced</a:t>
            </a:r>
          </a:p>
        </p:txBody>
      </p:sp>
      <p:sp>
        <p:nvSpPr>
          <p:cNvPr id="91" name="Oval 90"/>
          <p:cNvSpPr/>
          <p:nvPr/>
        </p:nvSpPr>
        <p:spPr>
          <a:xfrm>
            <a:off x="6089904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089904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Mar 2027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089904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Tier 1 commercial offers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89904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Standby, hybrid, resilience</a:t>
            </a:r>
          </a:p>
        </p:txBody>
      </p:sp>
      <p:sp>
        <p:nvSpPr>
          <p:cNvPr id="95" name="Oval 94"/>
          <p:cNvSpPr/>
          <p:nvPr/>
        </p:nvSpPr>
        <p:spPr>
          <a:xfrm>
            <a:off x="7854696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7854696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854696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Riders filed with the OUR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854696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Standby and hybrid tariffs</a:t>
            </a:r>
          </a:p>
        </p:txBody>
      </p:sp>
      <p:sp>
        <p:nvSpPr>
          <p:cNvPr id="99" name="Oval 98"/>
          <p:cNvSpPr/>
          <p:nvPr/>
        </p:nvSpPr>
        <p:spPr>
          <a:xfrm>
            <a:off x="9619488" y="5815584"/>
            <a:ext cx="146304" cy="146304"/>
          </a:xfrm>
          <a:prstGeom prst="ellipse">
            <a:avLst/>
          </a:prstGeom>
          <a:solidFill>
            <a:srgbClr val="05235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9619488" y="5559552"/>
            <a:ext cx="158191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Q2 2027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619488" y="6016752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Arial"/>
              </a:rPr>
              <a:t>Revenue scorecard for KAEs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619488" y="6364224"/>
            <a:ext cx="165506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Retention, win-backs,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10506-9740-B380-FAF7-6D2E96F7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233440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SERVICE &amp; RELIABILITY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Top-50 outage duration was the best of 2026 in September; half of open customer issues are voltage or power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5836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Average sustained outage duration, top-50 accounts (hrs)</a:t>
            </a:r>
          </a:p>
        </p:txBody>
      </p:sp>
      <p:graphicFrame>
        <p:nvGraphicFramePr>
          <p:cNvPr id="5" name="Monthly outage duration"/>
          <p:cNvGraphicFramePr>
            <a:graphicFrameLocks noGrp="1"/>
          </p:cNvGraphicFramePr>
          <p:nvPr/>
        </p:nvGraphicFramePr>
        <p:xfrm>
          <a:off x="548640" y="1810512"/>
          <a:ext cx="667512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61188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Red: above the 4-hr benchmark. Jan: Hurricane Melissa restoration. Jul: 610-hr Windalco Ewarton outage.</a:t>
            </a:r>
          </a:p>
        </p:txBody>
      </p:sp>
      <p:sp>
        <p:nvSpPr>
          <p:cNvPr id="7" name="Interruptions panel"/>
          <p:cNvSpPr/>
          <p:nvPr/>
        </p:nvSpPr>
        <p:spPr>
          <a:xfrm>
            <a:off x="7360920" y="1572768"/>
            <a:ext cx="4224528" cy="2395728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43800" y="1664208"/>
            <a:ext cx="385876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INTERRUPTIONS, JAN–SEP (TOP-50 ACCOUNTS)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2024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400" b="1" dirty="0">
                <a:solidFill>
                  <a:srgbClr val="FFFF00"/>
                </a:solidFill>
                <a:latin typeface="Arial"/>
              </a:rPr>
              <a:t>1,840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920240"/>
            <a:ext cx="253288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412 sustained · 1,428 momentary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395728"/>
            <a:ext cx="3858768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Tourism 945 (51%):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468 at five Negril resorts, now resolved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Manufacturing 597 (32%):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led by Alpart (138)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PAC Kingston Airport: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116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June peak 335: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June system shutdown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4041648"/>
            <a:ext cx="4526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Engagement KPIs, actual vs target</a:t>
            </a:r>
          </a:p>
        </p:txBody>
      </p:sp>
      <p:graphicFrame>
        <p:nvGraphicFramePr>
          <p:cNvPr id="13" name="Engagement KPI table"/>
          <p:cNvGraphicFramePr>
            <a:graphicFrameLocks noGrp="1"/>
          </p:cNvGraphicFramePr>
          <p:nvPr/>
        </p:nvGraphicFramePr>
        <p:xfrm>
          <a:off x="612648" y="4279392"/>
          <a:ext cx="4526280" cy="13258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KPI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Sept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%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48 / 48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246 / 240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Stakeholder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5 / 4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125%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61 / 20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305%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Customer education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 / 1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8 / 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160%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Safety / BBSOs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 / 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450%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44 / 10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E8C5A"/>
                          </a:solidFill>
                          <a:latin typeface="Arial"/>
                        </a:rPr>
                        <a:t>440%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12648" y="5669280"/>
            <a:ext cx="4526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Customer retention 99.6% YTD vs 100% target.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4041648"/>
            <a:ext cx="623620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Issues open over 10 days at 1 Oct (12 open in total)</a:t>
            </a:r>
          </a:p>
        </p:txBody>
      </p:sp>
      <p:graphicFrame>
        <p:nvGraphicFramePr>
          <p:cNvPr id="16" name="Open issues table"/>
          <p:cNvGraphicFramePr>
            <a:graphicFrameLocks noGrp="1"/>
          </p:cNvGraphicFramePr>
          <p:nvPr/>
        </p:nvGraphicFramePr>
        <p:xfrm>
          <a:off x="5349240" y="4279392"/>
          <a:ext cx="6236207" cy="18150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8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Customer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Issue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Logged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KFTL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affecting cranes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21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Client Relations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Pepsi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 and outages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ELT / 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Red Stripe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Power quality, reliability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26 Aug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Meliá Braco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Billing: settled balances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7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Finance / Collections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PriceSmart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Line relocation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Legal /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Digicel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Outage response times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23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Energy Delivery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Ministry of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Voltage issues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24 Sep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KSA Operations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Power-quality remediation: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COO-led engagement with KFTL, Pepsi and Red Stripe; Pepsi conductor upgrade due October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CLIENT RELATIONS  |  DEFECTION RISK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J$4.16B at risk across 18 accounts; planning-stage accounts are where we can still change the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Largest defection revenue losses (J$M)</a:t>
            </a:r>
          </a:p>
        </p:txBody>
      </p:sp>
      <p:graphicFrame>
        <p:nvGraphicFramePr>
          <p:cNvPr id="5" name="Largest losses"/>
          <p:cNvGraphicFramePr>
            <a:graphicFrameLocks noGrp="1"/>
          </p:cNvGraphicFramePr>
          <p:nvPr/>
        </p:nvGraphicFramePr>
        <p:xfrm>
          <a:off x="548640" y="1801368"/>
          <a:ext cx="429768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" y="3913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Past 12–24 months. Off-grid from inception: UNICO, H10 Resorts.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315968"/>
            <a:ext cx="4206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18 tracked accounts by stage</a:t>
            </a:r>
          </a:p>
        </p:txBody>
      </p:sp>
      <p:sp>
        <p:nvSpPr>
          <p:cNvPr id="8" name="Stage 7 planning"/>
          <p:cNvSpPr/>
          <p:nvPr/>
        </p:nvSpPr>
        <p:spPr>
          <a:xfrm>
            <a:off x="61264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planning</a:t>
            </a:r>
          </a:p>
        </p:txBody>
      </p:sp>
      <p:sp>
        <p:nvSpPr>
          <p:cNvPr id="9" name="Stage 7 partial"/>
          <p:cNvSpPr/>
          <p:nvPr/>
        </p:nvSpPr>
        <p:spPr>
          <a:xfrm>
            <a:off x="2248408" y="4553712"/>
            <a:ext cx="1608327" cy="274320"/>
          </a:xfrm>
          <a:prstGeom prst="roundRect">
            <a:avLst>
              <a:gd name="adj" fmla="val 8000"/>
            </a:avLst>
          </a:prstGeom>
          <a:solidFill>
            <a:srgbClr val="C9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7 partial</a:t>
            </a:r>
          </a:p>
        </p:txBody>
      </p:sp>
      <p:sp>
        <p:nvSpPr>
          <p:cNvPr id="10" name="Stage 4 exited"/>
          <p:cNvSpPr/>
          <p:nvPr/>
        </p:nvSpPr>
        <p:spPr>
          <a:xfrm>
            <a:off x="3884167" y="4553712"/>
            <a:ext cx="907287" cy="274320"/>
          </a:xfrm>
          <a:prstGeom prst="roundRect">
            <a:avLst>
              <a:gd name="adj" fmla="val 8000"/>
            </a:avLst>
          </a:prstGeom>
          <a:solidFill>
            <a:srgbClr val="C23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</a:rPr>
              <a:t>4 exited</a:t>
            </a:r>
          </a:p>
        </p:txBody>
      </p:sp>
      <p:sp>
        <p:nvSpPr>
          <p:cNvPr id="11" name="Why customers leave"/>
          <p:cNvSpPr/>
          <p:nvPr/>
        </p:nvSpPr>
        <p:spPr>
          <a:xfrm>
            <a:off x="612648" y="4919472"/>
            <a:ext cx="4206240" cy="1170432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983480"/>
            <a:ext cx="3886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Why customers say they leave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212080"/>
            <a:ext cx="3886200" cy="85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Cost: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Dreams, Royalton Negril, Excellence, JN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Power quality: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Moon Palace, Dreams, Royalton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1F2933"/>
                </a:solidFill>
                <a:latin typeface="Arial"/>
              </a:rPr>
              <a:t>Sustainability: </a:t>
            </a:r>
            <a:r>
              <a:rPr lang="en-US" sz="1100" b="0" dirty="0">
                <a:solidFill>
                  <a:srgbClr val="1F2933"/>
                </a:solidFill>
                <a:latin typeface="Arial"/>
              </a:rPr>
              <a:t>MBJ Airport, Sutherland, JN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572768"/>
            <a:ext cx="66019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Early warning: planning-stage accounts (weekly tracker, 1 Oct)</a:t>
            </a:r>
          </a:p>
        </p:txBody>
      </p:sp>
      <p:graphicFrame>
        <p:nvGraphicFramePr>
          <p:cNvPr id="15" name="Early warning table"/>
          <p:cNvGraphicFramePr>
            <a:graphicFrameLocks noGrp="1"/>
          </p:cNvGraphicFramePr>
          <p:nvPr/>
        </p:nvGraphicFramePr>
        <p:xfrm>
          <a:off x="4983480" y="1810512"/>
          <a:ext cx="6601968" cy="20665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0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Signal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Loss, J$M/yr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Ewarton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Feasibility study; pilot; up to 70% 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346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Windalco Kirkvine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Own generator primary from Oct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Sutherland Global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100 kW solar at three sites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Clarendon Distillers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CHP installed but idle: LNG too costly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C23B32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US Embassy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Battery-backed solar planned; delayed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Jewel Paradise Cove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LNG microturbine on site; new owner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Jamaica National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Solar at Belmont and Oxford Roads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TBD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Watchlist"/>
          <p:cNvSpPr/>
          <p:nvPr/>
        </p:nvSpPr>
        <p:spPr>
          <a:xfrm>
            <a:off x="4983480" y="4114800"/>
            <a:ext cx="6601968" cy="1975104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4206240"/>
            <a:ext cx="6217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EMERGING WATCHLIST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80560"/>
            <a:ext cx="6217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FLOW: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800 cell sites planning alternative supply; cost-driven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Pepsi and Red Stripe: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power-quality remediation and CEO-level engagement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Digicel: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solar expansion; dedicated outage-response crews proposed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NWC: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5 MW solar programme across 22 projects over five years</a:t>
            </a:r>
          </a:p>
        </p:txBody>
      </p:sp>
      <p:sp>
        <p:nvSpPr>
          <p:cNvPr id="19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Grid/Load Defection Win-Back: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standby and hybrid supply, power-quality-first fixes and executive engagement</a:t>
            </a:r>
          </a:p>
        </p:txBody>
      </p:sp>
      <p:sp>
        <p:nvSpPr>
          <p:cNvPr id="20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SALES VS BUDGET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sales 12.2 GWh (6.3%) below budget; Alcoa's move to self-generation explains 6.5 GWh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6400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Commercial sales by rate class, September and January to September (GWh)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85615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Acc: account budget vs billing. *RT40-RT70. Jan-Feb budget = actuals, so YTD vs budget flatters.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72768"/>
            <a:ext cx="42702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Variance vs budget by industry (GWh)</a:t>
            </a:r>
          </a:p>
        </p:txBody>
      </p:sp>
      <p:sp>
        <p:nvSpPr>
          <p:cNvPr id="9" name="Alcoa spotlight"/>
          <p:cNvSpPr/>
          <p:nvPr/>
        </p:nvSpPr>
        <p:spPr>
          <a:xfrm>
            <a:off x="612648" y="4224528"/>
            <a:ext cx="6400800" cy="1865376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4297680"/>
            <a:ext cx="6035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SPOTLIGHT  |  ALCOA (JAMALCO REFINERY)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0.6 GWh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billed in Sept vs 6.9 a year 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−6.5 GWh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vs budget; 73% of RT70 drop vs 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4535424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up to J$175M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488289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Aug–Sep demand charges provisional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321808"/>
            <a:ext cx="6035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New turbine (TG4) commissioned in August: the refinery now generates all its own power; grid draw fell from 9.0 GWh in July to 0.6 in Sept; load not expected back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FFFFFF"/>
                </a:solidFill>
                <a:latin typeface="Arial"/>
              </a:rPr>
              <a:t>PIA and ROPECON in review; margin hit smaller than sales loss (avoided cost)</a:t>
            </a:r>
          </a:p>
        </p:txBody>
      </p:sp>
      <p:sp>
        <p:nvSpPr>
          <p:cNvPr id="18" name="What it means"/>
          <p:cNvSpPr/>
          <p:nvPr/>
        </p:nvSpPr>
        <p:spPr>
          <a:xfrm>
            <a:off x="7269480" y="4224528"/>
            <a:ext cx="4315968" cy="1865376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34072" y="4297680"/>
            <a:ext cx="402336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22438A"/>
                </a:solidFill>
                <a:latin typeface="Arial"/>
              </a:rPr>
              <a:t>What it means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34072" y="4535424"/>
            <a:ext cx="4023360" cy="15179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RT10 and RT20 ran 12.7 GWh above budget; RT40–RT70 15.2 GWh below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Caribbean Broilers timing moved 1.6 GWh; adjusted system sales 296.4 GWh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YTD: commercial sales +0.4% vs budget but −5.7% vs 2025; Sept shows the gap more sharply as Alcoa and hotels weigh on the month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0" dirty="0">
                <a:solidFill>
                  <a:srgbClr val="1F2933"/>
                </a:solidFill>
                <a:latin typeface="Arial"/>
              </a:rPr>
              <a:t>Cement is +7.3 GWh vs budget YTD, the largest gain by industry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Account forecasting: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key account executives refresh outlooks for the largest accounts as soon as a change is known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12648" y="1810512"/>
          <a:ext cx="6400793" cy="188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58215"/>
                <a:gridCol w="475838"/>
                <a:gridCol w="475838"/>
                <a:gridCol w="506538"/>
                <a:gridCol w="506538"/>
                <a:gridCol w="383740"/>
                <a:gridCol w="598635"/>
                <a:gridCol w="598635"/>
                <a:gridCol w="506538"/>
                <a:gridCol w="506538"/>
                <a:gridCol w="383740"/>
              </a:tblGrid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January to September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 hMerge="1"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Budget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bud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Acc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60.6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57.6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+5.2%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+4.0%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475.8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461.3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−8.2%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66%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569.8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584.9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−2.6%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−5.9%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81%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−14.2%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−9.8%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64%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259.5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274.1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77%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+3.0%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+0.1%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96%</a:t>
                      </a:r>
                    </a:p>
                  </a:txBody>
                  <a:tcPr marL="36000" marR="36000" marT="12000" marB="12000" anchor="ctr">
                    <a:solidFill>
                      <a:srgbClr val="DDEFD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27.1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−9.5%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36000" marR="36000" marT="12000" marB="12000" anchor="ctr">
                    <a:solidFill>
                      <a:srgbClr val="DDEFDF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22.9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−18.5%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−31.7%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28%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213.9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192.7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8F5A"/>
                          </a:solidFill>
                          <a:latin typeface="Arial"/>
                        </a:rPr>
                        <a:t>+11.0%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0">
                          <a:solidFill>
                            <a:srgbClr val="1F1F1F"/>
                          </a:solidFill>
                          <a:latin typeface="Arial"/>
                        </a:rPr>
                        <a:t>79%</a:t>
                      </a:r>
                    </a:p>
                  </a:txBody>
                  <a:tcPr marL="36000" marR="36000" marT="12000" marB="12000" anchor="ctr">
                    <a:solidFill>
                      <a:srgbClr val="F6D3D6"/>
                    </a:solidFill>
                  </a:tcPr>
                </a:tc>
              </a:tr>
              <a:tr h="236000">
                <a:tc>
                  <a:txBody>
                    <a:bodyPr wrap="square"/>
                    <a:lstStyle/>
                    <a:p>
                      <a:pPr algn="l"/>
                      <a:r>
                        <a:rPr sz="80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180.2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192.4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−6.3%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−5.8%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60%*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1,546.4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1,540.1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8F5A"/>
                          </a:solidFill>
                          <a:latin typeface="Arial"/>
                        </a:rPr>
                        <a:t>+0.4%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C00000"/>
                          </a:solidFill>
                          <a:latin typeface="Arial"/>
                        </a:rPr>
                        <a:t>−5.7%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  <a:latin typeface="Arial"/>
                        </a:rPr>
                        <a:t>80%*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7269480" y="1801368"/>
          <a:ext cx="4343400" cy="23317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GROWTH &amp; TOURISM RECOVERY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Closed hotels worth J$4.52B a year mostly return by mid-2027; the 2027 pipeline is J$1.17B, led by NWC</a:t>
            </a:r>
          </a:p>
        </p:txBody>
      </p:sp>
      <p:sp>
        <p:nvSpPr>
          <p:cNvPr id="4" name="Tourism tile hotels closed after Melissa"/>
          <p:cNvSpPr/>
          <p:nvPr/>
        </p:nvSpPr>
        <p:spPr>
          <a:xfrm>
            <a:off x="612648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22376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2376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hotels closed after Melissa</a:t>
            </a:r>
          </a:p>
        </p:txBody>
      </p:sp>
      <p:sp>
        <p:nvSpPr>
          <p:cNvPr id="7" name="Tourism tile rooms closed"/>
          <p:cNvSpPr/>
          <p:nvPr/>
        </p:nvSpPr>
        <p:spPr>
          <a:xfrm>
            <a:off x="2157984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67712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5,018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7712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rooms closed</a:t>
            </a:r>
          </a:p>
        </p:txBody>
      </p:sp>
      <p:sp>
        <p:nvSpPr>
          <p:cNvPr id="10" name="Tourism tile kWh a year"/>
          <p:cNvSpPr/>
          <p:nvPr/>
        </p:nvSpPr>
        <p:spPr>
          <a:xfrm>
            <a:off x="3703320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13048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100.4M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kWh a year</a:t>
            </a:r>
          </a:p>
        </p:txBody>
      </p:sp>
      <p:sp>
        <p:nvSpPr>
          <p:cNvPr id="13" name="Tourism tile revenue a year"/>
          <p:cNvSpPr/>
          <p:nvPr/>
        </p:nvSpPr>
        <p:spPr>
          <a:xfrm>
            <a:off x="5248656" y="1572768"/>
            <a:ext cx="1463040" cy="868680"/>
          </a:xfrm>
          <a:prstGeom prst="roundRect">
            <a:avLst>
              <a:gd name="adj" fmla="val 4705"/>
            </a:avLst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58384" y="1636776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22438A"/>
                </a:solidFill>
                <a:latin typeface="Arial"/>
              </a:rPr>
              <a:t>J$4.52B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2011680"/>
            <a:ext cx="1298448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1F2933"/>
                </a:solidFill>
                <a:latin typeface="Arial"/>
              </a:rPr>
              <a:t>revenue a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2560320"/>
            <a:ext cx="30175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Reopening schedule (J$B a year)</a:t>
            </a:r>
          </a:p>
        </p:txBody>
      </p:sp>
      <p:graphicFrame>
        <p:nvGraphicFramePr>
          <p:cNvPr id="17" name="Reopening schedule"/>
          <p:cNvGraphicFramePr>
            <a:graphicFrameLocks noGrp="1"/>
          </p:cNvGraphicFramePr>
          <p:nvPr/>
        </p:nvGraphicFramePr>
        <p:xfrm>
          <a:off x="548640" y="2788920"/>
          <a:ext cx="3063240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12648" y="4608576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1,982 rooms in Dec; 2,524 in H1 2027; 512 in 2028. 89.8% back by mid-2027.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560320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Top 10 hotels (J$M a year)</a:t>
            </a:r>
          </a:p>
        </p:txBody>
      </p:sp>
      <p:graphicFrame>
        <p:nvGraphicFramePr>
          <p:cNvPr id="20" name="Top hotels"/>
          <p:cNvGraphicFramePr>
            <a:graphicFrameLocks noGrp="1"/>
          </p:cNvGraphicFramePr>
          <p:nvPr/>
        </p:nvGraphicFramePr>
        <p:xfrm>
          <a:off x="3794760" y="2788920"/>
          <a:ext cx="2788920" cy="24323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6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6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Hotel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J$M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Secrets &amp; Breathless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Hyatt Ziva &amp; Zilara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657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Catalonia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Dreams Rose Hall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South Coast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MGM Muthu Runaway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207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Jewel Grande MoBay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Sandals Royal Caribbean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MGM Muthu Montego Bay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177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794760" y="5303520"/>
            <a:ext cx="278892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6B7785"/>
                </a:solidFill>
                <a:latin typeface="Arial"/>
              </a:rPr>
              <a:t>Top 10 = J$3.7B (81%). Sept hotel sales 17.2 GWh vs 20.9 budget.</a:t>
            </a:r>
          </a:p>
        </p:txBody>
      </p:sp>
      <p:sp>
        <p:nvSpPr>
          <p:cNvPr id="22" name="Pipeline panel"/>
          <p:cNvSpPr/>
          <p:nvPr/>
        </p:nvSpPr>
        <p:spPr>
          <a:xfrm>
            <a:off x="6812280" y="1572768"/>
            <a:ext cx="4773168" cy="4517136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95160" y="1664208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NEW AND EXPANDING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192024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25.67 GWh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920240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6 major opportunities in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377440"/>
            <a:ext cx="44348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Sep: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Caribbean Broilers egg farm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PriceSmart South Camp, Progressive Grocers, Poly Pet</a:t>
            </a:r>
          </a:p>
          <a:p>
            <a:pPr marL="160020" indent="-160020" algn="l">
              <a:buFont typeface="Arial"/>
              <a:buChar char="•"/>
            </a:pPr>
            <a:r>
              <a:rPr lang="en-US" sz="1100" b="1" dirty="0">
                <a:solidFill>
                  <a:srgbClr val="FFFF00"/>
                </a:solidFill>
                <a:latin typeface="Arial"/>
              </a:rPr>
              <a:t>Dec: </a:t>
            </a:r>
            <a:r>
              <a:rPr lang="en-US" sz="1100" b="0" dirty="0">
                <a:solidFill>
                  <a:srgbClr val="FFFFFF"/>
                </a:solidFill>
                <a:latin typeface="Arial"/>
              </a:rPr>
              <a:t>Cornwall Regional and Western Children's hospitals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3529584"/>
            <a:ext cx="4407408" cy="0"/>
          </a:xfrm>
          <a:prstGeom prst="line">
            <a:avLst/>
          </a:prstGeom>
          <a:ln w="9525">
            <a:solidFill>
              <a:srgbClr val="6B77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995160" y="3621024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000" b="1" dirty="0">
                <a:solidFill>
                  <a:srgbClr val="FFFF00"/>
                </a:solidFill>
                <a:latin typeface="Arial"/>
              </a:rPr>
              <a:t>J$1.17B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621024"/>
            <a:ext cx="2560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2027 pipeline · 13 projects</a:t>
            </a:r>
          </a:p>
        </p:txBody>
      </p:sp>
      <p:graphicFrame>
        <p:nvGraphicFramePr>
          <p:cNvPr id="30" name="Pipeline table"/>
          <p:cNvGraphicFramePr>
            <a:graphicFrameLocks noGrp="1"/>
          </p:cNvGraphicFramePr>
          <p:nvPr/>
        </p:nvGraphicFramePr>
        <p:xfrm>
          <a:off x="6995160" y="4096512"/>
          <a:ext cx="4407408" cy="12344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2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Segment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GWh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J$M a year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NWC (3 projects)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18.53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926.5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Tourism, housing (3)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3.40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152.9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Other sectors (7)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1.79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94.5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Total (13)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23.72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1,174</a:t>
                      </a:r>
                    </a:p>
                  </a:txBody>
                  <a:tcPr marL="45720" marR="45720" marT="18288" marB="18288" anchor="ctr">
                    <a:solidFill>
                      <a:srgbClr val="EE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995160" y="5394960"/>
            <a:ext cx="440740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NWC is 78% of 2027 pipeline volume and also on the watchlist with a 5 MW solar programme.</a:t>
            </a:r>
          </a:p>
        </p:txBody>
      </p:sp>
      <p:sp>
        <p:nvSpPr>
          <p:cNvPr id="32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Tourism readiness: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supply, power-quality and capacity checks with hotels before December and Q1 2027 reopenings</a:t>
            </a:r>
          </a:p>
        </p:txBody>
      </p:sp>
      <p:sp>
        <p:nvSpPr>
          <p:cNvPr id="33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BUILDING THE COMMERCIAL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Service excellence stays the foundation; from January 2027 we add the capabilities to own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72768"/>
            <a:ext cx="54864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What we keep and what we add</a:t>
            </a:r>
          </a:p>
        </p:txBody>
      </p:sp>
      <p:graphicFrame>
        <p:nvGraphicFramePr>
          <p:cNvPr id="5" name="Keep and add"/>
          <p:cNvGraphicFramePr>
            <a:graphicFrameLocks noGrp="1"/>
          </p:cNvGraphicFramePr>
          <p:nvPr/>
        </p:nvGraphicFramePr>
        <p:xfrm>
          <a:off x="612648" y="1810512"/>
          <a:ext cx="5486400" cy="25054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Keep: service excellence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Add: revenue ownership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with every key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Account plans with a revenue goal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Issue resolution and escalation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Offers priced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Reliability focus on top 50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Standby, hybrid, flexibility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Defection tracking by stage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Priced 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Budget support by account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KAE forecasts updated on change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Engagement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Retention, win-back, growth KPIs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55080" y="1572768"/>
            <a:ext cx="52303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50" b="1" dirty="0">
                <a:solidFill>
                  <a:srgbClr val="22438A"/>
                </a:solidFill>
                <a:latin typeface="Arial"/>
              </a:rPr>
              <a:t>Roadmap from January 2027</a:t>
            </a:r>
          </a:p>
        </p:txBody>
      </p:sp>
      <p:graphicFrame>
        <p:nvGraphicFramePr>
          <p:cNvPr id="7" name="Roadmap table"/>
          <p:cNvGraphicFramePr>
            <a:graphicFrameLocks noGrp="1"/>
          </p:cNvGraphicFramePr>
          <p:nvPr/>
        </p:nvGraphicFramePr>
        <p:xfrm>
          <a:off x="6355080" y="1810512"/>
          <a:ext cx="5230368" cy="25176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0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Milestone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When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/>
                        </a:rPr>
                        <a:t>Owner</a:t>
                      </a:r>
                    </a:p>
                  </a:txBody>
                  <a:tcPr marL="45720" marR="45720" marT="18288" marB="18288" anchor="ctr">
                    <a:solidFill>
                      <a:srgbClr val="0523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lead and deal desk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SVP Customer Experience &amp;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Commercial Academy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Jan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HR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Revenue-at-risk register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Feb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Sales Forecasting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Tier 1 commercial offers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Mar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Key Accounts with Engineering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Riders filed with the OUR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Regulatory Affairs with Commercial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rgbClr val="1F2933"/>
                          </a:solidFill>
                          <a:latin typeface="Arial"/>
                        </a:rPr>
                        <a:t>Revenue scorecard (shadow)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Q2 2027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0" dirty="0">
                          <a:solidFill>
                            <a:srgbClr val="1F2933"/>
                          </a:solidFill>
                          <a:latin typeface="Arial"/>
                        </a:rPr>
                        <a:t>Client Relations with Finance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Board KPIs"/>
          <p:cNvSpPr/>
          <p:nvPr/>
        </p:nvSpPr>
        <p:spPr>
          <a:xfrm>
            <a:off x="612648" y="4462272"/>
            <a:ext cx="10972800" cy="1627632"/>
          </a:xfrm>
          <a:prstGeom prst="roundRect">
            <a:avLst>
              <a:gd name="adj" fmla="val 3555"/>
            </a:avLst>
          </a:prstGeom>
          <a:solidFill>
            <a:srgbClr val="0523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4544568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dirty="0">
                <a:solidFill>
                  <a:srgbClr val="009ED9"/>
                </a:solidFill>
                <a:latin typeface="Arial"/>
              </a:rPr>
              <a:t>WHAT THE BOARD WILL SEE ON THIS SLIDE DURING 2027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PROTECT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Top-50 outage duration · issues closed in 10 days · executive coverage of Tier 1 accounts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RETAIN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Revenue at risk and mitigated · accounts by stage · win-backs signed · retention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82712" y="4818888"/>
            <a:ext cx="3383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dirty="0">
                <a:solidFill>
                  <a:srgbClr val="FFFF00"/>
                </a:solidFill>
                <a:latin typeface="Arial"/>
              </a:rPr>
              <a:t>GROW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82712" y="5065776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FFFFFF"/>
                </a:solidFill>
                <a:latin typeface="Arial"/>
              </a:rPr>
              <a:t>Commercial sales and revenue vs budget · new load connected · pipeline · forecast accuracy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" y="5724144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0" dirty="0">
                <a:solidFill>
                  <a:srgbClr val="C9D3E0"/>
                </a:solidFill>
                <a:latin typeface="Arial"/>
              </a:rPr>
              <a:t>Revenue KPIs run in shadow mode in Q2 2027 before they become targets; service KPIs continue unchanged.</a:t>
            </a:r>
          </a:p>
        </p:txBody>
      </p:sp>
      <p:sp>
        <p:nvSpPr>
          <p:cNvPr id="17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Board support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Requested: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support for flexible contracting with key accounts and for reliability investment on key-account feeders</a:t>
            </a:r>
          </a:p>
        </p:txBody>
      </p:sp>
      <p:sp>
        <p:nvSpPr>
          <p:cNvPr id="18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REVENUE &amp; RETENTION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Key accounts keep 94% of their revenue, but six accounts drive J$540M of the J$0.9bn decline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Revenue-at-risk register: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price every Tier 1 account on non-fuel revenue and demand charge, not volume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J$16.2bn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non-fuel revenue YTD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−5.3% vs 2025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4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3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1,071 GWh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volume YTD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−6.9% vs 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7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6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J$9.4bn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6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demand charges, 58% of non-fuel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C00000"/>
                </a:solidFill>
                <a:latin typeface="Arial"/>
              </a:rPr>
              <a:t>−4.4% vs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2648" y="1572768"/>
            <a:ext cx="1560000" cy="88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92648" y="1620000"/>
            <a:ext cx="1400000" cy="33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062552"/>
                </a:solidFill>
                <a:latin typeface="Arial"/>
              </a:rPr>
              <a:t>J$15.10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92648" y="1960000"/>
            <a:ext cx="1400000" cy="2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1F1F1F"/>
                </a:solidFill>
                <a:latin typeface="Arial"/>
              </a:rPr>
              <a:t>non-fuel per kWh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2648" y="2200000"/>
            <a:ext cx="14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1F8F5A"/>
                </a:solidFill>
                <a:latin typeface="Arial"/>
              </a:rPr>
              <a:t>+1.7% vs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2560000"/>
            <a:ext cx="64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Top key accounts by non-fuel revenue, January to September (J$M)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612648" y="2800000"/>
          <a:ext cx="6399996" cy="2358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411594"/>
                <a:gridCol w="742028"/>
                <a:gridCol w="742028"/>
                <a:gridCol w="742028"/>
                <a:gridCol w="834782"/>
                <a:gridCol w="927536"/>
              </a:tblGrid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Account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Change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GWh vs 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National Water Commission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2,019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2,156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135.9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−14.9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Cement Co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772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82.3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+11.5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Alcoa Mins Of Ja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874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974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56.2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−10.0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Caribbean Broilers Ja Ltd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291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Windalco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+5.6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Ministry of Health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15.8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−0.5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Kingston Free Port Terminal Li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226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−3%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C00000"/>
                          </a:solidFill>
                          <a:latin typeface="Arial"/>
                        </a:rPr>
                        <a:t>−1.7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6200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62552"/>
                          </a:solidFill>
                          <a:latin typeface="Arial"/>
                        </a:rPr>
                        <a:t>Restaurants Of Jam Ltd (KFC)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210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1F1F"/>
                          </a:solidFill>
                          <a:latin typeface="Arial"/>
                        </a:rPr>
                        <a:t>13.3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0">
                          <a:solidFill>
                            <a:srgbClr val="1F8F5A"/>
                          </a:solidFill>
                          <a:latin typeface="Arial"/>
                        </a:rPr>
                        <a:t>+0.1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</a:tbl>
          </a:graphicData>
        </a:graphic>
      </p:graphicFrame>
      <p:sp>
        <p:nvSpPr>
          <p:cNvPr id="41" name="Rectangle 40"/>
          <p:cNvSpPr/>
          <p:nvPr/>
        </p:nvSpPr>
        <p:spPr>
          <a:xfrm>
            <a:off x="7315200" y="2560000"/>
            <a:ext cx="4270000" cy="1750000"/>
          </a:xfrm>
          <a:prstGeom prst="rect">
            <a:avLst/>
          </a:prstGeom>
          <a:noFill/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40000" y="2620000"/>
            <a:ext cx="40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RETENTION, JAN TO SEP 2026 VS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40000" y="290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Accounts billing in both periods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2,467 of 2,545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00000" y="290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96.9%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0000" y="335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Volume,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86.8% counting losses 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00000" y="335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92.6%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40000" y="3800000"/>
            <a:ext cx="230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062552"/>
                </a:solidFill>
                <a:latin typeface="Arial"/>
              </a:rPr>
              <a:t>Non-fuel revenue, net of growth</a:t>
            </a:r>
          </a:p>
          <a:p>
            <a:pPr algn="l"/>
            <a:r>
              <a:rPr sz="850" b="0">
                <a:solidFill>
                  <a:srgbClr val="66788A"/>
                </a:solidFill>
                <a:latin typeface="Arial"/>
              </a:rPr>
              <a:t>89.2% counting losses 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0000" y="3800000"/>
            <a:ext cx="1550000" cy="4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062552"/>
                </a:solidFill>
                <a:latin typeface="Arial"/>
              </a:rPr>
              <a:t>93.9%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4400000"/>
            <a:ext cx="4270000" cy="6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F1F1F"/>
                </a:solidFill>
                <a:latin typeface="Arial"/>
              </a:rPr>
              <a:t>Counting accounts alone makes retention look strong. Volume is the better test: a single refinery moves it more than 100 small accounts.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498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Largest non-fuel declines (J$M)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00000" y="4980000"/>
            <a:ext cx="21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Largest gains (J$M)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5200000"/>
            <a:ext cx="21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National Water Commissio  −137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Jamaica Broilers Group L  −133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Alcoa Mins Of Ja Ltd  −100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Seawind Key Investments   −73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Playa Hall Jamaican Reso  −52</a:t>
            </a:r>
          </a:p>
          <a:p>
            <a:pPr algn="l"/>
            <a:r>
              <a:rPr sz="800" b="0">
                <a:solidFill>
                  <a:srgbClr val="C00000"/>
                </a:solidFill>
                <a:latin typeface="Arial"/>
              </a:rPr>
              <a:t>X FUND PROPERTIES LIMITE  −45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0000" y="5200000"/>
            <a:ext cx="2100000" cy="9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Caribbean Cement Co Ltd  +115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South Jamaica Power Comp  +72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Windalco  +30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Limecore Aggregates Limi  +25</a:t>
            </a:r>
          </a:p>
          <a:p>
            <a:pPr algn="l"/>
            <a:r>
              <a:rPr sz="800" b="0">
                <a:solidFill>
                  <a:srgbClr val="1F8F5A"/>
                </a:solidFill>
                <a:latin typeface="Arial"/>
              </a:rPr>
              <a:t>Desnoes &amp; Geddes  +22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" y="5320000"/>
            <a:ext cx="64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RT40 to RT70 accounts. Non-fuel revenue is energy, demand and customer charges; it excludes fuel, IPP and GCT. Net retention includes growth at retained accounts; the counting-losses-only figure caps each account at its 2025 level. Alcoa August and September demand charges are provisional.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COMMERCIAL  |  OUTLOOK &amp; RECOVERY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Commercial grows 4.2% in FY2027 as hotels recover; industrial falls 28% to self-generation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Key Initiative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Recovery tracking: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review hotel and water-supply volumes monthly against the reopening schedule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1572768"/>
            <a:ext cx="60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Commercial outlook by rate class (GWh)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12648" y="1800000"/>
          <a:ext cx="6199996" cy="189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957894"/>
                <a:gridCol w="734210"/>
                <a:gridCol w="734210"/>
                <a:gridCol w="734210"/>
                <a:gridCol w="652631"/>
                <a:gridCol w="734210"/>
                <a:gridCol w="652631"/>
              </a:tblGrid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Rate class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FY2025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FY2026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FY2027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FY2028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YoY</a:t>
                      </a:r>
                    </a:p>
                  </a:txBody>
                  <a:tcPr marL="36000" marR="36000" marT="12000" marB="12000" anchor="ctr">
                    <a:solidFill>
                      <a:srgbClr val="062552"/>
                    </a:solidFill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RT20 Small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627.3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654.7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691.6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+5.6%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708.4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+2.4%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RT40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776.7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771.9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838.6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+8.6%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835.3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−0.4%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RT50 Large commercial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362.8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345.7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400.8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+16.0%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433.4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+8.1%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RT60 Street lighting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38.6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37.5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39.8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8F5A"/>
                          </a:solidFill>
                          <a:latin typeface="Arial"/>
                        </a:rPr>
                        <a:t>+6.2%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38.8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RT70 Industrial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288.1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267.2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193.7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−27.5%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1F1F1F"/>
                          </a:solidFill>
                          <a:latin typeface="Arial"/>
                        </a:rPr>
                        <a:t>189.5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0">
                          <a:solidFill>
                            <a:srgbClr val="C00000"/>
                          </a:solidFill>
                          <a:latin typeface="Arial"/>
                        </a:rPr>
                        <a:t>−2.2%</a:t>
                      </a:r>
                    </a:p>
                  </a:txBody>
                  <a:tcPr marL="36000" marR="36000" marT="12000" marB="12000" anchor="ctr">
                    <a:noFill/>
                  </a:tcPr>
                </a:tc>
              </a:tr>
              <a:tr h="270000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062552"/>
                          </a:solidFill>
                          <a:latin typeface="Arial"/>
                        </a:rPr>
                        <a:t>Commercial total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2,093.6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2,076.9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2,164.5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8F5A"/>
                          </a:solidFill>
                          <a:latin typeface="Arial"/>
                        </a:rPr>
                        <a:t>+4.2%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  <a:latin typeface="Arial"/>
                        </a:rPr>
                        <a:t>2,205.4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1F8F5A"/>
                          </a:solidFill>
                          <a:latin typeface="Arial"/>
                        </a:rPr>
                        <a:t>+1.9%</a:t>
                      </a:r>
                    </a:p>
                  </a:txBody>
                  <a:tcPr marL="36000" marR="36000" marT="12000" marB="12000" anchor="ctr">
                    <a:solidFill>
                      <a:srgbClr val="F3F6FB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612648" y="3850000"/>
            <a:ext cx="6200000" cy="20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000" y="3910000"/>
            <a:ext cx="5900000" cy="2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66788A"/>
                </a:solidFill>
                <a:latin typeface="Arial"/>
              </a:rPr>
              <a:t>WHAT MOVES THE OUTLOOK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000" y="4130000"/>
            <a:ext cx="590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Recovery adds about 140 GWh in FY2027. </a:t>
            </a:r>
            <a:r>
              <a:rPr sz="950" b="0">
                <a:solidFill>
                  <a:srgbClr val="1F1F1F"/>
                </a:solidFill>
                <a:latin typeface="Arial"/>
              </a:rPr>
              <a:t>Hotels return in steps (1,982 rooms in December, 2,524 in the first half of 2027) and water-supply customers are nearly back to last year.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Defections take about 71 GWh. </a:t>
            </a:r>
            <a:r>
              <a:rPr sz="950" b="0">
                <a:solidFill>
                  <a:srgbClr val="1F1F1F"/>
                </a:solidFill>
                <a:latin typeface="Arial"/>
              </a:rPr>
              <a:t>Alcoa, MBJ Airports and PAC Kingston Airport are decisions already taken, so this is not a forecast of behaviour.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Growth then slows. </a:t>
            </a:r>
            <a:r>
              <a:rPr sz="950" b="0">
                <a:solidFill>
                  <a:srgbClr val="1F1F1F"/>
                </a:solidFill>
                <a:latin typeface="Arial"/>
              </a:rPr>
              <a:t>In FY2028 the storm is behind us, and rooftop solar and self-generation are the main drag.</a:t>
            </a:r>
          </a:p>
          <a:p>
            <a:pPr algn="l"/>
            <a:r>
              <a:rPr sz="950" b="1">
                <a:solidFill>
                  <a:srgbClr val="062552"/>
                </a:solidFill>
                <a:latin typeface="Arial"/>
              </a:rPr>
              <a:t>Watch. </a:t>
            </a:r>
            <a:r>
              <a:rPr sz="950" b="0">
                <a:solidFill>
                  <a:srgbClr val="1F1F1F"/>
                </a:solidFill>
                <a:latin typeface="Arial"/>
              </a:rPr>
              <a:t>Hotel volumes are still 19% below last year, so the pace of reopenings is the first sign of whether the recovery is on track.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0000" y="1572768"/>
            <a:ext cx="45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62552"/>
                </a:solidFill>
                <a:latin typeface="Arial"/>
              </a:rPr>
              <a:t>Year on year by month, 2026 vs 2025 (%)</a:t>
            </a:r>
          </a:p>
        </p:txBody>
      </p:sp>
      <p:graphicFrame>
        <p:nvGraphicFramePr>
          <p:cNvPr id="29" name="Chart 28"/>
          <p:cNvGraphicFramePr>
            <a:graphicFrameLocks noGrp="1"/>
          </p:cNvGraphicFramePr>
          <p:nvPr/>
        </p:nvGraphicFramePr>
        <p:xfrm>
          <a:off x="7050000" y="1800000"/>
          <a:ext cx="4550000" cy="3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100000" y="4850000"/>
            <a:ext cx="4500000" cy="11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062552"/>
                </a:solidFill>
                <a:latin typeface="Arial"/>
              </a:rPr>
              <a:t>Hotels: -31% in January to -19% in September. </a:t>
            </a:r>
            <a:r>
              <a:rPr sz="900" b="0">
                <a:solidFill>
                  <a:srgbClr val="1F1F1F"/>
                </a:solidFill>
                <a:latin typeface="Arial"/>
              </a:rPr>
              <a:t>Water supply: -21% to -0.6%. Commercial total: -14% to -5.8%.</a:t>
            </a:r>
          </a:p>
          <a:p>
            <a:pPr algn="l"/>
            <a:r>
              <a:rPr sz="900" b="0">
                <a:solidFill>
                  <a:srgbClr val="66788A"/>
                </a:solidFill>
                <a:latin typeface="Arial"/>
              </a:rPr>
              <a:t>Storm hit in late October 2025; hotels recover with reopened rooms, water supply with restored pumping.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5900000"/>
            <a:ext cx="6200000" cy="1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88A"/>
                </a:solidFill>
                <a:latin typeface="Arial"/>
              </a:rPr>
              <a:t>FY2026 to FY2028 are held at the financials; FY2025 is billed actual. Commercial = RT20 to RT70.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566928"/>
            <a:ext cx="10058400" cy="566928"/>
          </a:xfrm>
        </p:spPr>
        <p:txBody>
          <a:bodyPr/>
          <a:lstStyle/>
          <a:p>
            <a:pPr algn="l"/>
            <a:r>
              <a:rPr lang="en-US" sz="2800" b="1" dirty="0">
                <a:solidFill>
                  <a:srgbClr val="22438A"/>
                </a:solidFill>
                <a:latin typeface="Arial"/>
              </a:rPr>
              <a:t>KEY MESSAGES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841248" y="1161288"/>
            <a:ext cx="1048816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50" b="0" dirty="0">
                <a:solidFill>
                  <a:srgbClr val="009ED9"/>
                </a:solidFill>
                <a:latin typeface="Arial"/>
              </a:rPr>
              <a:t>Volume is recovering, but revenue sits with a few large accounts that can leave: the commercial model protects it</a:t>
            </a:r>
          </a:p>
        </p:txBody>
      </p:sp>
      <p:sp>
        <p:nvSpPr>
          <p:cNvPr id="21" name="Key Initiative"/>
          <p:cNvSpPr/>
          <p:nvPr/>
        </p:nvSpPr>
        <p:spPr>
          <a:xfrm>
            <a:off x="612648" y="6181344"/>
            <a:ext cx="10972800" cy="548640"/>
          </a:xfrm>
          <a:prstGeom prst="roundRect">
            <a:avLst>
              <a:gd name="adj" fmla="val 16667"/>
            </a:avLst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66928" tIns="0" bIns="0" rtlCol="0" anchor="ctr"/>
          <a:lstStyle/>
          <a:p>
            <a:pPr algn="l"/>
            <a:r>
              <a:rPr lang="en-US" sz="1200" b="1" dirty="0">
                <a:solidFill>
                  <a:srgbClr val="009ED9"/>
                </a:solidFill>
                <a:latin typeface="Arial"/>
              </a:rPr>
              <a:t>So what and ask</a:t>
            </a:r>
          </a:p>
          <a:p>
            <a:pPr algn="l"/>
            <a:r>
              <a:rPr lang="en-US" sz="1200" b="1" dirty="0">
                <a:solidFill>
                  <a:srgbClr val="000000"/>
                </a:solidFill>
                <a:latin typeface="Arial"/>
              </a:rPr>
              <a:t>Protect the top accounts: </a:t>
            </a:r>
            <a:r>
              <a:rPr lang="en-US" sz="1200" b="0" dirty="0">
                <a:solidFill>
                  <a:srgbClr val="000000"/>
                </a:solidFill>
                <a:latin typeface="Arial"/>
              </a:rPr>
              <a:t>risk register in Feb, Tier 1 offers in Mar. Board support requested for flexible contracting.</a:t>
            </a:r>
          </a:p>
        </p:txBody>
      </p:sp>
      <p:sp>
        <p:nvSpPr>
          <p:cNvPr id="22" name="Chevron"/>
          <p:cNvSpPr/>
          <p:nvPr/>
        </p:nvSpPr>
        <p:spPr>
          <a:xfrm>
            <a:off x="722376" y="6236207"/>
            <a:ext cx="393192" cy="438912"/>
          </a:xfrm>
          <a:prstGeom prst="chevron">
            <a:avLst/>
          </a:prstGeom>
          <a:solidFill>
            <a:srgbClr val="2243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SEPTEMBER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−6.3%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vs budget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Alcoa's move to self-generation explains 6.5 of the 12.2 GWh gap.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Year to date: +0.4% vs budget, −5.7% vs 2025.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THE BASE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94%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of key-account revenue retained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97% of accounts and 93% of volume stayed.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Six accounts drive J$540M of the J$0.9bn decline: water supply, Jamaica Broilers and Alcoa lead.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12648" y="1650000"/>
            <a:ext cx="3560000" cy="3500000"/>
          </a:xfrm>
          <a:prstGeom prst="rect">
            <a:avLst/>
          </a:prstGeom>
          <a:solidFill>
            <a:srgbClr val="EEF2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12648" y="1650000"/>
            <a:ext cx="3560000" cy="70000"/>
          </a:xfrm>
          <a:prstGeom prst="rect">
            <a:avLst/>
          </a:prstGeom>
          <a:solidFill>
            <a:srgbClr val="009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72648" y="1830000"/>
            <a:ext cx="3200000" cy="2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6788A"/>
                </a:solidFill>
                <a:latin typeface="Arial"/>
              </a:rPr>
              <a:t>AHEAD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72648" y="2110000"/>
            <a:ext cx="3200000" cy="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062552"/>
                </a:solidFill>
                <a:latin typeface="Arial"/>
              </a:rPr>
              <a:t>+4.2%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72648" y="2850000"/>
            <a:ext cx="3200000" cy="3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4E95"/>
                </a:solidFill>
                <a:latin typeface="Arial"/>
              </a:rPr>
              <a:t>commercial sales in FY2027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72648" y="3350000"/>
            <a:ext cx="3250000" cy="170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Storm recovery adds 140 GWh; three defections take 71 GWh. </a:t>
            </a:r>
          </a:p>
          <a:p>
            <a:pPr algn="l"/>
            <a:r>
              <a:rPr sz="1200" b="0">
                <a:solidFill>
                  <a:srgbClr val="1F1F1F"/>
                </a:solidFill>
                <a:latin typeface="Arial"/>
              </a:rPr>
              <a:t>J$4.16B across 18 accounts is still at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2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4.xml><?xml version="1.0" encoding="utf-8"?>
<a:theme xmlns:a="http://schemas.openxmlformats.org/drawingml/2006/main" name="3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5.xml><?xml version="1.0" encoding="utf-8"?>
<a:theme xmlns:a="http://schemas.openxmlformats.org/drawingml/2006/main" name="4_Office Theme">
  <a:themeElements>
    <a:clrScheme name="JPS Brand Template">
      <a:dk1>
        <a:srgbClr val="000000"/>
      </a:dk1>
      <a:lt1>
        <a:srgbClr val="FFFFFF"/>
      </a:lt1>
      <a:dk2>
        <a:srgbClr val="44546A"/>
      </a:dk2>
      <a:lt2>
        <a:srgbClr val="F1F1F1"/>
      </a:lt2>
      <a:accent1>
        <a:srgbClr val="0C4D94"/>
      </a:accent1>
      <a:accent2>
        <a:srgbClr val="052351"/>
      </a:accent2>
      <a:accent3>
        <a:srgbClr val="FFFFFF"/>
      </a:accent3>
      <a:accent4>
        <a:srgbClr val="FFEF00"/>
      </a:accent4>
      <a:accent5>
        <a:srgbClr val="009ED9"/>
      </a:accent5>
      <a:accent6>
        <a:srgbClr val="96CF59"/>
      </a:accent6>
      <a:hlink>
        <a:srgbClr val="0563C1"/>
      </a:hlink>
      <a:folHlink>
        <a:srgbClr val="0E71D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6 Brand Refresh Template" id="{7C8E15AC-222E-724A-A53D-B2E92DA2A17C}" vid="{C57CD149-FEBD-8948-BAE4-30C91AE6FBA9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5633e6f-ebdb-440a-a774-fa759bdff499" xsi:nil="true"/>
    <lcf76f155ced4ddcb4097134ff3c332f xmlns="314078b5-608a-4acd-be10-f84d9950b557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2F9971224D164D85402CDCD92571F0" ma:contentTypeVersion="15" ma:contentTypeDescription="Create a new document." ma:contentTypeScope="" ma:versionID="6f610e8dda8b85f32a2f4c3f563442fd">
  <xsd:schema xmlns:xsd="http://www.w3.org/2001/XMLSchema" xmlns:xs="http://www.w3.org/2001/XMLSchema" xmlns:p="http://schemas.microsoft.com/office/2006/metadata/properties" xmlns:ns2="314078b5-608a-4acd-be10-f84d9950b557" xmlns:ns3="35633e6f-ebdb-440a-a774-fa759bdff499" targetNamespace="http://schemas.microsoft.com/office/2006/metadata/properties" ma:root="true" ma:fieldsID="b996becf6236c172bd02dca43b031d92" ns2:_="" ns3:_="">
    <xsd:import namespace="314078b5-608a-4acd-be10-f84d9950b557"/>
    <xsd:import namespace="35633e6f-ebdb-440a-a774-fa759bdff49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4078b5-608a-4acd-be10-f84d9950b5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6ac19319-c8f2-47a2-a072-c64feff92b2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633e6f-ebdb-440a-a774-fa759bdff49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a70a0f98-646f-442f-9059-9ef6884c1a60}" ma:internalName="TaxCatchAll" ma:showField="CatchAllData" ma:web="35633e6f-ebdb-440a-a774-fa759bdff4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2F55DFB-36BA-40D6-A75B-CD7EBB17A671}">
  <ds:schemaRefs>
    <ds:schemaRef ds:uri="http://schemas.microsoft.com/office/2006/metadata/properties"/>
    <ds:schemaRef ds:uri="http://www.w3.org/2000/xmlns/"/>
    <ds:schemaRef ds:uri="35633e6f-ebdb-440a-a774-fa759bdff499"/>
    <ds:schemaRef ds:uri="http://www.w3.org/2001/XMLSchema-instance"/>
    <ds:schemaRef ds:uri="314078b5-608a-4acd-be10-f84d9950b557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B860102-9AA7-4D28-A7CB-71C1B8454CF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4B4E8CB-F0A5-4D60-8783-7F554C1F8B58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314078b5-608a-4acd-be10-f84d9950b557"/>
    <ds:schemaRef ds:uri="35633e6f-ebdb-440a-a774-fa759bdff499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3591</TotalTime>
  <Words>2527</Words>
  <Application>Microsoft Office PowerPoint</Application>
  <PresentationFormat>Widescreen</PresentationFormat>
  <Paragraphs>436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1" baseType="lpstr">
      <vt:lpstr>Aileron</vt:lpstr>
      <vt:lpstr>Aileron Bold</vt:lpstr>
      <vt:lpstr>Aptos</vt:lpstr>
      <vt:lpstr>Aptos Black</vt:lpstr>
      <vt:lpstr>Aptos ExtraBold</vt:lpstr>
      <vt:lpstr>Arial</vt:lpstr>
      <vt:lpstr>Calibri</vt:lpstr>
      <vt:lpstr>Gotham Bold</vt:lpstr>
      <vt:lpstr>Gotham Book</vt:lpstr>
      <vt:lpstr>Office Theme</vt:lpstr>
      <vt:lpstr>1_Office Theme</vt:lpstr>
      <vt:lpstr>2_Office Theme</vt:lpstr>
      <vt:lpstr>3_Office Theme</vt:lpstr>
      <vt:lpstr>4_Office Theme</vt:lpstr>
      <vt:lpstr>CLIENT RELATIONS &amp; COMMERCIAL</vt:lpstr>
      <vt:lpstr>APPENDIX</vt:lpstr>
      <vt:lpstr>CLIENT RELATIONS  |  SERVICE &amp; RELIABILITY</vt:lpstr>
      <vt:lpstr>CLIENT RELATIONS  |  DEFECTION RISK</vt:lpstr>
      <vt:lpstr>COMMERCIAL  |  SALES VS BUDGET</vt:lpstr>
      <vt:lpstr>COMMERCIAL  |  GROWTH &amp; TOURISM RECOVERY</vt:lpstr>
      <vt:lpstr>COMMERCIAL  |  BUILDING THE COMMERCIAL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Jhenelle Lewis</dc:creator>
  <cp:lastModifiedBy>Pia Baker</cp:lastModifiedBy>
  <cp:revision>299</cp:revision>
  <dcterms:created xsi:type="dcterms:W3CDTF">2026-06-08T12:41:49Z</dcterms:created>
  <dcterms:modified xsi:type="dcterms:W3CDTF">2026-10-28T22:30:31Z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0x010100122F9971224D164D85402CDCD92571F0</vt:lpwstr>
  </property>
  <property fmtid="{D5CDD505-2E9C-101B-9397-08002B2CF9AE}" pid="3" name="MediaServiceImageTags">
    <vt:lpwstr/>
  </property>
</Properties>
</file>