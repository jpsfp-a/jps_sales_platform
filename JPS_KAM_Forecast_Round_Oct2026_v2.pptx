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 id="2147483712" r:id="rId5"/>
  </p:sldMasterIdLst>
  <p:notesMasterIdLst>
    <p:notesMasterId r:id="rId47"/>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000"/>
    <a:srgbClr val="0E4E95"/>
    <a:srgbClr val="009FDA"/>
    <a:srgbClr val="FFFFFF"/>
    <a:srgbClr val="062552"/>
    <a:srgbClr val="FFFDF8"/>
    <a:srgbClr val="FFF000"/>
    <a:srgbClr val="97CF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87011" autoAdjust="0"/>
  </p:normalViewPr>
  <p:slideViewPr>
    <p:cSldViewPr snapToGrid="0">
      <p:cViewPr varScale="1">
        <p:scale>
          <a:sx n="99" d="100"/>
          <a:sy n="99" d="100"/>
        </p:scale>
        <p:origin x="10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Account level</c:v>
                </c:pt>
              </c:strCache>
            </c:strRef>
          </c:tx>
          <c:spPr>
            <a:solidFill>
              <a:srgbClr val="009FDA"/>
            </a:solidFill>
          </c:spPr>
          <c:invertIfNegative val="0"/>
          <c:cat>
            <c:strRef>
              <c:f>Sheet1!$A$2:$A$11</c:f>
              <c:strCache>
                <c:ptCount val="10"/>
                <c:pt idx="0">
                  <c:v>Jean</c:v>
                </c:pt>
                <c:pt idx="1">
                  <c:v>Kenroy</c:v>
                </c:pt>
                <c:pt idx="2">
                  <c:v>Ruel</c:v>
                </c:pt>
                <c:pt idx="3">
                  <c:v>Sharmica</c:v>
                </c:pt>
                <c:pt idx="4">
                  <c:v>Ewan</c:v>
                </c:pt>
                <c:pt idx="5">
                  <c:v>Sheryl</c:v>
                </c:pt>
                <c:pt idx="6">
                  <c:v>Anna-Kay</c:v>
                </c:pt>
                <c:pt idx="7">
                  <c:v>Tanya</c:v>
                </c:pt>
                <c:pt idx="8">
                  <c:v>Nicole</c:v>
                </c:pt>
                <c:pt idx="9">
                  <c:v>Simone</c:v>
                </c:pt>
              </c:strCache>
            </c:strRef>
          </c:cat>
          <c:val>
            <c:numRef>
              <c:f>Sheet1!$B$2:$B$11</c:f>
              <c:numCache>
                <c:formatCode>General</c:formatCode>
                <c:ptCount val="10"/>
                <c:pt idx="0">
                  <c:v>0.9016651021531479</c:v>
                </c:pt>
                <c:pt idx="1">
                  <c:v>0.813467129923839</c:v>
                </c:pt>
                <c:pt idx="2">
                  <c:v>0.728886922958158</c:v>
                </c:pt>
                <c:pt idx="3">
                  <c:v>0.8223493986870686</c:v>
                </c:pt>
                <c:pt idx="4">
                  <c:v>0.8344275643030326</c:v>
                </c:pt>
                <c:pt idx="5">
                  <c:v>0.9270799610428133</c:v>
                </c:pt>
                <c:pt idx="6">
                  <c:v>0.9023614390678178</c:v>
                </c:pt>
                <c:pt idx="7">
                  <c:v>0.9133005649070433</c:v>
                </c:pt>
                <c:pt idx="8">
                  <c:v>0.7882575714748705</c:v>
                </c:pt>
                <c:pt idx="9">
                  <c:v>0.8596824503577486</c:v>
                </c:pt>
              </c:numCache>
            </c:numRef>
          </c:val>
        </c:ser>
        <c:ser>
          <c:idx val="1"/>
          <c:order val="1"/>
          <c:tx>
            <c:strRef>
              <c:f>Sheet1!$C$1</c:f>
              <c:strCache>
                <c:ptCount val="1"/>
                <c:pt idx="0">
                  <c:v>Net</c:v>
                </c:pt>
              </c:strCache>
            </c:strRef>
          </c:tx>
          <c:spPr>
            <a:solidFill>
              <a:srgbClr val="062552"/>
            </a:solidFill>
          </c:spPr>
          <c:invertIfNegative val="0"/>
          <c:cat>
            <c:strRef>
              <c:f>Sheet1!$A$2:$A$11</c:f>
              <c:strCache>
                <c:ptCount val="10"/>
                <c:pt idx="0">
                  <c:v>Jean</c:v>
                </c:pt>
                <c:pt idx="1">
                  <c:v>Kenroy</c:v>
                </c:pt>
                <c:pt idx="2">
                  <c:v>Ruel</c:v>
                </c:pt>
                <c:pt idx="3">
                  <c:v>Sharmica</c:v>
                </c:pt>
                <c:pt idx="4">
                  <c:v>Ewan</c:v>
                </c:pt>
                <c:pt idx="5">
                  <c:v>Sheryl</c:v>
                </c:pt>
                <c:pt idx="6">
                  <c:v>Anna-Kay</c:v>
                </c:pt>
                <c:pt idx="7">
                  <c:v>Tanya</c:v>
                </c:pt>
                <c:pt idx="8">
                  <c:v>Nicole</c:v>
                </c:pt>
                <c:pt idx="9">
                  <c:v>Simone</c:v>
                </c:pt>
              </c:strCache>
            </c:strRef>
          </c:cat>
          <c:val>
            <c:numRef>
              <c:f>Sheet1!$C$2:$C$11</c:f>
              <c:numCache>
                <c:formatCode>General</c:formatCode>
                <c:ptCount val="10"/>
                <c:pt idx="0">
                  <c:v>0.971613332511506</c:v>
                </c:pt>
                <c:pt idx="1">
                  <c:v>0.8854623662621541</c:v>
                </c:pt>
                <c:pt idx="2">
                  <c:v>0.9973833451988205</c:v>
                </c:pt>
                <c:pt idx="3">
                  <c:v>0.8749058985032423</c:v>
                </c:pt>
                <c:pt idx="4">
                  <c:v>0.9640899222078908</c:v>
                </c:pt>
                <c:pt idx="5">
                  <c:v>0.9789441815381602</c:v>
                </c:pt>
                <c:pt idx="6">
                  <c:v>0.9586578111234519</c:v>
                </c:pt>
                <c:pt idx="7">
                  <c:v>0.9532710700726591</c:v>
                </c:pt>
                <c:pt idx="8">
                  <c:v>0.9355053053581892</c:v>
                </c:pt>
                <c:pt idx="9">
                  <c:v>0.9714127502619891</c:v>
                </c:pt>
              </c:numCache>
            </c:numRef>
          </c:val>
        </c:ser>
        <c:dLbls>
          <c:numFmt formatCode="0%" sourceLinked="0"/>
          <c:txPr>
            <a:bodyPr/>
            <a:lstStyle/>
            <a:p>
              <a:pPr>
                <a:defRPr sz="800">
                  <a:latin typeface="Arial"/>
                </a:defRPr>
              </a:pPr>
            </a:p>
          </c:txPr>
          <c:dLblPos val="outEnd"/>
          <c:showLegendKey val="0"/>
          <c:showVal val="1"/>
          <c:showCatName val="0"/>
          <c:showSerName val="0"/>
          <c:showPercent val="0"/>
          <c:showBubbleSize val="0"/>
          <c:showLeaderLines val="1"/>
        </c:dLbls>
        <c:gapWidth val="45"/>
        <c:overlap val="-5"/>
        <c:axId val="-2068027336"/>
        <c:axId val="-2113994440"/>
      </c:barChart>
      <c:catAx>
        <c:axId val="-2068027336"/>
        <c:scaling>
          <c:orientation val="minMax"/>
        </c:scaling>
        <c:delete val="0"/>
        <c:axPos val="l"/>
        <c:majorTickMark val="out"/>
        <c:minorTickMark val="none"/>
        <c:tickLblPos val="nextTo"/>
        <c:txPr>
          <a:bodyPr/>
          <a:lstStyle/>
          <a:p>
            <a:pPr>
              <a:defRPr sz="900">
                <a:latin typeface="Arial"/>
              </a:defRPr>
            </a:pPr>
          </a:p>
        </c:txPr>
        <c:crossAx val="-2113994440"/>
        <c:crosses val="autoZero"/>
        <c:auto val="1"/>
        <c:lblAlgn val="ctr"/>
        <c:lblOffset val="100"/>
        <c:noMultiLvlLbl val="0"/>
      </c:catAx>
      <c:valAx>
        <c:axId val="-2113994440"/>
        <c:scaling>
          <c:max val="1.15"/>
          <c:min val="0.0"/>
        </c:scaling>
        <c:delete val="0"/>
        <c:axPos val="b"/>
        <c:majorTickMark val="none"/>
        <c:minorTickMark val="none"/>
        <c:tickLblPos val="none"/>
        <c:crossAx val="-2068027336"/>
        <c:crosses val="autoZero"/>
      </c:valAx>
    </c:plotArea>
    <c:legend>
      <c:legendPos val="b"/>
      <c:overlay val="0"/>
      <c:txPr>
        <a:bodyPr/>
        <a:lstStyle/>
        <a:p>
          <a:pPr>
            <a:defRPr sz="9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JM"/>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D94F2353-5319-4B93-868E-90E661544A21}" type="datetimeFigureOut">
              <a:rPr lang="en-JM" smtClean="0"/>
              <a:t>14/10/2026</a:t>
            </a:fld>
            <a:endParaRPr lang="en-JM"/>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JM"/>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JM"/>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54A6AFF9-10F2-4CAF-B65B-9235AF386E10}" type="slidenum">
              <a:rPr lang="en-JM" smtClean="0"/>
              <a:t>‹#›</a:t>
            </a:fld>
            <a:endParaRPr lang="en-JM"/>
          </a:p>
        </p:txBody>
      </p:sp>
    </p:spTree>
    <p:extLst>
      <p:ext uri="{BB962C8B-B14F-4D97-AF65-F5344CB8AC3E}">
        <p14:creationId xmlns:p14="http://schemas.microsoft.com/office/powerpoint/2010/main" val="1763846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owerPoint Cover 1">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08ED-8DAD-3DDF-C241-E7D740AB3EA8}"/>
              </a:ext>
            </a:extLst>
          </p:cNvPr>
          <p:cNvSpPr>
            <a:spLocks noGrp="1"/>
          </p:cNvSpPr>
          <p:nvPr>
            <p:ph type="ctrTitle" hasCustomPrompt="1"/>
          </p:nvPr>
        </p:nvSpPr>
        <p:spPr>
          <a:xfrm>
            <a:off x="1524000" y="1122363"/>
            <a:ext cx="9144000" cy="2387600"/>
          </a:xfrm>
        </p:spPr>
        <p:txBody>
          <a:bodyPr anchor="b">
            <a:normAutofit/>
          </a:bodyPr>
          <a:lstStyle>
            <a:lvl1pPr algn="ctr">
              <a:defRPr sz="4000">
                <a:solidFill>
                  <a:schemeClr val="bg1"/>
                </a:solidFill>
              </a:defRPr>
            </a:lvl1pPr>
          </a:lstStyle>
          <a:p>
            <a:r>
              <a:rPr lang="en-US"/>
              <a:t>PRESENTATION TITLE HERE</a:t>
            </a:r>
          </a:p>
        </p:txBody>
      </p:sp>
      <p:sp>
        <p:nvSpPr>
          <p:cNvPr id="3" name="Subtitle 2">
            <a:extLst>
              <a:ext uri="{FF2B5EF4-FFF2-40B4-BE49-F238E27FC236}">
                <a16:creationId xmlns:a16="http://schemas.microsoft.com/office/drawing/2014/main" id="{5710112C-CAD0-ACAA-EF44-D38B25816E85}"/>
              </a:ext>
            </a:extLst>
          </p:cNvPr>
          <p:cNvSpPr>
            <a:spLocks noGrp="1"/>
          </p:cNvSpPr>
          <p:nvPr>
            <p:ph type="subTitle" idx="1" hasCustomPrompt="1"/>
          </p:nvPr>
        </p:nvSpPr>
        <p:spPr>
          <a:xfrm>
            <a:off x="1524000" y="3602038"/>
            <a:ext cx="9144000" cy="1655762"/>
          </a:xfrm>
        </p:spPr>
        <p:txBody>
          <a:bodyPr/>
          <a:lstStyle>
            <a:lvl1pPr marL="0" indent="0" algn="ctr">
              <a:buNone/>
              <a:defRPr sz="2400" b="1" i="0">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p>
        </p:txBody>
      </p:sp>
      <p:sp>
        <p:nvSpPr>
          <p:cNvPr id="7" name="Freeform 2">
            <a:extLst>
              <a:ext uri="{FF2B5EF4-FFF2-40B4-BE49-F238E27FC236}">
                <a16:creationId xmlns:a16="http://schemas.microsoft.com/office/drawing/2014/main" id="{24883C95-2656-864D-EFCC-2C3C6D7BC25C}"/>
              </a:ext>
            </a:extLst>
          </p:cNvPr>
          <p:cNvSpPr/>
          <p:nvPr userDrawn="1"/>
        </p:nvSpPr>
        <p:spPr>
          <a:xfrm>
            <a:off x="-132522" y="6033388"/>
            <a:ext cx="7389578" cy="629648"/>
          </a:xfrm>
          <a:custGeom>
            <a:avLst/>
            <a:gdLst/>
            <a:ahLst/>
            <a:cxnLst/>
            <a:rect l="l" t="t" r="r" b="b"/>
            <a:pathLst>
              <a:path w="10396075" h="885825">
                <a:moveTo>
                  <a:pt x="0" y="0"/>
                </a:moveTo>
                <a:lnTo>
                  <a:pt x="10396075" y="0"/>
                </a:lnTo>
                <a:lnTo>
                  <a:pt x="10396075" y="885825"/>
                </a:lnTo>
                <a:lnTo>
                  <a:pt x="0" y="885825"/>
                </a:lnTo>
                <a:lnTo>
                  <a:pt x="0" y="0"/>
                </a:lnTo>
                <a:close/>
              </a:path>
            </a:pathLst>
          </a:custGeom>
          <a:blipFill>
            <a:blip r:embed="rId2"/>
            <a:stretch>
              <a:fillRect r="-75912"/>
            </a:stretch>
          </a:blipFill>
          <a:ln cap="sq">
            <a:noFill/>
            <a:prstDash val="solid"/>
            <a:miter/>
          </a:ln>
        </p:spPr>
        <p:txBody>
          <a:bodyPr/>
          <a:lstStyle/>
          <a:p>
            <a:endParaRPr lang="en-JM"/>
          </a:p>
        </p:txBody>
      </p:sp>
      <p:sp>
        <p:nvSpPr>
          <p:cNvPr id="8" name="Freeform 3">
            <a:extLst>
              <a:ext uri="{FF2B5EF4-FFF2-40B4-BE49-F238E27FC236}">
                <a16:creationId xmlns:a16="http://schemas.microsoft.com/office/drawing/2014/main" id="{323C6F31-8823-3A1C-B52A-8FE872C73897}"/>
              </a:ext>
            </a:extLst>
          </p:cNvPr>
          <p:cNvSpPr/>
          <p:nvPr userDrawn="1"/>
        </p:nvSpPr>
        <p:spPr>
          <a:xfrm>
            <a:off x="7336480" y="6197157"/>
            <a:ext cx="3483107" cy="302109"/>
          </a:xfrm>
          <a:custGeom>
            <a:avLst/>
            <a:gdLst/>
            <a:ahLst/>
            <a:cxnLst/>
            <a:rect l="l" t="t" r="r" b="b"/>
            <a:pathLst>
              <a:path w="4900239" h="425024">
                <a:moveTo>
                  <a:pt x="0" y="0"/>
                </a:moveTo>
                <a:lnTo>
                  <a:pt x="4900239" y="0"/>
                </a:lnTo>
                <a:lnTo>
                  <a:pt x="4900239" y="425024"/>
                </a:lnTo>
                <a:lnTo>
                  <a:pt x="0" y="425024"/>
                </a:lnTo>
                <a:lnTo>
                  <a:pt x="0" y="0"/>
                </a:lnTo>
                <a:close/>
              </a:path>
            </a:pathLst>
          </a:custGeom>
          <a:blipFill>
            <a:blip r:embed="rId3"/>
            <a:stretch>
              <a:fillRect/>
            </a:stretch>
          </a:blipFill>
        </p:spPr>
        <p:txBody>
          <a:bodyPr/>
          <a:lstStyle/>
          <a:p>
            <a:endParaRPr lang="en-JM"/>
          </a:p>
        </p:txBody>
      </p:sp>
      <p:sp>
        <p:nvSpPr>
          <p:cNvPr id="9" name="Freeform 4">
            <a:extLst>
              <a:ext uri="{FF2B5EF4-FFF2-40B4-BE49-F238E27FC236}">
                <a16:creationId xmlns:a16="http://schemas.microsoft.com/office/drawing/2014/main" id="{4794DDB2-EB20-4483-670B-29F286D1B57B}"/>
              </a:ext>
            </a:extLst>
          </p:cNvPr>
          <p:cNvSpPr/>
          <p:nvPr userDrawn="1"/>
        </p:nvSpPr>
        <p:spPr>
          <a:xfrm>
            <a:off x="10899011" y="6033388"/>
            <a:ext cx="1905088" cy="629649"/>
          </a:xfrm>
          <a:custGeom>
            <a:avLst/>
            <a:gdLst/>
            <a:ahLst/>
            <a:cxnLst/>
            <a:rect l="l" t="t" r="r" b="b"/>
            <a:pathLst>
              <a:path w="2680184" h="885825">
                <a:moveTo>
                  <a:pt x="0" y="0"/>
                </a:moveTo>
                <a:lnTo>
                  <a:pt x="2680184" y="0"/>
                </a:lnTo>
                <a:lnTo>
                  <a:pt x="2680184" y="885825"/>
                </a:lnTo>
                <a:lnTo>
                  <a:pt x="0" y="885825"/>
                </a:lnTo>
                <a:lnTo>
                  <a:pt x="0" y="0"/>
                </a:lnTo>
                <a:close/>
              </a:path>
            </a:pathLst>
          </a:custGeom>
          <a:blipFill>
            <a:blip r:embed="rId2"/>
            <a:stretch>
              <a:fillRect l="-582341"/>
            </a:stretch>
          </a:blipFill>
          <a:ln cap="sq">
            <a:noFill/>
            <a:prstDash val="solid"/>
            <a:miter/>
          </a:ln>
        </p:spPr>
        <p:txBody>
          <a:bodyPr/>
          <a:lstStyle/>
          <a:p>
            <a:endParaRPr lang="en-JM"/>
          </a:p>
        </p:txBody>
      </p:sp>
    </p:spTree>
    <p:extLst>
      <p:ext uri="{BB962C8B-B14F-4D97-AF65-F5344CB8AC3E}">
        <p14:creationId xmlns:p14="http://schemas.microsoft.com/office/powerpoint/2010/main" val="717074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PowerPoint Cover 1">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08ED-8DAD-3DDF-C241-E7D740AB3EA8}"/>
              </a:ext>
            </a:extLst>
          </p:cNvPr>
          <p:cNvSpPr>
            <a:spLocks noGrp="1"/>
          </p:cNvSpPr>
          <p:nvPr>
            <p:ph type="ctrTitle" hasCustomPrompt="1"/>
          </p:nvPr>
        </p:nvSpPr>
        <p:spPr>
          <a:xfrm>
            <a:off x="481264" y="753395"/>
            <a:ext cx="9144000" cy="722479"/>
          </a:xfrm>
        </p:spPr>
        <p:txBody>
          <a:bodyPr anchor="t">
            <a:normAutofit/>
          </a:bodyPr>
          <a:lstStyle>
            <a:lvl1pPr algn="l">
              <a:defRPr sz="4000">
                <a:solidFill>
                  <a:schemeClr val="bg1"/>
                </a:solidFill>
              </a:defRPr>
            </a:lvl1pPr>
          </a:lstStyle>
          <a:p>
            <a:r>
              <a:rPr lang="en-US"/>
              <a:t>PRESENTATION TITLE HERE</a:t>
            </a:r>
          </a:p>
        </p:txBody>
      </p:sp>
      <p:sp>
        <p:nvSpPr>
          <p:cNvPr id="3" name="Subtitle 2">
            <a:extLst>
              <a:ext uri="{FF2B5EF4-FFF2-40B4-BE49-F238E27FC236}">
                <a16:creationId xmlns:a16="http://schemas.microsoft.com/office/drawing/2014/main" id="{5710112C-CAD0-ACAA-EF44-D38B25816E85}"/>
              </a:ext>
            </a:extLst>
          </p:cNvPr>
          <p:cNvSpPr>
            <a:spLocks noGrp="1"/>
          </p:cNvSpPr>
          <p:nvPr>
            <p:ph type="subTitle" idx="1" hasCustomPrompt="1"/>
          </p:nvPr>
        </p:nvSpPr>
        <p:spPr>
          <a:xfrm>
            <a:off x="481264" y="1660944"/>
            <a:ext cx="9144000" cy="629648"/>
          </a:xfrm>
        </p:spPr>
        <p:txBody>
          <a:bodyPr/>
          <a:lstStyle>
            <a:lvl1pPr marL="0" indent="0" algn="l">
              <a:buNone/>
              <a:defRPr sz="2400" b="1" i="0">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p>
        </p:txBody>
      </p:sp>
      <p:sp>
        <p:nvSpPr>
          <p:cNvPr id="7" name="Freeform 2">
            <a:extLst>
              <a:ext uri="{FF2B5EF4-FFF2-40B4-BE49-F238E27FC236}">
                <a16:creationId xmlns:a16="http://schemas.microsoft.com/office/drawing/2014/main" id="{24883C95-2656-864D-EFCC-2C3C6D7BC25C}"/>
              </a:ext>
            </a:extLst>
          </p:cNvPr>
          <p:cNvSpPr/>
          <p:nvPr userDrawn="1"/>
        </p:nvSpPr>
        <p:spPr>
          <a:xfrm>
            <a:off x="-132522" y="6033388"/>
            <a:ext cx="7389578" cy="629648"/>
          </a:xfrm>
          <a:custGeom>
            <a:avLst/>
            <a:gdLst/>
            <a:ahLst/>
            <a:cxnLst/>
            <a:rect l="l" t="t" r="r" b="b"/>
            <a:pathLst>
              <a:path w="10396075" h="885825">
                <a:moveTo>
                  <a:pt x="0" y="0"/>
                </a:moveTo>
                <a:lnTo>
                  <a:pt x="10396075" y="0"/>
                </a:lnTo>
                <a:lnTo>
                  <a:pt x="10396075" y="885825"/>
                </a:lnTo>
                <a:lnTo>
                  <a:pt x="0" y="885825"/>
                </a:lnTo>
                <a:lnTo>
                  <a:pt x="0" y="0"/>
                </a:lnTo>
                <a:close/>
              </a:path>
            </a:pathLst>
          </a:custGeom>
          <a:blipFill>
            <a:blip r:embed="rId2"/>
            <a:stretch>
              <a:fillRect r="-75912"/>
            </a:stretch>
          </a:blipFill>
          <a:ln cap="sq">
            <a:noFill/>
            <a:prstDash val="solid"/>
            <a:miter/>
          </a:ln>
        </p:spPr>
        <p:txBody>
          <a:bodyPr/>
          <a:lstStyle/>
          <a:p>
            <a:endParaRPr lang="en-JM"/>
          </a:p>
        </p:txBody>
      </p:sp>
      <p:sp>
        <p:nvSpPr>
          <p:cNvPr id="8" name="Freeform 3">
            <a:extLst>
              <a:ext uri="{FF2B5EF4-FFF2-40B4-BE49-F238E27FC236}">
                <a16:creationId xmlns:a16="http://schemas.microsoft.com/office/drawing/2014/main" id="{323C6F31-8823-3A1C-B52A-8FE872C73897}"/>
              </a:ext>
            </a:extLst>
          </p:cNvPr>
          <p:cNvSpPr/>
          <p:nvPr userDrawn="1"/>
        </p:nvSpPr>
        <p:spPr>
          <a:xfrm>
            <a:off x="7336480" y="6197157"/>
            <a:ext cx="3483107" cy="302109"/>
          </a:xfrm>
          <a:custGeom>
            <a:avLst/>
            <a:gdLst/>
            <a:ahLst/>
            <a:cxnLst/>
            <a:rect l="l" t="t" r="r" b="b"/>
            <a:pathLst>
              <a:path w="4900239" h="425024">
                <a:moveTo>
                  <a:pt x="0" y="0"/>
                </a:moveTo>
                <a:lnTo>
                  <a:pt x="4900239" y="0"/>
                </a:lnTo>
                <a:lnTo>
                  <a:pt x="4900239" y="425024"/>
                </a:lnTo>
                <a:lnTo>
                  <a:pt x="0" y="425024"/>
                </a:lnTo>
                <a:lnTo>
                  <a:pt x="0" y="0"/>
                </a:lnTo>
                <a:close/>
              </a:path>
            </a:pathLst>
          </a:custGeom>
          <a:blipFill>
            <a:blip r:embed="rId3"/>
            <a:stretch>
              <a:fillRect/>
            </a:stretch>
          </a:blipFill>
        </p:spPr>
        <p:txBody>
          <a:bodyPr/>
          <a:lstStyle/>
          <a:p>
            <a:endParaRPr lang="en-JM"/>
          </a:p>
        </p:txBody>
      </p:sp>
      <p:sp>
        <p:nvSpPr>
          <p:cNvPr id="9" name="Freeform 4">
            <a:extLst>
              <a:ext uri="{FF2B5EF4-FFF2-40B4-BE49-F238E27FC236}">
                <a16:creationId xmlns:a16="http://schemas.microsoft.com/office/drawing/2014/main" id="{4794DDB2-EB20-4483-670B-29F286D1B57B}"/>
              </a:ext>
            </a:extLst>
          </p:cNvPr>
          <p:cNvSpPr/>
          <p:nvPr userDrawn="1"/>
        </p:nvSpPr>
        <p:spPr>
          <a:xfrm>
            <a:off x="10899011" y="6033388"/>
            <a:ext cx="1905088" cy="629649"/>
          </a:xfrm>
          <a:custGeom>
            <a:avLst/>
            <a:gdLst/>
            <a:ahLst/>
            <a:cxnLst/>
            <a:rect l="l" t="t" r="r" b="b"/>
            <a:pathLst>
              <a:path w="2680184" h="885825">
                <a:moveTo>
                  <a:pt x="0" y="0"/>
                </a:moveTo>
                <a:lnTo>
                  <a:pt x="2680184" y="0"/>
                </a:lnTo>
                <a:lnTo>
                  <a:pt x="2680184" y="885825"/>
                </a:lnTo>
                <a:lnTo>
                  <a:pt x="0" y="885825"/>
                </a:lnTo>
                <a:lnTo>
                  <a:pt x="0" y="0"/>
                </a:lnTo>
                <a:close/>
              </a:path>
            </a:pathLst>
          </a:custGeom>
          <a:blipFill>
            <a:blip r:embed="rId2"/>
            <a:stretch>
              <a:fillRect l="-582341"/>
            </a:stretch>
          </a:blipFill>
          <a:ln cap="sq">
            <a:noFill/>
            <a:prstDash val="solid"/>
            <a:miter/>
          </a:ln>
        </p:spPr>
        <p:txBody>
          <a:bodyPr/>
          <a:lstStyle/>
          <a:p>
            <a:endParaRPr lang="en-JM"/>
          </a:p>
        </p:txBody>
      </p:sp>
    </p:spTree>
    <p:extLst>
      <p:ext uri="{BB962C8B-B14F-4D97-AF65-F5344CB8AC3E}">
        <p14:creationId xmlns:p14="http://schemas.microsoft.com/office/powerpoint/2010/main" val="2029475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Slide 1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DBFC8-12A5-8D51-8F48-E22A44642435}"/>
              </a:ext>
            </a:extLst>
          </p:cNvPr>
          <p:cNvSpPr>
            <a:spLocks noGrp="1"/>
          </p:cNvSpPr>
          <p:nvPr>
            <p:ph type="title" hasCustomPrompt="1"/>
          </p:nvPr>
        </p:nvSpPr>
        <p:spPr/>
        <p:txBody>
          <a:bodyPr/>
          <a:lstStyle>
            <a:lvl1pPr>
              <a:defRPr>
                <a:solidFill>
                  <a:schemeClr val="accent2">
                    <a:lumMod val="90000"/>
                    <a:lumOff val="10000"/>
                  </a:schemeClr>
                </a:solidFill>
              </a:defRPr>
            </a:lvl1pPr>
          </a:lstStyle>
          <a:p>
            <a:r>
              <a:rPr lang="en-US"/>
              <a:t>Header Here</a:t>
            </a:r>
          </a:p>
        </p:txBody>
      </p:sp>
      <p:sp>
        <p:nvSpPr>
          <p:cNvPr id="3" name="Content Placeholder 2">
            <a:extLst>
              <a:ext uri="{FF2B5EF4-FFF2-40B4-BE49-F238E27FC236}">
                <a16:creationId xmlns:a16="http://schemas.microsoft.com/office/drawing/2014/main" id="{CCF6E6FB-C2B6-6443-F2D8-137E1E61904D}"/>
              </a:ext>
            </a:extLst>
          </p:cNvPr>
          <p:cNvSpPr>
            <a:spLocks noGrp="1"/>
          </p:cNvSpPr>
          <p:nvPr>
            <p:ph idx="1" hasCustomPrompt="1"/>
          </p:nvPr>
        </p:nvSpPr>
        <p:spPr/>
        <p:txBody>
          <a:bodyPr/>
          <a:lstStyle>
            <a:lvl1pPr>
              <a:defRPr>
                <a:solidFill>
                  <a:schemeClr val="accent1">
                    <a:lumMod val="75000"/>
                  </a:schemeClr>
                </a:solidFill>
              </a:defRPr>
            </a:lvl1pPr>
            <a:lvl2pPr>
              <a:defRPr>
                <a:solidFill>
                  <a:schemeClr val="accent1">
                    <a:lumMod val="75000"/>
                  </a:schemeClr>
                </a:solidFill>
              </a:defRPr>
            </a:lvl2pPr>
            <a:lvl3pPr>
              <a:defRPr>
                <a:solidFill>
                  <a:schemeClr val="accent1">
                    <a:lumMod val="75000"/>
                  </a:schemeClr>
                </a:solidFill>
              </a:defRPr>
            </a:lvl3pPr>
            <a:lvl4pPr>
              <a:defRPr>
                <a:solidFill>
                  <a:schemeClr val="accent1">
                    <a:lumMod val="75000"/>
                  </a:schemeClr>
                </a:solidFill>
              </a:defRPr>
            </a:lvl4pPr>
            <a:lvl5pPr>
              <a:defRPr>
                <a:solidFill>
                  <a:schemeClr val="accent1">
                    <a:lumMod val="75000"/>
                  </a:schemeClr>
                </a:solidFill>
              </a:defRPr>
            </a:lvl5pPr>
          </a:lstStyle>
          <a:p>
            <a:pPr lvl="0"/>
            <a:r>
              <a:rPr lang="en-US"/>
              <a:t>Content Here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4301E-F966-7C12-6F91-9890B2ADA695}"/>
              </a:ext>
            </a:extLst>
          </p:cNvPr>
          <p:cNvSpPr>
            <a:spLocks noGrp="1"/>
          </p:cNvSpPr>
          <p:nvPr>
            <p:ph type="dt" sz="half" idx="10"/>
          </p:nvPr>
        </p:nvSpPr>
        <p:spPr>
          <a:xfrm>
            <a:off x="838199" y="6356350"/>
            <a:ext cx="6496251" cy="365125"/>
          </a:xfrm>
        </p:spPr>
        <p:txBody>
          <a:bodyPr/>
          <a:lstStyle>
            <a:lvl1pPr>
              <a:defRPr>
                <a:solidFill>
                  <a:schemeClr val="accent1">
                    <a:lumMod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55B0E6A6-2064-40D0-F432-F19CE8676D37}"/>
              </a:ext>
            </a:extLst>
          </p:cNvPr>
          <p:cNvSpPr>
            <a:spLocks noGrp="1"/>
          </p:cNvSpPr>
          <p:nvPr>
            <p:ph type="sldNum" sz="quarter" idx="12"/>
          </p:nvPr>
        </p:nvSpPr>
        <p:spPr/>
        <p:txBody>
          <a:bodyPr/>
          <a:lstStyle>
            <a:lvl1pPr>
              <a:defRPr>
                <a:solidFill>
                  <a:schemeClr val="accent1">
                    <a:lumMod val="75000"/>
                  </a:schemeClr>
                </a:solidFill>
              </a:defRPr>
            </a:lvl1pPr>
          </a:lstStyle>
          <a:p>
            <a:fld id="{A070A489-3A69-A542-8CBF-69A14DF4633A}" type="slidenum">
              <a:rPr lang="en-US" smtClean="0"/>
              <a:pPr/>
              <a:t>‹#›</a:t>
            </a:fld>
            <a:endParaRPr lang="en-US"/>
          </a:p>
        </p:txBody>
      </p:sp>
      <p:sp>
        <p:nvSpPr>
          <p:cNvPr id="7" name="Freeform 5">
            <a:extLst>
              <a:ext uri="{FF2B5EF4-FFF2-40B4-BE49-F238E27FC236}">
                <a16:creationId xmlns:a16="http://schemas.microsoft.com/office/drawing/2014/main" id="{D543828D-1C57-47CD-71D6-DCDD0B47004B}"/>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977461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ransition Slide">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8D68B-9D38-D375-0E0B-E71B45CF29B7}"/>
              </a:ext>
            </a:extLst>
          </p:cNvPr>
          <p:cNvSpPr>
            <a:spLocks noGrp="1"/>
          </p:cNvSpPr>
          <p:nvPr>
            <p:ph type="title" hasCustomPrompt="1"/>
          </p:nvPr>
        </p:nvSpPr>
        <p:spPr>
          <a:xfrm>
            <a:off x="838200" y="2002630"/>
            <a:ext cx="10515600" cy="2852737"/>
          </a:xfrm>
        </p:spPr>
        <p:txBody>
          <a:bodyPr anchor="ctr"/>
          <a:lstStyle>
            <a:lvl1pPr>
              <a:defRPr sz="6000">
                <a:solidFill>
                  <a:schemeClr val="bg1"/>
                </a:solidFill>
              </a:defRPr>
            </a:lvl1pPr>
          </a:lstStyle>
          <a:p>
            <a:r>
              <a:rPr lang="en-US"/>
              <a:t>Separator Slide</a:t>
            </a:r>
          </a:p>
        </p:txBody>
      </p:sp>
      <p:sp>
        <p:nvSpPr>
          <p:cNvPr id="4" name="Date Placeholder 3">
            <a:extLst>
              <a:ext uri="{FF2B5EF4-FFF2-40B4-BE49-F238E27FC236}">
                <a16:creationId xmlns:a16="http://schemas.microsoft.com/office/drawing/2014/main" id="{F27AA4C5-586B-46CD-F4E4-A44AA15915A2}"/>
              </a:ext>
            </a:extLst>
          </p:cNvPr>
          <p:cNvSpPr>
            <a:spLocks noGrp="1"/>
          </p:cNvSpPr>
          <p:nvPr>
            <p:ph type="dt" sz="half" idx="10"/>
          </p:nvPr>
        </p:nvSpPr>
        <p:spPr>
          <a:xfrm>
            <a:off x="838199" y="6356350"/>
            <a:ext cx="6218583" cy="365125"/>
          </a:xfrm>
        </p:spPr>
        <p:txBody>
          <a:bodyPr/>
          <a:lstStyle>
            <a:lvl1pPr>
              <a:defRPr>
                <a:solidFill>
                  <a:schemeClr val="bg1"/>
                </a:solidFill>
              </a:defRPr>
            </a:lvl1pPr>
          </a:lstStyle>
          <a:p>
            <a:r>
              <a:rPr lang="en-US"/>
              <a:t>Presentation Title</a:t>
            </a:r>
          </a:p>
        </p:txBody>
      </p:sp>
      <p:sp>
        <p:nvSpPr>
          <p:cNvPr id="6" name="Slide Number Placeholder 5">
            <a:extLst>
              <a:ext uri="{FF2B5EF4-FFF2-40B4-BE49-F238E27FC236}">
                <a16:creationId xmlns:a16="http://schemas.microsoft.com/office/drawing/2014/main" id="{D1021D76-F7F7-44F4-0928-16192EA5B4A8}"/>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7" name="Freeform 5">
            <a:extLst>
              <a:ext uri="{FF2B5EF4-FFF2-40B4-BE49-F238E27FC236}">
                <a16:creationId xmlns:a16="http://schemas.microsoft.com/office/drawing/2014/main" id="{7EDF8654-4A5A-410F-70D5-0CB8DD014DC0}"/>
              </a:ext>
            </a:extLst>
          </p:cNvPr>
          <p:cNvSpPr/>
          <p:nvPr userDrawn="1"/>
        </p:nvSpPr>
        <p:spPr>
          <a:xfrm>
            <a:off x="418641" y="2002631"/>
            <a:ext cx="234787" cy="2852737"/>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Tree>
    <p:extLst>
      <p:ext uri="{BB962C8B-B14F-4D97-AF65-F5344CB8AC3E}">
        <p14:creationId xmlns:p14="http://schemas.microsoft.com/office/powerpoint/2010/main" val="132012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ntent Slide 2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FCE64-907E-2DFA-F136-C1E5CDCA1741}"/>
              </a:ext>
            </a:extLst>
          </p:cNvPr>
          <p:cNvSpPr>
            <a:spLocks noGrp="1"/>
          </p:cNvSpPr>
          <p:nvPr>
            <p:ph type="title"/>
          </p:nvPr>
        </p:nvSpPr>
        <p:spPr/>
        <p:txBody>
          <a:bodyPr/>
          <a:lstStyle>
            <a:lvl1pPr>
              <a:defRPr>
                <a:solidFill>
                  <a:schemeClr val="accent2">
                    <a:lumMod val="90000"/>
                    <a:lumOff val="10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C20894C-98E2-34B4-5B80-C191EDBE744D}"/>
              </a:ext>
            </a:extLst>
          </p:cNvPr>
          <p:cNvSpPr>
            <a:spLocks noGrp="1"/>
          </p:cNvSpPr>
          <p:nvPr>
            <p:ph sz="half" idx="1"/>
          </p:nvPr>
        </p:nvSpPr>
        <p:spPr>
          <a:xfrm>
            <a:off x="838200" y="1825625"/>
            <a:ext cx="5181600" cy="4351338"/>
          </a:xfrm>
        </p:spPr>
        <p:txBody>
          <a:bodyPr/>
          <a:lstStyle>
            <a:lvl1pPr>
              <a:defRPr>
                <a:solidFill>
                  <a:schemeClr val="accent2">
                    <a:lumMod val="90000"/>
                    <a:lumOff val="10000"/>
                  </a:schemeClr>
                </a:solidFill>
              </a:defRPr>
            </a:lvl1pPr>
            <a:lvl2pPr>
              <a:defRPr>
                <a:solidFill>
                  <a:schemeClr val="accent2">
                    <a:lumMod val="90000"/>
                    <a:lumOff val="10000"/>
                  </a:schemeClr>
                </a:solidFill>
              </a:defRPr>
            </a:lvl2pPr>
            <a:lvl3pPr>
              <a:defRPr>
                <a:solidFill>
                  <a:schemeClr val="accent2">
                    <a:lumMod val="90000"/>
                    <a:lumOff val="10000"/>
                  </a:schemeClr>
                </a:solidFill>
              </a:defRPr>
            </a:lvl3pPr>
            <a:lvl4pPr>
              <a:defRPr>
                <a:solidFill>
                  <a:schemeClr val="accent2">
                    <a:lumMod val="90000"/>
                    <a:lumOff val="10000"/>
                  </a:schemeClr>
                </a:solidFill>
              </a:defRPr>
            </a:lvl4pPr>
            <a:lvl5pPr>
              <a:defRPr>
                <a:solidFill>
                  <a:schemeClr val="accent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AEF8B9-305F-D62C-1E11-AD8FA8B98E95}"/>
              </a:ext>
            </a:extLst>
          </p:cNvPr>
          <p:cNvSpPr>
            <a:spLocks noGrp="1"/>
          </p:cNvSpPr>
          <p:nvPr>
            <p:ph sz="half" idx="2"/>
          </p:nvPr>
        </p:nvSpPr>
        <p:spPr>
          <a:xfrm>
            <a:off x="6172200" y="1825625"/>
            <a:ext cx="5181600" cy="4351338"/>
          </a:xfrm>
        </p:spPr>
        <p:txBody>
          <a:bodyPr/>
          <a:lstStyle>
            <a:lvl1pPr>
              <a:defRPr>
                <a:solidFill>
                  <a:schemeClr val="accent2">
                    <a:lumMod val="90000"/>
                    <a:lumOff val="10000"/>
                  </a:schemeClr>
                </a:solidFill>
              </a:defRPr>
            </a:lvl1pPr>
            <a:lvl2pPr>
              <a:defRPr>
                <a:solidFill>
                  <a:schemeClr val="accent2">
                    <a:lumMod val="90000"/>
                    <a:lumOff val="10000"/>
                  </a:schemeClr>
                </a:solidFill>
              </a:defRPr>
            </a:lvl2pPr>
            <a:lvl3pPr>
              <a:defRPr>
                <a:solidFill>
                  <a:schemeClr val="accent2">
                    <a:lumMod val="90000"/>
                    <a:lumOff val="10000"/>
                  </a:schemeClr>
                </a:solidFill>
              </a:defRPr>
            </a:lvl3pPr>
            <a:lvl4pPr>
              <a:defRPr>
                <a:solidFill>
                  <a:schemeClr val="accent2">
                    <a:lumMod val="90000"/>
                    <a:lumOff val="10000"/>
                  </a:schemeClr>
                </a:solidFill>
              </a:defRPr>
            </a:lvl4pPr>
            <a:lvl5pPr>
              <a:defRPr>
                <a:solidFill>
                  <a:schemeClr val="accent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B04DC9-7F3E-7532-D80E-543143058BA2}"/>
              </a:ext>
            </a:extLst>
          </p:cNvPr>
          <p:cNvSpPr>
            <a:spLocks noGrp="1"/>
          </p:cNvSpPr>
          <p:nvPr>
            <p:ph type="dt" sz="half" idx="10"/>
          </p:nvPr>
        </p:nvSpPr>
        <p:spPr>
          <a:xfrm>
            <a:off x="838199" y="6356350"/>
            <a:ext cx="6589295" cy="365125"/>
          </a:xfrm>
        </p:spPr>
        <p:txBody>
          <a:bodyPr/>
          <a:lstStyle>
            <a:lvl1pPr>
              <a:defRPr>
                <a:solidFill>
                  <a:schemeClr val="accent2">
                    <a:lumMod val="90000"/>
                    <a:lumOff val="10000"/>
                  </a:schemeClr>
                </a:solidFill>
              </a:defRPr>
            </a:lvl1pPr>
          </a:lstStyle>
          <a:p>
            <a:r>
              <a:rPr lang="en-US"/>
              <a:t>Presentation Title</a:t>
            </a:r>
          </a:p>
        </p:txBody>
      </p:sp>
      <p:sp>
        <p:nvSpPr>
          <p:cNvPr id="7" name="Slide Number Placeholder 6">
            <a:extLst>
              <a:ext uri="{FF2B5EF4-FFF2-40B4-BE49-F238E27FC236}">
                <a16:creationId xmlns:a16="http://schemas.microsoft.com/office/drawing/2014/main" id="{A189F5E3-F3CF-1106-B32E-82CAC701C4F3}"/>
              </a:ext>
            </a:extLst>
          </p:cNvPr>
          <p:cNvSpPr>
            <a:spLocks noGrp="1"/>
          </p:cNvSpPr>
          <p:nvPr>
            <p:ph type="sldNum" sz="quarter" idx="12"/>
          </p:nvPr>
        </p:nvSpPr>
        <p:spPr/>
        <p:txBody>
          <a:bodyPr/>
          <a:lstStyle>
            <a:lvl1pPr>
              <a:defRPr>
                <a:solidFill>
                  <a:schemeClr val="accent2">
                    <a:lumMod val="90000"/>
                    <a:lumOff val="10000"/>
                  </a:schemeClr>
                </a:solidFill>
              </a:defRPr>
            </a:lvl1pPr>
          </a:lstStyle>
          <a:p>
            <a:fld id="{A070A489-3A69-A542-8CBF-69A14DF4633A}" type="slidenum">
              <a:rPr lang="en-US" smtClean="0"/>
              <a:pPr/>
              <a:t>‹#›</a:t>
            </a:fld>
            <a:endParaRPr lang="en-US"/>
          </a:p>
        </p:txBody>
      </p:sp>
      <p:sp>
        <p:nvSpPr>
          <p:cNvPr id="8" name="Freeform 5">
            <a:extLst>
              <a:ext uri="{FF2B5EF4-FFF2-40B4-BE49-F238E27FC236}">
                <a16:creationId xmlns:a16="http://schemas.microsoft.com/office/drawing/2014/main" id="{50033CA9-4BE9-FDD0-037D-C73A3E682E15}"/>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1277334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ntent Comparsio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25E47-28A2-4DE1-91DD-68A71DB53FB5}"/>
              </a:ext>
            </a:extLst>
          </p:cNvPr>
          <p:cNvSpPr>
            <a:spLocks noGrp="1"/>
          </p:cNvSpPr>
          <p:nvPr>
            <p:ph type="title" hasCustomPrompt="1"/>
          </p:nvPr>
        </p:nvSpPr>
        <p:spPr>
          <a:xfrm>
            <a:off x="839788" y="365125"/>
            <a:ext cx="10515600" cy="1325563"/>
          </a:xfrm>
        </p:spPr>
        <p:txBody>
          <a:bodyPr/>
          <a:lstStyle>
            <a:lvl1pPr>
              <a:defRPr>
                <a:solidFill>
                  <a:schemeClr val="accent2">
                    <a:lumMod val="90000"/>
                    <a:lumOff val="10000"/>
                  </a:schemeClr>
                </a:solidFill>
              </a:defRPr>
            </a:lvl1pPr>
          </a:lstStyle>
          <a:p>
            <a:r>
              <a:rPr lang="en-US"/>
              <a:t>Header Here</a:t>
            </a:r>
          </a:p>
        </p:txBody>
      </p:sp>
      <p:sp>
        <p:nvSpPr>
          <p:cNvPr id="3" name="Text Placeholder 2">
            <a:extLst>
              <a:ext uri="{FF2B5EF4-FFF2-40B4-BE49-F238E27FC236}">
                <a16:creationId xmlns:a16="http://schemas.microsoft.com/office/drawing/2014/main" id="{DC4642E3-70CD-6249-58A9-1483B2D1E24A}"/>
              </a:ext>
            </a:extLst>
          </p:cNvPr>
          <p:cNvSpPr>
            <a:spLocks noGrp="1"/>
          </p:cNvSpPr>
          <p:nvPr>
            <p:ph type="body" idx="1" hasCustomPrompt="1"/>
          </p:nvPr>
        </p:nvSpPr>
        <p:spPr>
          <a:xfrm>
            <a:off x="839788" y="1681163"/>
            <a:ext cx="5157787" cy="823912"/>
          </a:xfrm>
        </p:spPr>
        <p:txBody>
          <a:bodyPr anchor="b"/>
          <a:lstStyle>
            <a:lvl1pPr marL="0" indent="0">
              <a:buNone/>
              <a:defRPr sz="2400" b="1">
                <a:solidFill>
                  <a:schemeClr val="accent2">
                    <a:lumMod val="90000"/>
                    <a:lumOff val="1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4" name="Content Placeholder 3">
            <a:extLst>
              <a:ext uri="{FF2B5EF4-FFF2-40B4-BE49-F238E27FC236}">
                <a16:creationId xmlns:a16="http://schemas.microsoft.com/office/drawing/2014/main" id="{63241965-2B63-7326-2D37-A044736B0D74}"/>
              </a:ext>
            </a:extLst>
          </p:cNvPr>
          <p:cNvSpPr>
            <a:spLocks noGrp="1"/>
          </p:cNvSpPr>
          <p:nvPr>
            <p:ph sz="half" idx="2"/>
          </p:nvPr>
        </p:nvSpPr>
        <p:spPr>
          <a:xfrm>
            <a:off x="839788" y="2505075"/>
            <a:ext cx="5157787" cy="3684588"/>
          </a:xfrm>
        </p:spPr>
        <p:txBody>
          <a:bodyPr/>
          <a:lstStyle>
            <a:lvl1pPr>
              <a:defRPr sz="2400">
                <a:solidFill>
                  <a:schemeClr val="accent2">
                    <a:lumMod val="90000"/>
                    <a:lumOff val="10000"/>
                  </a:schemeClr>
                </a:solidFill>
              </a:defRPr>
            </a:lvl1pPr>
            <a:lvl2pPr>
              <a:defRPr>
                <a:solidFill>
                  <a:schemeClr val="accent2">
                    <a:lumMod val="90000"/>
                    <a:lumOff val="10000"/>
                  </a:schemeClr>
                </a:solidFill>
              </a:defRPr>
            </a:lvl2pPr>
            <a:lvl3pPr>
              <a:defRPr>
                <a:solidFill>
                  <a:schemeClr val="accent2">
                    <a:lumMod val="90000"/>
                    <a:lumOff val="10000"/>
                  </a:schemeClr>
                </a:solidFill>
              </a:defRPr>
            </a:lvl3pPr>
            <a:lvl4pPr>
              <a:defRPr>
                <a:solidFill>
                  <a:schemeClr val="accent2">
                    <a:lumMod val="90000"/>
                    <a:lumOff val="10000"/>
                  </a:schemeClr>
                </a:solidFill>
              </a:defRPr>
            </a:lvl4pPr>
            <a:lvl5pPr>
              <a:defRPr>
                <a:solidFill>
                  <a:schemeClr val="accent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EFF09C-0629-E8E5-B98C-DDF722B4A9A4}"/>
              </a:ext>
            </a:extLst>
          </p:cNvPr>
          <p:cNvSpPr>
            <a:spLocks noGrp="1"/>
          </p:cNvSpPr>
          <p:nvPr>
            <p:ph type="body" sz="quarter" idx="3" hasCustomPrompt="1"/>
          </p:nvPr>
        </p:nvSpPr>
        <p:spPr>
          <a:xfrm>
            <a:off x="6172200" y="1681163"/>
            <a:ext cx="5183188" cy="823912"/>
          </a:xfrm>
        </p:spPr>
        <p:txBody>
          <a:bodyPr anchor="b"/>
          <a:lstStyle>
            <a:lvl1pPr marL="0" indent="0">
              <a:buNone/>
              <a:defRPr sz="2400" b="1">
                <a:solidFill>
                  <a:schemeClr val="accent2">
                    <a:lumMod val="90000"/>
                    <a:lumOff val="1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6" name="Content Placeholder 5">
            <a:extLst>
              <a:ext uri="{FF2B5EF4-FFF2-40B4-BE49-F238E27FC236}">
                <a16:creationId xmlns:a16="http://schemas.microsoft.com/office/drawing/2014/main" id="{743007F4-CD3B-4E37-791D-3B5449C5B0F7}"/>
              </a:ext>
            </a:extLst>
          </p:cNvPr>
          <p:cNvSpPr>
            <a:spLocks noGrp="1"/>
          </p:cNvSpPr>
          <p:nvPr>
            <p:ph sz="quarter" idx="4"/>
          </p:nvPr>
        </p:nvSpPr>
        <p:spPr>
          <a:xfrm>
            <a:off x="6172200" y="2505075"/>
            <a:ext cx="5183188" cy="3684588"/>
          </a:xfrm>
        </p:spPr>
        <p:txBody>
          <a:bodyPr/>
          <a:lstStyle>
            <a:lvl1pPr>
              <a:defRPr sz="2400">
                <a:solidFill>
                  <a:schemeClr val="accent2">
                    <a:lumMod val="90000"/>
                    <a:lumOff val="10000"/>
                  </a:schemeClr>
                </a:solidFill>
              </a:defRPr>
            </a:lvl1pPr>
            <a:lvl2pPr>
              <a:defRPr>
                <a:solidFill>
                  <a:schemeClr val="accent2">
                    <a:lumMod val="90000"/>
                    <a:lumOff val="10000"/>
                  </a:schemeClr>
                </a:solidFill>
              </a:defRPr>
            </a:lvl2pPr>
            <a:lvl3pPr>
              <a:defRPr>
                <a:solidFill>
                  <a:schemeClr val="accent2">
                    <a:lumMod val="90000"/>
                    <a:lumOff val="10000"/>
                  </a:schemeClr>
                </a:solidFill>
              </a:defRPr>
            </a:lvl3pPr>
            <a:lvl4pPr>
              <a:defRPr>
                <a:solidFill>
                  <a:schemeClr val="accent2">
                    <a:lumMod val="90000"/>
                    <a:lumOff val="10000"/>
                  </a:schemeClr>
                </a:solidFill>
              </a:defRPr>
            </a:lvl4pPr>
            <a:lvl5pPr>
              <a:defRPr>
                <a:solidFill>
                  <a:schemeClr val="accent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9335F6-EA20-37E5-0F8F-006B8D0DB62F}"/>
              </a:ext>
            </a:extLst>
          </p:cNvPr>
          <p:cNvSpPr>
            <a:spLocks noGrp="1"/>
          </p:cNvSpPr>
          <p:nvPr>
            <p:ph type="dt" sz="half" idx="10"/>
          </p:nvPr>
        </p:nvSpPr>
        <p:spPr>
          <a:xfrm>
            <a:off x="838199" y="6356350"/>
            <a:ext cx="6332621" cy="365125"/>
          </a:xfrm>
        </p:spPr>
        <p:txBody>
          <a:bodyPr/>
          <a:lstStyle>
            <a:lvl1pPr>
              <a:defRPr>
                <a:solidFill>
                  <a:schemeClr val="accent2">
                    <a:lumMod val="90000"/>
                    <a:lumOff val="10000"/>
                  </a:schemeClr>
                </a:solidFill>
              </a:defRPr>
            </a:lvl1pPr>
          </a:lstStyle>
          <a:p>
            <a:r>
              <a:rPr lang="en-US"/>
              <a:t>Presentation Title </a:t>
            </a:r>
          </a:p>
        </p:txBody>
      </p:sp>
      <p:sp>
        <p:nvSpPr>
          <p:cNvPr id="9" name="Slide Number Placeholder 8">
            <a:extLst>
              <a:ext uri="{FF2B5EF4-FFF2-40B4-BE49-F238E27FC236}">
                <a16:creationId xmlns:a16="http://schemas.microsoft.com/office/drawing/2014/main" id="{54EB4896-C432-D26C-F220-63E926D8E001}"/>
              </a:ext>
            </a:extLst>
          </p:cNvPr>
          <p:cNvSpPr>
            <a:spLocks noGrp="1"/>
          </p:cNvSpPr>
          <p:nvPr>
            <p:ph type="sldNum" sz="quarter" idx="12"/>
          </p:nvPr>
        </p:nvSpPr>
        <p:spPr/>
        <p:txBody>
          <a:bodyPr/>
          <a:lstStyle>
            <a:lvl1pPr>
              <a:defRPr>
                <a:solidFill>
                  <a:schemeClr val="accent2">
                    <a:lumMod val="90000"/>
                    <a:lumOff val="10000"/>
                  </a:schemeClr>
                </a:solidFill>
              </a:defRPr>
            </a:lvl1pPr>
          </a:lstStyle>
          <a:p>
            <a:fld id="{A070A489-3A69-A542-8CBF-69A14DF4633A}" type="slidenum">
              <a:rPr lang="en-US" smtClean="0"/>
              <a:pPr/>
              <a:t>‹#›</a:t>
            </a:fld>
            <a:endParaRPr lang="en-US"/>
          </a:p>
        </p:txBody>
      </p:sp>
      <p:sp>
        <p:nvSpPr>
          <p:cNvPr id="10" name="Freeform 5">
            <a:extLst>
              <a:ext uri="{FF2B5EF4-FFF2-40B4-BE49-F238E27FC236}">
                <a16:creationId xmlns:a16="http://schemas.microsoft.com/office/drawing/2014/main" id="{BC735769-813A-3295-ED20-E1F9D4AD47C0}"/>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3062962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Comparsion ">
    <p:spTree>
      <p:nvGrpSpPr>
        <p:cNvPr id="1" name=""/>
        <p:cNvGrpSpPr/>
        <p:nvPr/>
      </p:nvGrpSpPr>
      <p:grpSpPr>
        <a:xfrm>
          <a:off x="0" y="0"/>
          <a:ext cx="0" cy="0"/>
          <a:chOff x="0" y="0"/>
          <a:chExt cx="0" cy="0"/>
        </a:xfrm>
      </p:grpSpPr>
      <p:grpSp>
        <p:nvGrpSpPr>
          <p:cNvPr id="8" name="Group 3">
            <a:extLst>
              <a:ext uri="{FF2B5EF4-FFF2-40B4-BE49-F238E27FC236}">
                <a16:creationId xmlns:a16="http://schemas.microsoft.com/office/drawing/2014/main" id="{A39AC746-0F8C-8731-3C35-4469604CC322}"/>
              </a:ext>
            </a:extLst>
          </p:cNvPr>
          <p:cNvGrpSpPr/>
          <p:nvPr userDrawn="1"/>
        </p:nvGrpSpPr>
        <p:grpSpPr>
          <a:xfrm>
            <a:off x="0" y="0"/>
            <a:ext cx="8021053" cy="6858000"/>
            <a:chOff x="0" y="0"/>
            <a:chExt cx="3694747" cy="2709333"/>
          </a:xfrm>
        </p:grpSpPr>
        <p:sp>
          <p:nvSpPr>
            <p:cNvPr id="11" name="Freeform 4">
              <a:extLst>
                <a:ext uri="{FF2B5EF4-FFF2-40B4-BE49-F238E27FC236}">
                  <a16:creationId xmlns:a16="http://schemas.microsoft.com/office/drawing/2014/main" id="{7BE17A93-7FBF-2E2F-8B58-82E731C41C76}"/>
                </a:ext>
              </a:extLst>
            </p:cNvPr>
            <p:cNvSpPr/>
            <p:nvPr/>
          </p:nvSpPr>
          <p:spPr>
            <a:xfrm>
              <a:off x="0" y="0"/>
              <a:ext cx="3694747" cy="2709333"/>
            </a:xfrm>
            <a:custGeom>
              <a:avLst/>
              <a:gdLst/>
              <a:ahLst/>
              <a:cxnLst/>
              <a:rect l="l" t="t" r="r" b="b"/>
              <a:pathLst>
                <a:path w="3694747" h="2709333">
                  <a:moveTo>
                    <a:pt x="0" y="0"/>
                  </a:moveTo>
                  <a:lnTo>
                    <a:pt x="3694747" y="0"/>
                  </a:lnTo>
                  <a:lnTo>
                    <a:pt x="3694747" y="2709333"/>
                  </a:lnTo>
                  <a:lnTo>
                    <a:pt x="0" y="2709333"/>
                  </a:lnTo>
                  <a:close/>
                </a:path>
              </a:pathLst>
            </a:custGeom>
            <a:gradFill rotWithShape="1">
              <a:gsLst>
                <a:gs pos="0">
                  <a:srgbClr val="1C60A4">
                    <a:alpha val="100000"/>
                  </a:srgbClr>
                </a:gs>
                <a:gs pos="100000">
                  <a:srgbClr val="062552">
                    <a:alpha val="100000"/>
                  </a:srgbClr>
                </a:gs>
              </a:gsLst>
              <a:lin ang="2700000"/>
            </a:gradFill>
          </p:spPr>
          <p:txBody>
            <a:bodyPr/>
            <a:lstStyle/>
            <a:p>
              <a:endParaRPr lang="en-JM"/>
            </a:p>
          </p:txBody>
        </p:sp>
        <p:sp>
          <p:nvSpPr>
            <p:cNvPr id="12" name="TextBox 5">
              <a:extLst>
                <a:ext uri="{FF2B5EF4-FFF2-40B4-BE49-F238E27FC236}">
                  <a16:creationId xmlns:a16="http://schemas.microsoft.com/office/drawing/2014/main" id="{4F536023-7B7E-5E02-7BDB-8029957D9838}"/>
                </a:ext>
              </a:extLst>
            </p:cNvPr>
            <p:cNvSpPr txBox="1"/>
            <p:nvPr/>
          </p:nvSpPr>
          <p:spPr>
            <a:xfrm>
              <a:off x="0" y="-38100"/>
              <a:ext cx="3694747" cy="2747433"/>
            </a:xfrm>
            <a:prstGeom prst="rect">
              <a:avLst/>
            </a:prstGeom>
          </p:spPr>
          <p:txBody>
            <a:bodyPr lIns="50800" tIns="50800" rIns="50800" bIns="50800" rtlCol="0" anchor="ctr"/>
            <a:lstStyle/>
            <a:p>
              <a:pPr algn="ctr">
                <a:lnSpc>
                  <a:spcPts val="2940"/>
                </a:lnSpc>
              </a:pPr>
              <a:endParaRPr/>
            </a:p>
          </p:txBody>
        </p:sp>
      </p:grpSp>
      <p:sp>
        <p:nvSpPr>
          <p:cNvPr id="2" name="Title 1">
            <a:extLst>
              <a:ext uri="{FF2B5EF4-FFF2-40B4-BE49-F238E27FC236}">
                <a16:creationId xmlns:a16="http://schemas.microsoft.com/office/drawing/2014/main" id="{70225E47-28A2-4DE1-91DD-68A71DB53FB5}"/>
              </a:ext>
            </a:extLst>
          </p:cNvPr>
          <p:cNvSpPr>
            <a:spLocks noGrp="1"/>
          </p:cNvSpPr>
          <p:nvPr>
            <p:ph type="title" hasCustomPrompt="1"/>
          </p:nvPr>
        </p:nvSpPr>
        <p:spPr>
          <a:xfrm>
            <a:off x="839788" y="365125"/>
            <a:ext cx="10515600" cy="1325563"/>
          </a:xfrm>
        </p:spPr>
        <p:txBody>
          <a:bodyPr/>
          <a:lstStyle>
            <a:lvl1pPr>
              <a:defRPr>
                <a:solidFill>
                  <a:schemeClr val="bg1"/>
                </a:solidFill>
              </a:defRPr>
            </a:lvl1pPr>
          </a:lstStyle>
          <a:p>
            <a:r>
              <a:rPr lang="en-US"/>
              <a:t>Header Here</a:t>
            </a:r>
          </a:p>
        </p:txBody>
      </p:sp>
      <p:sp>
        <p:nvSpPr>
          <p:cNvPr id="3" name="Text Placeholder 2">
            <a:extLst>
              <a:ext uri="{FF2B5EF4-FFF2-40B4-BE49-F238E27FC236}">
                <a16:creationId xmlns:a16="http://schemas.microsoft.com/office/drawing/2014/main" id="{DC4642E3-70CD-6249-58A9-1483B2D1E24A}"/>
              </a:ext>
            </a:extLst>
          </p:cNvPr>
          <p:cNvSpPr>
            <a:spLocks noGrp="1"/>
          </p:cNvSpPr>
          <p:nvPr>
            <p:ph type="body" idx="1" hasCustomPrompt="1"/>
          </p:nvPr>
        </p:nvSpPr>
        <p:spPr>
          <a:xfrm>
            <a:off x="839788" y="16811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4" name="Content Placeholder 3">
            <a:extLst>
              <a:ext uri="{FF2B5EF4-FFF2-40B4-BE49-F238E27FC236}">
                <a16:creationId xmlns:a16="http://schemas.microsoft.com/office/drawing/2014/main" id="{63241965-2B63-7326-2D37-A044736B0D74}"/>
              </a:ext>
            </a:extLst>
          </p:cNvPr>
          <p:cNvSpPr>
            <a:spLocks noGrp="1"/>
          </p:cNvSpPr>
          <p:nvPr>
            <p:ph sz="half" idx="2"/>
          </p:nvPr>
        </p:nvSpPr>
        <p:spPr>
          <a:xfrm>
            <a:off x="839788" y="2505075"/>
            <a:ext cx="5157787" cy="3684588"/>
          </a:xfrm>
        </p:spPr>
        <p:txBody>
          <a:bodyPr/>
          <a:lstStyle>
            <a:lvl1pPr>
              <a:defRPr sz="2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9335F6-EA20-37E5-0F8F-006B8D0DB62F}"/>
              </a:ext>
            </a:extLst>
          </p:cNvPr>
          <p:cNvSpPr>
            <a:spLocks noGrp="1"/>
          </p:cNvSpPr>
          <p:nvPr>
            <p:ph type="dt" sz="half" idx="10"/>
          </p:nvPr>
        </p:nvSpPr>
        <p:spPr>
          <a:xfrm>
            <a:off x="838199" y="6356350"/>
            <a:ext cx="6332621" cy="365125"/>
          </a:xfrm>
        </p:spPr>
        <p:txBody>
          <a:bodyPr/>
          <a:lstStyle>
            <a:lvl1pPr>
              <a:defRPr>
                <a:solidFill>
                  <a:schemeClr val="bg1"/>
                </a:solidFill>
              </a:defRPr>
            </a:lvl1pPr>
          </a:lstStyle>
          <a:p>
            <a:r>
              <a:rPr lang="en-US"/>
              <a:t>Presentation Title </a:t>
            </a:r>
          </a:p>
        </p:txBody>
      </p:sp>
      <p:sp>
        <p:nvSpPr>
          <p:cNvPr id="9" name="Slide Number Placeholder 8">
            <a:extLst>
              <a:ext uri="{FF2B5EF4-FFF2-40B4-BE49-F238E27FC236}">
                <a16:creationId xmlns:a16="http://schemas.microsoft.com/office/drawing/2014/main" id="{54EB4896-C432-D26C-F220-63E926D8E001}"/>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10" name="Freeform 5">
            <a:extLst>
              <a:ext uri="{FF2B5EF4-FFF2-40B4-BE49-F238E27FC236}">
                <a16:creationId xmlns:a16="http://schemas.microsoft.com/office/drawing/2014/main" id="{BC735769-813A-3295-ED20-E1F9D4AD47C0}"/>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
        <p:nvSpPr>
          <p:cNvPr id="13" name="Rectangle 12">
            <a:extLst>
              <a:ext uri="{FF2B5EF4-FFF2-40B4-BE49-F238E27FC236}">
                <a16:creationId xmlns:a16="http://schemas.microsoft.com/office/drawing/2014/main" id="{CF110C61-80E7-54DA-AE45-FAD0695662ED}"/>
              </a:ext>
            </a:extLst>
          </p:cNvPr>
          <p:cNvSpPr/>
          <p:nvPr userDrawn="1"/>
        </p:nvSpPr>
        <p:spPr>
          <a:xfrm>
            <a:off x="5157281" y="6490721"/>
            <a:ext cx="1877437" cy="369332"/>
          </a:xfrm>
          <a:prstGeom prst="rect">
            <a:avLst/>
          </a:prstGeom>
          <a:noFill/>
        </p:spPr>
        <p:txBody>
          <a:bodyPr wrap="none" lIns="91440" tIns="45720" rIns="91440" bIns="45720">
            <a:spAutoFit/>
          </a:bodyPr>
          <a:lstStyle/>
          <a:p>
            <a:pPr algn="ctr"/>
            <a:r>
              <a:rPr lang="en-US" sz="1800" b="0" cap="none" spc="0">
                <a:ln w="0"/>
                <a:solidFill>
                  <a:schemeClr val="bg2">
                    <a:alpha val="25000"/>
                  </a:schemeClr>
                </a:solidFill>
                <a:effectLst>
                  <a:outerShdw blurRad="38100" dist="19050" dir="2700000" algn="tl" rotWithShape="0">
                    <a:schemeClr val="dk1">
                      <a:alpha val="40000"/>
                    </a:schemeClr>
                  </a:outerShdw>
                </a:effectLst>
                <a:latin typeface="Arial" panose="020B0604020202020204" pitchFamily="34" charset="0"/>
              </a:rPr>
              <a:t>CONFIDENTIAL</a:t>
            </a:r>
          </a:p>
        </p:txBody>
      </p:sp>
    </p:spTree>
    <p:extLst>
      <p:ext uri="{BB962C8B-B14F-4D97-AF65-F5344CB8AC3E}">
        <p14:creationId xmlns:p14="http://schemas.microsoft.com/office/powerpoint/2010/main" val="3328836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mple Samp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21C56-D50C-E00F-A566-6510789F049C}"/>
              </a:ext>
            </a:extLst>
          </p:cNvPr>
          <p:cNvSpPr>
            <a:spLocks noGrp="1"/>
          </p:cNvSpPr>
          <p:nvPr>
            <p:ph type="title" hasCustomPrompt="1"/>
          </p:nvPr>
        </p:nvSpPr>
        <p:spPr/>
        <p:txBody>
          <a:bodyPr/>
          <a:lstStyle>
            <a:lvl1pPr>
              <a:defRPr>
                <a:solidFill>
                  <a:schemeClr val="accent2">
                    <a:lumMod val="90000"/>
                    <a:lumOff val="10000"/>
                  </a:schemeClr>
                </a:solidFill>
              </a:defRPr>
            </a:lvl1pPr>
          </a:lstStyle>
          <a:p>
            <a:r>
              <a:rPr lang="en-US"/>
              <a:t>Timeline Example</a:t>
            </a:r>
          </a:p>
        </p:txBody>
      </p:sp>
      <p:sp>
        <p:nvSpPr>
          <p:cNvPr id="3" name="Date Placeholder 2">
            <a:extLst>
              <a:ext uri="{FF2B5EF4-FFF2-40B4-BE49-F238E27FC236}">
                <a16:creationId xmlns:a16="http://schemas.microsoft.com/office/drawing/2014/main" id="{6497EFC4-7E64-FCB0-691D-3FEA22FBDB19}"/>
              </a:ext>
            </a:extLst>
          </p:cNvPr>
          <p:cNvSpPr>
            <a:spLocks noGrp="1"/>
          </p:cNvSpPr>
          <p:nvPr>
            <p:ph type="dt" sz="half" idx="10"/>
          </p:nvPr>
        </p:nvSpPr>
        <p:spPr>
          <a:xfrm>
            <a:off x="838199" y="6356350"/>
            <a:ext cx="6733249" cy="399264"/>
          </a:xfrm>
        </p:spPr>
        <p:txBody>
          <a:bodyPr/>
          <a:lstStyle>
            <a:lvl1pPr>
              <a:lnSpc>
                <a:spcPct val="100000"/>
              </a:lnSpc>
              <a:defRPr sz="1100">
                <a:solidFill>
                  <a:schemeClr val="accent2">
                    <a:lumMod val="90000"/>
                    <a:lumOff val="10000"/>
                  </a:schemeClr>
                </a:solidFill>
              </a:defRPr>
            </a:lvl1pPr>
          </a:lstStyle>
          <a:p>
            <a:r>
              <a:rPr lang="en-US"/>
              <a:t>Presentation Title</a:t>
            </a:r>
          </a:p>
        </p:txBody>
      </p:sp>
      <p:sp>
        <p:nvSpPr>
          <p:cNvPr id="5" name="Slide Number Placeholder 4">
            <a:extLst>
              <a:ext uri="{FF2B5EF4-FFF2-40B4-BE49-F238E27FC236}">
                <a16:creationId xmlns:a16="http://schemas.microsoft.com/office/drawing/2014/main" id="{94B3FA75-D5B7-7721-506F-2C139D3278D9}"/>
              </a:ext>
            </a:extLst>
          </p:cNvPr>
          <p:cNvSpPr>
            <a:spLocks noGrp="1"/>
          </p:cNvSpPr>
          <p:nvPr>
            <p:ph type="sldNum" sz="quarter" idx="12"/>
          </p:nvPr>
        </p:nvSpPr>
        <p:spPr/>
        <p:txBody>
          <a:bodyPr/>
          <a:lstStyle>
            <a:lvl1pPr>
              <a:lnSpc>
                <a:spcPct val="100000"/>
              </a:lnSpc>
              <a:defRPr sz="1100">
                <a:solidFill>
                  <a:schemeClr val="accent2">
                    <a:lumMod val="90000"/>
                    <a:lumOff val="10000"/>
                  </a:schemeClr>
                </a:solidFill>
              </a:defRPr>
            </a:lvl1pPr>
          </a:lstStyle>
          <a:p>
            <a:fld id="{A070A489-3A69-A542-8CBF-69A14DF4633A}" type="slidenum">
              <a:rPr lang="en-US" smtClean="0"/>
              <a:pPr/>
              <a:t>‹#›</a:t>
            </a:fld>
            <a:endParaRPr lang="en-US"/>
          </a:p>
        </p:txBody>
      </p:sp>
      <p:grpSp>
        <p:nvGrpSpPr>
          <p:cNvPr id="6" name="Group 5">
            <a:extLst>
              <a:ext uri="{FF2B5EF4-FFF2-40B4-BE49-F238E27FC236}">
                <a16:creationId xmlns:a16="http://schemas.microsoft.com/office/drawing/2014/main" id="{11DA6D51-0096-3EF2-8EA8-65807A921332}"/>
              </a:ext>
            </a:extLst>
          </p:cNvPr>
          <p:cNvGrpSpPr/>
          <p:nvPr userDrawn="1"/>
        </p:nvGrpSpPr>
        <p:grpSpPr>
          <a:xfrm>
            <a:off x="1202571" y="2143158"/>
            <a:ext cx="946844" cy="971454"/>
            <a:chOff x="0" y="-14473"/>
            <a:chExt cx="556826" cy="571299"/>
          </a:xfrm>
        </p:grpSpPr>
        <p:sp>
          <p:nvSpPr>
            <p:cNvPr id="51" name="Freeform 50">
              <a:extLst>
                <a:ext uri="{FF2B5EF4-FFF2-40B4-BE49-F238E27FC236}">
                  <a16:creationId xmlns:a16="http://schemas.microsoft.com/office/drawing/2014/main" id="{8AAF412B-C6FB-58D8-CD2A-88EAEA032B0D}"/>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09FDA"/>
            </a:solidFill>
          </p:spPr>
          <p:txBody>
            <a:bodyPr/>
            <a:lstStyle/>
            <a:p>
              <a:endParaRPr lang="en-US"/>
            </a:p>
          </p:txBody>
        </p:sp>
        <p:sp>
          <p:nvSpPr>
            <p:cNvPr id="52" name="TextBox 4">
              <a:extLst>
                <a:ext uri="{FF2B5EF4-FFF2-40B4-BE49-F238E27FC236}">
                  <a16:creationId xmlns:a16="http://schemas.microsoft.com/office/drawing/2014/main" id="{3ADC7E24-88FE-D365-A98D-C65B6F5E92A0}"/>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Gotham Bold"/>
                  <a:ea typeface="Gotham Bold"/>
                  <a:cs typeface="Gotham Bold"/>
                  <a:sym typeface="Gotham Bold"/>
                </a:rPr>
                <a:t>1</a:t>
              </a:r>
            </a:p>
          </p:txBody>
        </p:sp>
      </p:grpSp>
      <p:grpSp>
        <p:nvGrpSpPr>
          <p:cNvPr id="7" name="Group 6">
            <a:extLst>
              <a:ext uri="{FF2B5EF4-FFF2-40B4-BE49-F238E27FC236}">
                <a16:creationId xmlns:a16="http://schemas.microsoft.com/office/drawing/2014/main" id="{8C868748-0B27-5CDD-AE5C-4800B2233183}"/>
              </a:ext>
            </a:extLst>
          </p:cNvPr>
          <p:cNvGrpSpPr/>
          <p:nvPr userDrawn="1"/>
        </p:nvGrpSpPr>
        <p:grpSpPr>
          <a:xfrm>
            <a:off x="8714997" y="4262647"/>
            <a:ext cx="2457578" cy="1530344"/>
            <a:chOff x="0" y="-28575"/>
            <a:chExt cx="3276771" cy="2040459"/>
          </a:xfrm>
        </p:grpSpPr>
        <p:sp>
          <p:nvSpPr>
            <p:cNvPr id="49" name="TextBox 6">
              <a:extLst>
                <a:ext uri="{FF2B5EF4-FFF2-40B4-BE49-F238E27FC236}">
                  <a16:creationId xmlns:a16="http://schemas.microsoft.com/office/drawing/2014/main" id="{4A229842-87A8-33EA-DE8E-2C0A9FB39D2E}"/>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ileron Bold"/>
                  <a:ea typeface="Aileron Bold"/>
                  <a:cs typeface="Aileron Bold"/>
                  <a:sym typeface="Aileron Bold"/>
                </a:rPr>
                <a:t>2015</a:t>
              </a:r>
            </a:p>
          </p:txBody>
        </p:sp>
        <p:sp>
          <p:nvSpPr>
            <p:cNvPr id="50" name="TextBox 7">
              <a:extLst>
                <a:ext uri="{FF2B5EF4-FFF2-40B4-BE49-F238E27FC236}">
                  <a16:creationId xmlns:a16="http://schemas.microsoft.com/office/drawing/2014/main" id="{50297581-D24E-B736-C2E3-1E629C725569}"/>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t>
              </a:r>
              <a:r>
                <a:rPr lang="en-US" sz="1600" spc="26" err="1">
                  <a:solidFill>
                    <a:srgbClr val="191919"/>
                  </a:solidFill>
                  <a:latin typeface="Arial" panose="020B0604020202020204" pitchFamily="34" charset="0"/>
                  <a:ea typeface="Aileron"/>
                  <a:cs typeface="Arial" panose="020B0604020202020204" pitchFamily="34" charset="0"/>
                  <a:sym typeface="Aileron"/>
                </a:rPr>
                <a:t>amet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adipiscing</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elit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Vivamus</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odio</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aliquam</a:t>
              </a:r>
              <a:r>
                <a:rPr lang="en-US" sz="1600" spc="26">
                  <a:solidFill>
                    <a:srgbClr val="191919"/>
                  </a:solidFill>
                  <a:latin typeface="Arial" panose="020B0604020202020204" pitchFamily="34" charset="0"/>
                  <a:ea typeface="Aileron"/>
                  <a:cs typeface="Arial" panose="020B0604020202020204" pitchFamily="34" charset="0"/>
                  <a:sym typeface="Aileron"/>
                </a:rPr>
                <a:t>, </a:t>
              </a:r>
            </a:p>
          </p:txBody>
        </p:sp>
      </p:grpSp>
      <p:grpSp>
        <p:nvGrpSpPr>
          <p:cNvPr id="8" name="Group 7">
            <a:extLst>
              <a:ext uri="{FF2B5EF4-FFF2-40B4-BE49-F238E27FC236}">
                <a16:creationId xmlns:a16="http://schemas.microsoft.com/office/drawing/2014/main" id="{C20D0A38-4D5E-6B41-7A74-4C009A0B102E}"/>
              </a:ext>
            </a:extLst>
          </p:cNvPr>
          <p:cNvGrpSpPr/>
          <p:nvPr userDrawn="1"/>
        </p:nvGrpSpPr>
        <p:grpSpPr>
          <a:xfrm>
            <a:off x="451184" y="4262647"/>
            <a:ext cx="2457578" cy="1530344"/>
            <a:chOff x="0" y="-28575"/>
            <a:chExt cx="3276771" cy="2040459"/>
          </a:xfrm>
        </p:grpSpPr>
        <p:sp>
          <p:nvSpPr>
            <p:cNvPr id="47" name="TextBox 9">
              <a:extLst>
                <a:ext uri="{FF2B5EF4-FFF2-40B4-BE49-F238E27FC236}">
                  <a16:creationId xmlns:a16="http://schemas.microsoft.com/office/drawing/2014/main" id="{B335BCA9-845D-3C1C-61E6-EA2B82CF2181}"/>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ileron Bold"/>
                  <a:ea typeface="Aileron Bold"/>
                  <a:cs typeface="Aileron Bold"/>
                  <a:sym typeface="Aileron Bold"/>
                </a:rPr>
                <a:t>1980</a:t>
              </a:r>
            </a:p>
          </p:txBody>
        </p:sp>
        <p:sp>
          <p:nvSpPr>
            <p:cNvPr id="48" name="TextBox 10">
              <a:extLst>
                <a:ext uri="{FF2B5EF4-FFF2-40B4-BE49-F238E27FC236}">
                  <a16:creationId xmlns:a16="http://schemas.microsoft.com/office/drawing/2014/main" id="{C400E550-EB0D-905B-3FC9-7AF480269C46}"/>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t>
              </a:r>
              <a:r>
                <a:rPr lang="en-US" sz="1600" spc="26" err="1">
                  <a:solidFill>
                    <a:srgbClr val="191919"/>
                  </a:solidFill>
                  <a:latin typeface="Arial" panose="020B0604020202020204" pitchFamily="34" charset="0"/>
                  <a:ea typeface="Aileron"/>
                  <a:cs typeface="Arial" panose="020B0604020202020204" pitchFamily="34" charset="0"/>
                  <a:sym typeface="Aileron"/>
                </a:rPr>
                <a:t>amet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adipiscing</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elit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Vivamus</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odio</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aliquam</a:t>
              </a:r>
              <a:r>
                <a:rPr lang="en-US" sz="1600" spc="26">
                  <a:solidFill>
                    <a:srgbClr val="191919"/>
                  </a:solidFill>
                  <a:latin typeface="Arial" panose="020B0604020202020204" pitchFamily="34" charset="0"/>
                  <a:ea typeface="Aileron"/>
                  <a:cs typeface="Arial" panose="020B0604020202020204" pitchFamily="34" charset="0"/>
                  <a:sym typeface="Aileron"/>
                </a:rPr>
                <a:t>, </a:t>
              </a:r>
            </a:p>
          </p:txBody>
        </p:sp>
      </p:grpSp>
      <p:grpSp>
        <p:nvGrpSpPr>
          <p:cNvPr id="9" name="Group 8">
            <a:extLst>
              <a:ext uri="{FF2B5EF4-FFF2-40B4-BE49-F238E27FC236}">
                <a16:creationId xmlns:a16="http://schemas.microsoft.com/office/drawing/2014/main" id="{BCF7EB83-DA75-A735-2374-55CEFCA42838}"/>
              </a:ext>
            </a:extLst>
          </p:cNvPr>
          <p:cNvGrpSpPr/>
          <p:nvPr userDrawn="1"/>
        </p:nvGrpSpPr>
        <p:grpSpPr>
          <a:xfrm>
            <a:off x="3205788" y="4262647"/>
            <a:ext cx="2457578" cy="1530344"/>
            <a:chOff x="0" y="-28575"/>
            <a:chExt cx="3276771" cy="2040459"/>
          </a:xfrm>
        </p:grpSpPr>
        <p:sp>
          <p:nvSpPr>
            <p:cNvPr id="45" name="TextBox 12">
              <a:extLst>
                <a:ext uri="{FF2B5EF4-FFF2-40B4-BE49-F238E27FC236}">
                  <a16:creationId xmlns:a16="http://schemas.microsoft.com/office/drawing/2014/main" id="{F2158044-E681-9E6D-315D-1E5F8C79133F}"/>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ileron Bold"/>
                  <a:ea typeface="Aileron Bold"/>
                  <a:cs typeface="Aileron Bold"/>
                  <a:sym typeface="Aileron Bold"/>
                </a:rPr>
                <a:t>1981</a:t>
              </a:r>
            </a:p>
          </p:txBody>
        </p:sp>
        <p:sp>
          <p:nvSpPr>
            <p:cNvPr id="46" name="TextBox 13">
              <a:extLst>
                <a:ext uri="{FF2B5EF4-FFF2-40B4-BE49-F238E27FC236}">
                  <a16:creationId xmlns:a16="http://schemas.microsoft.com/office/drawing/2014/main" id="{7B544EC8-4E09-2AFA-C2AA-5438BD21479A}"/>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t>
              </a:r>
              <a:r>
                <a:rPr lang="en-US" sz="1600" spc="26" err="1">
                  <a:solidFill>
                    <a:srgbClr val="191919"/>
                  </a:solidFill>
                  <a:latin typeface="Arial" panose="020B0604020202020204" pitchFamily="34" charset="0"/>
                  <a:ea typeface="Aileron"/>
                  <a:cs typeface="Arial" panose="020B0604020202020204" pitchFamily="34" charset="0"/>
                  <a:sym typeface="Aileron"/>
                </a:rPr>
                <a:t>amet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adipiscing</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elit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Vivamus</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odio</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aliquam</a:t>
              </a:r>
              <a:r>
                <a:rPr lang="en-US" sz="1600" spc="26">
                  <a:solidFill>
                    <a:srgbClr val="191919"/>
                  </a:solidFill>
                  <a:latin typeface="Arial" panose="020B0604020202020204" pitchFamily="34" charset="0"/>
                  <a:ea typeface="Aileron"/>
                  <a:cs typeface="Arial" panose="020B0604020202020204" pitchFamily="34" charset="0"/>
                  <a:sym typeface="Aileron"/>
                </a:rPr>
                <a:t>, </a:t>
              </a:r>
            </a:p>
          </p:txBody>
        </p:sp>
      </p:grpSp>
      <p:grpSp>
        <p:nvGrpSpPr>
          <p:cNvPr id="10" name="Group 9">
            <a:extLst>
              <a:ext uri="{FF2B5EF4-FFF2-40B4-BE49-F238E27FC236}">
                <a16:creationId xmlns:a16="http://schemas.microsoft.com/office/drawing/2014/main" id="{A6EBEFF6-F57A-9EE1-EE47-A067270E2CCC}"/>
              </a:ext>
            </a:extLst>
          </p:cNvPr>
          <p:cNvGrpSpPr/>
          <p:nvPr userDrawn="1"/>
        </p:nvGrpSpPr>
        <p:grpSpPr>
          <a:xfrm>
            <a:off x="5960393" y="4262647"/>
            <a:ext cx="2457578" cy="1530344"/>
            <a:chOff x="0" y="-28575"/>
            <a:chExt cx="3276771" cy="2040459"/>
          </a:xfrm>
        </p:grpSpPr>
        <p:sp>
          <p:nvSpPr>
            <p:cNvPr id="43" name="TextBox 15">
              <a:extLst>
                <a:ext uri="{FF2B5EF4-FFF2-40B4-BE49-F238E27FC236}">
                  <a16:creationId xmlns:a16="http://schemas.microsoft.com/office/drawing/2014/main" id="{F48B2A52-DA7A-B5F2-AE66-392C17119451}"/>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ileron Bold"/>
                  <a:ea typeface="Aileron Bold"/>
                  <a:cs typeface="Aileron Bold"/>
                  <a:sym typeface="Aileron Bold"/>
                </a:rPr>
                <a:t>2011</a:t>
              </a:r>
            </a:p>
          </p:txBody>
        </p:sp>
        <p:sp>
          <p:nvSpPr>
            <p:cNvPr id="44" name="TextBox 16">
              <a:extLst>
                <a:ext uri="{FF2B5EF4-FFF2-40B4-BE49-F238E27FC236}">
                  <a16:creationId xmlns:a16="http://schemas.microsoft.com/office/drawing/2014/main" id="{FC7E0932-21D0-3824-DE1F-86208194ECDB}"/>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t>
              </a:r>
              <a:r>
                <a:rPr lang="en-US" sz="1600" spc="26" err="1">
                  <a:solidFill>
                    <a:srgbClr val="191919"/>
                  </a:solidFill>
                  <a:latin typeface="Arial" panose="020B0604020202020204" pitchFamily="34" charset="0"/>
                  <a:ea typeface="Aileron"/>
                  <a:cs typeface="Arial" panose="020B0604020202020204" pitchFamily="34" charset="0"/>
                  <a:sym typeface="Aileron"/>
                </a:rPr>
                <a:t>amet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adipiscing</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elit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Vivamus</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odio</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aliquam</a:t>
              </a:r>
              <a:r>
                <a:rPr lang="en-US" sz="1600" spc="26">
                  <a:solidFill>
                    <a:srgbClr val="191919"/>
                  </a:solidFill>
                  <a:latin typeface="Arial" panose="020B0604020202020204" pitchFamily="34" charset="0"/>
                  <a:ea typeface="Aileron"/>
                  <a:cs typeface="Arial" panose="020B0604020202020204" pitchFamily="34" charset="0"/>
                  <a:sym typeface="Aileron"/>
                </a:rPr>
                <a:t>, </a:t>
              </a:r>
            </a:p>
          </p:txBody>
        </p:sp>
      </p:grpSp>
      <p:grpSp>
        <p:nvGrpSpPr>
          <p:cNvPr id="14" name="Group 13">
            <a:extLst>
              <a:ext uri="{FF2B5EF4-FFF2-40B4-BE49-F238E27FC236}">
                <a16:creationId xmlns:a16="http://schemas.microsoft.com/office/drawing/2014/main" id="{0EB46210-36A3-661B-DC89-11523C75E9CB}"/>
              </a:ext>
            </a:extLst>
          </p:cNvPr>
          <p:cNvGrpSpPr/>
          <p:nvPr userDrawn="1"/>
        </p:nvGrpSpPr>
        <p:grpSpPr>
          <a:xfrm>
            <a:off x="4027070" y="2125884"/>
            <a:ext cx="946844" cy="971454"/>
            <a:chOff x="0" y="-14473"/>
            <a:chExt cx="556826" cy="571299"/>
          </a:xfrm>
        </p:grpSpPr>
        <p:sp>
          <p:nvSpPr>
            <p:cNvPr id="35" name="Freeform 34">
              <a:extLst>
                <a:ext uri="{FF2B5EF4-FFF2-40B4-BE49-F238E27FC236}">
                  <a16:creationId xmlns:a16="http://schemas.microsoft.com/office/drawing/2014/main" id="{FF92C169-4533-35D8-F865-37BCE2C88335}"/>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E4E95"/>
            </a:solidFill>
          </p:spPr>
          <p:txBody>
            <a:bodyPr/>
            <a:lstStyle/>
            <a:p>
              <a:endParaRPr lang="en-US"/>
            </a:p>
          </p:txBody>
        </p:sp>
        <p:sp>
          <p:nvSpPr>
            <p:cNvPr id="36" name="TextBox 28">
              <a:extLst>
                <a:ext uri="{FF2B5EF4-FFF2-40B4-BE49-F238E27FC236}">
                  <a16:creationId xmlns:a16="http://schemas.microsoft.com/office/drawing/2014/main" id="{524C1F9B-974F-33AF-76B3-AD3A8BBC2D51}"/>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Gotham Bold"/>
                  <a:ea typeface="Gotham Bold"/>
                  <a:cs typeface="Gotham Bold"/>
                  <a:sym typeface="Gotham Bold"/>
                </a:rPr>
                <a:t>2</a:t>
              </a:r>
            </a:p>
          </p:txBody>
        </p:sp>
      </p:grpSp>
      <p:grpSp>
        <p:nvGrpSpPr>
          <p:cNvPr id="15" name="Group 14">
            <a:extLst>
              <a:ext uri="{FF2B5EF4-FFF2-40B4-BE49-F238E27FC236}">
                <a16:creationId xmlns:a16="http://schemas.microsoft.com/office/drawing/2014/main" id="{E35EFC44-4732-467D-0BB9-9639FFAE5D5C}"/>
              </a:ext>
            </a:extLst>
          </p:cNvPr>
          <p:cNvGrpSpPr/>
          <p:nvPr userDrawn="1"/>
        </p:nvGrpSpPr>
        <p:grpSpPr>
          <a:xfrm>
            <a:off x="6713372" y="2143158"/>
            <a:ext cx="946844" cy="971454"/>
            <a:chOff x="0" y="-14473"/>
            <a:chExt cx="556826" cy="571299"/>
          </a:xfrm>
        </p:grpSpPr>
        <p:sp>
          <p:nvSpPr>
            <p:cNvPr id="33" name="Freeform 32">
              <a:extLst>
                <a:ext uri="{FF2B5EF4-FFF2-40B4-BE49-F238E27FC236}">
                  <a16:creationId xmlns:a16="http://schemas.microsoft.com/office/drawing/2014/main" id="{0F6FA1B7-7695-A8F9-9930-6ABC935139CF}"/>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62552"/>
            </a:solidFill>
          </p:spPr>
          <p:txBody>
            <a:bodyPr/>
            <a:lstStyle/>
            <a:p>
              <a:endParaRPr lang="en-US"/>
            </a:p>
          </p:txBody>
        </p:sp>
        <p:sp>
          <p:nvSpPr>
            <p:cNvPr id="34" name="TextBox 31">
              <a:extLst>
                <a:ext uri="{FF2B5EF4-FFF2-40B4-BE49-F238E27FC236}">
                  <a16:creationId xmlns:a16="http://schemas.microsoft.com/office/drawing/2014/main" id="{7B6E1EE0-FE91-8AD9-36A2-1EC012E34EFB}"/>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Gotham Bold"/>
                  <a:ea typeface="Gotham Bold"/>
                  <a:cs typeface="Gotham Bold"/>
                  <a:sym typeface="Gotham Bold"/>
                </a:rPr>
                <a:t>3</a:t>
              </a:r>
            </a:p>
          </p:txBody>
        </p:sp>
      </p:grpSp>
      <p:grpSp>
        <p:nvGrpSpPr>
          <p:cNvPr id="16" name="Group 15">
            <a:extLst>
              <a:ext uri="{FF2B5EF4-FFF2-40B4-BE49-F238E27FC236}">
                <a16:creationId xmlns:a16="http://schemas.microsoft.com/office/drawing/2014/main" id="{BAFD45E0-CFEB-C722-3C2F-676614F9A6BD}"/>
              </a:ext>
            </a:extLst>
          </p:cNvPr>
          <p:cNvGrpSpPr/>
          <p:nvPr userDrawn="1"/>
        </p:nvGrpSpPr>
        <p:grpSpPr>
          <a:xfrm>
            <a:off x="9468772" y="2143158"/>
            <a:ext cx="946844" cy="971454"/>
            <a:chOff x="0" y="-14473"/>
            <a:chExt cx="556826" cy="571299"/>
          </a:xfrm>
        </p:grpSpPr>
        <p:sp>
          <p:nvSpPr>
            <p:cNvPr id="31" name="Freeform 30">
              <a:extLst>
                <a:ext uri="{FF2B5EF4-FFF2-40B4-BE49-F238E27FC236}">
                  <a16:creationId xmlns:a16="http://schemas.microsoft.com/office/drawing/2014/main" id="{749AB401-36D5-BF2E-2A63-B11D712ABE32}"/>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09FDA"/>
            </a:solidFill>
          </p:spPr>
          <p:txBody>
            <a:bodyPr/>
            <a:lstStyle/>
            <a:p>
              <a:endParaRPr lang="en-US"/>
            </a:p>
          </p:txBody>
        </p:sp>
        <p:sp>
          <p:nvSpPr>
            <p:cNvPr id="32" name="TextBox 34">
              <a:extLst>
                <a:ext uri="{FF2B5EF4-FFF2-40B4-BE49-F238E27FC236}">
                  <a16:creationId xmlns:a16="http://schemas.microsoft.com/office/drawing/2014/main" id="{37647DDC-735C-32A2-CE57-A46D0AE04D54}"/>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Gotham Bold"/>
                  <a:ea typeface="Gotham Bold"/>
                  <a:cs typeface="Gotham Bold"/>
                  <a:sym typeface="Gotham Bold"/>
                </a:rPr>
                <a:t>4</a:t>
              </a:r>
            </a:p>
          </p:txBody>
        </p:sp>
      </p:grpSp>
      <p:sp>
        <p:nvSpPr>
          <p:cNvPr id="18" name="AutoShape 38">
            <a:extLst>
              <a:ext uri="{FF2B5EF4-FFF2-40B4-BE49-F238E27FC236}">
                <a16:creationId xmlns:a16="http://schemas.microsoft.com/office/drawing/2014/main" id="{5B55CC53-4B0B-1F7A-E6CF-1D807C272B88}"/>
              </a:ext>
            </a:extLst>
          </p:cNvPr>
          <p:cNvSpPr/>
          <p:nvPr userDrawn="1"/>
        </p:nvSpPr>
        <p:spPr>
          <a:xfrm>
            <a:off x="1675993"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19" name="AutoShape 39">
            <a:extLst>
              <a:ext uri="{FF2B5EF4-FFF2-40B4-BE49-F238E27FC236}">
                <a16:creationId xmlns:a16="http://schemas.microsoft.com/office/drawing/2014/main" id="{147CB15D-6D2B-85B2-EA0A-A2D72009459A}"/>
              </a:ext>
            </a:extLst>
          </p:cNvPr>
          <p:cNvSpPr/>
          <p:nvPr userDrawn="1"/>
        </p:nvSpPr>
        <p:spPr>
          <a:xfrm>
            <a:off x="4500492" y="3097338"/>
            <a:ext cx="0" cy="810133"/>
          </a:xfrm>
          <a:prstGeom prst="line">
            <a:avLst/>
          </a:prstGeom>
          <a:ln w="47625" cap="flat">
            <a:solidFill>
              <a:srgbClr val="009FDA"/>
            </a:solidFill>
            <a:prstDash val="solid"/>
            <a:headEnd type="none" w="sm" len="sm"/>
            <a:tailEnd type="oval" w="lg" len="lg"/>
          </a:ln>
        </p:spPr>
        <p:txBody>
          <a:bodyPr/>
          <a:lstStyle/>
          <a:p>
            <a:endParaRPr lang="en-US"/>
          </a:p>
        </p:txBody>
      </p:sp>
      <p:sp>
        <p:nvSpPr>
          <p:cNvPr id="20" name="AutoShape 40">
            <a:extLst>
              <a:ext uri="{FF2B5EF4-FFF2-40B4-BE49-F238E27FC236}">
                <a16:creationId xmlns:a16="http://schemas.microsoft.com/office/drawing/2014/main" id="{26EBBA74-6593-863D-9566-7B0F68E2231E}"/>
              </a:ext>
            </a:extLst>
          </p:cNvPr>
          <p:cNvSpPr/>
          <p:nvPr userDrawn="1"/>
        </p:nvSpPr>
        <p:spPr>
          <a:xfrm>
            <a:off x="7186794"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21" name="AutoShape 41">
            <a:extLst>
              <a:ext uri="{FF2B5EF4-FFF2-40B4-BE49-F238E27FC236}">
                <a16:creationId xmlns:a16="http://schemas.microsoft.com/office/drawing/2014/main" id="{87B37EE5-3174-E60F-EB7F-28EAFCDB990B}"/>
              </a:ext>
            </a:extLst>
          </p:cNvPr>
          <p:cNvSpPr/>
          <p:nvPr userDrawn="1"/>
        </p:nvSpPr>
        <p:spPr>
          <a:xfrm>
            <a:off x="9942194"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24" name="AutoShape 44">
            <a:extLst>
              <a:ext uri="{FF2B5EF4-FFF2-40B4-BE49-F238E27FC236}">
                <a16:creationId xmlns:a16="http://schemas.microsoft.com/office/drawing/2014/main" id="{B173C173-30D8-B176-A7DA-38D50DA243C0}"/>
              </a:ext>
            </a:extLst>
          </p:cNvPr>
          <p:cNvSpPr/>
          <p:nvPr userDrawn="1"/>
        </p:nvSpPr>
        <p:spPr>
          <a:xfrm flipV="1">
            <a:off x="2149415" y="2623916"/>
            <a:ext cx="1877655" cy="17275"/>
          </a:xfrm>
          <a:prstGeom prst="line">
            <a:avLst/>
          </a:prstGeom>
          <a:ln w="57150" cap="flat">
            <a:solidFill>
              <a:srgbClr val="009FDA"/>
            </a:solidFill>
            <a:prstDash val="solid"/>
            <a:headEnd type="none" w="sm" len="sm"/>
            <a:tailEnd type="none" w="sm" len="sm"/>
          </a:ln>
        </p:spPr>
        <p:txBody>
          <a:bodyPr/>
          <a:lstStyle/>
          <a:p>
            <a:endParaRPr lang="en-US"/>
          </a:p>
        </p:txBody>
      </p:sp>
      <p:sp>
        <p:nvSpPr>
          <p:cNvPr id="25" name="AutoShape 45">
            <a:extLst>
              <a:ext uri="{FF2B5EF4-FFF2-40B4-BE49-F238E27FC236}">
                <a16:creationId xmlns:a16="http://schemas.microsoft.com/office/drawing/2014/main" id="{683F0CD1-60C5-B175-6B13-F66EA667B0AD}"/>
              </a:ext>
            </a:extLst>
          </p:cNvPr>
          <p:cNvSpPr/>
          <p:nvPr userDrawn="1"/>
        </p:nvSpPr>
        <p:spPr>
          <a:xfrm>
            <a:off x="4973915" y="2623916"/>
            <a:ext cx="1739457" cy="17275"/>
          </a:xfrm>
          <a:prstGeom prst="line">
            <a:avLst/>
          </a:prstGeom>
          <a:ln w="57150" cap="flat">
            <a:solidFill>
              <a:srgbClr val="009FDA"/>
            </a:solidFill>
            <a:prstDash val="solid"/>
            <a:headEnd type="none" w="sm" len="sm"/>
            <a:tailEnd type="none" w="sm" len="sm"/>
          </a:ln>
        </p:spPr>
        <p:txBody>
          <a:bodyPr/>
          <a:lstStyle/>
          <a:p>
            <a:endParaRPr lang="en-US"/>
          </a:p>
        </p:txBody>
      </p:sp>
      <p:sp>
        <p:nvSpPr>
          <p:cNvPr id="26" name="AutoShape 46">
            <a:extLst>
              <a:ext uri="{FF2B5EF4-FFF2-40B4-BE49-F238E27FC236}">
                <a16:creationId xmlns:a16="http://schemas.microsoft.com/office/drawing/2014/main" id="{F428AD71-9119-EE29-B4D0-C39466C2D067}"/>
              </a:ext>
            </a:extLst>
          </p:cNvPr>
          <p:cNvSpPr/>
          <p:nvPr userDrawn="1"/>
        </p:nvSpPr>
        <p:spPr>
          <a:xfrm>
            <a:off x="7660216" y="2641190"/>
            <a:ext cx="1808556" cy="0"/>
          </a:xfrm>
          <a:prstGeom prst="line">
            <a:avLst/>
          </a:prstGeom>
          <a:ln w="57150" cap="flat">
            <a:solidFill>
              <a:srgbClr val="009FDA"/>
            </a:solidFill>
            <a:prstDash val="solid"/>
            <a:headEnd type="none" w="sm" len="sm"/>
            <a:tailEnd type="none" w="sm" len="sm"/>
          </a:ln>
        </p:spPr>
        <p:txBody>
          <a:bodyPr/>
          <a:lstStyle/>
          <a:p>
            <a:endParaRPr lang="en-US"/>
          </a:p>
        </p:txBody>
      </p:sp>
      <p:sp>
        <p:nvSpPr>
          <p:cNvPr id="53" name="Freeform 5">
            <a:extLst>
              <a:ext uri="{FF2B5EF4-FFF2-40B4-BE49-F238E27FC236}">
                <a16:creationId xmlns:a16="http://schemas.microsoft.com/office/drawing/2014/main" id="{CCF2BEBE-A490-1991-D680-2F8AB220AA36}"/>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2435753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168157-1DC9-22D1-0001-75C67BEB227F}"/>
              </a:ext>
            </a:extLst>
          </p:cNvPr>
          <p:cNvSpPr>
            <a:spLocks noGrp="1"/>
          </p:cNvSpPr>
          <p:nvPr>
            <p:ph type="dt" sz="half" idx="10"/>
          </p:nvPr>
        </p:nvSpPr>
        <p:spPr>
          <a:xfrm>
            <a:off x="838200" y="6356350"/>
            <a:ext cx="6541168" cy="365125"/>
          </a:xfrm>
        </p:spPr>
        <p:txBody>
          <a:bodyPr/>
          <a:lstStyle>
            <a:lvl1pPr>
              <a:defRPr>
                <a:solidFill>
                  <a:schemeClr val="bg1"/>
                </a:solidFill>
              </a:defRPr>
            </a:lvl1pPr>
          </a:lstStyle>
          <a:p>
            <a:r>
              <a:rPr lang="en-US"/>
              <a:t>Presentation Title</a:t>
            </a:r>
          </a:p>
        </p:txBody>
      </p:sp>
      <p:sp>
        <p:nvSpPr>
          <p:cNvPr id="4" name="Slide Number Placeholder 3">
            <a:extLst>
              <a:ext uri="{FF2B5EF4-FFF2-40B4-BE49-F238E27FC236}">
                <a16:creationId xmlns:a16="http://schemas.microsoft.com/office/drawing/2014/main" id="{28E834C7-6070-455B-5757-8B2127252D45}"/>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6" name="Freeform 5">
            <a:extLst>
              <a:ext uri="{FF2B5EF4-FFF2-40B4-BE49-F238E27FC236}">
                <a16:creationId xmlns:a16="http://schemas.microsoft.com/office/drawing/2014/main" id="{58E30A04-BB51-F8B2-76A7-827154EB7D7F}"/>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
        <p:nvSpPr>
          <p:cNvPr id="7" name="Title 1">
            <a:extLst>
              <a:ext uri="{FF2B5EF4-FFF2-40B4-BE49-F238E27FC236}">
                <a16:creationId xmlns:a16="http://schemas.microsoft.com/office/drawing/2014/main" id="{607245E5-5600-E311-777B-C0493CB9B0D7}"/>
              </a:ext>
            </a:extLst>
          </p:cNvPr>
          <p:cNvSpPr>
            <a:spLocks noGrp="1"/>
          </p:cNvSpPr>
          <p:nvPr>
            <p:ph type="title"/>
          </p:nvPr>
        </p:nvSpPr>
        <p:spPr>
          <a:xfrm>
            <a:off x="838200" y="365125"/>
            <a:ext cx="10515600" cy="1325563"/>
          </a:xfrm>
        </p:spPr>
        <p:txBody>
          <a:bodyPr/>
          <a:lstStyle>
            <a:lvl1pPr>
              <a:defRPr>
                <a:solidFill>
                  <a:schemeClr val="bg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0B021ECB-6A16-32DF-45AB-AEA262BB34E2}"/>
              </a:ext>
            </a:extLst>
          </p:cNvPr>
          <p:cNvSpPr>
            <a:spLocks noGrp="1"/>
          </p:cNvSpPr>
          <p:nvPr>
            <p:ph type="body" sz="quarter" idx="13" hasCustomPrompt="1"/>
          </p:nvPr>
        </p:nvSpPr>
        <p:spPr>
          <a:xfrm>
            <a:off x="838200" y="2070100"/>
            <a:ext cx="10631488" cy="3448050"/>
          </a:xfrm>
        </p:spPr>
        <p:txBody>
          <a:bodyPr>
            <a:normAutofit/>
          </a:bodyPr>
          <a:lstStyle>
            <a:lvl1pPr marL="0" indent="0">
              <a:buNone/>
              <a:defRPr sz="2000" b="0" i="0">
                <a:solidFill>
                  <a:schemeClr val="bg1"/>
                </a:solidFill>
                <a:latin typeface="Gotham Book" panose="02000604040000020004"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b="0" i="0">
                <a:latin typeface="Gotham Book" panose="02000604040000020004" pitchFamily="2" charset="0"/>
              </a:rPr>
              <a:t>Insert Paragraph Details here</a:t>
            </a:r>
            <a:endParaRPr lang="en-US"/>
          </a:p>
        </p:txBody>
      </p:sp>
    </p:spTree>
    <p:extLst>
      <p:ext uri="{BB962C8B-B14F-4D97-AF65-F5344CB8AC3E}">
        <p14:creationId xmlns:p14="http://schemas.microsoft.com/office/powerpoint/2010/main" val="2685952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168157-1DC9-22D1-0001-75C67BEB227F}"/>
              </a:ext>
            </a:extLst>
          </p:cNvPr>
          <p:cNvSpPr>
            <a:spLocks noGrp="1"/>
          </p:cNvSpPr>
          <p:nvPr>
            <p:ph type="dt" sz="half" idx="10"/>
          </p:nvPr>
        </p:nvSpPr>
        <p:spPr>
          <a:xfrm>
            <a:off x="838200" y="6356350"/>
            <a:ext cx="6541168" cy="365125"/>
          </a:xfrm>
        </p:spPr>
        <p:txBody>
          <a:bodyPr/>
          <a:lstStyle>
            <a:lvl1pPr>
              <a:defRPr>
                <a:solidFill>
                  <a:schemeClr val="accent1">
                    <a:lumMod val="50000"/>
                  </a:schemeClr>
                </a:solidFill>
              </a:defRPr>
            </a:lvl1pPr>
          </a:lstStyle>
          <a:p>
            <a:r>
              <a:rPr lang="en-US"/>
              <a:t>Presentation Title</a:t>
            </a:r>
          </a:p>
        </p:txBody>
      </p:sp>
      <p:sp>
        <p:nvSpPr>
          <p:cNvPr id="4" name="Slide Number Placeholder 3">
            <a:extLst>
              <a:ext uri="{FF2B5EF4-FFF2-40B4-BE49-F238E27FC236}">
                <a16:creationId xmlns:a16="http://schemas.microsoft.com/office/drawing/2014/main" id="{28E834C7-6070-455B-5757-8B2127252D45}"/>
              </a:ext>
            </a:extLst>
          </p:cNvPr>
          <p:cNvSpPr>
            <a:spLocks noGrp="1"/>
          </p:cNvSpPr>
          <p:nvPr>
            <p:ph type="sldNum" sz="quarter" idx="12"/>
          </p:nvPr>
        </p:nvSpPr>
        <p:spPr/>
        <p:txBody>
          <a:bodyPr/>
          <a:lstStyle>
            <a:lvl1pPr>
              <a:defRPr>
                <a:solidFill>
                  <a:schemeClr val="accent1">
                    <a:lumMod val="50000"/>
                  </a:schemeClr>
                </a:solidFill>
              </a:defRPr>
            </a:lvl1pPr>
          </a:lstStyle>
          <a:p>
            <a:fld id="{A070A489-3A69-A542-8CBF-69A14DF4633A}" type="slidenum">
              <a:rPr lang="en-US" smtClean="0"/>
              <a:pPr/>
              <a:t>‹#›</a:t>
            </a:fld>
            <a:endParaRPr lang="en-US"/>
          </a:p>
        </p:txBody>
      </p:sp>
      <p:sp>
        <p:nvSpPr>
          <p:cNvPr id="6" name="Freeform 5">
            <a:extLst>
              <a:ext uri="{FF2B5EF4-FFF2-40B4-BE49-F238E27FC236}">
                <a16:creationId xmlns:a16="http://schemas.microsoft.com/office/drawing/2014/main" id="{58E30A04-BB51-F8B2-76A7-827154EB7D7F}"/>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5"/>
          </a:solidFill>
        </p:spPr>
        <p:txBody>
          <a:bodyPr/>
          <a:lstStyle/>
          <a:p>
            <a:endParaRPr lang="en-JM"/>
          </a:p>
        </p:txBody>
      </p:sp>
      <p:sp>
        <p:nvSpPr>
          <p:cNvPr id="7" name="Title 1">
            <a:extLst>
              <a:ext uri="{FF2B5EF4-FFF2-40B4-BE49-F238E27FC236}">
                <a16:creationId xmlns:a16="http://schemas.microsoft.com/office/drawing/2014/main" id="{607245E5-5600-E311-777B-C0493CB9B0D7}"/>
              </a:ext>
            </a:extLst>
          </p:cNvPr>
          <p:cNvSpPr>
            <a:spLocks noGrp="1"/>
          </p:cNvSpPr>
          <p:nvPr>
            <p:ph type="title" hasCustomPrompt="1"/>
          </p:nvPr>
        </p:nvSpPr>
        <p:spPr>
          <a:xfrm>
            <a:off x="838200" y="365125"/>
            <a:ext cx="10515600" cy="1325563"/>
          </a:xfrm>
        </p:spPr>
        <p:txBody>
          <a:bodyPr/>
          <a:lstStyle>
            <a:lvl1pPr>
              <a:defRPr>
                <a:solidFill>
                  <a:schemeClr val="accent1">
                    <a:lumMod val="50000"/>
                  </a:schemeClr>
                </a:solidFill>
              </a:defRPr>
            </a:lvl1pPr>
          </a:lstStyle>
          <a:p>
            <a:r>
              <a:rPr lang="en-US"/>
              <a:t>Your Title Goes Here</a:t>
            </a:r>
          </a:p>
        </p:txBody>
      </p:sp>
      <p:sp>
        <p:nvSpPr>
          <p:cNvPr id="10" name="Text Placeholder 9">
            <a:extLst>
              <a:ext uri="{FF2B5EF4-FFF2-40B4-BE49-F238E27FC236}">
                <a16:creationId xmlns:a16="http://schemas.microsoft.com/office/drawing/2014/main" id="{0B021ECB-6A16-32DF-45AB-AEA262BB34E2}"/>
              </a:ext>
            </a:extLst>
          </p:cNvPr>
          <p:cNvSpPr>
            <a:spLocks noGrp="1"/>
          </p:cNvSpPr>
          <p:nvPr>
            <p:ph type="body" sz="quarter" idx="13" hasCustomPrompt="1"/>
          </p:nvPr>
        </p:nvSpPr>
        <p:spPr>
          <a:xfrm>
            <a:off x="838200" y="2070100"/>
            <a:ext cx="10631488" cy="3448050"/>
          </a:xfrm>
        </p:spPr>
        <p:txBody>
          <a:bodyPr>
            <a:normAutofit/>
          </a:bodyPr>
          <a:lstStyle>
            <a:lvl1pPr marL="0" indent="0">
              <a:buNone/>
              <a:defRPr sz="2000" b="0" i="0">
                <a:solidFill>
                  <a:schemeClr val="accent1">
                    <a:lumMod val="50000"/>
                  </a:schemeClr>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b="0" i="0">
                <a:latin typeface="Gotham Book" panose="02000604040000020004" pitchFamily="2" charset="0"/>
              </a:rPr>
              <a:t>Insert Paragraph Details here</a:t>
            </a:r>
            <a:endParaRPr lang="en-US"/>
          </a:p>
        </p:txBody>
      </p:sp>
    </p:spTree>
    <p:extLst>
      <p:ext uri="{BB962C8B-B14F-4D97-AF65-F5344CB8AC3E}">
        <p14:creationId xmlns:p14="http://schemas.microsoft.com/office/powerpoint/2010/main" val="304819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E393-2E9A-9983-45BF-77A29608D9F1}"/>
              </a:ext>
            </a:extLst>
          </p:cNvPr>
          <p:cNvSpPr>
            <a:spLocks noGrp="1"/>
          </p:cNvSpPr>
          <p:nvPr>
            <p:ph type="title" hasCustomPrompt="1"/>
          </p:nvPr>
        </p:nvSpPr>
        <p:spPr>
          <a:xfrm>
            <a:off x="839788" y="607995"/>
            <a:ext cx="3932237" cy="1172679"/>
          </a:xfrm>
        </p:spPr>
        <p:txBody>
          <a:bodyPr anchor="t"/>
          <a:lstStyle>
            <a:lvl1pPr>
              <a:defRPr sz="3200">
                <a:solidFill>
                  <a:schemeClr val="accent1">
                    <a:lumMod val="50000"/>
                  </a:schemeClr>
                </a:solidFill>
              </a:defRPr>
            </a:lvl1pPr>
          </a:lstStyle>
          <a:p>
            <a:r>
              <a:rPr lang="en-US"/>
              <a:t>Your Header</a:t>
            </a:r>
            <a:br>
              <a:rPr lang="en-US"/>
            </a:br>
            <a:r>
              <a:rPr lang="en-US"/>
              <a:t>Goes Here</a:t>
            </a:r>
          </a:p>
        </p:txBody>
      </p:sp>
      <p:sp>
        <p:nvSpPr>
          <p:cNvPr id="3" name="Content Placeholder 2">
            <a:extLst>
              <a:ext uri="{FF2B5EF4-FFF2-40B4-BE49-F238E27FC236}">
                <a16:creationId xmlns:a16="http://schemas.microsoft.com/office/drawing/2014/main" id="{927C9BD8-2B4F-4CEE-835C-9912AAF944D1}"/>
              </a:ext>
            </a:extLst>
          </p:cNvPr>
          <p:cNvSpPr>
            <a:spLocks noGrp="1"/>
          </p:cNvSpPr>
          <p:nvPr>
            <p:ph idx="1" hasCustomPrompt="1"/>
          </p:nvPr>
        </p:nvSpPr>
        <p:spPr>
          <a:xfrm>
            <a:off x="5183188" y="987425"/>
            <a:ext cx="6172200" cy="4873625"/>
          </a:xfrm>
        </p:spPr>
        <p:txBody>
          <a:bodyPr/>
          <a:lstStyle>
            <a:lvl1pPr>
              <a:defRPr sz="3200">
                <a:solidFill>
                  <a:schemeClr val="accent1">
                    <a:lumMod val="50000"/>
                  </a:schemeClr>
                </a:solidFill>
              </a:defRPr>
            </a:lvl1pPr>
            <a:lvl2pPr>
              <a:defRPr sz="2800">
                <a:solidFill>
                  <a:schemeClr val="accent1">
                    <a:lumMod val="50000"/>
                  </a:schemeClr>
                </a:solidFill>
              </a:defRPr>
            </a:lvl2pPr>
            <a:lvl3pPr>
              <a:defRPr sz="2400">
                <a:solidFill>
                  <a:schemeClr val="accent1">
                    <a:lumMod val="50000"/>
                  </a:schemeClr>
                </a:solidFill>
              </a:defRPr>
            </a:lvl3pPr>
            <a:lvl4pPr>
              <a:defRPr sz="2000">
                <a:solidFill>
                  <a:schemeClr val="accent1">
                    <a:lumMod val="50000"/>
                  </a:schemeClr>
                </a:solidFill>
              </a:defRPr>
            </a:lvl4pPr>
            <a:lvl5pPr>
              <a:defRPr sz="2000">
                <a:solidFill>
                  <a:schemeClr val="accent1">
                    <a:lumMod val="50000"/>
                  </a:schemeClr>
                </a:solidFill>
              </a:defRPr>
            </a:lvl5pPr>
            <a:lvl6pPr>
              <a:defRPr sz="2000"/>
            </a:lvl6pPr>
            <a:lvl7pPr>
              <a:defRPr sz="2000"/>
            </a:lvl7pPr>
            <a:lvl8pPr>
              <a:defRPr sz="2000"/>
            </a:lvl8pPr>
            <a:lvl9pPr>
              <a:defRPr sz="2000"/>
            </a:lvl9pPr>
          </a:lstStyle>
          <a:p>
            <a:pPr lvl="0"/>
            <a:r>
              <a:rPr lang="en-US"/>
              <a:t>Insert Photo Here</a:t>
            </a:r>
          </a:p>
        </p:txBody>
      </p:sp>
      <p:sp>
        <p:nvSpPr>
          <p:cNvPr id="4" name="Text Placeholder 3">
            <a:extLst>
              <a:ext uri="{FF2B5EF4-FFF2-40B4-BE49-F238E27FC236}">
                <a16:creationId xmlns:a16="http://schemas.microsoft.com/office/drawing/2014/main" id="{78D656C8-AD1A-1557-910F-A40E7EAEA079}"/>
              </a:ext>
            </a:extLst>
          </p:cNvPr>
          <p:cNvSpPr>
            <a:spLocks noGrp="1"/>
          </p:cNvSpPr>
          <p:nvPr>
            <p:ph type="body" sz="half" idx="2" hasCustomPrompt="1"/>
          </p:nvPr>
        </p:nvSpPr>
        <p:spPr>
          <a:xfrm>
            <a:off x="839788" y="2057400"/>
            <a:ext cx="3932237" cy="3811588"/>
          </a:xfrm>
        </p:spPr>
        <p:txBody>
          <a:bodyPr/>
          <a:lstStyle>
            <a:lvl1pPr marL="0" indent="0">
              <a:buNone/>
              <a:defRPr sz="1600">
                <a:solidFill>
                  <a:schemeClr val="accent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Insert Summary Here</a:t>
            </a:r>
          </a:p>
        </p:txBody>
      </p:sp>
      <p:sp>
        <p:nvSpPr>
          <p:cNvPr id="5" name="Date Placeholder 4">
            <a:extLst>
              <a:ext uri="{FF2B5EF4-FFF2-40B4-BE49-F238E27FC236}">
                <a16:creationId xmlns:a16="http://schemas.microsoft.com/office/drawing/2014/main" id="{969FC0C9-500F-FE4D-7059-F06EBA9D9B82}"/>
              </a:ext>
            </a:extLst>
          </p:cNvPr>
          <p:cNvSpPr>
            <a:spLocks noGrp="1"/>
          </p:cNvSpPr>
          <p:nvPr>
            <p:ph type="dt" sz="half" idx="10"/>
          </p:nvPr>
        </p:nvSpPr>
        <p:spPr>
          <a:xfrm>
            <a:off x="838199" y="6356350"/>
            <a:ext cx="6043863" cy="365125"/>
          </a:xfrm>
        </p:spPr>
        <p:txBody>
          <a:bodyPr/>
          <a:lstStyle>
            <a:lvl1pPr>
              <a:defRPr>
                <a:solidFill>
                  <a:schemeClr val="accent1">
                    <a:lumMod val="50000"/>
                  </a:schemeClr>
                </a:solidFill>
              </a:defRPr>
            </a:lvl1pPr>
          </a:lstStyle>
          <a:p>
            <a:r>
              <a:rPr lang="en-US"/>
              <a:t>Presentation Title</a:t>
            </a:r>
          </a:p>
        </p:txBody>
      </p:sp>
      <p:sp>
        <p:nvSpPr>
          <p:cNvPr id="7" name="Slide Number Placeholder 6">
            <a:extLst>
              <a:ext uri="{FF2B5EF4-FFF2-40B4-BE49-F238E27FC236}">
                <a16:creationId xmlns:a16="http://schemas.microsoft.com/office/drawing/2014/main" id="{C96480E6-F565-AA43-351F-D8B3E480C1BC}"/>
              </a:ext>
            </a:extLst>
          </p:cNvPr>
          <p:cNvSpPr>
            <a:spLocks noGrp="1"/>
          </p:cNvSpPr>
          <p:nvPr>
            <p:ph type="sldNum" sz="quarter" idx="12"/>
          </p:nvPr>
        </p:nvSpPr>
        <p:spPr/>
        <p:txBody>
          <a:bodyPr/>
          <a:lstStyle>
            <a:lvl1pPr>
              <a:defRPr>
                <a:solidFill>
                  <a:schemeClr val="accent1">
                    <a:lumMod val="50000"/>
                  </a:schemeClr>
                </a:solidFill>
              </a:defRPr>
            </a:lvl1pPr>
          </a:lstStyle>
          <a:p>
            <a:fld id="{A070A489-3A69-A542-8CBF-69A14DF4633A}" type="slidenum">
              <a:rPr lang="en-US" smtClean="0"/>
              <a:pPr/>
              <a:t>‹#›</a:t>
            </a:fld>
            <a:endParaRPr lang="en-US"/>
          </a:p>
        </p:txBody>
      </p:sp>
      <p:sp>
        <p:nvSpPr>
          <p:cNvPr id="8" name="Freeform 5">
            <a:extLst>
              <a:ext uri="{FF2B5EF4-FFF2-40B4-BE49-F238E27FC236}">
                <a16:creationId xmlns:a16="http://schemas.microsoft.com/office/drawing/2014/main" id="{BB0E02BF-5253-F5F0-3096-EB50B28B9845}"/>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4224152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3_PowerPoint Cover 1">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08ED-8DAD-3DDF-C241-E7D740AB3EA8}"/>
              </a:ext>
            </a:extLst>
          </p:cNvPr>
          <p:cNvSpPr>
            <a:spLocks noGrp="1"/>
          </p:cNvSpPr>
          <p:nvPr>
            <p:ph type="ctrTitle" hasCustomPrompt="1"/>
          </p:nvPr>
        </p:nvSpPr>
        <p:spPr>
          <a:xfrm>
            <a:off x="1524000" y="1122363"/>
            <a:ext cx="9144000" cy="2387600"/>
          </a:xfrm>
        </p:spPr>
        <p:txBody>
          <a:bodyPr anchor="b">
            <a:normAutofit/>
          </a:bodyPr>
          <a:lstStyle>
            <a:lvl1pPr algn="ctr">
              <a:defRPr sz="4000">
                <a:solidFill>
                  <a:schemeClr val="bg1"/>
                </a:solidFill>
              </a:defRPr>
            </a:lvl1pPr>
          </a:lstStyle>
          <a:p>
            <a:r>
              <a:rPr lang="en-US"/>
              <a:t>PRESENTATION TITLE HERE</a:t>
            </a:r>
          </a:p>
        </p:txBody>
      </p:sp>
      <p:sp>
        <p:nvSpPr>
          <p:cNvPr id="3" name="Subtitle 2">
            <a:extLst>
              <a:ext uri="{FF2B5EF4-FFF2-40B4-BE49-F238E27FC236}">
                <a16:creationId xmlns:a16="http://schemas.microsoft.com/office/drawing/2014/main" id="{5710112C-CAD0-ACAA-EF44-D38B25816E85}"/>
              </a:ext>
            </a:extLst>
          </p:cNvPr>
          <p:cNvSpPr>
            <a:spLocks noGrp="1"/>
          </p:cNvSpPr>
          <p:nvPr>
            <p:ph type="subTitle" idx="1" hasCustomPrompt="1"/>
          </p:nvPr>
        </p:nvSpPr>
        <p:spPr>
          <a:xfrm>
            <a:off x="1524000" y="3602038"/>
            <a:ext cx="9144000" cy="1655762"/>
          </a:xfrm>
        </p:spPr>
        <p:txBody>
          <a:bodyPr/>
          <a:lstStyle>
            <a:lvl1pPr marL="0" indent="0" algn="ctr">
              <a:buNone/>
              <a:defRPr sz="2400" b="1" i="0">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p>
        </p:txBody>
      </p:sp>
      <p:sp>
        <p:nvSpPr>
          <p:cNvPr id="7" name="Freeform 2">
            <a:extLst>
              <a:ext uri="{FF2B5EF4-FFF2-40B4-BE49-F238E27FC236}">
                <a16:creationId xmlns:a16="http://schemas.microsoft.com/office/drawing/2014/main" id="{24883C95-2656-864D-EFCC-2C3C6D7BC25C}"/>
              </a:ext>
            </a:extLst>
          </p:cNvPr>
          <p:cNvSpPr/>
          <p:nvPr userDrawn="1"/>
        </p:nvSpPr>
        <p:spPr>
          <a:xfrm>
            <a:off x="-132522" y="6033388"/>
            <a:ext cx="7389578" cy="629648"/>
          </a:xfrm>
          <a:custGeom>
            <a:avLst/>
            <a:gdLst/>
            <a:ahLst/>
            <a:cxnLst/>
            <a:rect l="l" t="t" r="r" b="b"/>
            <a:pathLst>
              <a:path w="10396075" h="885825">
                <a:moveTo>
                  <a:pt x="0" y="0"/>
                </a:moveTo>
                <a:lnTo>
                  <a:pt x="10396075" y="0"/>
                </a:lnTo>
                <a:lnTo>
                  <a:pt x="10396075" y="885825"/>
                </a:lnTo>
                <a:lnTo>
                  <a:pt x="0" y="885825"/>
                </a:lnTo>
                <a:lnTo>
                  <a:pt x="0" y="0"/>
                </a:lnTo>
                <a:close/>
              </a:path>
            </a:pathLst>
          </a:custGeom>
          <a:blipFill>
            <a:blip r:embed="rId2"/>
            <a:stretch>
              <a:fillRect r="-75912"/>
            </a:stretch>
          </a:blipFill>
          <a:ln cap="sq">
            <a:noFill/>
            <a:prstDash val="solid"/>
            <a:miter/>
          </a:ln>
        </p:spPr>
        <p:txBody>
          <a:bodyPr/>
          <a:lstStyle/>
          <a:p>
            <a:endParaRPr lang="en-JM"/>
          </a:p>
        </p:txBody>
      </p:sp>
      <p:sp>
        <p:nvSpPr>
          <p:cNvPr id="8" name="Freeform 3">
            <a:extLst>
              <a:ext uri="{FF2B5EF4-FFF2-40B4-BE49-F238E27FC236}">
                <a16:creationId xmlns:a16="http://schemas.microsoft.com/office/drawing/2014/main" id="{323C6F31-8823-3A1C-B52A-8FE872C73897}"/>
              </a:ext>
            </a:extLst>
          </p:cNvPr>
          <p:cNvSpPr/>
          <p:nvPr userDrawn="1"/>
        </p:nvSpPr>
        <p:spPr>
          <a:xfrm>
            <a:off x="7336480" y="6197157"/>
            <a:ext cx="3483107" cy="302109"/>
          </a:xfrm>
          <a:custGeom>
            <a:avLst/>
            <a:gdLst/>
            <a:ahLst/>
            <a:cxnLst/>
            <a:rect l="l" t="t" r="r" b="b"/>
            <a:pathLst>
              <a:path w="4900239" h="425024">
                <a:moveTo>
                  <a:pt x="0" y="0"/>
                </a:moveTo>
                <a:lnTo>
                  <a:pt x="4900239" y="0"/>
                </a:lnTo>
                <a:lnTo>
                  <a:pt x="4900239" y="425024"/>
                </a:lnTo>
                <a:lnTo>
                  <a:pt x="0" y="425024"/>
                </a:lnTo>
                <a:lnTo>
                  <a:pt x="0" y="0"/>
                </a:lnTo>
                <a:close/>
              </a:path>
            </a:pathLst>
          </a:custGeom>
          <a:blipFill>
            <a:blip r:embed="rId3"/>
            <a:stretch>
              <a:fillRect/>
            </a:stretch>
          </a:blipFill>
        </p:spPr>
        <p:txBody>
          <a:bodyPr/>
          <a:lstStyle/>
          <a:p>
            <a:endParaRPr lang="en-JM"/>
          </a:p>
        </p:txBody>
      </p:sp>
      <p:sp>
        <p:nvSpPr>
          <p:cNvPr id="9" name="Freeform 4">
            <a:extLst>
              <a:ext uri="{FF2B5EF4-FFF2-40B4-BE49-F238E27FC236}">
                <a16:creationId xmlns:a16="http://schemas.microsoft.com/office/drawing/2014/main" id="{4794DDB2-EB20-4483-670B-29F286D1B57B}"/>
              </a:ext>
            </a:extLst>
          </p:cNvPr>
          <p:cNvSpPr/>
          <p:nvPr userDrawn="1"/>
        </p:nvSpPr>
        <p:spPr>
          <a:xfrm>
            <a:off x="10899011" y="6033388"/>
            <a:ext cx="1905088" cy="629649"/>
          </a:xfrm>
          <a:custGeom>
            <a:avLst/>
            <a:gdLst/>
            <a:ahLst/>
            <a:cxnLst/>
            <a:rect l="l" t="t" r="r" b="b"/>
            <a:pathLst>
              <a:path w="2680184" h="885825">
                <a:moveTo>
                  <a:pt x="0" y="0"/>
                </a:moveTo>
                <a:lnTo>
                  <a:pt x="2680184" y="0"/>
                </a:lnTo>
                <a:lnTo>
                  <a:pt x="2680184" y="885825"/>
                </a:lnTo>
                <a:lnTo>
                  <a:pt x="0" y="885825"/>
                </a:lnTo>
                <a:lnTo>
                  <a:pt x="0" y="0"/>
                </a:lnTo>
                <a:close/>
              </a:path>
            </a:pathLst>
          </a:custGeom>
          <a:blipFill>
            <a:blip r:embed="rId2"/>
            <a:stretch>
              <a:fillRect l="-582341"/>
            </a:stretch>
          </a:blipFill>
          <a:ln cap="sq">
            <a:noFill/>
            <a:prstDash val="solid"/>
            <a:miter/>
          </a:ln>
        </p:spPr>
        <p:txBody>
          <a:bodyPr/>
          <a:lstStyle/>
          <a:p>
            <a:endParaRPr lang="en-JM"/>
          </a:p>
        </p:txBody>
      </p:sp>
    </p:spTree>
    <p:extLst>
      <p:ext uri="{BB962C8B-B14F-4D97-AF65-F5344CB8AC3E}">
        <p14:creationId xmlns:p14="http://schemas.microsoft.com/office/powerpoint/2010/main" val="3310247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2_PowerPoint Cover 1">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08ED-8DAD-3DDF-C241-E7D740AB3EA8}"/>
              </a:ext>
            </a:extLst>
          </p:cNvPr>
          <p:cNvSpPr>
            <a:spLocks noGrp="1"/>
          </p:cNvSpPr>
          <p:nvPr>
            <p:ph type="ctrTitle" hasCustomPrompt="1"/>
          </p:nvPr>
        </p:nvSpPr>
        <p:spPr>
          <a:xfrm>
            <a:off x="481264" y="753395"/>
            <a:ext cx="9144000" cy="722479"/>
          </a:xfrm>
        </p:spPr>
        <p:txBody>
          <a:bodyPr anchor="t">
            <a:normAutofit/>
          </a:bodyPr>
          <a:lstStyle>
            <a:lvl1pPr algn="l">
              <a:defRPr sz="4000">
                <a:solidFill>
                  <a:schemeClr val="bg1"/>
                </a:solidFill>
              </a:defRPr>
            </a:lvl1pPr>
          </a:lstStyle>
          <a:p>
            <a:r>
              <a:rPr lang="en-US"/>
              <a:t>PRESENTATION TITLE HERE</a:t>
            </a:r>
          </a:p>
        </p:txBody>
      </p:sp>
      <p:sp>
        <p:nvSpPr>
          <p:cNvPr id="3" name="Subtitle 2">
            <a:extLst>
              <a:ext uri="{FF2B5EF4-FFF2-40B4-BE49-F238E27FC236}">
                <a16:creationId xmlns:a16="http://schemas.microsoft.com/office/drawing/2014/main" id="{5710112C-CAD0-ACAA-EF44-D38B25816E85}"/>
              </a:ext>
            </a:extLst>
          </p:cNvPr>
          <p:cNvSpPr>
            <a:spLocks noGrp="1"/>
          </p:cNvSpPr>
          <p:nvPr>
            <p:ph type="subTitle" idx="1" hasCustomPrompt="1"/>
          </p:nvPr>
        </p:nvSpPr>
        <p:spPr>
          <a:xfrm>
            <a:off x="481264" y="1660944"/>
            <a:ext cx="9144000" cy="629648"/>
          </a:xfrm>
        </p:spPr>
        <p:txBody>
          <a:bodyPr/>
          <a:lstStyle>
            <a:lvl1pPr marL="0" indent="0" algn="l">
              <a:buNone/>
              <a:defRPr sz="2400" b="1" i="0">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p>
        </p:txBody>
      </p:sp>
      <p:sp>
        <p:nvSpPr>
          <p:cNvPr id="7" name="Freeform 2">
            <a:extLst>
              <a:ext uri="{FF2B5EF4-FFF2-40B4-BE49-F238E27FC236}">
                <a16:creationId xmlns:a16="http://schemas.microsoft.com/office/drawing/2014/main" id="{24883C95-2656-864D-EFCC-2C3C6D7BC25C}"/>
              </a:ext>
            </a:extLst>
          </p:cNvPr>
          <p:cNvSpPr/>
          <p:nvPr userDrawn="1"/>
        </p:nvSpPr>
        <p:spPr>
          <a:xfrm>
            <a:off x="-132522" y="6033388"/>
            <a:ext cx="7389578" cy="629648"/>
          </a:xfrm>
          <a:custGeom>
            <a:avLst/>
            <a:gdLst/>
            <a:ahLst/>
            <a:cxnLst/>
            <a:rect l="l" t="t" r="r" b="b"/>
            <a:pathLst>
              <a:path w="10396075" h="885825">
                <a:moveTo>
                  <a:pt x="0" y="0"/>
                </a:moveTo>
                <a:lnTo>
                  <a:pt x="10396075" y="0"/>
                </a:lnTo>
                <a:lnTo>
                  <a:pt x="10396075" y="885825"/>
                </a:lnTo>
                <a:lnTo>
                  <a:pt x="0" y="885825"/>
                </a:lnTo>
                <a:lnTo>
                  <a:pt x="0" y="0"/>
                </a:lnTo>
                <a:close/>
              </a:path>
            </a:pathLst>
          </a:custGeom>
          <a:blipFill>
            <a:blip r:embed="rId2"/>
            <a:stretch>
              <a:fillRect r="-75912"/>
            </a:stretch>
          </a:blipFill>
          <a:ln cap="sq">
            <a:noFill/>
            <a:prstDash val="solid"/>
            <a:miter/>
          </a:ln>
        </p:spPr>
        <p:txBody>
          <a:bodyPr/>
          <a:lstStyle/>
          <a:p>
            <a:endParaRPr lang="en-JM"/>
          </a:p>
        </p:txBody>
      </p:sp>
      <p:sp>
        <p:nvSpPr>
          <p:cNvPr id="8" name="Freeform 3">
            <a:extLst>
              <a:ext uri="{FF2B5EF4-FFF2-40B4-BE49-F238E27FC236}">
                <a16:creationId xmlns:a16="http://schemas.microsoft.com/office/drawing/2014/main" id="{323C6F31-8823-3A1C-B52A-8FE872C73897}"/>
              </a:ext>
            </a:extLst>
          </p:cNvPr>
          <p:cNvSpPr/>
          <p:nvPr userDrawn="1"/>
        </p:nvSpPr>
        <p:spPr>
          <a:xfrm>
            <a:off x="7336480" y="6197157"/>
            <a:ext cx="3483107" cy="302109"/>
          </a:xfrm>
          <a:custGeom>
            <a:avLst/>
            <a:gdLst/>
            <a:ahLst/>
            <a:cxnLst/>
            <a:rect l="l" t="t" r="r" b="b"/>
            <a:pathLst>
              <a:path w="4900239" h="425024">
                <a:moveTo>
                  <a:pt x="0" y="0"/>
                </a:moveTo>
                <a:lnTo>
                  <a:pt x="4900239" y="0"/>
                </a:lnTo>
                <a:lnTo>
                  <a:pt x="4900239" y="425024"/>
                </a:lnTo>
                <a:lnTo>
                  <a:pt x="0" y="425024"/>
                </a:lnTo>
                <a:lnTo>
                  <a:pt x="0" y="0"/>
                </a:lnTo>
                <a:close/>
              </a:path>
            </a:pathLst>
          </a:custGeom>
          <a:blipFill>
            <a:blip r:embed="rId3"/>
            <a:stretch>
              <a:fillRect/>
            </a:stretch>
          </a:blipFill>
        </p:spPr>
        <p:txBody>
          <a:bodyPr/>
          <a:lstStyle/>
          <a:p>
            <a:endParaRPr lang="en-JM"/>
          </a:p>
        </p:txBody>
      </p:sp>
      <p:sp>
        <p:nvSpPr>
          <p:cNvPr id="9" name="Freeform 4">
            <a:extLst>
              <a:ext uri="{FF2B5EF4-FFF2-40B4-BE49-F238E27FC236}">
                <a16:creationId xmlns:a16="http://schemas.microsoft.com/office/drawing/2014/main" id="{4794DDB2-EB20-4483-670B-29F286D1B57B}"/>
              </a:ext>
            </a:extLst>
          </p:cNvPr>
          <p:cNvSpPr/>
          <p:nvPr userDrawn="1"/>
        </p:nvSpPr>
        <p:spPr>
          <a:xfrm>
            <a:off x="10899011" y="6033388"/>
            <a:ext cx="1905088" cy="629649"/>
          </a:xfrm>
          <a:custGeom>
            <a:avLst/>
            <a:gdLst/>
            <a:ahLst/>
            <a:cxnLst/>
            <a:rect l="l" t="t" r="r" b="b"/>
            <a:pathLst>
              <a:path w="2680184" h="885825">
                <a:moveTo>
                  <a:pt x="0" y="0"/>
                </a:moveTo>
                <a:lnTo>
                  <a:pt x="2680184" y="0"/>
                </a:lnTo>
                <a:lnTo>
                  <a:pt x="2680184" y="885825"/>
                </a:lnTo>
                <a:lnTo>
                  <a:pt x="0" y="885825"/>
                </a:lnTo>
                <a:lnTo>
                  <a:pt x="0" y="0"/>
                </a:lnTo>
                <a:close/>
              </a:path>
            </a:pathLst>
          </a:custGeom>
          <a:blipFill>
            <a:blip r:embed="rId2"/>
            <a:stretch>
              <a:fillRect l="-582341"/>
            </a:stretch>
          </a:blipFill>
          <a:ln cap="sq">
            <a:noFill/>
            <a:prstDash val="solid"/>
            <a:miter/>
          </a:ln>
        </p:spPr>
        <p:txBody>
          <a:bodyPr/>
          <a:lstStyle/>
          <a:p>
            <a:endParaRPr lang="en-JM"/>
          </a:p>
        </p:txBody>
      </p:sp>
    </p:spTree>
    <p:extLst>
      <p:ext uri="{BB962C8B-B14F-4D97-AF65-F5344CB8AC3E}">
        <p14:creationId xmlns:p14="http://schemas.microsoft.com/office/powerpoint/2010/main" val="3914213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Content Slide 1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DBFC8-12A5-8D51-8F48-E22A44642435}"/>
              </a:ext>
            </a:extLst>
          </p:cNvPr>
          <p:cNvSpPr>
            <a:spLocks noGrp="1"/>
          </p:cNvSpPr>
          <p:nvPr>
            <p:ph type="title" hasCustomPrompt="1"/>
          </p:nvPr>
        </p:nvSpPr>
        <p:spPr/>
        <p:txBody>
          <a:bodyPr/>
          <a:lstStyle>
            <a:lvl1pPr>
              <a:defRPr>
                <a:solidFill>
                  <a:schemeClr val="accent2">
                    <a:lumMod val="90000"/>
                    <a:lumOff val="10000"/>
                  </a:schemeClr>
                </a:solidFill>
              </a:defRPr>
            </a:lvl1pPr>
          </a:lstStyle>
          <a:p>
            <a:r>
              <a:rPr lang="en-US"/>
              <a:t>Header Here</a:t>
            </a:r>
          </a:p>
        </p:txBody>
      </p:sp>
      <p:sp>
        <p:nvSpPr>
          <p:cNvPr id="3" name="Content Placeholder 2">
            <a:extLst>
              <a:ext uri="{FF2B5EF4-FFF2-40B4-BE49-F238E27FC236}">
                <a16:creationId xmlns:a16="http://schemas.microsoft.com/office/drawing/2014/main" id="{CCF6E6FB-C2B6-6443-F2D8-137E1E61904D}"/>
              </a:ext>
            </a:extLst>
          </p:cNvPr>
          <p:cNvSpPr>
            <a:spLocks noGrp="1"/>
          </p:cNvSpPr>
          <p:nvPr>
            <p:ph idx="1" hasCustomPrompt="1"/>
          </p:nvPr>
        </p:nvSpPr>
        <p:spPr/>
        <p:txBody>
          <a:bodyPr/>
          <a:lstStyle>
            <a:lvl1pPr>
              <a:defRPr>
                <a:solidFill>
                  <a:schemeClr val="accent1">
                    <a:lumMod val="75000"/>
                  </a:schemeClr>
                </a:solidFill>
              </a:defRPr>
            </a:lvl1pPr>
            <a:lvl2pPr>
              <a:defRPr>
                <a:solidFill>
                  <a:schemeClr val="accent1">
                    <a:lumMod val="75000"/>
                  </a:schemeClr>
                </a:solidFill>
              </a:defRPr>
            </a:lvl2pPr>
            <a:lvl3pPr>
              <a:defRPr>
                <a:solidFill>
                  <a:schemeClr val="accent1">
                    <a:lumMod val="75000"/>
                  </a:schemeClr>
                </a:solidFill>
              </a:defRPr>
            </a:lvl3pPr>
            <a:lvl4pPr>
              <a:defRPr>
                <a:solidFill>
                  <a:schemeClr val="accent1">
                    <a:lumMod val="75000"/>
                  </a:schemeClr>
                </a:solidFill>
              </a:defRPr>
            </a:lvl4pPr>
            <a:lvl5pPr>
              <a:defRPr>
                <a:solidFill>
                  <a:schemeClr val="accent1">
                    <a:lumMod val="75000"/>
                  </a:schemeClr>
                </a:solidFill>
              </a:defRPr>
            </a:lvl5pPr>
          </a:lstStyle>
          <a:p>
            <a:pPr lvl="0"/>
            <a:r>
              <a:rPr lang="en-US"/>
              <a:t>Content Here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4301E-F966-7C12-6F91-9890B2ADA695}"/>
              </a:ext>
            </a:extLst>
          </p:cNvPr>
          <p:cNvSpPr>
            <a:spLocks noGrp="1"/>
          </p:cNvSpPr>
          <p:nvPr>
            <p:ph type="dt" sz="half" idx="10"/>
          </p:nvPr>
        </p:nvSpPr>
        <p:spPr>
          <a:xfrm>
            <a:off x="838199" y="6356350"/>
            <a:ext cx="6496251" cy="365125"/>
          </a:xfrm>
        </p:spPr>
        <p:txBody>
          <a:bodyPr/>
          <a:lstStyle>
            <a:lvl1pPr>
              <a:defRPr>
                <a:solidFill>
                  <a:schemeClr val="accent1">
                    <a:lumMod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55B0E6A6-2064-40D0-F432-F19CE8676D37}"/>
              </a:ext>
            </a:extLst>
          </p:cNvPr>
          <p:cNvSpPr>
            <a:spLocks noGrp="1"/>
          </p:cNvSpPr>
          <p:nvPr>
            <p:ph type="sldNum" sz="quarter" idx="12"/>
          </p:nvPr>
        </p:nvSpPr>
        <p:spPr/>
        <p:txBody>
          <a:bodyPr/>
          <a:lstStyle>
            <a:lvl1pPr>
              <a:defRPr>
                <a:solidFill>
                  <a:schemeClr val="accent1">
                    <a:lumMod val="75000"/>
                  </a:schemeClr>
                </a:solidFill>
              </a:defRPr>
            </a:lvl1pPr>
          </a:lstStyle>
          <a:p>
            <a:fld id="{A070A489-3A69-A542-8CBF-69A14DF4633A}" type="slidenum">
              <a:rPr lang="en-US" smtClean="0"/>
              <a:pPr/>
              <a:t>‹#›</a:t>
            </a:fld>
            <a:endParaRPr lang="en-US"/>
          </a:p>
        </p:txBody>
      </p:sp>
      <p:sp>
        <p:nvSpPr>
          <p:cNvPr id="7" name="Freeform 5">
            <a:extLst>
              <a:ext uri="{FF2B5EF4-FFF2-40B4-BE49-F238E27FC236}">
                <a16:creationId xmlns:a16="http://schemas.microsoft.com/office/drawing/2014/main" id="{D543828D-1C57-47CD-71D6-DCDD0B47004B}"/>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4231554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Transition Slide">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8D68B-9D38-D375-0E0B-E71B45CF29B7}"/>
              </a:ext>
            </a:extLst>
          </p:cNvPr>
          <p:cNvSpPr>
            <a:spLocks noGrp="1"/>
          </p:cNvSpPr>
          <p:nvPr>
            <p:ph type="title" hasCustomPrompt="1"/>
          </p:nvPr>
        </p:nvSpPr>
        <p:spPr>
          <a:xfrm>
            <a:off x="838200" y="2002630"/>
            <a:ext cx="10515600" cy="2852737"/>
          </a:xfrm>
        </p:spPr>
        <p:txBody>
          <a:bodyPr anchor="ctr"/>
          <a:lstStyle>
            <a:lvl1pPr>
              <a:defRPr sz="6000">
                <a:solidFill>
                  <a:schemeClr val="bg1"/>
                </a:solidFill>
              </a:defRPr>
            </a:lvl1pPr>
          </a:lstStyle>
          <a:p>
            <a:r>
              <a:rPr lang="en-US"/>
              <a:t>Separator Slide</a:t>
            </a:r>
          </a:p>
        </p:txBody>
      </p:sp>
      <p:sp>
        <p:nvSpPr>
          <p:cNvPr id="4" name="Date Placeholder 3">
            <a:extLst>
              <a:ext uri="{FF2B5EF4-FFF2-40B4-BE49-F238E27FC236}">
                <a16:creationId xmlns:a16="http://schemas.microsoft.com/office/drawing/2014/main" id="{F27AA4C5-586B-46CD-F4E4-A44AA15915A2}"/>
              </a:ext>
            </a:extLst>
          </p:cNvPr>
          <p:cNvSpPr>
            <a:spLocks noGrp="1"/>
          </p:cNvSpPr>
          <p:nvPr>
            <p:ph type="dt" sz="half" idx="10"/>
          </p:nvPr>
        </p:nvSpPr>
        <p:spPr>
          <a:xfrm>
            <a:off x="838199" y="6356350"/>
            <a:ext cx="6218583" cy="365125"/>
          </a:xfrm>
        </p:spPr>
        <p:txBody>
          <a:bodyPr/>
          <a:lstStyle>
            <a:lvl1pPr>
              <a:defRPr>
                <a:solidFill>
                  <a:schemeClr val="bg1"/>
                </a:solidFill>
              </a:defRPr>
            </a:lvl1pPr>
          </a:lstStyle>
          <a:p>
            <a:r>
              <a:rPr lang="en-US"/>
              <a:t>Presentation Title</a:t>
            </a:r>
          </a:p>
        </p:txBody>
      </p:sp>
      <p:sp>
        <p:nvSpPr>
          <p:cNvPr id="6" name="Slide Number Placeholder 5">
            <a:extLst>
              <a:ext uri="{FF2B5EF4-FFF2-40B4-BE49-F238E27FC236}">
                <a16:creationId xmlns:a16="http://schemas.microsoft.com/office/drawing/2014/main" id="{D1021D76-F7F7-44F4-0928-16192EA5B4A8}"/>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7" name="Freeform 5">
            <a:extLst>
              <a:ext uri="{FF2B5EF4-FFF2-40B4-BE49-F238E27FC236}">
                <a16:creationId xmlns:a16="http://schemas.microsoft.com/office/drawing/2014/main" id="{7EDF8654-4A5A-410F-70D5-0CB8DD014DC0}"/>
              </a:ext>
            </a:extLst>
          </p:cNvPr>
          <p:cNvSpPr/>
          <p:nvPr userDrawn="1"/>
        </p:nvSpPr>
        <p:spPr>
          <a:xfrm>
            <a:off x="418641" y="2002631"/>
            <a:ext cx="234787" cy="2852737"/>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Tree>
    <p:extLst>
      <p:ext uri="{BB962C8B-B14F-4D97-AF65-F5344CB8AC3E}">
        <p14:creationId xmlns:p14="http://schemas.microsoft.com/office/powerpoint/2010/main" val="2538788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1_Content Slide 2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FCE64-907E-2DFA-F136-C1E5CDCA1741}"/>
              </a:ext>
            </a:extLst>
          </p:cNvPr>
          <p:cNvSpPr>
            <a:spLocks noGrp="1"/>
          </p:cNvSpPr>
          <p:nvPr>
            <p:ph type="title"/>
          </p:nvPr>
        </p:nvSpPr>
        <p:spPr/>
        <p:txBody>
          <a:bodyPr/>
          <a:lstStyle>
            <a:lvl1pPr>
              <a:defRPr>
                <a:solidFill>
                  <a:schemeClr val="accent2">
                    <a:lumMod val="90000"/>
                    <a:lumOff val="10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C20894C-98E2-34B4-5B80-C191EDBE744D}"/>
              </a:ext>
            </a:extLst>
          </p:cNvPr>
          <p:cNvSpPr>
            <a:spLocks noGrp="1"/>
          </p:cNvSpPr>
          <p:nvPr>
            <p:ph sz="half" idx="1"/>
          </p:nvPr>
        </p:nvSpPr>
        <p:spPr>
          <a:xfrm>
            <a:off x="838200" y="1825625"/>
            <a:ext cx="5181600" cy="4351338"/>
          </a:xfrm>
        </p:spPr>
        <p:txBody>
          <a:bodyPr/>
          <a:lstStyle>
            <a:lvl1pPr>
              <a:defRPr>
                <a:solidFill>
                  <a:schemeClr val="accent2">
                    <a:lumMod val="90000"/>
                    <a:lumOff val="10000"/>
                  </a:schemeClr>
                </a:solidFill>
              </a:defRPr>
            </a:lvl1pPr>
            <a:lvl2pPr>
              <a:defRPr>
                <a:solidFill>
                  <a:schemeClr val="accent2">
                    <a:lumMod val="90000"/>
                    <a:lumOff val="10000"/>
                  </a:schemeClr>
                </a:solidFill>
              </a:defRPr>
            </a:lvl2pPr>
            <a:lvl3pPr>
              <a:defRPr>
                <a:solidFill>
                  <a:schemeClr val="accent2">
                    <a:lumMod val="90000"/>
                    <a:lumOff val="10000"/>
                  </a:schemeClr>
                </a:solidFill>
              </a:defRPr>
            </a:lvl3pPr>
            <a:lvl4pPr>
              <a:defRPr>
                <a:solidFill>
                  <a:schemeClr val="accent2">
                    <a:lumMod val="90000"/>
                    <a:lumOff val="10000"/>
                  </a:schemeClr>
                </a:solidFill>
              </a:defRPr>
            </a:lvl4pPr>
            <a:lvl5pPr>
              <a:defRPr>
                <a:solidFill>
                  <a:schemeClr val="accent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AEF8B9-305F-D62C-1E11-AD8FA8B98E95}"/>
              </a:ext>
            </a:extLst>
          </p:cNvPr>
          <p:cNvSpPr>
            <a:spLocks noGrp="1"/>
          </p:cNvSpPr>
          <p:nvPr>
            <p:ph sz="half" idx="2"/>
          </p:nvPr>
        </p:nvSpPr>
        <p:spPr>
          <a:xfrm>
            <a:off x="6172200" y="1825625"/>
            <a:ext cx="5181600" cy="4351338"/>
          </a:xfrm>
        </p:spPr>
        <p:txBody>
          <a:bodyPr/>
          <a:lstStyle>
            <a:lvl1pPr>
              <a:defRPr>
                <a:solidFill>
                  <a:schemeClr val="accent2">
                    <a:lumMod val="90000"/>
                    <a:lumOff val="10000"/>
                  </a:schemeClr>
                </a:solidFill>
              </a:defRPr>
            </a:lvl1pPr>
            <a:lvl2pPr>
              <a:defRPr>
                <a:solidFill>
                  <a:schemeClr val="accent2">
                    <a:lumMod val="90000"/>
                    <a:lumOff val="10000"/>
                  </a:schemeClr>
                </a:solidFill>
              </a:defRPr>
            </a:lvl2pPr>
            <a:lvl3pPr>
              <a:defRPr>
                <a:solidFill>
                  <a:schemeClr val="accent2">
                    <a:lumMod val="90000"/>
                    <a:lumOff val="10000"/>
                  </a:schemeClr>
                </a:solidFill>
              </a:defRPr>
            </a:lvl3pPr>
            <a:lvl4pPr>
              <a:defRPr>
                <a:solidFill>
                  <a:schemeClr val="accent2">
                    <a:lumMod val="90000"/>
                    <a:lumOff val="10000"/>
                  </a:schemeClr>
                </a:solidFill>
              </a:defRPr>
            </a:lvl4pPr>
            <a:lvl5pPr>
              <a:defRPr>
                <a:solidFill>
                  <a:schemeClr val="accent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B04DC9-7F3E-7532-D80E-543143058BA2}"/>
              </a:ext>
            </a:extLst>
          </p:cNvPr>
          <p:cNvSpPr>
            <a:spLocks noGrp="1"/>
          </p:cNvSpPr>
          <p:nvPr>
            <p:ph type="dt" sz="half" idx="10"/>
          </p:nvPr>
        </p:nvSpPr>
        <p:spPr>
          <a:xfrm>
            <a:off x="838199" y="6356350"/>
            <a:ext cx="6589295" cy="365125"/>
          </a:xfrm>
        </p:spPr>
        <p:txBody>
          <a:bodyPr/>
          <a:lstStyle>
            <a:lvl1pPr>
              <a:defRPr>
                <a:solidFill>
                  <a:schemeClr val="accent2">
                    <a:lumMod val="90000"/>
                    <a:lumOff val="10000"/>
                  </a:schemeClr>
                </a:solidFill>
              </a:defRPr>
            </a:lvl1pPr>
          </a:lstStyle>
          <a:p>
            <a:r>
              <a:rPr lang="en-US"/>
              <a:t>Presentation Title</a:t>
            </a:r>
          </a:p>
        </p:txBody>
      </p:sp>
      <p:sp>
        <p:nvSpPr>
          <p:cNvPr id="7" name="Slide Number Placeholder 6">
            <a:extLst>
              <a:ext uri="{FF2B5EF4-FFF2-40B4-BE49-F238E27FC236}">
                <a16:creationId xmlns:a16="http://schemas.microsoft.com/office/drawing/2014/main" id="{A189F5E3-F3CF-1106-B32E-82CAC701C4F3}"/>
              </a:ext>
            </a:extLst>
          </p:cNvPr>
          <p:cNvSpPr>
            <a:spLocks noGrp="1"/>
          </p:cNvSpPr>
          <p:nvPr>
            <p:ph type="sldNum" sz="quarter" idx="12"/>
          </p:nvPr>
        </p:nvSpPr>
        <p:spPr/>
        <p:txBody>
          <a:bodyPr/>
          <a:lstStyle>
            <a:lvl1pPr>
              <a:defRPr>
                <a:solidFill>
                  <a:schemeClr val="accent2">
                    <a:lumMod val="90000"/>
                    <a:lumOff val="10000"/>
                  </a:schemeClr>
                </a:solidFill>
              </a:defRPr>
            </a:lvl1pPr>
          </a:lstStyle>
          <a:p>
            <a:fld id="{A070A489-3A69-A542-8CBF-69A14DF4633A}" type="slidenum">
              <a:rPr lang="en-US" smtClean="0"/>
              <a:pPr/>
              <a:t>‹#›</a:t>
            </a:fld>
            <a:endParaRPr lang="en-US"/>
          </a:p>
        </p:txBody>
      </p:sp>
      <p:sp>
        <p:nvSpPr>
          <p:cNvPr id="8" name="Freeform 5">
            <a:extLst>
              <a:ext uri="{FF2B5EF4-FFF2-40B4-BE49-F238E27FC236}">
                <a16:creationId xmlns:a16="http://schemas.microsoft.com/office/drawing/2014/main" id="{50033CA9-4BE9-FDD0-037D-C73A3E682E15}"/>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37626492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3_Content Comparsio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25E47-28A2-4DE1-91DD-68A71DB53FB5}"/>
              </a:ext>
            </a:extLst>
          </p:cNvPr>
          <p:cNvSpPr>
            <a:spLocks noGrp="1"/>
          </p:cNvSpPr>
          <p:nvPr>
            <p:ph type="title" hasCustomPrompt="1"/>
          </p:nvPr>
        </p:nvSpPr>
        <p:spPr>
          <a:xfrm>
            <a:off x="839788" y="365125"/>
            <a:ext cx="10515600" cy="1325563"/>
          </a:xfrm>
        </p:spPr>
        <p:txBody>
          <a:bodyPr/>
          <a:lstStyle>
            <a:lvl1pPr>
              <a:defRPr>
                <a:solidFill>
                  <a:schemeClr val="accent2">
                    <a:lumMod val="90000"/>
                    <a:lumOff val="10000"/>
                  </a:schemeClr>
                </a:solidFill>
              </a:defRPr>
            </a:lvl1pPr>
          </a:lstStyle>
          <a:p>
            <a:r>
              <a:rPr lang="en-US"/>
              <a:t>Header Here</a:t>
            </a:r>
          </a:p>
        </p:txBody>
      </p:sp>
      <p:sp>
        <p:nvSpPr>
          <p:cNvPr id="3" name="Text Placeholder 2">
            <a:extLst>
              <a:ext uri="{FF2B5EF4-FFF2-40B4-BE49-F238E27FC236}">
                <a16:creationId xmlns:a16="http://schemas.microsoft.com/office/drawing/2014/main" id="{DC4642E3-70CD-6249-58A9-1483B2D1E24A}"/>
              </a:ext>
            </a:extLst>
          </p:cNvPr>
          <p:cNvSpPr>
            <a:spLocks noGrp="1"/>
          </p:cNvSpPr>
          <p:nvPr>
            <p:ph type="body" idx="1" hasCustomPrompt="1"/>
          </p:nvPr>
        </p:nvSpPr>
        <p:spPr>
          <a:xfrm>
            <a:off x="839788" y="1681163"/>
            <a:ext cx="5157787" cy="823912"/>
          </a:xfrm>
        </p:spPr>
        <p:txBody>
          <a:bodyPr anchor="b"/>
          <a:lstStyle>
            <a:lvl1pPr marL="0" indent="0">
              <a:buNone/>
              <a:defRPr sz="2400" b="1">
                <a:solidFill>
                  <a:schemeClr val="accent2">
                    <a:lumMod val="90000"/>
                    <a:lumOff val="1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4" name="Content Placeholder 3">
            <a:extLst>
              <a:ext uri="{FF2B5EF4-FFF2-40B4-BE49-F238E27FC236}">
                <a16:creationId xmlns:a16="http://schemas.microsoft.com/office/drawing/2014/main" id="{63241965-2B63-7326-2D37-A044736B0D74}"/>
              </a:ext>
            </a:extLst>
          </p:cNvPr>
          <p:cNvSpPr>
            <a:spLocks noGrp="1"/>
          </p:cNvSpPr>
          <p:nvPr>
            <p:ph sz="half" idx="2"/>
          </p:nvPr>
        </p:nvSpPr>
        <p:spPr>
          <a:xfrm>
            <a:off x="839788" y="2505075"/>
            <a:ext cx="5157787" cy="3684588"/>
          </a:xfrm>
        </p:spPr>
        <p:txBody>
          <a:bodyPr/>
          <a:lstStyle>
            <a:lvl1pPr>
              <a:defRPr sz="2400">
                <a:solidFill>
                  <a:schemeClr val="accent2">
                    <a:lumMod val="90000"/>
                    <a:lumOff val="10000"/>
                  </a:schemeClr>
                </a:solidFill>
              </a:defRPr>
            </a:lvl1pPr>
            <a:lvl2pPr>
              <a:defRPr>
                <a:solidFill>
                  <a:schemeClr val="accent2">
                    <a:lumMod val="90000"/>
                    <a:lumOff val="10000"/>
                  </a:schemeClr>
                </a:solidFill>
              </a:defRPr>
            </a:lvl2pPr>
            <a:lvl3pPr>
              <a:defRPr>
                <a:solidFill>
                  <a:schemeClr val="accent2">
                    <a:lumMod val="90000"/>
                    <a:lumOff val="10000"/>
                  </a:schemeClr>
                </a:solidFill>
              </a:defRPr>
            </a:lvl3pPr>
            <a:lvl4pPr>
              <a:defRPr>
                <a:solidFill>
                  <a:schemeClr val="accent2">
                    <a:lumMod val="90000"/>
                    <a:lumOff val="10000"/>
                  </a:schemeClr>
                </a:solidFill>
              </a:defRPr>
            </a:lvl4pPr>
            <a:lvl5pPr>
              <a:defRPr>
                <a:solidFill>
                  <a:schemeClr val="accent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EFF09C-0629-E8E5-B98C-DDF722B4A9A4}"/>
              </a:ext>
            </a:extLst>
          </p:cNvPr>
          <p:cNvSpPr>
            <a:spLocks noGrp="1"/>
          </p:cNvSpPr>
          <p:nvPr>
            <p:ph type="body" sz="quarter" idx="3" hasCustomPrompt="1"/>
          </p:nvPr>
        </p:nvSpPr>
        <p:spPr>
          <a:xfrm>
            <a:off x="6172200" y="1681163"/>
            <a:ext cx="5183188" cy="823912"/>
          </a:xfrm>
        </p:spPr>
        <p:txBody>
          <a:bodyPr anchor="b"/>
          <a:lstStyle>
            <a:lvl1pPr marL="0" indent="0">
              <a:buNone/>
              <a:defRPr sz="2400" b="1">
                <a:solidFill>
                  <a:schemeClr val="accent2">
                    <a:lumMod val="90000"/>
                    <a:lumOff val="1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6" name="Content Placeholder 5">
            <a:extLst>
              <a:ext uri="{FF2B5EF4-FFF2-40B4-BE49-F238E27FC236}">
                <a16:creationId xmlns:a16="http://schemas.microsoft.com/office/drawing/2014/main" id="{743007F4-CD3B-4E37-791D-3B5449C5B0F7}"/>
              </a:ext>
            </a:extLst>
          </p:cNvPr>
          <p:cNvSpPr>
            <a:spLocks noGrp="1"/>
          </p:cNvSpPr>
          <p:nvPr>
            <p:ph sz="quarter" idx="4"/>
          </p:nvPr>
        </p:nvSpPr>
        <p:spPr>
          <a:xfrm>
            <a:off x="6172200" y="2505075"/>
            <a:ext cx="5183188" cy="3684588"/>
          </a:xfrm>
        </p:spPr>
        <p:txBody>
          <a:bodyPr/>
          <a:lstStyle>
            <a:lvl1pPr>
              <a:defRPr sz="2400">
                <a:solidFill>
                  <a:schemeClr val="accent2">
                    <a:lumMod val="90000"/>
                    <a:lumOff val="10000"/>
                  </a:schemeClr>
                </a:solidFill>
              </a:defRPr>
            </a:lvl1pPr>
            <a:lvl2pPr>
              <a:defRPr>
                <a:solidFill>
                  <a:schemeClr val="accent2">
                    <a:lumMod val="90000"/>
                    <a:lumOff val="10000"/>
                  </a:schemeClr>
                </a:solidFill>
              </a:defRPr>
            </a:lvl2pPr>
            <a:lvl3pPr>
              <a:defRPr>
                <a:solidFill>
                  <a:schemeClr val="accent2">
                    <a:lumMod val="90000"/>
                    <a:lumOff val="10000"/>
                  </a:schemeClr>
                </a:solidFill>
              </a:defRPr>
            </a:lvl3pPr>
            <a:lvl4pPr>
              <a:defRPr>
                <a:solidFill>
                  <a:schemeClr val="accent2">
                    <a:lumMod val="90000"/>
                    <a:lumOff val="10000"/>
                  </a:schemeClr>
                </a:solidFill>
              </a:defRPr>
            </a:lvl4pPr>
            <a:lvl5pPr>
              <a:defRPr>
                <a:solidFill>
                  <a:schemeClr val="accent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9335F6-EA20-37E5-0F8F-006B8D0DB62F}"/>
              </a:ext>
            </a:extLst>
          </p:cNvPr>
          <p:cNvSpPr>
            <a:spLocks noGrp="1"/>
          </p:cNvSpPr>
          <p:nvPr>
            <p:ph type="dt" sz="half" idx="10"/>
          </p:nvPr>
        </p:nvSpPr>
        <p:spPr>
          <a:xfrm>
            <a:off x="838199" y="6356350"/>
            <a:ext cx="6332621" cy="365125"/>
          </a:xfrm>
        </p:spPr>
        <p:txBody>
          <a:bodyPr/>
          <a:lstStyle>
            <a:lvl1pPr>
              <a:defRPr>
                <a:solidFill>
                  <a:schemeClr val="accent2">
                    <a:lumMod val="90000"/>
                    <a:lumOff val="10000"/>
                  </a:schemeClr>
                </a:solidFill>
              </a:defRPr>
            </a:lvl1pPr>
          </a:lstStyle>
          <a:p>
            <a:r>
              <a:rPr lang="en-US"/>
              <a:t>Presentation Title </a:t>
            </a:r>
          </a:p>
        </p:txBody>
      </p:sp>
      <p:sp>
        <p:nvSpPr>
          <p:cNvPr id="9" name="Slide Number Placeholder 8">
            <a:extLst>
              <a:ext uri="{FF2B5EF4-FFF2-40B4-BE49-F238E27FC236}">
                <a16:creationId xmlns:a16="http://schemas.microsoft.com/office/drawing/2014/main" id="{54EB4896-C432-D26C-F220-63E926D8E001}"/>
              </a:ext>
            </a:extLst>
          </p:cNvPr>
          <p:cNvSpPr>
            <a:spLocks noGrp="1"/>
          </p:cNvSpPr>
          <p:nvPr>
            <p:ph type="sldNum" sz="quarter" idx="12"/>
          </p:nvPr>
        </p:nvSpPr>
        <p:spPr/>
        <p:txBody>
          <a:bodyPr/>
          <a:lstStyle>
            <a:lvl1pPr>
              <a:defRPr>
                <a:solidFill>
                  <a:schemeClr val="accent2">
                    <a:lumMod val="90000"/>
                    <a:lumOff val="10000"/>
                  </a:schemeClr>
                </a:solidFill>
              </a:defRPr>
            </a:lvl1pPr>
          </a:lstStyle>
          <a:p>
            <a:fld id="{A070A489-3A69-A542-8CBF-69A14DF4633A}" type="slidenum">
              <a:rPr lang="en-US" smtClean="0"/>
              <a:pPr/>
              <a:t>‹#›</a:t>
            </a:fld>
            <a:endParaRPr lang="en-US"/>
          </a:p>
        </p:txBody>
      </p:sp>
      <p:sp>
        <p:nvSpPr>
          <p:cNvPr id="10" name="Freeform 5">
            <a:extLst>
              <a:ext uri="{FF2B5EF4-FFF2-40B4-BE49-F238E27FC236}">
                <a16:creationId xmlns:a16="http://schemas.microsoft.com/office/drawing/2014/main" id="{BC735769-813A-3295-ED20-E1F9D4AD47C0}"/>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2537015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ontent Comparsion ">
    <p:spTree>
      <p:nvGrpSpPr>
        <p:cNvPr id="1" name=""/>
        <p:cNvGrpSpPr/>
        <p:nvPr/>
      </p:nvGrpSpPr>
      <p:grpSpPr>
        <a:xfrm>
          <a:off x="0" y="0"/>
          <a:ext cx="0" cy="0"/>
          <a:chOff x="0" y="0"/>
          <a:chExt cx="0" cy="0"/>
        </a:xfrm>
      </p:grpSpPr>
      <p:grpSp>
        <p:nvGrpSpPr>
          <p:cNvPr id="8" name="Group 3">
            <a:extLst>
              <a:ext uri="{FF2B5EF4-FFF2-40B4-BE49-F238E27FC236}">
                <a16:creationId xmlns:a16="http://schemas.microsoft.com/office/drawing/2014/main" id="{A39AC746-0F8C-8731-3C35-4469604CC322}"/>
              </a:ext>
            </a:extLst>
          </p:cNvPr>
          <p:cNvGrpSpPr/>
          <p:nvPr userDrawn="1"/>
        </p:nvGrpSpPr>
        <p:grpSpPr>
          <a:xfrm>
            <a:off x="0" y="0"/>
            <a:ext cx="8021053" cy="6858000"/>
            <a:chOff x="0" y="0"/>
            <a:chExt cx="3694747" cy="2709333"/>
          </a:xfrm>
        </p:grpSpPr>
        <p:sp>
          <p:nvSpPr>
            <p:cNvPr id="11" name="Freeform 4">
              <a:extLst>
                <a:ext uri="{FF2B5EF4-FFF2-40B4-BE49-F238E27FC236}">
                  <a16:creationId xmlns:a16="http://schemas.microsoft.com/office/drawing/2014/main" id="{7BE17A93-7FBF-2E2F-8B58-82E731C41C76}"/>
                </a:ext>
              </a:extLst>
            </p:cNvPr>
            <p:cNvSpPr/>
            <p:nvPr/>
          </p:nvSpPr>
          <p:spPr>
            <a:xfrm>
              <a:off x="0" y="0"/>
              <a:ext cx="3694747" cy="2709333"/>
            </a:xfrm>
            <a:custGeom>
              <a:avLst/>
              <a:gdLst/>
              <a:ahLst/>
              <a:cxnLst/>
              <a:rect l="l" t="t" r="r" b="b"/>
              <a:pathLst>
                <a:path w="3694747" h="2709333">
                  <a:moveTo>
                    <a:pt x="0" y="0"/>
                  </a:moveTo>
                  <a:lnTo>
                    <a:pt x="3694747" y="0"/>
                  </a:lnTo>
                  <a:lnTo>
                    <a:pt x="3694747" y="2709333"/>
                  </a:lnTo>
                  <a:lnTo>
                    <a:pt x="0" y="2709333"/>
                  </a:lnTo>
                  <a:close/>
                </a:path>
              </a:pathLst>
            </a:custGeom>
            <a:gradFill rotWithShape="1">
              <a:gsLst>
                <a:gs pos="0">
                  <a:srgbClr val="1C60A4">
                    <a:alpha val="100000"/>
                  </a:srgbClr>
                </a:gs>
                <a:gs pos="100000">
                  <a:srgbClr val="062552">
                    <a:alpha val="100000"/>
                  </a:srgbClr>
                </a:gs>
              </a:gsLst>
              <a:lin ang="2700000"/>
            </a:gradFill>
          </p:spPr>
          <p:txBody>
            <a:bodyPr/>
            <a:lstStyle/>
            <a:p>
              <a:endParaRPr lang="en-JM"/>
            </a:p>
          </p:txBody>
        </p:sp>
        <p:sp>
          <p:nvSpPr>
            <p:cNvPr id="12" name="TextBox 5">
              <a:extLst>
                <a:ext uri="{FF2B5EF4-FFF2-40B4-BE49-F238E27FC236}">
                  <a16:creationId xmlns:a16="http://schemas.microsoft.com/office/drawing/2014/main" id="{4F536023-7B7E-5E02-7BDB-8029957D9838}"/>
                </a:ext>
              </a:extLst>
            </p:cNvPr>
            <p:cNvSpPr txBox="1"/>
            <p:nvPr/>
          </p:nvSpPr>
          <p:spPr>
            <a:xfrm>
              <a:off x="0" y="-38100"/>
              <a:ext cx="3694747" cy="2747433"/>
            </a:xfrm>
            <a:prstGeom prst="rect">
              <a:avLst/>
            </a:prstGeom>
          </p:spPr>
          <p:txBody>
            <a:bodyPr lIns="50800" tIns="50800" rIns="50800" bIns="50800" rtlCol="0" anchor="ctr"/>
            <a:lstStyle/>
            <a:p>
              <a:pPr algn="ctr">
                <a:lnSpc>
                  <a:spcPts val="2940"/>
                </a:lnSpc>
              </a:pPr>
              <a:endParaRPr/>
            </a:p>
          </p:txBody>
        </p:sp>
      </p:grpSp>
      <p:sp>
        <p:nvSpPr>
          <p:cNvPr id="2" name="Title 1">
            <a:extLst>
              <a:ext uri="{FF2B5EF4-FFF2-40B4-BE49-F238E27FC236}">
                <a16:creationId xmlns:a16="http://schemas.microsoft.com/office/drawing/2014/main" id="{70225E47-28A2-4DE1-91DD-68A71DB53FB5}"/>
              </a:ext>
            </a:extLst>
          </p:cNvPr>
          <p:cNvSpPr>
            <a:spLocks noGrp="1"/>
          </p:cNvSpPr>
          <p:nvPr>
            <p:ph type="title" hasCustomPrompt="1"/>
          </p:nvPr>
        </p:nvSpPr>
        <p:spPr>
          <a:xfrm>
            <a:off x="839788" y="365125"/>
            <a:ext cx="10515600" cy="1325563"/>
          </a:xfrm>
        </p:spPr>
        <p:txBody>
          <a:bodyPr/>
          <a:lstStyle>
            <a:lvl1pPr>
              <a:defRPr>
                <a:solidFill>
                  <a:schemeClr val="bg1"/>
                </a:solidFill>
              </a:defRPr>
            </a:lvl1pPr>
          </a:lstStyle>
          <a:p>
            <a:r>
              <a:rPr lang="en-US"/>
              <a:t>Header Here</a:t>
            </a:r>
          </a:p>
        </p:txBody>
      </p:sp>
      <p:sp>
        <p:nvSpPr>
          <p:cNvPr id="3" name="Text Placeholder 2">
            <a:extLst>
              <a:ext uri="{FF2B5EF4-FFF2-40B4-BE49-F238E27FC236}">
                <a16:creationId xmlns:a16="http://schemas.microsoft.com/office/drawing/2014/main" id="{DC4642E3-70CD-6249-58A9-1483B2D1E24A}"/>
              </a:ext>
            </a:extLst>
          </p:cNvPr>
          <p:cNvSpPr>
            <a:spLocks noGrp="1"/>
          </p:cNvSpPr>
          <p:nvPr>
            <p:ph type="body" idx="1" hasCustomPrompt="1"/>
          </p:nvPr>
        </p:nvSpPr>
        <p:spPr>
          <a:xfrm>
            <a:off x="839788" y="16811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4" name="Content Placeholder 3">
            <a:extLst>
              <a:ext uri="{FF2B5EF4-FFF2-40B4-BE49-F238E27FC236}">
                <a16:creationId xmlns:a16="http://schemas.microsoft.com/office/drawing/2014/main" id="{63241965-2B63-7326-2D37-A044736B0D74}"/>
              </a:ext>
            </a:extLst>
          </p:cNvPr>
          <p:cNvSpPr>
            <a:spLocks noGrp="1"/>
          </p:cNvSpPr>
          <p:nvPr>
            <p:ph sz="half" idx="2"/>
          </p:nvPr>
        </p:nvSpPr>
        <p:spPr>
          <a:xfrm>
            <a:off x="839788" y="2505075"/>
            <a:ext cx="5157787" cy="3684588"/>
          </a:xfrm>
        </p:spPr>
        <p:txBody>
          <a:bodyPr/>
          <a:lstStyle>
            <a:lvl1pPr>
              <a:defRPr sz="2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9335F6-EA20-37E5-0F8F-006B8D0DB62F}"/>
              </a:ext>
            </a:extLst>
          </p:cNvPr>
          <p:cNvSpPr>
            <a:spLocks noGrp="1"/>
          </p:cNvSpPr>
          <p:nvPr>
            <p:ph type="dt" sz="half" idx="10"/>
          </p:nvPr>
        </p:nvSpPr>
        <p:spPr>
          <a:xfrm>
            <a:off x="838199" y="6356350"/>
            <a:ext cx="6332621" cy="365125"/>
          </a:xfrm>
        </p:spPr>
        <p:txBody>
          <a:bodyPr/>
          <a:lstStyle>
            <a:lvl1pPr>
              <a:defRPr>
                <a:solidFill>
                  <a:schemeClr val="bg1"/>
                </a:solidFill>
              </a:defRPr>
            </a:lvl1pPr>
          </a:lstStyle>
          <a:p>
            <a:r>
              <a:rPr lang="en-US"/>
              <a:t>Presentation Title </a:t>
            </a:r>
          </a:p>
        </p:txBody>
      </p:sp>
      <p:sp>
        <p:nvSpPr>
          <p:cNvPr id="9" name="Slide Number Placeholder 8">
            <a:extLst>
              <a:ext uri="{FF2B5EF4-FFF2-40B4-BE49-F238E27FC236}">
                <a16:creationId xmlns:a16="http://schemas.microsoft.com/office/drawing/2014/main" id="{54EB4896-C432-D26C-F220-63E926D8E001}"/>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10" name="Freeform 5">
            <a:extLst>
              <a:ext uri="{FF2B5EF4-FFF2-40B4-BE49-F238E27FC236}">
                <a16:creationId xmlns:a16="http://schemas.microsoft.com/office/drawing/2014/main" id="{BC735769-813A-3295-ED20-E1F9D4AD47C0}"/>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
        <p:nvSpPr>
          <p:cNvPr id="13" name="Rectangle 12">
            <a:extLst>
              <a:ext uri="{FF2B5EF4-FFF2-40B4-BE49-F238E27FC236}">
                <a16:creationId xmlns:a16="http://schemas.microsoft.com/office/drawing/2014/main" id="{CF110C61-80E7-54DA-AE45-FAD0695662ED}"/>
              </a:ext>
            </a:extLst>
          </p:cNvPr>
          <p:cNvSpPr/>
          <p:nvPr userDrawn="1"/>
        </p:nvSpPr>
        <p:spPr>
          <a:xfrm>
            <a:off x="5157281" y="6490721"/>
            <a:ext cx="1877437" cy="369332"/>
          </a:xfrm>
          <a:prstGeom prst="rect">
            <a:avLst/>
          </a:prstGeom>
          <a:noFill/>
        </p:spPr>
        <p:txBody>
          <a:bodyPr wrap="none" lIns="91440" tIns="45720" rIns="91440" bIns="45720">
            <a:spAutoFit/>
          </a:bodyPr>
          <a:lstStyle/>
          <a:p>
            <a:pPr algn="ctr"/>
            <a:r>
              <a:rPr lang="en-US" sz="1800" b="0" cap="none" spc="0">
                <a:ln w="0"/>
                <a:solidFill>
                  <a:schemeClr val="bg2">
                    <a:alpha val="25000"/>
                  </a:schemeClr>
                </a:solidFill>
                <a:effectLst>
                  <a:outerShdw blurRad="38100" dist="19050" dir="2700000" algn="tl" rotWithShape="0">
                    <a:schemeClr val="dk1">
                      <a:alpha val="40000"/>
                    </a:schemeClr>
                  </a:outerShdw>
                </a:effectLst>
                <a:latin typeface="Arial" panose="020B0604020202020204" pitchFamily="34" charset="0"/>
              </a:rPr>
              <a:t>CONFIDENTIAL</a:t>
            </a:r>
          </a:p>
        </p:txBody>
      </p:sp>
    </p:spTree>
    <p:extLst>
      <p:ext uri="{BB962C8B-B14F-4D97-AF65-F5344CB8AC3E}">
        <p14:creationId xmlns:p14="http://schemas.microsoft.com/office/powerpoint/2010/main" val="14429172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1_Timple Samp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21C56-D50C-E00F-A566-6510789F049C}"/>
              </a:ext>
            </a:extLst>
          </p:cNvPr>
          <p:cNvSpPr>
            <a:spLocks noGrp="1"/>
          </p:cNvSpPr>
          <p:nvPr>
            <p:ph type="title" hasCustomPrompt="1"/>
          </p:nvPr>
        </p:nvSpPr>
        <p:spPr/>
        <p:txBody>
          <a:bodyPr/>
          <a:lstStyle>
            <a:lvl1pPr>
              <a:defRPr>
                <a:solidFill>
                  <a:schemeClr val="accent2">
                    <a:lumMod val="90000"/>
                    <a:lumOff val="10000"/>
                  </a:schemeClr>
                </a:solidFill>
              </a:defRPr>
            </a:lvl1pPr>
          </a:lstStyle>
          <a:p>
            <a:r>
              <a:rPr lang="en-US"/>
              <a:t>Timeline Example</a:t>
            </a:r>
          </a:p>
        </p:txBody>
      </p:sp>
      <p:sp>
        <p:nvSpPr>
          <p:cNvPr id="3" name="Date Placeholder 2">
            <a:extLst>
              <a:ext uri="{FF2B5EF4-FFF2-40B4-BE49-F238E27FC236}">
                <a16:creationId xmlns:a16="http://schemas.microsoft.com/office/drawing/2014/main" id="{6497EFC4-7E64-FCB0-691D-3FEA22FBDB19}"/>
              </a:ext>
            </a:extLst>
          </p:cNvPr>
          <p:cNvSpPr>
            <a:spLocks noGrp="1"/>
          </p:cNvSpPr>
          <p:nvPr>
            <p:ph type="dt" sz="half" idx="10"/>
          </p:nvPr>
        </p:nvSpPr>
        <p:spPr>
          <a:xfrm>
            <a:off x="838199" y="6356350"/>
            <a:ext cx="6733249" cy="399264"/>
          </a:xfrm>
        </p:spPr>
        <p:txBody>
          <a:bodyPr/>
          <a:lstStyle>
            <a:lvl1pPr>
              <a:lnSpc>
                <a:spcPct val="100000"/>
              </a:lnSpc>
              <a:defRPr sz="1100">
                <a:solidFill>
                  <a:schemeClr val="accent2">
                    <a:lumMod val="90000"/>
                    <a:lumOff val="10000"/>
                  </a:schemeClr>
                </a:solidFill>
              </a:defRPr>
            </a:lvl1pPr>
          </a:lstStyle>
          <a:p>
            <a:r>
              <a:rPr lang="en-US"/>
              <a:t>Presentation Title</a:t>
            </a:r>
          </a:p>
        </p:txBody>
      </p:sp>
      <p:sp>
        <p:nvSpPr>
          <p:cNvPr id="5" name="Slide Number Placeholder 4">
            <a:extLst>
              <a:ext uri="{FF2B5EF4-FFF2-40B4-BE49-F238E27FC236}">
                <a16:creationId xmlns:a16="http://schemas.microsoft.com/office/drawing/2014/main" id="{94B3FA75-D5B7-7721-506F-2C139D3278D9}"/>
              </a:ext>
            </a:extLst>
          </p:cNvPr>
          <p:cNvSpPr>
            <a:spLocks noGrp="1"/>
          </p:cNvSpPr>
          <p:nvPr>
            <p:ph type="sldNum" sz="quarter" idx="12"/>
          </p:nvPr>
        </p:nvSpPr>
        <p:spPr/>
        <p:txBody>
          <a:bodyPr/>
          <a:lstStyle>
            <a:lvl1pPr>
              <a:lnSpc>
                <a:spcPct val="100000"/>
              </a:lnSpc>
              <a:defRPr sz="1100">
                <a:solidFill>
                  <a:schemeClr val="accent2">
                    <a:lumMod val="90000"/>
                    <a:lumOff val="10000"/>
                  </a:schemeClr>
                </a:solidFill>
              </a:defRPr>
            </a:lvl1pPr>
          </a:lstStyle>
          <a:p>
            <a:fld id="{A070A489-3A69-A542-8CBF-69A14DF4633A}" type="slidenum">
              <a:rPr lang="en-US" smtClean="0"/>
              <a:pPr/>
              <a:t>‹#›</a:t>
            </a:fld>
            <a:endParaRPr lang="en-US"/>
          </a:p>
        </p:txBody>
      </p:sp>
      <p:grpSp>
        <p:nvGrpSpPr>
          <p:cNvPr id="6" name="Group 5">
            <a:extLst>
              <a:ext uri="{FF2B5EF4-FFF2-40B4-BE49-F238E27FC236}">
                <a16:creationId xmlns:a16="http://schemas.microsoft.com/office/drawing/2014/main" id="{11DA6D51-0096-3EF2-8EA8-65807A921332}"/>
              </a:ext>
            </a:extLst>
          </p:cNvPr>
          <p:cNvGrpSpPr/>
          <p:nvPr userDrawn="1"/>
        </p:nvGrpSpPr>
        <p:grpSpPr>
          <a:xfrm>
            <a:off x="1202571" y="2143158"/>
            <a:ext cx="946844" cy="971454"/>
            <a:chOff x="0" y="-14473"/>
            <a:chExt cx="556826" cy="571299"/>
          </a:xfrm>
        </p:grpSpPr>
        <p:sp>
          <p:nvSpPr>
            <p:cNvPr id="51" name="Freeform 50">
              <a:extLst>
                <a:ext uri="{FF2B5EF4-FFF2-40B4-BE49-F238E27FC236}">
                  <a16:creationId xmlns:a16="http://schemas.microsoft.com/office/drawing/2014/main" id="{8AAF412B-C6FB-58D8-CD2A-88EAEA032B0D}"/>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09FDA"/>
            </a:solidFill>
          </p:spPr>
          <p:txBody>
            <a:bodyPr/>
            <a:lstStyle/>
            <a:p>
              <a:endParaRPr lang="en-US">
                <a:latin typeface="Arial" panose="020B0604020202020204" pitchFamily="34" charset="0"/>
                <a:cs typeface="Arial" panose="020B0604020202020204" pitchFamily="34" charset="0"/>
              </a:endParaRPr>
            </a:p>
          </p:txBody>
        </p:sp>
        <p:sp>
          <p:nvSpPr>
            <p:cNvPr id="52" name="TextBox 4">
              <a:extLst>
                <a:ext uri="{FF2B5EF4-FFF2-40B4-BE49-F238E27FC236}">
                  <a16:creationId xmlns:a16="http://schemas.microsoft.com/office/drawing/2014/main" id="{3ADC7E24-88FE-D365-A98D-C65B6F5E92A0}"/>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Arial" panose="020B0604020202020204" pitchFamily="34" charset="0"/>
                  <a:ea typeface="Gotham Bold"/>
                  <a:cs typeface="Arial" panose="020B0604020202020204" pitchFamily="34" charset="0"/>
                  <a:sym typeface="Gotham Bold"/>
                </a:rPr>
                <a:t>1</a:t>
              </a:r>
            </a:p>
          </p:txBody>
        </p:sp>
      </p:grpSp>
      <p:grpSp>
        <p:nvGrpSpPr>
          <p:cNvPr id="7" name="Group 6">
            <a:extLst>
              <a:ext uri="{FF2B5EF4-FFF2-40B4-BE49-F238E27FC236}">
                <a16:creationId xmlns:a16="http://schemas.microsoft.com/office/drawing/2014/main" id="{8C868748-0B27-5CDD-AE5C-4800B2233183}"/>
              </a:ext>
            </a:extLst>
          </p:cNvPr>
          <p:cNvGrpSpPr/>
          <p:nvPr userDrawn="1"/>
        </p:nvGrpSpPr>
        <p:grpSpPr>
          <a:xfrm>
            <a:off x="8714997" y="4262647"/>
            <a:ext cx="2457578" cy="1530344"/>
            <a:chOff x="0" y="-28575"/>
            <a:chExt cx="3276771" cy="2040459"/>
          </a:xfrm>
        </p:grpSpPr>
        <p:sp>
          <p:nvSpPr>
            <p:cNvPr id="49" name="TextBox 6">
              <a:extLst>
                <a:ext uri="{FF2B5EF4-FFF2-40B4-BE49-F238E27FC236}">
                  <a16:creationId xmlns:a16="http://schemas.microsoft.com/office/drawing/2014/main" id="{4A229842-87A8-33EA-DE8E-2C0A9FB39D2E}"/>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rial" panose="020B0604020202020204" pitchFamily="34" charset="0"/>
                  <a:ea typeface="Aileron Bold"/>
                  <a:cs typeface="Arial" panose="020B0604020202020204" pitchFamily="34" charset="0"/>
                  <a:sym typeface="Aileron Bold"/>
                </a:rPr>
                <a:t>2015</a:t>
              </a:r>
            </a:p>
          </p:txBody>
        </p:sp>
        <p:sp>
          <p:nvSpPr>
            <p:cNvPr id="50" name="TextBox 7">
              <a:extLst>
                <a:ext uri="{FF2B5EF4-FFF2-40B4-BE49-F238E27FC236}">
                  <a16:creationId xmlns:a16="http://schemas.microsoft.com/office/drawing/2014/main" id="{50297581-D24E-B736-C2E3-1E629C725569}"/>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t>
              </a:r>
              <a:r>
                <a:rPr lang="en-US" sz="1600" spc="26" err="1">
                  <a:solidFill>
                    <a:srgbClr val="191919"/>
                  </a:solidFill>
                  <a:latin typeface="Arial" panose="020B0604020202020204" pitchFamily="34" charset="0"/>
                  <a:ea typeface="Aileron"/>
                  <a:cs typeface="Arial" panose="020B0604020202020204" pitchFamily="34" charset="0"/>
                  <a:sym typeface="Aileron"/>
                </a:rPr>
                <a:t>amet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adipiscing</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elit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Vivamus</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odio</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aliquam</a:t>
              </a:r>
              <a:r>
                <a:rPr lang="en-US" sz="1600" spc="26">
                  <a:solidFill>
                    <a:srgbClr val="191919"/>
                  </a:solidFill>
                  <a:latin typeface="Arial" panose="020B0604020202020204" pitchFamily="34" charset="0"/>
                  <a:ea typeface="Aileron"/>
                  <a:cs typeface="Arial" panose="020B0604020202020204" pitchFamily="34" charset="0"/>
                  <a:sym typeface="Aileron"/>
                </a:rPr>
                <a:t>, </a:t>
              </a:r>
            </a:p>
          </p:txBody>
        </p:sp>
      </p:grpSp>
      <p:grpSp>
        <p:nvGrpSpPr>
          <p:cNvPr id="8" name="Group 7">
            <a:extLst>
              <a:ext uri="{FF2B5EF4-FFF2-40B4-BE49-F238E27FC236}">
                <a16:creationId xmlns:a16="http://schemas.microsoft.com/office/drawing/2014/main" id="{C20D0A38-4D5E-6B41-7A74-4C009A0B102E}"/>
              </a:ext>
            </a:extLst>
          </p:cNvPr>
          <p:cNvGrpSpPr/>
          <p:nvPr userDrawn="1"/>
        </p:nvGrpSpPr>
        <p:grpSpPr>
          <a:xfrm>
            <a:off x="451184" y="4262647"/>
            <a:ext cx="2457578" cy="1530344"/>
            <a:chOff x="0" y="-28575"/>
            <a:chExt cx="3276771" cy="2040459"/>
          </a:xfrm>
        </p:grpSpPr>
        <p:sp>
          <p:nvSpPr>
            <p:cNvPr id="47" name="TextBox 9">
              <a:extLst>
                <a:ext uri="{FF2B5EF4-FFF2-40B4-BE49-F238E27FC236}">
                  <a16:creationId xmlns:a16="http://schemas.microsoft.com/office/drawing/2014/main" id="{B335BCA9-845D-3C1C-61E6-EA2B82CF2181}"/>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rial" panose="020B0604020202020204" pitchFamily="34" charset="0"/>
                  <a:ea typeface="Aileron Bold"/>
                  <a:cs typeface="Arial" panose="020B0604020202020204" pitchFamily="34" charset="0"/>
                  <a:sym typeface="Aileron Bold"/>
                </a:rPr>
                <a:t>1980</a:t>
              </a:r>
            </a:p>
          </p:txBody>
        </p:sp>
        <p:sp>
          <p:nvSpPr>
            <p:cNvPr id="48" name="TextBox 10">
              <a:extLst>
                <a:ext uri="{FF2B5EF4-FFF2-40B4-BE49-F238E27FC236}">
                  <a16:creationId xmlns:a16="http://schemas.microsoft.com/office/drawing/2014/main" id="{C400E550-EB0D-905B-3FC9-7AF480269C46}"/>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t>
              </a:r>
              <a:r>
                <a:rPr lang="en-US" sz="1600" spc="26" err="1">
                  <a:solidFill>
                    <a:srgbClr val="191919"/>
                  </a:solidFill>
                  <a:latin typeface="Arial" panose="020B0604020202020204" pitchFamily="34" charset="0"/>
                  <a:ea typeface="Aileron"/>
                  <a:cs typeface="Arial" panose="020B0604020202020204" pitchFamily="34" charset="0"/>
                  <a:sym typeface="Aileron"/>
                </a:rPr>
                <a:t>amet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adipiscing</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elit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Vivamus</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odio</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aliquam</a:t>
              </a:r>
              <a:r>
                <a:rPr lang="en-US" sz="1600" spc="26">
                  <a:solidFill>
                    <a:srgbClr val="191919"/>
                  </a:solidFill>
                  <a:latin typeface="Arial" panose="020B0604020202020204" pitchFamily="34" charset="0"/>
                  <a:ea typeface="Aileron"/>
                  <a:cs typeface="Arial" panose="020B0604020202020204" pitchFamily="34" charset="0"/>
                  <a:sym typeface="Aileron"/>
                </a:rPr>
                <a:t>, </a:t>
              </a:r>
            </a:p>
          </p:txBody>
        </p:sp>
      </p:grpSp>
      <p:grpSp>
        <p:nvGrpSpPr>
          <p:cNvPr id="9" name="Group 8">
            <a:extLst>
              <a:ext uri="{FF2B5EF4-FFF2-40B4-BE49-F238E27FC236}">
                <a16:creationId xmlns:a16="http://schemas.microsoft.com/office/drawing/2014/main" id="{BCF7EB83-DA75-A735-2374-55CEFCA42838}"/>
              </a:ext>
            </a:extLst>
          </p:cNvPr>
          <p:cNvGrpSpPr/>
          <p:nvPr userDrawn="1"/>
        </p:nvGrpSpPr>
        <p:grpSpPr>
          <a:xfrm>
            <a:off x="3205788" y="4262647"/>
            <a:ext cx="2457578" cy="1530344"/>
            <a:chOff x="0" y="-28575"/>
            <a:chExt cx="3276771" cy="2040459"/>
          </a:xfrm>
        </p:grpSpPr>
        <p:sp>
          <p:nvSpPr>
            <p:cNvPr id="45" name="TextBox 12">
              <a:extLst>
                <a:ext uri="{FF2B5EF4-FFF2-40B4-BE49-F238E27FC236}">
                  <a16:creationId xmlns:a16="http://schemas.microsoft.com/office/drawing/2014/main" id="{F2158044-E681-9E6D-315D-1E5F8C79133F}"/>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rial" panose="020B0604020202020204" pitchFamily="34" charset="0"/>
                  <a:ea typeface="Aileron Bold"/>
                  <a:cs typeface="Arial" panose="020B0604020202020204" pitchFamily="34" charset="0"/>
                  <a:sym typeface="Aileron Bold"/>
                </a:rPr>
                <a:t>1981</a:t>
              </a:r>
            </a:p>
          </p:txBody>
        </p:sp>
        <p:sp>
          <p:nvSpPr>
            <p:cNvPr id="46" name="TextBox 13">
              <a:extLst>
                <a:ext uri="{FF2B5EF4-FFF2-40B4-BE49-F238E27FC236}">
                  <a16:creationId xmlns:a16="http://schemas.microsoft.com/office/drawing/2014/main" id="{7B544EC8-4E09-2AFA-C2AA-5438BD21479A}"/>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t>
              </a:r>
              <a:r>
                <a:rPr lang="en-US" sz="1600" spc="26" err="1">
                  <a:solidFill>
                    <a:srgbClr val="191919"/>
                  </a:solidFill>
                  <a:latin typeface="Arial" panose="020B0604020202020204" pitchFamily="34" charset="0"/>
                  <a:ea typeface="Aileron"/>
                  <a:cs typeface="Arial" panose="020B0604020202020204" pitchFamily="34" charset="0"/>
                  <a:sym typeface="Aileron"/>
                </a:rPr>
                <a:t>amet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adipiscing</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elit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Vivamus</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odio</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aliquam</a:t>
              </a:r>
              <a:r>
                <a:rPr lang="en-US" sz="1600" spc="26">
                  <a:solidFill>
                    <a:srgbClr val="191919"/>
                  </a:solidFill>
                  <a:latin typeface="Arial" panose="020B0604020202020204" pitchFamily="34" charset="0"/>
                  <a:ea typeface="Aileron"/>
                  <a:cs typeface="Arial" panose="020B0604020202020204" pitchFamily="34" charset="0"/>
                  <a:sym typeface="Aileron"/>
                </a:rPr>
                <a:t>, </a:t>
              </a:r>
            </a:p>
          </p:txBody>
        </p:sp>
      </p:grpSp>
      <p:grpSp>
        <p:nvGrpSpPr>
          <p:cNvPr id="10" name="Group 9">
            <a:extLst>
              <a:ext uri="{FF2B5EF4-FFF2-40B4-BE49-F238E27FC236}">
                <a16:creationId xmlns:a16="http://schemas.microsoft.com/office/drawing/2014/main" id="{A6EBEFF6-F57A-9EE1-EE47-A067270E2CCC}"/>
              </a:ext>
            </a:extLst>
          </p:cNvPr>
          <p:cNvGrpSpPr/>
          <p:nvPr userDrawn="1"/>
        </p:nvGrpSpPr>
        <p:grpSpPr>
          <a:xfrm>
            <a:off x="5960393" y="4262647"/>
            <a:ext cx="2457578" cy="1530344"/>
            <a:chOff x="0" y="-28575"/>
            <a:chExt cx="3276771" cy="2040459"/>
          </a:xfrm>
        </p:grpSpPr>
        <p:sp>
          <p:nvSpPr>
            <p:cNvPr id="43" name="TextBox 15">
              <a:extLst>
                <a:ext uri="{FF2B5EF4-FFF2-40B4-BE49-F238E27FC236}">
                  <a16:creationId xmlns:a16="http://schemas.microsoft.com/office/drawing/2014/main" id="{F48B2A52-DA7A-B5F2-AE66-392C17119451}"/>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rial" panose="020B0604020202020204" pitchFamily="34" charset="0"/>
                  <a:ea typeface="Aileron Bold"/>
                  <a:cs typeface="Arial" panose="020B0604020202020204" pitchFamily="34" charset="0"/>
                  <a:sym typeface="Aileron Bold"/>
                </a:rPr>
                <a:t>2011</a:t>
              </a:r>
            </a:p>
          </p:txBody>
        </p:sp>
        <p:sp>
          <p:nvSpPr>
            <p:cNvPr id="44" name="TextBox 16">
              <a:extLst>
                <a:ext uri="{FF2B5EF4-FFF2-40B4-BE49-F238E27FC236}">
                  <a16:creationId xmlns:a16="http://schemas.microsoft.com/office/drawing/2014/main" id="{FC7E0932-21D0-3824-DE1F-86208194ECDB}"/>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amet, consectetur adipiscing elit. Vivamus consectetur odio aliquam, </a:t>
              </a:r>
            </a:p>
          </p:txBody>
        </p:sp>
      </p:grpSp>
      <p:grpSp>
        <p:nvGrpSpPr>
          <p:cNvPr id="14" name="Group 13">
            <a:extLst>
              <a:ext uri="{FF2B5EF4-FFF2-40B4-BE49-F238E27FC236}">
                <a16:creationId xmlns:a16="http://schemas.microsoft.com/office/drawing/2014/main" id="{0EB46210-36A3-661B-DC89-11523C75E9CB}"/>
              </a:ext>
            </a:extLst>
          </p:cNvPr>
          <p:cNvGrpSpPr/>
          <p:nvPr userDrawn="1"/>
        </p:nvGrpSpPr>
        <p:grpSpPr>
          <a:xfrm>
            <a:off x="4027070" y="2125884"/>
            <a:ext cx="946844" cy="971454"/>
            <a:chOff x="0" y="-14473"/>
            <a:chExt cx="556826" cy="571299"/>
          </a:xfrm>
        </p:grpSpPr>
        <p:sp>
          <p:nvSpPr>
            <p:cNvPr id="35" name="Freeform 34">
              <a:extLst>
                <a:ext uri="{FF2B5EF4-FFF2-40B4-BE49-F238E27FC236}">
                  <a16:creationId xmlns:a16="http://schemas.microsoft.com/office/drawing/2014/main" id="{FF92C169-4533-35D8-F865-37BCE2C88335}"/>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E4E95"/>
            </a:solidFill>
          </p:spPr>
          <p:txBody>
            <a:bodyPr/>
            <a:lstStyle/>
            <a:p>
              <a:endParaRPr lang="en-US">
                <a:latin typeface="Arial" panose="020B0604020202020204" pitchFamily="34" charset="0"/>
                <a:cs typeface="Arial" panose="020B0604020202020204" pitchFamily="34" charset="0"/>
              </a:endParaRPr>
            </a:p>
          </p:txBody>
        </p:sp>
        <p:sp>
          <p:nvSpPr>
            <p:cNvPr id="36" name="TextBox 28">
              <a:extLst>
                <a:ext uri="{FF2B5EF4-FFF2-40B4-BE49-F238E27FC236}">
                  <a16:creationId xmlns:a16="http://schemas.microsoft.com/office/drawing/2014/main" id="{524C1F9B-974F-33AF-76B3-AD3A8BBC2D51}"/>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Arial" panose="020B0604020202020204" pitchFamily="34" charset="0"/>
                  <a:ea typeface="Gotham Bold"/>
                  <a:cs typeface="Arial" panose="020B0604020202020204" pitchFamily="34" charset="0"/>
                  <a:sym typeface="Gotham Bold"/>
                </a:rPr>
                <a:t>2</a:t>
              </a:r>
            </a:p>
          </p:txBody>
        </p:sp>
      </p:grpSp>
      <p:grpSp>
        <p:nvGrpSpPr>
          <p:cNvPr id="15" name="Group 14">
            <a:extLst>
              <a:ext uri="{FF2B5EF4-FFF2-40B4-BE49-F238E27FC236}">
                <a16:creationId xmlns:a16="http://schemas.microsoft.com/office/drawing/2014/main" id="{E35EFC44-4732-467D-0BB9-9639FFAE5D5C}"/>
              </a:ext>
            </a:extLst>
          </p:cNvPr>
          <p:cNvGrpSpPr/>
          <p:nvPr userDrawn="1"/>
        </p:nvGrpSpPr>
        <p:grpSpPr>
          <a:xfrm>
            <a:off x="6713372" y="2143158"/>
            <a:ext cx="946844" cy="971454"/>
            <a:chOff x="0" y="-14473"/>
            <a:chExt cx="556826" cy="571299"/>
          </a:xfrm>
        </p:grpSpPr>
        <p:sp>
          <p:nvSpPr>
            <p:cNvPr id="33" name="Freeform 32">
              <a:extLst>
                <a:ext uri="{FF2B5EF4-FFF2-40B4-BE49-F238E27FC236}">
                  <a16:creationId xmlns:a16="http://schemas.microsoft.com/office/drawing/2014/main" id="{0F6FA1B7-7695-A8F9-9930-6ABC935139CF}"/>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62552"/>
            </a:solidFill>
          </p:spPr>
          <p:txBody>
            <a:bodyPr/>
            <a:lstStyle/>
            <a:p>
              <a:endParaRPr lang="en-US">
                <a:latin typeface="Arial" panose="020B0604020202020204" pitchFamily="34" charset="0"/>
                <a:cs typeface="Arial" panose="020B0604020202020204" pitchFamily="34" charset="0"/>
              </a:endParaRPr>
            </a:p>
          </p:txBody>
        </p:sp>
        <p:sp>
          <p:nvSpPr>
            <p:cNvPr id="34" name="TextBox 31">
              <a:extLst>
                <a:ext uri="{FF2B5EF4-FFF2-40B4-BE49-F238E27FC236}">
                  <a16:creationId xmlns:a16="http://schemas.microsoft.com/office/drawing/2014/main" id="{7B6E1EE0-FE91-8AD9-36A2-1EC012E34EFB}"/>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Arial" panose="020B0604020202020204" pitchFamily="34" charset="0"/>
                  <a:ea typeface="Gotham Bold"/>
                  <a:cs typeface="Arial" panose="020B0604020202020204" pitchFamily="34" charset="0"/>
                  <a:sym typeface="Gotham Bold"/>
                </a:rPr>
                <a:t>3</a:t>
              </a:r>
            </a:p>
          </p:txBody>
        </p:sp>
      </p:grpSp>
      <p:grpSp>
        <p:nvGrpSpPr>
          <p:cNvPr id="16" name="Group 15">
            <a:extLst>
              <a:ext uri="{FF2B5EF4-FFF2-40B4-BE49-F238E27FC236}">
                <a16:creationId xmlns:a16="http://schemas.microsoft.com/office/drawing/2014/main" id="{BAFD45E0-CFEB-C722-3C2F-676614F9A6BD}"/>
              </a:ext>
            </a:extLst>
          </p:cNvPr>
          <p:cNvGrpSpPr/>
          <p:nvPr userDrawn="1"/>
        </p:nvGrpSpPr>
        <p:grpSpPr>
          <a:xfrm>
            <a:off x="9468772" y="2143158"/>
            <a:ext cx="946844" cy="971454"/>
            <a:chOff x="0" y="-14473"/>
            <a:chExt cx="556826" cy="571299"/>
          </a:xfrm>
        </p:grpSpPr>
        <p:sp>
          <p:nvSpPr>
            <p:cNvPr id="31" name="Freeform 30">
              <a:extLst>
                <a:ext uri="{FF2B5EF4-FFF2-40B4-BE49-F238E27FC236}">
                  <a16:creationId xmlns:a16="http://schemas.microsoft.com/office/drawing/2014/main" id="{749AB401-36D5-BF2E-2A63-B11D712ABE32}"/>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09FDA"/>
            </a:solidFill>
          </p:spPr>
          <p:txBody>
            <a:bodyPr/>
            <a:lstStyle/>
            <a:p>
              <a:endParaRPr lang="en-US">
                <a:latin typeface="Arial" panose="020B0604020202020204" pitchFamily="34" charset="0"/>
                <a:cs typeface="Arial" panose="020B0604020202020204" pitchFamily="34" charset="0"/>
              </a:endParaRPr>
            </a:p>
          </p:txBody>
        </p:sp>
        <p:sp>
          <p:nvSpPr>
            <p:cNvPr id="32" name="TextBox 34">
              <a:extLst>
                <a:ext uri="{FF2B5EF4-FFF2-40B4-BE49-F238E27FC236}">
                  <a16:creationId xmlns:a16="http://schemas.microsoft.com/office/drawing/2014/main" id="{37647DDC-735C-32A2-CE57-A46D0AE04D54}"/>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Arial" panose="020B0604020202020204" pitchFamily="34" charset="0"/>
                  <a:ea typeface="Gotham Bold"/>
                  <a:cs typeface="Arial" panose="020B0604020202020204" pitchFamily="34" charset="0"/>
                  <a:sym typeface="Gotham Bold"/>
                </a:rPr>
                <a:t>4</a:t>
              </a:r>
            </a:p>
          </p:txBody>
        </p:sp>
      </p:grpSp>
      <p:sp>
        <p:nvSpPr>
          <p:cNvPr id="18" name="AutoShape 38">
            <a:extLst>
              <a:ext uri="{FF2B5EF4-FFF2-40B4-BE49-F238E27FC236}">
                <a16:creationId xmlns:a16="http://schemas.microsoft.com/office/drawing/2014/main" id="{5B55CC53-4B0B-1F7A-E6CF-1D807C272B88}"/>
              </a:ext>
            </a:extLst>
          </p:cNvPr>
          <p:cNvSpPr/>
          <p:nvPr userDrawn="1"/>
        </p:nvSpPr>
        <p:spPr>
          <a:xfrm>
            <a:off x="1675993"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19" name="AutoShape 39">
            <a:extLst>
              <a:ext uri="{FF2B5EF4-FFF2-40B4-BE49-F238E27FC236}">
                <a16:creationId xmlns:a16="http://schemas.microsoft.com/office/drawing/2014/main" id="{147CB15D-6D2B-85B2-EA0A-A2D72009459A}"/>
              </a:ext>
            </a:extLst>
          </p:cNvPr>
          <p:cNvSpPr/>
          <p:nvPr userDrawn="1"/>
        </p:nvSpPr>
        <p:spPr>
          <a:xfrm>
            <a:off x="4500492" y="3097338"/>
            <a:ext cx="0" cy="810133"/>
          </a:xfrm>
          <a:prstGeom prst="line">
            <a:avLst/>
          </a:prstGeom>
          <a:ln w="47625" cap="flat">
            <a:solidFill>
              <a:srgbClr val="009FDA"/>
            </a:solidFill>
            <a:prstDash val="solid"/>
            <a:headEnd type="none" w="sm" len="sm"/>
            <a:tailEnd type="oval" w="lg" len="lg"/>
          </a:ln>
        </p:spPr>
        <p:txBody>
          <a:bodyPr/>
          <a:lstStyle/>
          <a:p>
            <a:endParaRPr lang="en-US"/>
          </a:p>
        </p:txBody>
      </p:sp>
      <p:sp>
        <p:nvSpPr>
          <p:cNvPr id="20" name="AutoShape 40">
            <a:extLst>
              <a:ext uri="{FF2B5EF4-FFF2-40B4-BE49-F238E27FC236}">
                <a16:creationId xmlns:a16="http://schemas.microsoft.com/office/drawing/2014/main" id="{26EBBA74-6593-863D-9566-7B0F68E2231E}"/>
              </a:ext>
            </a:extLst>
          </p:cNvPr>
          <p:cNvSpPr/>
          <p:nvPr userDrawn="1"/>
        </p:nvSpPr>
        <p:spPr>
          <a:xfrm>
            <a:off x="7186794"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21" name="AutoShape 41">
            <a:extLst>
              <a:ext uri="{FF2B5EF4-FFF2-40B4-BE49-F238E27FC236}">
                <a16:creationId xmlns:a16="http://schemas.microsoft.com/office/drawing/2014/main" id="{87B37EE5-3174-E60F-EB7F-28EAFCDB990B}"/>
              </a:ext>
            </a:extLst>
          </p:cNvPr>
          <p:cNvSpPr/>
          <p:nvPr userDrawn="1"/>
        </p:nvSpPr>
        <p:spPr>
          <a:xfrm>
            <a:off x="9942194"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24" name="AutoShape 44">
            <a:extLst>
              <a:ext uri="{FF2B5EF4-FFF2-40B4-BE49-F238E27FC236}">
                <a16:creationId xmlns:a16="http://schemas.microsoft.com/office/drawing/2014/main" id="{B173C173-30D8-B176-A7DA-38D50DA243C0}"/>
              </a:ext>
            </a:extLst>
          </p:cNvPr>
          <p:cNvSpPr/>
          <p:nvPr userDrawn="1"/>
        </p:nvSpPr>
        <p:spPr>
          <a:xfrm flipV="1">
            <a:off x="2149415" y="2623916"/>
            <a:ext cx="1877655" cy="17275"/>
          </a:xfrm>
          <a:prstGeom prst="line">
            <a:avLst/>
          </a:prstGeom>
          <a:ln w="57150" cap="flat">
            <a:solidFill>
              <a:srgbClr val="009FDA"/>
            </a:solidFill>
            <a:prstDash val="solid"/>
            <a:headEnd type="none" w="sm" len="sm"/>
            <a:tailEnd type="none" w="sm" len="sm"/>
          </a:ln>
        </p:spPr>
        <p:txBody>
          <a:bodyPr/>
          <a:lstStyle/>
          <a:p>
            <a:endParaRPr lang="en-US"/>
          </a:p>
        </p:txBody>
      </p:sp>
      <p:sp>
        <p:nvSpPr>
          <p:cNvPr id="25" name="AutoShape 45">
            <a:extLst>
              <a:ext uri="{FF2B5EF4-FFF2-40B4-BE49-F238E27FC236}">
                <a16:creationId xmlns:a16="http://schemas.microsoft.com/office/drawing/2014/main" id="{683F0CD1-60C5-B175-6B13-F66EA667B0AD}"/>
              </a:ext>
            </a:extLst>
          </p:cNvPr>
          <p:cNvSpPr/>
          <p:nvPr userDrawn="1"/>
        </p:nvSpPr>
        <p:spPr>
          <a:xfrm>
            <a:off x="4973915" y="2623916"/>
            <a:ext cx="1739457" cy="17275"/>
          </a:xfrm>
          <a:prstGeom prst="line">
            <a:avLst/>
          </a:prstGeom>
          <a:ln w="57150" cap="flat">
            <a:solidFill>
              <a:srgbClr val="009FDA"/>
            </a:solidFill>
            <a:prstDash val="solid"/>
            <a:headEnd type="none" w="sm" len="sm"/>
            <a:tailEnd type="none" w="sm" len="sm"/>
          </a:ln>
        </p:spPr>
        <p:txBody>
          <a:bodyPr/>
          <a:lstStyle/>
          <a:p>
            <a:endParaRPr lang="en-US"/>
          </a:p>
        </p:txBody>
      </p:sp>
      <p:sp>
        <p:nvSpPr>
          <p:cNvPr id="26" name="AutoShape 46">
            <a:extLst>
              <a:ext uri="{FF2B5EF4-FFF2-40B4-BE49-F238E27FC236}">
                <a16:creationId xmlns:a16="http://schemas.microsoft.com/office/drawing/2014/main" id="{F428AD71-9119-EE29-B4D0-C39466C2D067}"/>
              </a:ext>
            </a:extLst>
          </p:cNvPr>
          <p:cNvSpPr/>
          <p:nvPr userDrawn="1"/>
        </p:nvSpPr>
        <p:spPr>
          <a:xfrm>
            <a:off x="7660216" y="2641190"/>
            <a:ext cx="1808556" cy="0"/>
          </a:xfrm>
          <a:prstGeom prst="line">
            <a:avLst/>
          </a:prstGeom>
          <a:ln w="57150" cap="flat">
            <a:solidFill>
              <a:srgbClr val="009FDA"/>
            </a:solidFill>
            <a:prstDash val="solid"/>
            <a:headEnd type="none" w="sm" len="sm"/>
            <a:tailEnd type="none" w="sm" len="sm"/>
          </a:ln>
        </p:spPr>
        <p:txBody>
          <a:bodyPr/>
          <a:lstStyle/>
          <a:p>
            <a:endParaRPr lang="en-US"/>
          </a:p>
        </p:txBody>
      </p:sp>
      <p:sp>
        <p:nvSpPr>
          <p:cNvPr id="53" name="Freeform 5">
            <a:extLst>
              <a:ext uri="{FF2B5EF4-FFF2-40B4-BE49-F238E27FC236}">
                <a16:creationId xmlns:a16="http://schemas.microsoft.com/office/drawing/2014/main" id="{CCF2BEBE-A490-1991-D680-2F8AB220AA36}"/>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19610926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Blank">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168157-1DC9-22D1-0001-75C67BEB227F}"/>
              </a:ext>
            </a:extLst>
          </p:cNvPr>
          <p:cNvSpPr>
            <a:spLocks noGrp="1"/>
          </p:cNvSpPr>
          <p:nvPr>
            <p:ph type="dt" sz="half" idx="10"/>
          </p:nvPr>
        </p:nvSpPr>
        <p:spPr>
          <a:xfrm>
            <a:off x="838200" y="6356350"/>
            <a:ext cx="6541168" cy="365125"/>
          </a:xfrm>
        </p:spPr>
        <p:txBody>
          <a:bodyPr/>
          <a:lstStyle>
            <a:lvl1pPr>
              <a:defRPr>
                <a:solidFill>
                  <a:schemeClr val="bg1"/>
                </a:solidFill>
              </a:defRPr>
            </a:lvl1pPr>
          </a:lstStyle>
          <a:p>
            <a:r>
              <a:rPr lang="en-US"/>
              <a:t>Presentation Title</a:t>
            </a:r>
          </a:p>
        </p:txBody>
      </p:sp>
      <p:sp>
        <p:nvSpPr>
          <p:cNvPr id="4" name="Slide Number Placeholder 3">
            <a:extLst>
              <a:ext uri="{FF2B5EF4-FFF2-40B4-BE49-F238E27FC236}">
                <a16:creationId xmlns:a16="http://schemas.microsoft.com/office/drawing/2014/main" id="{28E834C7-6070-455B-5757-8B2127252D45}"/>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6" name="Freeform 5">
            <a:extLst>
              <a:ext uri="{FF2B5EF4-FFF2-40B4-BE49-F238E27FC236}">
                <a16:creationId xmlns:a16="http://schemas.microsoft.com/office/drawing/2014/main" id="{58E30A04-BB51-F8B2-76A7-827154EB7D7F}"/>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
        <p:nvSpPr>
          <p:cNvPr id="7" name="Title 1">
            <a:extLst>
              <a:ext uri="{FF2B5EF4-FFF2-40B4-BE49-F238E27FC236}">
                <a16:creationId xmlns:a16="http://schemas.microsoft.com/office/drawing/2014/main" id="{607245E5-5600-E311-777B-C0493CB9B0D7}"/>
              </a:ext>
            </a:extLst>
          </p:cNvPr>
          <p:cNvSpPr>
            <a:spLocks noGrp="1"/>
          </p:cNvSpPr>
          <p:nvPr>
            <p:ph type="title"/>
          </p:nvPr>
        </p:nvSpPr>
        <p:spPr>
          <a:xfrm>
            <a:off x="838200" y="365125"/>
            <a:ext cx="10515600" cy="1325563"/>
          </a:xfrm>
        </p:spPr>
        <p:txBody>
          <a:bodyPr/>
          <a:lstStyle>
            <a:lvl1pPr>
              <a:defRPr>
                <a:solidFill>
                  <a:schemeClr val="bg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0B021ECB-6A16-32DF-45AB-AEA262BB34E2}"/>
              </a:ext>
            </a:extLst>
          </p:cNvPr>
          <p:cNvSpPr>
            <a:spLocks noGrp="1"/>
          </p:cNvSpPr>
          <p:nvPr>
            <p:ph type="body" sz="quarter" idx="13" hasCustomPrompt="1"/>
          </p:nvPr>
        </p:nvSpPr>
        <p:spPr>
          <a:xfrm>
            <a:off x="838200" y="2070100"/>
            <a:ext cx="10631488" cy="3448050"/>
          </a:xfrm>
        </p:spPr>
        <p:txBody>
          <a:bodyPr>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b="0" i="0">
                <a:latin typeface="Gotham Book" panose="02000604040000020004" pitchFamily="2" charset="0"/>
              </a:rPr>
              <a:t>Insert Paragraph Details here</a:t>
            </a:r>
            <a:endParaRPr lang="en-US"/>
          </a:p>
        </p:txBody>
      </p:sp>
    </p:spTree>
    <p:extLst>
      <p:ext uri="{BB962C8B-B14F-4D97-AF65-F5344CB8AC3E}">
        <p14:creationId xmlns:p14="http://schemas.microsoft.com/office/powerpoint/2010/main" val="1669387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168157-1DC9-22D1-0001-75C67BEB227F}"/>
              </a:ext>
            </a:extLst>
          </p:cNvPr>
          <p:cNvSpPr>
            <a:spLocks noGrp="1"/>
          </p:cNvSpPr>
          <p:nvPr>
            <p:ph type="dt" sz="half" idx="10"/>
          </p:nvPr>
        </p:nvSpPr>
        <p:spPr>
          <a:xfrm>
            <a:off x="838200" y="6356350"/>
            <a:ext cx="6541168" cy="365125"/>
          </a:xfrm>
        </p:spPr>
        <p:txBody>
          <a:bodyPr/>
          <a:lstStyle>
            <a:lvl1pPr>
              <a:defRPr>
                <a:solidFill>
                  <a:schemeClr val="accent1">
                    <a:lumMod val="50000"/>
                  </a:schemeClr>
                </a:solidFill>
              </a:defRPr>
            </a:lvl1pPr>
          </a:lstStyle>
          <a:p>
            <a:r>
              <a:rPr lang="en-US"/>
              <a:t>Presentation Title</a:t>
            </a:r>
          </a:p>
        </p:txBody>
      </p:sp>
      <p:sp>
        <p:nvSpPr>
          <p:cNvPr id="4" name="Slide Number Placeholder 3">
            <a:extLst>
              <a:ext uri="{FF2B5EF4-FFF2-40B4-BE49-F238E27FC236}">
                <a16:creationId xmlns:a16="http://schemas.microsoft.com/office/drawing/2014/main" id="{28E834C7-6070-455B-5757-8B2127252D45}"/>
              </a:ext>
            </a:extLst>
          </p:cNvPr>
          <p:cNvSpPr>
            <a:spLocks noGrp="1"/>
          </p:cNvSpPr>
          <p:nvPr>
            <p:ph type="sldNum" sz="quarter" idx="12"/>
          </p:nvPr>
        </p:nvSpPr>
        <p:spPr/>
        <p:txBody>
          <a:bodyPr/>
          <a:lstStyle>
            <a:lvl1pPr>
              <a:defRPr>
                <a:solidFill>
                  <a:schemeClr val="accent1">
                    <a:lumMod val="50000"/>
                  </a:schemeClr>
                </a:solidFill>
              </a:defRPr>
            </a:lvl1pPr>
          </a:lstStyle>
          <a:p>
            <a:fld id="{A070A489-3A69-A542-8CBF-69A14DF4633A}" type="slidenum">
              <a:rPr lang="en-US" smtClean="0"/>
              <a:pPr/>
              <a:t>‹#›</a:t>
            </a:fld>
            <a:endParaRPr lang="en-US"/>
          </a:p>
        </p:txBody>
      </p:sp>
      <p:sp>
        <p:nvSpPr>
          <p:cNvPr id="6" name="Freeform 5">
            <a:extLst>
              <a:ext uri="{FF2B5EF4-FFF2-40B4-BE49-F238E27FC236}">
                <a16:creationId xmlns:a16="http://schemas.microsoft.com/office/drawing/2014/main" id="{58E30A04-BB51-F8B2-76A7-827154EB7D7F}"/>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5"/>
          </a:solidFill>
        </p:spPr>
        <p:txBody>
          <a:bodyPr/>
          <a:lstStyle/>
          <a:p>
            <a:endParaRPr lang="en-JM"/>
          </a:p>
        </p:txBody>
      </p:sp>
      <p:sp>
        <p:nvSpPr>
          <p:cNvPr id="7" name="Title 1">
            <a:extLst>
              <a:ext uri="{FF2B5EF4-FFF2-40B4-BE49-F238E27FC236}">
                <a16:creationId xmlns:a16="http://schemas.microsoft.com/office/drawing/2014/main" id="{607245E5-5600-E311-777B-C0493CB9B0D7}"/>
              </a:ext>
            </a:extLst>
          </p:cNvPr>
          <p:cNvSpPr>
            <a:spLocks noGrp="1"/>
          </p:cNvSpPr>
          <p:nvPr>
            <p:ph type="title" hasCustomPrompt="1"/>
          </p:nvPr>
        </p:nvSpPr>
        <p:spPr>
          <a:xfrm>
            <a:off x="838200" y="365125"/>
            <a:ext cx="10515600" cy="1325563"/>
          </a:xfrm>
        </p:spPr>
        <p:txBody>
          <a:bodyPr/>
          <a:lstStyle>
            <a:lvl1pPr>
              <a:defRPr>
                <a:solidFill>
                  <a:schemeClr val="accent1">
                    <a:lumMod val="50000"/>
                  </a:schemeClr>
                </a:solidFill>
              </a:defRPr>
            </a:lvl1pPr>
          </a:lstStyle>
          <a:p>
            <a:r>
              <a:rPr lang="en-US"/>
              <a:t>Your Title Goes Here</a:t>
            </a:r>
          </a:p>
        </p:txBody>
      </p:sp>
      <p:sp>
        <p:nvSpPr>
          <p:cNvPr id="10" name="Text Placeholder 9">
            <a:extLst>
              <a:ext uri="{FF2B5EF4-FFF2-40B4-BE49-F238E27FC236}">
                <a16:creationId xmlns:a16="http://schemas.microsoft.com/office/drawing/2014/main" id="{0B021ECB-6A16-32DF-45AB-AEA262BB34E2}"/>
              </a:ext>
            </a:extLst>
          </p:cNvPr>
          <p:cNvSpPr>
            <a:spLocks noGrp="1"/>
          </p:cNvSpPr>
          <p:nvPr>
            <p:ph type="body" sz="quarter" idx="13" hasCustomPrompt="1"/>
          </p:nvPr>
        </p:nvSpPr>
        <p:spPr>
          <a:xfrm>
            <a:off x="838200" y="2070100"/>
            <a:ext cx="10631488" cy="3448050"/>
          </a:xfrm>
        </p:spPr>
        <p:txBody>
          <a:bodyPr>
            <a:normAutofit/>
          </a:bodyPr>
          <a:lstStyle>
            <a:lvl1pPr marL="0" indent="0">
              <a:buNone/>
              <a:defRPr sz="2000" b="0" i="0">
                <a:solidFill>
                  <a:schemeClr val="accent1">
                    <a:lumMod val="50000"/>
                  </a:schemeClr>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b="0" i="0">
                <a:latin typeface="Gotham Book" panose="02000604040000020004" pitchFamily="2" charset="0"/>
              </a:rPr>
              <a:t>Insert Paragraph Details here</a:t>
            </a:r>
            <a:endParaRPr lang="en-US"/>
          </a:p>
        </p:txBody>
      </p:sp>
    </p:spTree>
    <p:extLst>
      <p:ext uri="{BB962C8B-B14F-4D97-AF65-F5344CB8AC3E}">
        <p14:creationId xmlns:p14="http://schemas.microsoft.com/office/powerpoint/2010/main" val="8821639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E393-2E9A-9983-45BF-77A29608D9F1}"/>
              </a:ext>
            </a:extLst>
          </p:cNvPr>
          <p:cNvSpPr>
            <a:spLocks noGrp="1"/>
          </p:cNvSpPr>
          <p:nvPr>
            <p:ph type="title" hasCustomPrompt="1"/>
          </p:nvPr>
        </p:nvSpPr>
        <p:spPr>
          <a:xfrm>
            <a:off x="839788" y="607995"/>
            <a:ext cx="3932237" cy="1172679"/>
          </a:xfrm>
        </p:spPr>
        <p:txBody>
          <a:bodyPr anchor="t"/>
          <a:lstStyle>
            <a:lvl1pPr>
              <a:defRPr sz="3200">
                <a:solidFill>
                  <a:schemeClr val="accent1">
                    <a:lumMod val="50000"/>
                  </a:schemeClr>
                </a:solidFill>
              </a:defRPr>
            </a:lvl1pPr>
          </a:lstStyle>
          <a:p>
            <a:r>
              <a:rPr lang="en-US"/>
              <a:t>Your Header</a:t>
            </a:r>
            <a:br>
              <a:rPr lang="en-US"/>
            </a:br>
            <a:r>
              <a:rPr lang="en-US"/>
              <a:t>Goes Here</a:t>
            </a:r>
          </a:p>
        </p:txBody>
      </p:sp>
      <p:sp>
        <p:nvSpPr>
          <p:cNvPr id="3" name="Content Placeholder 2">
            <a:extLst>
              <a:ext uri="{FF2B5EF4-FFF2-40B4-BE49-F238E27FC236}">
                <a16:creationId xmlns:a16="http://schemas.microsoft.com/office/drawing/2014/main" id="{927C9BD8-2B4F-4CEE-835C-9912AAF944D1}"/>
              </a:ext>
            </a:extLst>
          </p:cNvPr>
          <p:cNvSpPr>
            <a:spLocks noGrp="1"/>
          </p:cNvSpPr>
          <p:nvPr>
            <p:ph idx="1" hasCustomPrompt="1"/>
          </p:nvPr>
        </p:nvSpPr>
        <p:spPr>
          <a:xfrm>
            <a:off x="5183188" y="987425"/>
            <a:ext cx="6172200" cy="4873625"/>
          </a:xfrm>
        </p:spPr>
        <p:txBody>
          <a:bodyPr/>
          <a:lstStyle>
            <a:lvl1pPr>
              <a:defRPr sz="3200">
                <a:solidFill>
                  <a:schemeClr val="accent1">
                    <a:lumMod val="50000"/>
                  </a:schemeClr>
                </a:solidFill>
              </a:defRPr>
            </a:lvl1pPr>
            <a:lvl2pPr>
              <a:defRPr sz="2800">
                <a:solidFill>
                  <a:schemeClr val="accent1">
                    <a:lumMod val="50000"/>
                  </a:schemeClr>
                </a:solidFill>
              </a:defRPr>
            </a:lvl2pPr>
            <a:lvl3pPr>
              <a:defRPr sz="2400">
                <a:solidFill>
                  <a:schemeClr val="accent1">
                    <a:lumMod val="50000"/>
                  </a:schemeClr>
                </a:solidFill>
              </a:defRPr>
            </a:lvl3pPr>
            <a:lvl4pPr>
              <a:defRPr sz="2000">
                <a:solidFill>
                  <a:schemeClr val="accent1">
                    <a:lumMod val="50000"/>
                  </a:schemeClr>
                </a:solidFill>
              </a:defRPr>
            </a:lvl4pPr>
            <a:lvl5pPr>
              <a:defRPr sz="2000">
                <a:solidFill>
                  <a:schemeClr val="accent1">
                    <a:lumMod val="50000"/>
                  </a:schemeClr>
                </a:solidFill>
              </a:defRPr>
            </a:lvl5pPr>
            <a:lvl6pPr>
              <a:defRPr sz="2000"/>
            </a:lvl6pPr>
            <a:lvl7pPr>
              <a:defRPr sz="2000"/>
            </a:lvl7pPr>
            <a:lvl8pPr>
              <a:defRPr sz="2000"/>
            </a:lvl8pPr>
            <a:lvl9pPr>
              <a:defRPr sz="2000"/>
            </a:lvl9pPr>
          </a:lstStyle>
          <a:p>
            <a:pPr lvl="0"/>
            <a:r>
              <a:rPr lang="en-US"/>
              <a:t>Insert Photo Here</a:t>
            </a:r>
          </a:p>
        </p:txBody>
      </p:sp>
      <p:sp>
        <p:nvSpPr>
          <p:cNvPr id="4" name="Text Placeholder 3">
            <a:extLst>
              <a:ext uri="{FF2B5EF4-FFF2-40B4-BE49-F238E27FC236}">
                <a16:creationId xmlns:a16="http://schemas.microsoft.com/office/drawing/2014/main" id="{78D656C8-AD1A-1557-910F-A40E7EAEA079}"/>
              </a:ext>
            </a:extLst>
          </p:cNvPr>
          <p:cNvSpPr>
            <a:spLocks noGrp="1"/>
          </p:cNvSpPr>
          <p:nvPr>
            <p:ph type="body" sz="half" idx="2" hasCustomPrompt="1"/>
          </p:nvPr>
        </p:nvSpPr>
        <p:spPr>
          <a:xfrm>
            <a:off x="839788" y="2057400"/>
            <a:ext cx="3932237" cy="3811588"/>
          </a:xfrm>
        </p:spPr>
        <p:txBody>
          <a:bodyPr/>
          <a:lstStyle>
            <a:lvl1pPr marL="0" indent="0">
              <a:buNone/>
              <a:defRPr sz="1600">
                <a:solidFill>
                  <a:schemeClr val="accent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Insert Summary Here</a:t>
            </a:r>
          </a:p>
        </p:txBody>
      </p:sp>
      <p:sp>
        <p:nvSpPr>
          <p:cNvPr id="5" name="Date Placeholder 4">
            <a:extLst>
              <a:ext uri="{FF2B5EF4-FFF2-40B4-BE49-F238E27FC236}">
                <a16:creationId xmlns:a16="http://schemas.microsoft.com/office/drawing/2014/main" id="{969FC0C9-500F-FE4D-7059-F06EBA9D9B82}"/>
              </a:ext>
            </a:extLst>
          </p:cNvPr>
          <p:cNvSpPr>
            <a:spLocks noGrp="1"/>
          </p:cNvSpPr>
          <p:nvPr>
            <p:ph type="dt" sz="half" idx="10"/>
          </p:nvPr>
        </p:nvSpPr>
        <p:spPr>
          <a:xfrm>
            <a:off x="838199" y="6356350"/>
            <a:ext cx="6043863" cy="365125"/>
          </a:xfrm>
        </p:spPr>
        <p:txBody>
          <a:bodyPr/>
          <a:lstStyle>
            <a:lvl1pPr>
              <a:defRPr>
                <a:solidFill>
                  <a:schemeClr val="accent1">
                    <a:lumMod val="50000"/>
                  </a:schemeClr>
                </a:solidFill>
              </a:defRPr>
            </a:lvl1pPr>
          </a:lstStyle>
          <a:p>
            <a:r>
              <a:rPr lang="en-US"/>
              <a:t>Presentation Title</a:t>
            </a:r>
          </a:p>
        </p:txBody>
      </p:sp>
      <p:sp>
        <p:nvSpPr>
          <p:cNvPr id="7" name="Slide Number Placeholder 6">
            <a:extLst>
              <a:ext uri="{FF2B5EF4-FFF2-40B4-BE49-F238E27FC236}">
                <a16:creationId xmlns:a16="http://schemas.microsoft.com/office/drawing/2014/main" id="{C96480E6-F565-AA43-351F-D8B3E480C1BC}"/>
              </a:ext>
            </a:extLst>
          </p:cNvPr>
          <p:cNvSpPr>
            <a:spLocks noGrp="1"/>
          </p:cNvSpPr>
          <p:nvPr>
            <p:ph type="sldNum" sz="quarter" idx="12"/>
          </p:nvPr>
        </p:nvSpPr>
        <p:spPr/>
        <p:txBody>
          <a:bodyPr/>
          <a:lstStyle>
            <a:lvl1pPr>
              <a:defRPr>
                <a:solidFill>
                  <a:schemeClr val="accent1">
                    <a:lumMod val="50000"/>
                  </a:schemeClr>
                </a:solidFill>
              </a:defRPr>
            </a:lvl1pPr>
          </a:lstStyle>
          <a:p>
            <a:fld id="{A070A489-3A69-A542-8CBF-69A14DF4633A}" type="slidenum">
              <a:rPr lang="en-US" smtClean="0"/>
              <a:pPr/>
              <a:t>‹#›</a:t>
            </a:fld>
            <a:endParaRPr lang="en-US"/>
          </a:p>
        </p:txBody>
      </p:sp>
      <p:sp>
        <p:nvSpPr>
          <p:cNvPr id="8" name="Freeform 5">
            <a:extLst>
              <a:ext uri="{FF2B5EF4-FFF2-40B4-BE49-F238E27FC236}">
                <a16:creationId xmlns:a16="http://schemas.microsoft.com/office/drawing/2014/main" id="{BB0E02BF-5253-F5F0-3096-EB50B28B9845}"/>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17382607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429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PowerPoint Cover 1">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08ED-8DAD-3DDF-C241-E7D740AB3EA8}"/>
              </a:ext>
            </a:extLst>
          </p:cNvPr>
          <p:cNvSpPr>
            <a:spLocks noGrp="1"/>
          </p:cNvSpPr>
          <p:nvPr>
            <p:ph type="ctrTitle" hasCustomPrompt="1"/>
          </p:nvPr>
        </p:nvSpPr>
        <p:spPr>
          <a:xfrm>
            <a:off x="1524000" y="1122363"/>
            <a:ext cx="9144000" cy="2387600"/>
          </a:xfrm>
        </p:spPr>
        <p:txBody>
          <a:bodyPr anchor="b">
            <a:normAutofit/>
          </a:bodyPr>
          <a:lstStyle>
            <a:lvl1pPr algn="ctr">
              <a:defRPr sz="4000">
                <a:solidFill>
                  <a:schemeClr val="bg1"/>
                </a:solidFill>
                <a:latin typeface="Arial" panose="020B0604020202020204" pitchFamily="34" charset="0"/>
                <a:cs typeface="Arial" panose="020B0604020202020204" pitchFamily="34" charset="0"/>
              </a:defRPr>
            </a:lvl1pPr>
          </a:lstStyle>
          <a:p>
            <a:r>
              <a:rPr lang="en-US"/>
              <a:t>PRESENTATION TITLE HERE</a:t>
            </a:r>
          </a:p>
        </p:txBody>
      </p:sp>
      <p:sp>
        <p:nvSpPr>
          <p:cNvPr id="3" name="Subtitle 2">
            <a:extLst>
              <a:ext uri="{FF2B5EF4-FFF2-40B4-BE49-F238E27FC236}">
                <a16:creationId xmlns:a16="http://schemas.microsoft.com/office/drawing/2014/main" id="{5710112C-CAD0-ACAA-EF44-D38B25816E85}"/>
              </a:ext>
            </a:extLst>
          </p:cNvPr>
          <p:cNvSpPr>
            <a:spLocks noGrp="1"/>
          </p:cNvSpPr>
          <p:nvPr>
            <p:ph type="subTitle" idx="1" hasCustomPrompt="1"/>
          </p:nvPr>
        </p:nvSpPr>
        <p:spPr>
          <a:xfrm>
            <a:off x="1524000" y="3602038"/>
            <a:ext cx="9144000" cy="1655762"/>
          </a:xfrm>
        </p:spPr>
        <p:txBody>
          <a:bodyPr/>
          <a:lstStyle>
            <a:lvl1pPr marL="0" indent="0" algn="ctr">
              <a:buNone/>
              <a:defRPr sz="2400" b="1" i="0">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p>
        </p:txBody>
      </p:sp>
      <p:sp>
        <p:nvSpPr>
          <p:cNvPr id="7" name="Freeform 2">
            <a:extLst>
              <a:ext uri="{FF2B5EF4-FFF2-40B4-BE49-F238E27FC236}">
                <a16:creationId xmlns:a16="http://schemas.microsoft.com/office/drawing/2014/main" id="{24883C95-2656-864D-EFCC-2C3C6D7BC25C}"/>
              </a:ext>
            </a:extLst>
          </p:cNvPr>
          <p:cNvSpPr/>
          <p:nvPr userDrawn="1"/>
        </p:nvSpPr>
        <p:spPr>
          <a:xfrm>
            <a:off x="-132522" y="6033388"/>
            <a:ext cx="7389578" cy="629648"/>
          </a:xfrm>
          <a:custGeom>
            <a:avLst/>
            <a:gdLst/>
            <a:ahLst/>
            <a:cxnLst/>
            <a:rect l="l" t="t" r="r" b="b"/>
            <a:pathLst>
              <a:path w="10396075" h="885825">
                <a:moveTo>
                  <a:pt x="0" y="0"/>
                </a:moveTo>
                <a:lnTo>
                  <a:pt x="10396075" y="0"/>
                </a:lnTo>
                <a:lnTo>
                  <a:pt x="10396075" y="885825"/>
                </a:lnTo>
                <a:lnTo>
                  <a:pt x="0" y="885825"/>
                </a:lnTo>
                <a:lnTo>
                  <a:pt x="0" y="0"/>
                </a:lnTo>
                <a:close/>
              </a:path>
            </a:pathLst>
          </a:custGeom>
          <a:blipFill>
            <a:blip r:embed="rId2"/>
            <a:stretch>
              <a:fillRect r="-75912"/>
            </a:stretch>
          </a:blipFill>
          <a:ln cap="sq">
            <a:noFill/>
            <a:prstDash val="solid"/>
            <a:miter/>
          </a:ln>
        </p:spPr>
        <p:txBody>
          <a:bodyPr/>
          <a:lstStyle/>
          <a:p>
            <a:endParaRPr lang="en-JM"/>
          </a:p>
        </p:txBody>
      </p:sp>
      <p:sp>
        <p:nvSpPr>
          <p:cNvPr id="8" name="Freeform 3">
            <a:extLst>
              <a:ext uri="{FF2B5EF4-FFF2-40B4-BE49-F238E27FC236}">
                <a16:creationId xmlns:a16="http://schemas.microsoft.com/office/drawing/2014/main" id="{323C6F31-8823-3A1C-B52A-8FE872C73897}"/>
              </a:ext>
            </a:extLst>
          </p:cNvPr>
          <p:cNvSpPr/>
          <p:nvPr userDrawn="1"/>
        </p:nvSpPr>
        <p:spPr>
          <a:xfrm>
            <a:off x="7336480" y="6197157"/>
            <a:ext cx="3483107" cy="302109"/>
          </a:xfrm>
          <a:custGeom>
            <a:avLst/>
            <a:gdLst/>
            <a:ahLst/>
            <a:cxnLst/>
            <a:rect l="l" t="t" r="r" b="b"/>
            <a:pathLst>
              <a:path w="4900239" h="425024">
                <a:moveTo>
                  <a:pt x="0" y="0"/>
                </a:moveTo>
                <a:lnTo>
                  <a:pt x="4900239" y="0"/>
                </a:lnTo>
                <a:lnTo>
                  <a:pt x="4900239" y="425024"/>
                </a:lnTo>
                <a:lnTo>
                  <a:pt x="0" y="425024"/>
                </a:lnTo>
                <a:lnTo>
                  <a:pt x="0" y="0"/>
                </a:lnTo>
                <a:close/>
              </a:path>
            </a:pathLst>
          </a:custGeom>
          <a:blipFill>
            <a:blip r:embed="rId3"/>
            <a:stretch>
              <a:fillRect/>
            </a:stretch>
          </a:blipFill>
        </p:spPr>
        <p:txBody>
          <a:bodyPr/>
          <a:lstStyle/>
          <a:p>
            <a:endParaRPr lang="en-JM"/>
          </a:p>
        </p:txBody>
      </p:sp>
      <p:sp>
        <p:nvSpPr>
          <p:cNvPr id="9" name="Freeform 4">
            <a:extLst>
              <a:ext uri="{FF2B5EF4-FFF2-40B4-BE49-F238E27FC236}">
                <a16:creationId xmlns:a16="http://schemas.microsoft.com/office/drawing/2014/main" id="{4794DDB2-EB20-4483-670B-29F286D1B57B}"/>
              </a:ext>
            </a:extLst>
          </p:cNvPr>
          <p:cNvSpPr/>
          <p:nvPr userDrawn="1"/>
        </p:nvSpPr>
        <p:spPr>
          <a:xfrm>
            <a:off x="10899011" y="6033388"/>
            <a:ext cx="1905088" cy="629649"/>
          </a:xfrm>
          <a:custGeom>
            <a:avLst/>
            <a:gdLst/>
            <a:ahLst/>
            <a:cxnLst/>
            <a:rect l="l" t="t" r="r" b="b"/>
            <a:pathLst>
              <a:path w="2680184" h="885825">
                <a:moveTo>
                  <a:pt x="0" y="0"/>
                </a:moveTo>
                <a:lnTo>
                  <a:pt x="2680184" y="0"/>
                </a:lnTo>
                <a:lnTo>
                  <a:pt x="2680184" y="885825"/>
                </a:lnTo>
                <a:lnTo>
                  <a:pt x="0" y="885825"/>
                </a:lnTo>
                <a:lnTo>
                  <a:pt x="0" y="0"/>
                </a:lnTo>
                <a:close/>
              </a:path>
            </a:pathLst>
          </a:custGeom>
          <a:blipFill>
            <a:blip r:embed="rId2"/>
            <a:stretch>
              <a:fillRect l="-582341"/>
            </a:stretch>
          </a:blipFill>
          <a:ln cap="sq">
            <a:noFill/>
            <a:prstDash val="solid"/>
            <a:miter/>
          </a:ln>
        </p:spPr>
        <p:txBody>
          <a:bodyPr/>
          <a:lstStyle/>
          <a:p>
            <a:endParaRPr lang="en-JM"/>
          </a:p>
        </p:txBody>
      </p:sp>
    </p:spTree>
    <p:extLst>
      <p:ext uri="{BB962C8B-B14F-4D97-AF65-F5344CB8AC3E}">
        <p14:creationId xmlns:p14="http://schemas.microsoft.com/office/powerpoint/2010/main" val="27064612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1_PowerPoint Cover 1">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08ED-8DAD-3DDF-C241-E7D740AB3EA8}"/>
              </a:ext>
            </a:extLst>
          </p:cNvPr>
          <p:cNvSpPr>
            <a:spLocks noGrp="1"/>
          </p:cNvSpPr>
          <p:nvPr>
            <p:ph type="ctrTitle" hasCustomPrompt="1"/>
          </p:nvPr>
        </p:nvSpPr>
        <p:spPr>
          <a:xfrm>
            <a:off x="481264" y="753395"/>
            <a:ext cx="9144000" cy="722479"/>
          </a:xfrm>
        </p:spPr>
        <p:txBody>
          <a:bodyPr anchor="t">
            <a:normAutofit/>
          </a:bodyPr>
          <a:lstStyle>
            <a:lvl1pPr algn="l">
              <a:defRPr sz="4000">
                <a:solidFill>
                  <a:schemeClr val="bg1"/>
                </a:solidFill>
                <a:latin typeface="Arial" panose="020B0604020202020204" pitchFamily="34" charset="0"/>
                <a:cs typeface="Arial" panose="020B0604020202020204" pitchFamily="34" charset="0"/>
              </a:defRPr>
            </a:lvl1pPr>
          </a:lstStyle>
          <a:p>
            <a:r>
              <a:rPr lang="en-US"/>
              <a:t>PRESENTATION TITLE HERE</a:t>
            </a:r>
          </a:p>
        </p:txBody>
      </p:sp>
      <p:sp>
        <p:nvSpPr>
          <p:cNvPr id="3" name="Subtitle 2">
            <a:extLst>
              <a:ext uri="{FF2B5EF4-FFF2-40B4-BE49-F238E27FC236}">
                <a16:creationId xmlns:a16="http://schemas.microsoft.com/office/drawing/2014/main" id="{5710112C-CAD0-ACAA-EF44-D38B25816E85}"/>
              </a:ext>
            </a:extLst>
          </p:cNvPr>
          <p:cNvSpPr>
            <a:spLocks noGrp="1"/>
          </p:cNvSpPr>
          <p:nvPr>
            <p:ph type="subTitle" idx="1" hasCustomPrompt="1"/>
          </p:nvPr>
        </p:nvSpPr>
        <p:spPr>
          <a:xfrm>
            <a:off x="481264" y="1660944"/>
            <a:ext cx="9144000" cy="629648"/>
          </a:xfrm>
        </p:spPr>
        <p:txBody>
          <a:bodyPr/>
          <a:lstStyle>
            <a:lvl1pPr marL="0" indent="0" algn="l">
              <a:buNone/>
              <a:defRPr sz="2400" b="1" i="0">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Here</a:t>
            </a:r>
          </a:p>
        </p:txBody>
      </p:sp>
      <p:sp>
        <p:nvSpPr>
          <p:cNvPr id="7" name="Freeform 2">
            <a:extLst>
              <a:ext uri="{FF2B5EF4-FFF2-40B4-BE49-F238E27FC236}">
                <a16:creationId xmlns:a16="http://schemas.microsoft.com/office/drawing/2014/main" id="{24883C95-2656-864D-EFCC-2C3C6D7BC25C}"/>
              </a:ext>
            </a:extLst>
          </p:cNvPr>
          <p:cNvSpPr/>
          <p:nvPr userDrawn="1"/>
        </p:nvSpPr>
        <p:spPr>
          <a:xfrm>
            <a:off x="-132522" y="6033388"/>
            <a:ext cx="7389578" cy="629648"/>
          </a:xfrm>
          <a:custGeom>
            <a:avLst/>
            <a:gdLst/>
            <a:ahLst/>
            <a:cxnLst/>
            <a:rect l="l" t="t" r="r" b="b"/>
            <a:pathLst>
              <a:path w="10396075" h="885825">
                <a:moveTo>
                  <a:pt x="0" y="0"/>
                </a:moveTo>
                <a:lnTo>
                  <a:pt x="10396075" y="0"/>
                </a:lnTo>
                <a:lnTo>
                  <a:pt x="10396075" y="885825"/>
                </a:lnTo>
                <a:lnTo>
                  <a:pt x="0" y="885825"/>
                </a:lnTo>
                <a:lnTo>
                  <a:pt x="0" y="0"/>
                </a:lnTo>
                <a:close/>
              </a:path>
            </a:pathLst>
          </a:custGeom>
          <a:blipFill>
            <a:blip r:embed="rId2"/>
            <a:stretch>
              <a:fillRect r="-75912"/>
            </a:stretch>
          </a:blipFill>
          <a:ln cap="sq">
            <a:noFill/>
            <a:prstDash val="solid"/>
            <a:miter/>
          </a:ln>
        </p:spPr>
        <p:txBody>
          <a:bodyPr/>
          <a:lstStyle/>
          <a:p>
            <a:endParaRPr lang="en-JM"/>
          </a:p>
        </p:txBody>
      </p:sp>
      <p:sp>
        <p:nvSpPr>
          <p:cNvPr id="8" name="Freeform 3">
            <a:extLst>
              <a:ext uri="{FF2B5EF4-FFF2-40B4-BE49-F238E27FC236}">
                <a16:creationId xmlns:a16="http://schemas.microsoft.com/office/drawing/2014/main" id="{323C6F31-8823-3A1C-B52A-8FE872C73897}"/>
              </a:ext>
            </a:extLst>
          </p:cNvPr>
          <p:cNvSpPr/>
          <p:nvPr userDrawn="1"/>
        </p:nvSpPr>
        <p:spPr>
          <a:xfrm>
            <a:off x="7336480" y="6197157"/>
            <a:ext cx="3483107" cy="302109"/>
          </a:xfrm>
          <a:custGeom>
            <a:avLst/>
            <a:gdLst/>
            <a:ahLst/>
            <a:cxnLst/>
            <a:rect l="l" t="t" r="r" b="b"/>
            <a:pathLst>
              <a:path w="4900239" h="425024">
                <a:moveTo>
                  <a:pt x="0" y="0"/>
                </a:moveTo>
                <a:lnTo>
                  <a:pt x="4900239" y="0"/>
                </a:lnTo>
                <a:lnTo>
                  <a:pt x="4900239" y="425024"/>
                </a:lnTo>
                <a:lnTo>
                  <a:pt x="0" y="425024"/>
                </a:lnTo>
                <a:lnTo>
                  <a:pt x="0" y="0"/>
                </a:lnTo>
                <a:close/>
              </a:path>
            </a:pathLst>
          </a:custGeom>
          <a:blipFill>
            <a:blip r:embed="rId3"/>
            <a:stretch>
              <a:fillRect/>
            </a:stretch>
          </a:blipFill>
        </p:spPr>
        <p:txBody>
          <a:bodyPr/>
          <a:lstStyle/>
          <a:p>
            <a:endParaRPr lang="en-JM"/>
          </a:p>
        </p:txBody>
      </p:sp>
      <p:sp>
        <p:nvSpPr>
          <p:cNvPr id="9" name="Freeform 4">
            <a:extLst>
              <a:ext uri="{FF2B5EF4-FFF2-40B4-BE49-F238E27FC236}">
                <a16:creationId xmlns:a16="http://schemas.microsoft.com/office/drawing/2014/main" id="{4794DDB2-EB20-4483-670B-29F286D1B57B}"/>
              </a:ext>
            </a:extLst>
          </p:cNvPr>
          <p:cNvSpPr/>
          <p:nvPr userDrawn="1"/>
        </p:nvSpPr>
        <p:spPr>
          <a:xfrm>
            <a:off x="10899011" y="6033388"/>
            <a:ext cx="1905088" cy="629649"/>
          </a:xfrm>
          <a:custGeom>
            <a:avLst/>
            <a:gdLst/>
            <a:ahLst/>
            <a:cxnLst/>
            <a:rect l="l" t="t" r="r" b="b"/>
            <a:pathLst>
              <a:path w="2680184" h="885825">
                <a:moveTo>
                  <a:pt x="0" y="0"/>
                </a:moveTo>
                <a:lnTo>
                  <a:pt x="2680184" y="0"/>
                </a:lnTo>
                <a:lnTo>
                  <a:pt x="2680184" y="885825"/>
                </a:lnTo>
                <a:lnTo>
                  <a:pt x="0" y="885825"/>
                </a:lnTo>
                <a:lnTo>
                  <a:pt x="0" y="0"/>
                </a:lnTo>
                <a:close/>
              </a:path>
            </a:pathLst>
          </a:custGeom>
          <a:blipFill>
            <a:blip r:embed="rId2"/>
            <a:stretch>
              <a:fillRect l="-582341"/>
            </a:stretch>
          </a:blipFill>
          <a:ln cap="sq">
            <a:noFill/>
            <a:prstDash val="solid"/>
            <a:miter/>
          </a:ln>
        </p:spPr>
        <p:txBody>
          <a:bodyPr/>
          <a:lstStyle/>
          <a:p>
            <a:endParaRPr lang="en-JM"/>
          </a:p>
        </p:txBody>
      </p:sp>
    </p:spTree>
    <p:extLst>
      <p:ext uri="{BB962C8B-B14F-4D97-AF65-F5344CB8AC3E}">
        <p14:creationId xmlns:p14="http://schemas.microsoft.com/office/powerpoint/2010/main" val="2578782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Slide 1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DBFC8-12A5-8D51-8F48-E22A44642435}"/>
              </a:ext>
            </a:extLst>
          </p:cNvPr>
          <p:cNvSpPr>
            <a:spLocks noGrp="1"/>
          </p:cNvSpPr>
          <p:nvPr>
            <p:ph type="title" hasCustomPrompt="1"/>
          </p:nvPr>
        </p:nvSpPr>
        <p:spPr/>
        <p:txBody>
          <a:bodyPr/>
          <a:lstStyle>
            <a:lvl1pPr>
              <a:defRPr>
                <a:solidFill>
                  <a:schemeClr val="accent2">
                    <a:lumMod val="90000"/>
                    <a:lumOff val="10000"/>
                  </a:schemeClr>
                </a:solidFill>
                <a:latin typeface="Arial" panose="020B0604020202020204" pitchFamily="34" charset="0"/>
                <a:cs typeface="Arial" panose="020B0604020202020204" pitchFamily="34" charset="0"/>
              </a:defRPr>
            </a:lvl1pPr>
          </a:lstStyle>
          <a:p>
            <a:r>
              <a:rPr lang="en-US"/>
              <a:t>Header Here</a:t>
            </a:r>
          </a:p>
        </p:txBody>
      </p:sp>
      <p:sp>
        <p:nvSpPr>
          <p:cNvPr id="3" name="Content Placeholder 2">
            <a:extLst>
              <a:ext uri="{FF2B5EF4-FFF2-40B4-BE49-F238E27FC236}">
                <a16:creationId xmlns:a16="http://schemas.microsoft.com/office/drawing/2014/main" id="{CCF6E6FB-C2B6-6443-F2D8-137E1E61904D}"/>
              </a:ext>
            </a:extLst>
          </p:cNvPr>
          <p:cNvSpPr>
            <a:spLocks noGrp="1"/>
          </p:cNvSpPr>
          <p:nvPr>
            <p:ph idx="1" hasCustomPrompt="1"/>
          </p:nvPr>
        </p:nvSpPr>
        <p:spPr/>
        <p:txBody>
          <a:bodyPr/>
          <a:lstStyle>
            <a:lvl1pPr>
              <a:defRPr>
                <a:solidFill>
                  <a:schemeClr val="accent1">
                    <a:lumMod val="75000"/>
                  </a:schemeClr>
                </a:solidFill>
                <a:latin typeface="Arial" panose="020B0604020202020204" pitchFamily="34" charset="0"/>
                <a:cs typeface="Arial" panose="020B0604020202020204" pitchFamily="34" charset="0"/>
              </a:defRPr>
            </a:lvl1pPr>
            <a:lvl2pPr>
              <a:defRPr>
                <a:solidFill>
                  <a:schemeClr val="accent1">
                    <a:lumMod val="75000"/>
                  </a:schemeClr>
                </a:solidFill>
                <a:latin typeface="Arial" panose="020B0604020202020204" pitchFamily="34" charset="0"/>
                <a:cs typeface="Arial" panose="020B0604020202020204" pitchFamily="34" charset="0"/>
              </a:defRPr>
            </a:lvl2pPr>
            <a:lvl3pPr>
              <a:defRPr>
                <a:solidFill>
                  <a:schemeClr val="accent1">
                    <a:lumMod val="75000"/>
                  </a:schemeClr>
                </a:solidFill>
                <a:latin typeface="Arial" panose="020B0604020202020204" pitchFamily="34" charset="0"/>
                <a:cs typeface="Arial" panose="020B0604020202020204" pitchFamily="34" charset="0"/>
              </a:defRPr>
            </a:lvl3pPr>
            <a:lvl4pPr>
              <a:defRPr>
                <a:solidFill>
                  <a:schemeClr val="accent1">
                    <a:lumMod val="75000"/>
                  </a:schemeClr>
                </a:solidFill>
                <a:latin typeface="Arial" panose="020B0604020202020204" pitchFamily="34" charset="0"/>
                <a:cs typeface="Arial" panose="020B0604020202020204" pitchFamily="34" charset="0"/>
              </a:defRPr>
            </a:lvl4pPr>
            <a:lvl5pPr>
              <a:defRPr>
                <a:solidFill>
                  <a:schemeClr val="accent1">
                    <a:lumMod val="75000"/>
                  </a:schemeClr>
                </a:solidFill>
                <a:latin typeface="Arial" panose="020B0604020202020204" pitchFamily="34" charset="0"/>
                <a:cs typeface="Arial" panose="020B0604020202020204" pitchFamily="34" charset="0"/>
              </a:defRPr>
            </a:lvl5pPr>
          </a:lstStyle>
          <a:p>
            <a:pPr lvl="0"/>
            <a:r>
              <a:rPr lang="en-US"/>
              <a:t>Content Here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4301E-F966-7C12-6F91-9890B2ADA695}"/>
              </a:ext>
            </a:extLst>
          </p:cNvPr>
          <p:cNvSpPr>
            <a:spLocks noGrp="1"/>
          </p:cNvSpPr>
          <p:nvPr>
            <p:ph type="dt" sz="half" idx="10"/>
          </p:nvPr>
        </p:nvSpPr>
        <p:spPr>
          <a:xfrm>
            <a:off x="838199" y="6356350"/>
            <a:ext cx="6496251" cy="365125"/>
          </a:xfrm>
        </p:spPr>
        <p:txBody>
          <a:bodyPr/>
          <a:lstStyle>
            <a:lvl1pPr>
              <a:defRPr>
                <a:solidFill>
                  <a:schemeClr val="accent1">
                    <a:lumMod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55B0E6A6-2064-40D0-F432-F19CE8676D37}"/>
              </a:ext>
            </a:extLst>
          </p:cNvPr>
          <p:cNvSpPr>
            <a:spLocks noGrp="1"/>
          </p:cNvSpPr>
          <p:nvPr>
            <p:ph type="sldNum" sz="quarter" idx="12"/>
          </p:nvPr>
        </p:nvSpPr>
        <p:spPr/>
        <p:txBody>
          <a:bodyPr/>
          <a:lstStyle>
            <a:lvl1pPr>
              <a:defRPr>
                <a:solidFill>
                  <a:schemeClr val="accent1">
                    <a:lumMod val="75000"/>
                  </a:schemeClr>
                </a:solidFill>
              </a:defRPr>
            </a:lvl1pPr>
          </a:lstStyle>
          <a:p>
            <a:fld id="{A070A489-3A69-A542-8CBF-69A14DF4633A}" type="slidenum">
              <a:rPr lang="en-US" smtClean="0"/>
              <a:pPr/>
              <a:t>‹#›</a:t>
            </a:fld>
            <a:endParaRPr lang="en-US"/>
          </a:p>
        </p:txBody>
      </p:sp>
      <p:sp>
        <p:nvSpPr>
          <p:cNvPr id="7" name="Freeform 5">
            <a:extLst>
              <a:ext uri="{FF2B5EF4-FFF2-40B4-BE49-F238E27FC236}">
                <a16:creationId xmlns:a16="http://schemas.microsoft.com/office/drawing/2014/main" id="{D543828D-1C57-47CD-71D6-DCDD0B47004B}"/>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32564249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Transition Slide">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8D68B-9D38-D375-0E0B-E71B45CF29B7}"/>
              </a:ext>
            </a:extLst>
          </p:cNvPr>
          <p:cNvSpPr>
            <a:spLocks noGrp="1"/>
          </p:cNvSpPr>
          <p:nvPr>
            <p:ph type="title" hasCustomPrompt="1"/>
          </p:nvPr>
        </p:nvSpPr>
        <p:spPr>
          <a:xfrm>
            <a:off x="838200" y="2002630"/>
            <a:ext cx="10515600" cy="2852737"/>
          </a:xfrm>
        </p:spPr>
        <p:txBody>
          <a:bodyPr anchor="ctr"/>
          <a:lstStyle>
            <a:lvl1pPr>
              <a:defRPr sz="6000">
                <a:solidFill>
                  <a:schemeClr val="bg1"/>
                </a:solidFill>
                <a:latin typeface="Arial" panose="020B0604020202020204" pitchFamily="34" charset="0"/>
                <a:cs typeface="Arial" panose="020B0604020202020204" pitchFamily="34" charset="0"/>
              </a:defRPr>
            </a:lvl1pPr>
          </a:lstStyle>
          <a:p>
            <a:r>
              <a:rPr lang="en-US"/>
              <a:t>Separator Slide</a:t>
            </a:r>
          </a:p>
        </p:txBody>
      </p:sp>
      <p:sp>
        <p:nvSpPr>
          <p:cNvPr id="4" name="Date Placeholder 3">
            <a:extLst>
              <a:ext uri="{FF2B5EF4-FFF2-40B4-BE49-F238E27FC236}">
                <a16:creationId xmlns:a16="http://schemas.microsoft.com/office/drawing/2014/main" id="{F27AA4C5-586B-46CD-F4E4-A44AA15915A2}"/>
              </a:ext>
            </a:extLst>
          </p:cNvPr>
          <p:cNvSpPr>
            <a:spLocks noGrp="1"/>
          </p:cNvSpPr>
          <p:nvPr>
            <p:ph type="dt" sz="half" idx="10"/>
          </p:nvPr>
        </p:nvSpPr>
        <p:spPr>
          <a:xfrm>
            <a:off x="838199" y="6356350"/>
            <a:ext cx="6218583" cy="365125"/>
          </a:xfrm>
        </p:spPr>
        <p:txBody>
          <a:bodyPr/>
          <a:lstStyle>
            <a:lvl1pPr>
              <a:defRPr>
                <a:solidFill>
                  <a:schemeClr val="bg1"/>
                </a:solidFill>
              </a:defRPr>
            </a:lvl1pPr>
          </a:lstStyle>
          <a:p>
            <a:r>
              <a:rPr lang="en-US"/>
              <a:t>Presentation Title</a:t>
            </a:r>
          </a:p>
        </p:txBody>
      </p:sp>
      <p:sp>
        <p:nvSpPr>
          <p:cNvPr id="6" name="Slide Number Placeholder 5">
            <a:extLst>
              <a:ext uri="{FF2B5EF4-FFF2-40B4-BE49-F238E27FC236}">
                <a16:creationId xmlns:a16="http://schemas.microsoft.com/office/drawing/2014/main" id="{D1021D76-F7F7-44F4-0928-16192EA5B4A8}"/>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7" name="Freeform 5">
            <a:extLst>
              <a:ext uri="{FF2B5EF4-FFF2-40B4-BE49-F238E27FC236}">
                <a16:creationId xmlns:a16="http://schemas.microsoft.com/office/drawing/2014/main" id="{7EDF8654-4A5A-410F-70D5-0CB8DD014DC0}"/>
              </a:ext>
            </a:extLst>
          </p:cNvPr>
          <p:cNvSpPr/>
          <p:nvPr userDrawn="1"/>
        </p:nvSpPr>
        <p:spPr>
          <a:xfrm>
            <a:off x="418641" y="2002631"/>
            <a:ext cx="234787" cy="2852737"/>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Tree>
    <p:extLst>
      <p:ext uri="{BB962C8B-B14F-4D97-AF65-F5344CB8AC3E}">
        <p14:creationId xmlns:p14="http://schemas.microsoft.com/office/powerpoint/2010/main" val="3743816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Content Slide 2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FCE64-907E-2DFA-F136-C1E5CDCA1741}"/>
              </a:ext>
            </a:extLst>
          </p:cNvPr>
          <p:cNvSpPr>
            <a:spLocks noGrp="1"/>
          </p:cNvSpPr>
          <p:nvPr>
            <p:ph type="title"/>
          </p:nvPr>
        </p:nvSpPr>
        <p:spPr/>
        <p:txBody>
          <a:bodyPr/>
          <a:lstStyle>
            <a:lvl1pPr>
              <a:defRPr>
                <a:solidFill>
                  <a:schemeClr val="accent2">
                    <a:lumMod val="90000"/>
                    <a:lumOff val="10000"/>
                  </a:schemeClr>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C20894C-98E2-34B4-5B80-C191EDBE744D}"/>
              </a:ext>
            </a:extLst>
          </p:cNvPr>
          <p:cNvSpPr>
            <a:spLocks noGrp="1"/>
          </p:cNvSpPr>
          <p:nvPr>
            <p:ph sz="half" idx="1"/>
          </p:nvPr>
        </p:nvSpPr>
        <p:spPr>
          <a:xfrm>
            <a:off x="838200" y="1825625"/>
            <a:ext cx="5181600" cy="4351338"/>
          </a:xfrm>
        </p:spPr>
        <p:txBody>
          <a:bodyPr/>
          <a:lstStyle>
            <a:lvl1pPr>
              <a:defRPr>
                <a:solidFill>
                  <a:schemeClr val="accent2">
                    <a:lumMod val="90000"/>
                    <a:lumOff val="10000"/>
                  </a:schemeClr>
                </a:solidFill>
                <a:latin typeface="Arial" panose="020B0604020202020204" pitchFamily="34" charset="0"/>
                <a:cs typeface="Arial" panose="020B0604020202020204" pitchFamily="34" charset="0"/>
              </a:defRPr>
            </a:lvl1pPr>
            <a:lvl2pPr>
              <a:defRPr>
                <a:solidFill>
                  <a:schemeClr val="accent2">
                    <a:lumMod val="90000"/>
                    <a:lumOff val="10000"/>
                  </a:schemeClr>
                </a:solidFill>
                <a:latin typeface="Arial" panose="020B0604020202020204" pitchFamily="34" charset="0"/>
                <a:cs typeface="Arial" panose="020B0604020202020204" pitchFamily="34" charset="0"/>
              </a:defRPr>
            </a:lvl2pPr>
            <a:lvl3pPr>
              <a:defRPr>
                <a:solidFill>
                  <a:schemeClr val="accent2">
                    <a:lumMod val="90000"/>
                    <a:lumOff val="10000"/>
                  </a:schemeClr>
                </a:solidFill>
                <a:latin typeface="Arial" panose="020B0604020202020204" pitchFamily="34" charset="0"/>
                <a:cs typeface="Arial" panose="020B0604020202020204" pitchFamily="34" charset="0"/>
              </a:defRPr>
            </a:lvl3pPr>
            <a:lvl4pPr>
              <a:defRPr>
                <a:solidFill>
                  <a:schemeClr val="accent2">
                    <a:lumMod val="90000"/>
                    <a:lumOff val="10000"/>
                  </a:schemeClr>
                </a:solidFill>
                <a:latin typeface="Arial" panose="020B0604020202020204" pitchFamily="34" charset="0"/>
                <a:cs typeface="Arial" panose="020B0604020202020204" pitchFamily="34" charset="0"/>
              </a:defRPr>
            </a:lvl4pPr>
            <a:lvl5pPr>
              <a:defRPr>
                <a:solidFill>
                  <a:schemeClr val="accent2">
                    <a:lumMod val="90000"/>
                    <a:lumOff val="10000"/>
                  </a:schemeClr>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AEF8B9-305F-D62C-1E11-AD8FA8B98E95}"/>
              </a:ext>
            </a:extLst>
          </p:cNvPr>
          <p:cNvSpPr>
            <a:spLocks noGrp="1"/>
          </p:cNvSpPr>
          <p:nvPr>
            <p:ph sz="half" idx="2"/>
          </p:nvPr>
        </p:nvSpPr>
        <p:spPr>
          <a:xfrm>
            <a:off x="6172200" y="1825625"/>
            <a:ext cx="5181600" cy="4351338"/>
          </a:xfrm>
        </p:spPr>
        <p:txBody>
          <a:bodyPr/>
          <a:lstStyle>
            <a:lvl1pPr>
              <a:defRPr>
                <a:solidFill>
                  <a:schemeClr val="accent2">
                    <a:lumMod val="90000"/>
                    <a:lumOff val="10000"/>
                  </a:schemeClr>
                </a:solidFill>
                <a:latin typeface="Arial" panose="020B0604020202020204" pitchFamily="34" charset="0"/>
                <a:cs typeface="Arial" panose="020B0604020202020204" pitchFamily="34" charset="0"/>
              </a:defRPr>
            </a:lvl1pPr>
            <a:lvl2pPr>
              <a:defRPr>
                <a:solidFill>
                  <a:schemeClr val="accent2">
                    <a:lumMod val="90000"/>
                    <a:lumOff val="10000"/>
                  </a:schemeClr>
                </a:solidFill>
                <a:latin typeface="Arial" panose="020B0604020202020204" pitchFamily="34" charset="0"/>
                <a:cs typeface="Arial" panose="020B0604020202020204" pitchFamily="34" charset="0"/>
              </a:defRPr>
            </a:lvl2pPr>
            <a:lvl3pPr>
              <a:defRPr>
                <a:solidFill>
                  <a:schemeClr val="accent2">
                    <a:lumMod val="90000"/>
                    <a:lumOff val="10000"/>
                  </a:schemeClr>
                </a:solidFill>
                <a:latin typeface="Arial" panose="020B0604020202020204" pitchFamily="34" charset="0"/>
                <a:cs typeface="Arial" panose="020B0604020202020204" pitchFamily="34" charset="0"/>
              </a:defRPr>
            </a:lvl3pPr>
            <a:lvl4pPr>
              <a:defRPr>
                <a:solidFill>
                  <a:schemeClr val="accent2">
                    <a:lumMod val="90000"/>
                    <a:lumOff val="10000"/>
                  </a:schemeClr>
                </a:solidFill>
                <a:latin typeface="Arial" panose="020B0604020202020204" pitchFamily="34" charset="0"/>
                <a:cs typeface="Arial" panose="020B0604020202020204" pitchFamily="34" charset="0"/>
              </a:defRPr>
            </a:lvl4pPr>
            <a:lvl5pPr>
              <a:defRPr>
                <a:solidFill>
                  <a:schemeClr val="accent2">
                    <a:lumMod val="90000"/>
                    <a:lumOff val="10000"/>
                  </a:schemeClr>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B04DC9-7F3E-7532-D80E-543143058BA2}"/>
              </a:ext>
            </a:extLst>
          </p:cNvPr>
          <p:cNvSpPr>
            <a:spLocks noGrp="1"/>
          </p:cNvSpPr>
          <p:nvPr>
            <p:ph type="dt" sz="half" idx="10"/>
          </p:nvPr>
        </p:nvSpPr>
        <p:spPr>
          <a:xfrm>
            <a:off x="838199" y="6356350"/>
            <a:ext cx="6589295" cy="365125"/>
          </a:xfrm>
        </p:spPr>
        <p:txBody>
          <a:bodyPr/>
          <a:lstStyle>
            <a:lvl1pPr>
              <a:defRPr>
                <a:solidFill>
                  <a:schemeClr val="accent2">
                    <a:lumMod val="90000"/>
                    <a:lumOff val="10000"/>
                  </a:schemeClr>
                </a:solidFill>
              </a:defRPr>
            </a:lvl1pPr>
          </a:lstStyle>
          <a:p>
            <a:r>
              <a:rPr lang="en-US"/>
              <a:t>Presentation Title</a:t>
            </a:r>
          </a:p>
        </p:txBody>
      </p:sp>
      <p:sp>
        <p:nvSpPr>
          <p:cNvPr id="7" name="Slide Number Placeholder 6">
            <a:extLst>
              <a:ext uri="{FF2B5EF4-FFF2-40B4-BE49-F238E27FC236}">
                <a16:creationId xmlns:a16="http://schemas.microsoft.com/office/drawing/2014/main" id="{A189F5E3-F3CF-1106-B32E-82CAC701C4F3}"/>
              </a:ext>
            </a:extLst>
          </p:cNvPr>
          <p:cNvSpPr>
            <a:spLocks noGrp="1"/>
          </p:cNvSpPr>
          <p:nvPr>
            <p:ph type="sldNum" sz="quarter" idx="12"/>
          </p:nvPr>
        </p:nvSpPr>
        <p:spPr/>
        <p:txBody>
          <a:bodyPr/>
          <a:lstStyle>
            <a:lvl1pPr>
              <a:defRPr>
                <a:solidFill>
                  <a:schemeClr val="accent2">
                    <a:lumMod val="90000"/>
                    <a:lumOff val="10000"/>
                  </a:schemeClr>
                </a:solidFill>
              </a:defRPr>
            </a:lvl1pPr>
          </a:lstStyle>
          <a:p>
            <a:fld id="{A070A489-3A69-A542-8CBF-69A14DF4633A}" type="slidenum">
              <a:rPr lang="en-US" smtClean="0"/>
              <a:pPr/>
              <a:t>‹#›</a:t>
            </a:fld>
            <a:endParaRPr lang="en-US"/>
          </a:p>
        </p:txBody>
      </p:sp>
      <p:sp>
        <p:nvSpPr>
          <p:cNvPr id="8" name="Freeform 5">
            <a:extLst>
              <a:ext uri="{FF2B5EF4-FFF2-40B4-BE49-F238E27FC236}">
                <a16:creationId xmlns:a16="http://schemas.microsoft.com/office/drawing/2014/main" id="{50033CA9-4BE9-FDD0-037D-C73A3E682E15}"/>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8604315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ntent Comparsio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25E47-28A2-4DE1-91DD-68A71DB53FB5}"/>
              </a:ext>
            </a:extLst>
          </p:cNvPr>
          <p:cNvSpPr>
            <a:spLocks noGrp="1"/>
          </p:cNvSpPr>
          <p:nvPr>
            <p:ph type="title" hasCustomPrompt="1"/>
          </p:nvPr>
        </p:nvSpPr>
        <p:spPr>
          <a:xfrm>
            <a:off x="839788" y="365125"/>
            <a:ext cx="10515600" cy="1325563"/>
          </a:xfrm>
        </p:spPr>
        <p:txBody>
          <a:bodyPr/>
          <a:lstStyle>
            <a:lvl1pPr>
              <a:defRPr>
                <a:solidFill>
                  <a:schemeClr val="accent2">
                    <a:lumMod val="90000"/>
                    <a:lumOff val="10000"/>
                  </a:schemeClr>
                </a:solidFill>
                <a:latin typeface="Arial" panose="020B0604020202020204" pitchFamily="34" charset="0"/>
                <a:cs typeface="Arial" panose="020B0604020202020204" pitchFamily="34" charset="0"/>
              </a:defRPr>
            </a:lvl1pPr>
          </a:lstStyle>
          <a:p>
            <a:r>
              <a:rPr lang="en-US"/>
              <a:t>Header Here</a:t>
            </a:r>
          </a:p>
        </p:txBody>
      </p:sp>
      <p:sp>
        <p:nvSpPr>
          <p:cNvPr id="3" name="Text Placeholder 2">
            <a:extLst>
              <a:ext uri="{FF2B5EF4-FFF2-40B4-BE49-F238E27FC236}">
                <a16:creationId xmlns:a16="http://schemas.microsoft.com/office/drawing/2014/main" id="{DC4642E3-70CD-6249-58A9-1483B2D1E24A}"/>
              </a:ext>
            </a:extLst>
          </p:cNvPr>
          <p:cNvSpPr>
            <a:spLocks noGrp="1"/>
          </p:cNvSpPr>
          <p:nvPr>
            <p:ph type="body" idx="1" hasCustomPrompt="1"/>
          </p:nvPr>
        </p:nvSpPr>
        <p:spPr>
          <a:xfrm>
            <a:off x="839788" y="1681163"/>
            <a:ext cx="5157787" cy="823912"/>
          </a:xfrm>
        </p:spPr>
        <p:txBody>
          <a:bodyPr anchor="b"/>
          <a:lstStyle>
            <a:lvl1pPr marL="0" indent="0">
              <a:buNone/>
              <a:defRPr sz="2400" b="1">
                <a:solidFill>
                  <a:schemeClr val="accent2">
                    <a:lumMod val="90000"/>
                    <a:lumOff val="10000"/>
                  </a:schemeClr>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4" name="Content Placeholder 3">
            <a:extLst>
              <a:ext uri="{FF2B5EF4-FFF2-40B4-BE49-F238E27FC236}">
                <a16:creationId xmlns:a16="http://schemas.microsoft.com/office/drawing/2014/main" id="{63241965-2B63-7326-2D37-A044736B0D74}"/>
              </a:ext>
            </a:extLst>
          </p:cNvPr>
          <p:cNvSpPr>
            <a:spLocks noGrp="1"/>
          </p:cNvSpPr>
          <p:nvPr>
            <p:ph sz="half" idx="2"/>
          </p:nvPr>
        </p:nvSpPr>
        <p:spPr>
          <a:xfrm>
            <a:off x="839788" y="2505075"/>
            <a:ext cx="5157787" cy="3684588"/>
          </a:xfrm>
        </p:spPr>
        <p:txBody>
          <a:bodyPr/>
          <a:lstStyle>
            <a:lvl1pPr>
              <a:defRPr sz="2400">
                <a:solidFill>
                  <a:schemeClr val="accent2">
                    <a:lumMod val="90000"/>
                    <a:lumOff val="10000"/>
                  </a:schemeClr>
                </a:solidFill>
                <a:latin typeface="Arial" panose="020B0604020202020204" pitchFamily="34" charset="0"/>
                <a:cs typeface="Arial" panose="020B0604020202020204" pitchFamily="34" charset="0"/>
              </a:defRPr>
            </a:lvl1pPr>
            <a:lvl2pPr>
              <a:defRPr>
                <a:solidFill>
                  <a:schemeClr val="accent2">
                    <a:lumMod val="90000"/>
                    <a:lumOff val="10000"/>
                  </a:schemeClr>
                </a:solidFill>
                <a:latin typeface="Arial" panose="020B0604020202020204" pitchFamily="34" charset="0"/>
                <a:cs typeface="Arial" panose="020B0604020202020204" pitchFamily="34" charset="0"/>
              </a:defRPr>
            </a:lvl2pPr>
            <a:lvl3pPr>
              <a:defRPr>
                <a:solidFill>
                  <a:schemeClr val="accent2">
                    <a:lumMod val="90000"/>
                    <a:lumOff val="10000"/>
                  </a:schemeClr>
                </a:solidFill>
                <a:latin typeface="Arial" panose="020B0604020202020204" pitchFamily="34" charset="0"/>
                <a:cs typeface="Arial" panose="020B0604020202020204" pitchFamily="34" charset="0"/>
              </a:defRPr>
            </a:lvl3pPr>
            <a:lvl4pPr>
              <a:defRPr>
                <a:solidFill>
                  <a:schemeClr val="accent2">
                    <a:lumMod val="90000"/>
                    <a:lumOff val="10000"/>
                  </a:schemeClr>
                </a:solidFill>
                <a:latin typeface="Arial" panose="020B0604020202020204" pitchFamily="34" charset="0"/>
                <a:cs typeface="Arial" panose="020B0604020202020204" pitchFamily="34" charset="0"/>
              </a:defRPr>
            </a:lvl4pPr>
            <a:lvl5pPr>
              <a:defRPr>
                <a:solidFill>
                  <a:schemeClr val="accent2">
                    <a:lumMod val="90000"/>
                    <a:lumOff val="10000"/>
                  </a:schemeClr>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EFF09C-0629-E8E5-B98C-DDF722B4A9A4}"/>
              </a:ext>
            </a:extLst>
          </p:cNvPr>
          <p:cNvSpPr>
            <a:spLocks noGrp="1"/>
          </p:cNvSpPr>
          <p:nvPr>
            <p:ph type="body" sz="quarter" idx="3" hasCustomPrompt="1"/>
          </p:nvPr>
        </p:nvSpPr>
        <p:spPr>
          <a:xfrm>
            <a:off x="6172200" y="1681163"/>
            <a:ext cx="5183188" cy="823912"/>
          </a:xfrm>
        </p:spPr>
        <p:txBody>
          <a:bodyPr anchor="b"/>
          <a:lstStyle>
            <a:lvl1pPr marL="0" indent="0">
              <a:buNone/>
              <a:defRPr sz="2400" b="1">
                <a:solidFill>
                  <a:schemeClr val="accent2">
                    <a:lumMod val="90000"/>
                    <a:lumOff val="10000"/>
                  </a:schemeClr>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6" name="Content Placeholder 5">
            <a:extLst>
              <a:ext uri="{FF2B5EF4-FFF2-40B4-BE49-F238E27FC236}">
                <a16:creationId xmlns:a16="http://schemas.microsoft.com/office/drawing/2014/main" id="{743007F4-CD3B-4E37-791D-3B5449C5B0F7}"/>
              </a:ext>
            </a:extLst>
          </p:cNvPr>
          <p:cNvSpPr>
            <a:spLocks noGrp="1"/>
          </p:cNvSpPr>
          <p:nvPr>
            <p:ph sz="quarter" idx="4"/>
          </p:nvPr>
        </p:nvSpPr>
        <p:spPr>
          <a:xfrm>
            <a:off x="6172200" y="2505075"/>
            <a:ext cx="5183188" cy="3684588"/>
          </a:xfrm>
        </p:spPr>
        <p:txBody>
          <a:bodyPr/>
          <a:lstStyle>
            <a:lvl1pPr>
              <a:defRPr sz="2400">
                <a:solidFill>
                  <a:schemeClr val="accent2">
                    <a:lumMod val="90000"/>
                    <a:lumOff val="10000"/>
                  </a:schemeClr>
                </a:solidFill>
                <a:latin typeface="Arial" panose="020B0604020202020204" pitchFamily="34" charset="0"/>
                <a:cs typeface="Arial" panose="020B0604020202020204" pitchFamily="34" charset="0"/>
              </a:defRPr>
            </a:lvl1pPr>
            <a:lvl2pPr>
              <a:defRPr>
                <a:solidFill>
                  <a:schemeClr val="accent2">
                    <a:lumMod val="90000"/>
                    <a:lumOff val="10000"/>
                  </a:schemeClr>
                </a:solidFill>
                <a:latin typeface="Arial" panose="020B0604020202020204" pitchFamily="34" charset="0"/>
                <a:cs typeface="Arial" panose="020B0604020202020204" pitchFamily="34" charset="0"/>
              </a:defRPr>
            </a:lvl2pPr>
            <a:lvl3pPr>
              <a:defRPr>
                <a:solidFill>
                  <a:schemeClr val="accent2">
                    <a:lumMod val="90000"/>
                    <a:lumOff val="10000"/>
                  </a:schemeClr>
                </a:solidFill>
                <a:latin typeface="Arial" panose="020B0604020202020204" pitchFamily="34" charset="0"/>
                <a:cs typeface="Arial" panose="020B0604020202020204" pitchFamily="34" charset="0"/>
              </a:defRPr>
            </a:lvl3pPr>
            <a:lvl4pPr>
              <a:defRPr>
                <a:solidFill>
                  <a:schemeClr val="accent2">
                    <a:lumMod val="90000"/>
                    <a:lumOff val="10000"/>
                  </a:schemeClr>
                </a:solidFill>
                <a:latin typeface="Arial" panose="020B0604020202020204" pitchFamily="34" charset="0"/>
                <a:cs typeface="Arial" panose="020B0604020202020204" pitchFamily="34" charset="0"/>
              </a:defRPr>
            </a:lvl4pPr>
            <a:lvl5pPr>
              <a:defRPr>
                <a:solidFill>
                  <a:schemeClr val="accent2">
                    <a:lumMod val="90000"/>
                    <a:lumOff val="10000"/>
                  </a:schemeClr>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9335F6-EA20-37E5-0F8F-006B8D0DB62F}"/>
              </a:ext>
            </a:extLst>
          </p:cNvPr>
          <p:cNvSpPr>
            <a:spLocks noGrp="1"/>
          </p:cNvSpPr>
          <p:nvPr>
            <p:ph type="dt" sz="half" idx="10"/>
          </p:nvPr>
        </p:nvSpPr>
        <p:spPr>
          <a:xfrm>
            <a:off x="838199" y="6356350"/>
            <a:ext cx="6332621" cy="365125"/>
          </a:xfrm>
        </p:spPr>
        <p:txBody>
          <a:bodyPr/>
          <a:lstStyle>
            <a:lvl1pPr>
              <a:defRPr>
                <a:solidFill>
                  <a:schemeClr val="accent2">
                    <a:lumMod val="90000"/>
                    <a:lumOff val="10000"/>
                  </a:schemeClr>
                </a:solidFill>
              </a:defRPr>
            </a:lvl1pPr>
          </a:lstStyle>
          <a:p>
            <a:r>
              <a:rPr lang="en-US"/>
              <a:t>Presentation Title </a:t>
            </a:r>
          </a:p>
        </p:txBody>
      </p:sp>
      <p:sp>
        <p:nvSpPr>
          <p:cNvPr id="9" name="Slide Number Placeholder 8">
            <a:extLst>
              <a:ext uri="{FF2B5EF4-FFF2-40B4-BE49-F238E27FC236}">
                <a16:creationId xmlns:a16="http://schemas.microsoft.com/office/drawing/2014/main" id="{54EB4896-C432-D26C-F220-63E926D8E001}"/>
              </a:ext>
            </a:extLst>
          </p:cNvPr>
          <p:cNvSpPr>
            <a:spLocks noGrp="1"/>
          </p:cNvSpPr>
          <p:nvPr>
            <p:ph type="sldNum" sz="quarter" idx="12"/>
          </p:nvPr>
        </p:nvSpPr>
        <p:spPr/>
        <p:txBody>
          <a:bodyPr/>
          <a:lstStyle>
            <a:lvl1pPr>
              <a:defRPr>
                <a:solidFill>
                  <a:schemeClr val="accent2">
                    <a:lumMod val="90000"/>
                    <a:lumOff val="10000"/>
                  </a:schemeClr>
                </a:solidFill>
              </a:defRPr>
            </a:lvl1pPr>
          </a:lstStyle>
          <a:p>
            <a:fld id="{A070A489-3A69-A542-8CBF-69A14DF4633A}" type="slidenum">
              <a:rPr lang="en-US" smtClean="0"/>
              <a:pPr/>
              <a:t>‹#›</a:t>
            </a:fld>
            <a:endParaRPr lang="en-US"/>
          </a:p>
        </p:txBody>
      </p:sp>
      <p:sp>
        <p:nvSpPr>
          <p:cNvPr id="10" name="Freeform 5">
            <a:extLst>
              <a:ext uri="{FF2B5EF4-FFF2-40B4-BE49-F238E27FC236}">
                <a16:creationId xmlns:a16="http://schemas.microsoft.com/office/drawing/2014/main" id="{BC735769-813A-3295-ED20-E1F9D4AD47C0}"/>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42070811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ntent Comparsion ">
    <p:spTree>
      <p:nvGrpSpPr>
        <p:cNvPr id="1" name=""/>
        <p:cNvGrpSpPr/>
        <p:nvPr/>
      </p:nvGrpSpPr>
      <p:grpSpPr>
        <a:xfrm>
          <a:off x="0" y="0"/>
          <a:ext cx="0" cy="0"/>
          <a:chOff x="0" y="0"/>
          <a:chExt cx="0" cy="0"/>
        </a:xfrm>
      </p:grpSpPr>
      <p:grpSp>
        <p:nvGrpSpPr>
          <p:cNvPr id="8" name="Group 3">
            <a:extLst>
              <a:ext uri="{FF2B5EF4-FFF2-40B4-BE49-F238E27FC236}">
                <a16:creationId xmlns:a16="http://schemas.microsoft.com/office/drawing/2014/main" id="{A39AC746-0F8C-8731-3C35-4469604CC322}"/>
              </a:ext>
            </a:extLst>
          </p:cNvPr>
          <p:cNvGrpSpPr/>
          <p:nvPr userDrawn="1"/>
        </p:nvGrpSpPr>
        <p:grpSpPr>
          <a:xfrm>
            <a:off x="0" y="0"/>
            <a:ext cx="8021053" cy="6858000"/>
            <a:chOff x="0" y="0"/>
            <a:chExt cx="3694747" cy="2709333"/>
          </a:xfrm>
        </p:grpSpPr>
        <p:sp>
          <p:nvSpPr>
            <p:cNvPr id="11" name="Freeform 4">
              <a:extLst>
                <a:ext uri="{FF2B5EF4-FFF2-40B4-BE49-F238E27FC236}">
                  <a16:creationId xmlns:a16="http://schemas.microsoft.com/office/drawing/2014/main" id="{7BE17A93-7FBF-2E2F-8B58-82E731C41C76}"/>
                </a:ext>
              </a:extLst>
            </p:cNvPr>
            <p:cNvSpPr/>
            <p:nvPr/>
          </p:nvSpPr>
          <p:spPr>
            <a:xfrm>
              <a:off x="0" y="0"/>
              <a:ext cx="3694747" cy="2709333"/>
            </a:xfrm>
            <a:custGeom>
              <a:avLst/>
              <a:gdLst/>
              <a:ahLst/>
              <a:cxnLst/>
              <a:rect l="l" t="t" r="r" b="b"/>
              <a:pathLst>
                <a:path w="3694747" h="2709333">
                  <a:moveTo>
                    <a:pt x="0" y="0"/>
                  </a:moveTo>
                  <a:lnTo>
                    <a:pt x="3694747" y="0"/>
                  </a:lnTo>
                  <a:lnTo>
                    <a:pt x="3694747" y="2709333"/>
                  </a:lnTo>
                  <a:lnTo>
                    <a:pt x="0" y="2709333"/>
                  </a:lnTo>
                  <a:close/>
                </a:path>
              </a:pathLst>
            </a:custGeom>
            <a:gradFill rotWithShape="1">
              <a:gsLst>
                <a:gs pos="0">
                  <a:srgbClr val="1C60A4">
                    <a:alpha val="100000"/>
                  </a:srgbClr>
                </a:gs>
                <a:gs pos="100000">
                  <a:srgbClr val="062552">
                    <a:alpha val="100000"/>
                  </a:srgbClr>
                </a:gs>
              </a:gsLst>
              <a:lin ang="2700000"/>
            </a:gradFill>
          </p:spPr>
          <p:txBody>
            <a:bodyPr/>
            <a:lstStyle/>
            <a:p>
              <a:endParaRPr lang="en-JM"/>
            </a:p>
          </p:txBody>
        </p:sp>
        <p:sp>
          <p:nvSpPr>
            <p:cNvPr id="12" name="TextBox 5">
              <a:extLst>
                <a:ext uri="{FF2B5EF4-FFF2-40B4-BE49-F238E27FC236}">
                  <a16:creationId xmlns:a16="http://schemas.microsoft.com/office/drawing/2014/main" id="{4F536023-7B7E-5E02-7BDB-8029957D9838}"/>
                </a:ext>
              </a:extLst>
            </p:cNvPr>
            <p:cNvSpPr txBox="1"/>
            <p:nvPr/>
          </p:nvSpPr>
          <p:spPr>
            <a:xfrm>
              <a:off x="0" y="-38100"/>
              <a:ext cx="3694747" cy="2747433"/>
            </a:xfrm>
            <a:prstGeom prst="rect">
              <a:avLst/>
            </a:prstGeom>
          </p:spPr>
          <p:txBody>
            <a:bodyPr lIns="50800" tIns="50800" rIns="50800" bIns="50800" rtlCol="0" anchor="ctr"/>
            <a:lstStyle/>
            <a:p>
              <a:pPr algn="ctr">
                <a:lnSpc>
                  <a:spcPts val="2940"/>
                </a:lnSpc>
              </a:pPr>
              <a:endParaRPr/>
            </a:p>
          </p:txBody>
        </p:sp>
      </p:grpSp>
      <p:sp>
        <p:nvSpPr>
          <p:cNvPr id="2" name="Title 1">
            <a:extLst>
              <a:ext uri="{FF2B5EF4-FFF2-40B4-BE49-F238E27FC236}">
                <a16:creationId xmlns:a16="http://schemas.microsoft.com/office/drawing/2014/main" id="{70225E47-28A2-4DE1-91DD-68A71DB53FB5}"/>
              </a:ext>
            </a:extLst>
          </p:cNvPr>
          <p:cNvSpPr>
            <a:spLocks noGrp="1"/>
          </p:cNvSpPr>
          <p:nvPr>
            <p:ph type="title" hasCustomPrompt="1"/>
          </p:nvPr>
        </p:nvSpPr>
        <p:spPr>
          <a:xfrm>
            <a:off x="839788" y="365125"/>
            <a:ext cx="10515600" cy="1325563"/>
          </a:xfrm>
        </p:spPr>
        <p:txBody>
          <a:bodyPr/>
          <a:lstStyle>
            <a:lvl1pPr>
              <a:defRPr>
                <a:solidFill>
                  <a:schemeClr val="bg1"/>
                </a:solidFill>
                <a:latin typeface="Arial" panose="020B0604020202020204" pitchFamily="34" charset="0"/>
                <a:cs typeface="Arial" panose="020B0604020202020204" pitchFamily="34" charset="0"/>
              </a:defRPr>
            </a:lvl1pPr>
          </a:lstStyle>
          <a:p>
            <a:r>
              <a:rPr lang="en-US"/>
              <a:t>Header Here</a:t>
            </a:r>
          </a:p>
        </p:txBody>
      </p:sp>
      <p:sp>
        <p:nvSpPr>
          <p:cNvPr id="3" name="Text Placeholder 2">
            <a:extLst>
              <a:ext uri="{FF2B5EF4-FFF2-40B4-BE49-F238E27FC236}">
                <a16:creationId xmlns:a16="http://schemas.microsoft.com/office/drawing/2014/main" id="{DC4642E3-70CD-6249-58A9-1483B2D1E24A}"/>
              </a:ext>
            </a:extLst>
          </p:cNvPr>
          <p:cNvSpPr>
            <a:spLocks noGrp="1"/>
          </p:cNvSpPr>
          <p:nvPr>
            <p:ph type="body" idx="1" hasCustomPrompt="1"/>
          </p:nvPr>
        </p:nvSpPr>
        <p:spPr>
          <a:xfrm>
            <a:off x="839788" y="1681163"/>
            <a:ext cx="5157787" cy="823912"/>
          </a:xfrm>
        </p:spPr>
        <p:txBody>
          <a:bodyPr anchor="b"/>
          <a:lstStyle>
            <a:lvl1pPr marL="0" indent="0">
              <a:buNone/>
              <a:defRPr sz="2400" b="1">
                <a:solidFill>
                  <a:schemeClr val="bg1"/>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Content Subhead</a:t>
            </a:r>
          </a:p>
        </p:txBody>
      </p:sp>
      <p:sp>
        <p:nvSpPr>
          <p:cNvPr id="4" name="Content Placeholder 3">
            <a:extLst>
              <a:ext uri="{FF2B5EF4-FFF2-40B4-BE49-F238E27FC236}">
                <a16:creationId xmlns:a16="http://schemas.microsoft.com/office/drawing/2014/main" id="{63241965-2B63-7326-2D37-A044736B0D74}"/>
              </a:ext>
            </a:extLst>
          </p:cNvPr>
          <p:cNvSpPr>
            <a:spLocks noGrp="1"/>
          </p:cNvSpPr>
          <p:nvPr>
            <p:ph sz="half" idx="2"/>
          </p:nvPr>
        </p:nvSpPr>
        <p:spPr>
          <a:xfrm>
            <a:off x="839788" y="2505075"/>
            <a:ext cx="5157787" cy="3684588"/>
          </a:xfrm>
        </p:spPr>
        <p:txBody>
          <a:bodyPr/>
          <a:lstStyle>
            <a:lvl1pPr>
              <a:defRPr sz="2400">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9335F6-EA20-37E5-0F8F-006B8D0DB62F}"/>
              </a:ext>
            </a:extLst>
          </p:cNvPr>
          <p:cNvSpPr>
            <a:spLocks noGrp="1"/>
          </p:cNvSpPr>
          <p:nvPr>
            <p:ph type="dt" sz="half" idx="10"/>
          </p:nvPr>
        </p:nvSpPr>
        <p:spPr>
          <a:xfrm>
            <a:off x="838199" y="6356350"/>
            <a:ext cx="6332621" cy="365125"/>
          </a:xfrm>
        </p:spPr>
        <p:txBody>
          <a:bodyPr/>
          <a:lstStyle>
            <a:lvl1pPr>
              <a:defRPr>
                <a:solidFill>
                  <a:schemeClr val="bg1"/>
                </a:solidFill>
              </a:defRPr>
            </a:lvl1pPr>
          </a:lstStyle>
          <a:p>
            <a:r>
              <a:rPr lang="en-US"/>
              <a:t>Presentation Title </a:t>
            </a:r>
          </a:p>
        </p:txBody>
      </p:sp>
      <p:sp>
        <p:nvSpPr>
          <p:cNvPr id="9" name="Slide Number Placeholder 8">
            <a:extLst>
              <a:ext uri="{FF2B5EF4-FFF2-40B4-BE49-F238E27FC236}">
                <a16:creationId xmlns:a16="http://schemas.microsoft.com/office/drawing/2014/main" id="{54EB4896-C432-D26C-F220-63E926D8E001}"/>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10" name="Freeform 5">
            <a:extLst>
              <a:ext uri="{FF2B5EF4-FFF2-40B4-BE49-F238E27FC236}">
                <a16:creationId xmlns:a16="http://schemas.microsoft.com/office/drawing/2014/main" id="{BC735769-813A-3295-ED20-E1F9D4AD47C0}"/>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
        <p:nvSpPr>
          <p:cNvPr id="13" name="Rectangle 12">
            <a:extLst>
              <a:ext uri="{FF2B5EF4-FFF2-40B4-BE49-F238E27FC236}">
                <a16:creationId xmlns:a16="http://schemas.microsoft.com/office/drawing/2014/main" id="{F66C8BDA-BFA9-C52B-1EDA-99DDBA8DE60B}"/>
              </a:ext>
            </a:extLst>
          </p:cNvPr>
          <p:cNvSpPr/>
          <p:nvPr userDrawn="1"/>
        </p:nvSpPr>
        <p:spPr>
          <a:xfrm>
            <a:off x="5157281" y="6487156"/>
            <a:ext cx="1877437" cy="369332"/>
          </a:xfrm>
          <a:prstGeom prst="rect">
            <a:avLst/>
          </a:prstGeom>
          <a:noFill/>
        </p:spPr>
        <p:txBody>
          <a:bodyPr wrap="none" lIns="91440" tIns="45720" rIns="91440" bIns="45720">
            <a:spAutoFit/>
          </a:bodyPr>
          <a:lstStyle/>
          <a:p>
            <a:pPr algn="ctr"/>
            <a:r>
              <a:rPr lang="en-US" sz="1800" b="0" cap="none" spc="0">
                <a:ln w="0"/>
                <a:solidFill>
                  <a:schemeClr val="bg2">
                    <a:alpha val="25000"/>
                  </a:schemeClr>
                </a:solidFill>
                <a:effectLst>
                  <a:outerShdw blurRad="38100" dist="19050" dir="2700000" algn="tl" rotWithShape="0">
                    <a:schemeClr val="dk1">
                      <a:alpha val="40000"/>
                    </a:schemeClr>
                  </a:outerShdw>
                </a:effectLst>
                <a:latin typeface="Arial" panose="020B0604020202020204" pitchFamily="34" charset="0"/>
              </a:rPr>
              <a:t>CONFIDENTIAL</a:t>
            </a:r>
          </a:p>
        </p:txBody>
      </p:sp>
    </p:spTree>
    <p:extLst>
      <p:ext uri="{BB962C8B-B14F-4D97-AF65-F5344CB8AC3E}">
        <p14:creationId xmlns:p14="http://schemas.microsoft.com/office/powerpoint/2010/main" val="28968697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mple Samp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21C56-D50C-E00F-A566-6510789F049C}"/>
              </a:ext>
            </a:extLst>
          </p:cNvPr>
          <p:cNvSpPr>
            <a:spLocks noGrp="1"/>
          </p:cNvSpPr>
          <p:nvPr>
            <p:ph type="title" hasCustomPrompt="1"/>
          </p:nvPr>
        </p:nvSpPr>
        <p:spPr/>
        <p:txBody>
          <a:bodyPr/>
          <a:lstStyle>
            <a:lvl1pPr>
              <a:defRPr>
                <a:solidFill>
                  <a:schemeClr val="accent2">
                    <a:lumMod val="90000"/>
                    <a:lumOff val="10000"/>
                  </a:schemeClr>
                </a:solidFill>
                <a:latin typeface="Arial" panose="020B0604020202020204" pitchFamily="34" charset="0"/>
                <a:cs typeface="Arial" panose="020B0604020202020204" pitchFamily="34" charset="0"/>
              </a:defRPr>
            </a:lvl1pPr>
          </a:lstStyle>
          <a:p>
            <a:r>
              <a:rPr lang="en-US"/>
              <a:t>Timeline Example</a:t>
            </a:r>
          </a:p>
        </p:txBody>
      </p:sp>
      <p:sp>
        <p:nvSpPr>
          <p:cNvPr id="3" name="Date Placeholder 2">
            <a:extLst>
              <a:ext uri="{FF2B5EF4-FFF2-40B4-BE49-F238E27FC236}">
                <a16:creationId xmlns:a16="http://schemas.microsoft.com/office/drawing/2014/main" id="{6497EFC4-7E64-FCB0-691D-3FEA22FBDB19}"/>
              </a:ext>
            </a:extLst>
          </p:cNvPr>
          <p:cNvSpPr>
            <a:spLocks noGrp="1"/>
          </p:cNvSpPr>
          <p:nvPr>
            <p:ph type="dt" sz="half" idx="10"/>
          </p:nvPr>
        </p:nvSpPr>
        <p:spPr>
          <a:xfrm>
            <a:off x="838199" y="6356350"/>
            <a:ext cx="6733249" cy="399264"/>
          </a:xfrm>
        </p:spPr>
        <p:txBody>
          <a:bodyPr/>
          <a:lstStyle>
            <a:lvl1pPr>
              <a:lnSpc>
                <a:spcPct val="100000"/>
              </a:lnSpc>
              <a:defRPr sz="1100">
                <a:solidFill>
                  <a:schemeClr val="accent2">
                    <a:lumMod val="90000"/>
                    <a:lumOff val="10000"/>
                  </a:schemeClr>
                </a:solidFill>
              </a:defRPr>
            </a:lvl1pPr>
          </a:lstStyle>
          <a:p>
            <a:r>
              <a:rPr lang="en-US"/>
              <a:t>Presentation Title</a:t>
            </a:r>
          </a:p>
        </p:txBody>
      </p:sp>
      <p:sp>
        <p:nvSpPr>
          <p:cNvPr id="5" name="Slide Number Placeholder 4">
            <a:extLst>
              <a:ext uri="{FF2B5EF4-FFF2-40B4-BE49-F238E27FC236}">
                <a16:creationId xmlns:a16="http://schemas.microsoft.com/office/drawing/2014/main" id="{94B3FA75-D5B7-7721-506F-2C139D3278D9}"/>
              </a:ext>
            </a:extLst>
          </p:cNvPr>
          <p:cNvSpPr>
            <a:spLocks noGrp="1"/>
          </p:cNvSpPr>
          <p:nvPr>
            <p:ph type="sldNum" sz="quarter" idx="12"/>
          </p:nvPr>
        </p:nvSpPr>
        <p:spPr/>
        <p:txBody>
          <a:bodyPr/>
          <a:lstStyle>
            <a:lvl1pPr>
              <a:lnSpc>
                <a:spcPct val="100000"/>
              </a:lnSpc>
              <a:defRPr sz="1100">
                <a:solidFill>
                  <a:schemeClr val="accent2">
                    <a:lumMod val="90000"/>
                    <a:lumOff val="10000"/>
                  </a:schemeClr>
                </a:solidFill>
              </a:defRPr>
            </a:lvl1pPr>
          </a:lstStyle>
          <a:p>
            <a:fld id="{A070A489-3A69-A542-8CBF-69A14DF4633A}" type="slidenum">
              <a:rPr lang="en-US" smtClean="0"/>
              <a:pPr/>
              <a:t>‹#›</a:t>
            </a:fld>
            <a:endParaRPr lang="en-US"/>
          </a:p>
        </p:txBody>
      </p:sp>
      <p:grpSp>
        <p:nvGrpSpPr>
          <p:cNvPr id="6" name="Group 5">
            <a:extLst>
              <a:ext uri="{FF2B5EF4-FFF2-40B4-BE49-F238E27FC236}">
                <a16:creationId xmlns:a16="http://schemas.microsoft.com/office/drawing/2014/main" id="{11DA6D51-0096-3EF2-8EA8-65807A921332}"/>
              </a:ext>
            </a:extLst>
          </p:cNvPr>
          <p:cNvGrpSpPr/>
          <p:nvPr userDrawn="1"/>
        </p:nvGrpSpPr>
        <p:grpSpPr>
          <a:xfrm>
            <a:off x="1202571" y="2143158"/>
            <a:ext cx="946844" cy="971454"/>
            <a:chOff x="0" y="-14473"/>
            <a:chExt cx="556826" cy="571299"/>
          </a:xfrm>
        </p:grpSpPr>
        <p:sp>
          <p:nvSpPr>
            <p:cNvPr id="51" name="Freeform 50">
              <a:extLst>
                <a:ext uri="{FF2B5EF4-FFF2-40B4-BE49-F238E27FC236}">
                  <a16:creationId xmlns:a16="http://schemas.microsoft.com/office/drawing/2014/main" id="{8AAF412B-C6FB-58D8-CD2A-88EAEA032B0D}"/>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09FDA"/>
            </a:solidFill>
          </p:spPr>
          <p:txBody>
            <a:bodyPr/>
            <a:lstStyle/>
            <a:p>
              <a:endParaRPr lang="en-US">
                <a:latin typeface="Arial" panose="020B0604020202020204" pitchFamily="34" charset="0"/>
                <a:cs typeface="Arial" panose="020B0604020202020204" pitchFamily="34" charset="0"/>
              </a:endParaRPr>
            </a:p>
          </p:txBody>
        </p:sp>
        <p:sp>
          <p:nvSpPr>
            <p:cNvPr id="52" name="TextBox 4">
              <a:extLst>
                <a:ext uri="{FF2B5EF4-FFF2-40B4-BE49-F238E27FC236}">
                  <a16:creationId xmlns:a16="http://schemas.microsoft.com/office/drawing/2014/main" id="{3ADC7E24-88FE-D365-A98D-C65B6F5E92A0}"/>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Arial" panose="020B0604020202020204" pitchFamily="34" charset="0"/>
                  <a:ea typeface="Gotham Bold"/>
                  <a:cs typeface="Arial" panose="020B0604020202020204" pitchFamily="34" charset="0"/>
                  <a:sym typeface="Gotham Bold"/>
                </a:rPr>
                <a:t>1</a:t>
              </a:r>
            </a:p>
          </p:txBody>
        </p:sp>
      </p:grpSp>
      <p:grpSp>
        <p:nvGrpSpPr>
          <p:cNvPr id="7" name="Group 6">
            <a:extLst>
              <a:ext uri="{FF2B5EF4-FFF2-40B4-BE49-F238E27FC236}">
                <a16:creationId xmlns:a16="http://schemas.microsoft.com/office/drawing/2014/main" id="{8C868748-0B27-5CDD-AE5C-4800B2233183}"/>
              </a:ext>
            </a:extLst>
          </p:cNvPr>
          <p:cNvGrpSpPr/>
          <p:nvPr userDrawn="1"/>
        </p:nvGrpSpPr>
        <p:grpSpPr>
          <a:xfrm>
            <a:off x="8714997" y="4262647"/>
            <a:ext cx="2457578" cy="1530344"/>
            <a:chOff x="0" y="-28575"/>
            <a:chExt cx="3276771" cy="2040459"/>
          </a:xfrm>
        </p:grpSpPr>
        <p:sp>
          <p:nvSpPr>
            <p:cNvPr id="49" name="TextBox 6">
              <a:extLst>
                <a:ext uri="{FF2B5EF4-FFF2-40B4-BE49-F238E27FC236}">
                  <a16:creationId xmlns:a16="http://schemas.microsoft.com/office/drawing/2014/main" id="{4A229842-87A8-33EA-DE8E-2C0A9FB39D2E}"/>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rial" panose="020B0604020202020204" pitchFamily="34" charset="0"/>
                  <a:ea typeface="Aileron Bold"/>
                  <a:cs typeface="Arial" panose="020B0604020202020204" pitchFamily="34" charset="0"/>
                  <a:sym typeface="Aileron Bold"/>
                </a:rPr>
                <a:t>2015</a:t>
              </a:r>
            </a:p>
          </p:txBody>
        </p:sp>
        <p:sp>
          <p:nvSpPr>
            <p:cNvPr id="50" name="TextBox 7">
              <a:extLst>
                <a:ext uri="{FF2B5EF4-FFF2-40B4-BE49-F238E27FC236}">
                  <a16:creationId xmlns:a16="http://schemas.microsoft.com/office/drawing/2014/main" id="{50297581-D24E-B736-C2E3-1E629C725569}"/>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t>
              </a:r>
              <a:r>
                <a:rPr lang="en-US" sz="1600" spc="26" err="1">
                  <a:solidFill>
                    <a:srgbClr val="191919"/>
                  </a:solidFill>
                  <a:latin typeface="Arial" panose="020B0604020202020204" pitchFamily="34" charset="0"/>
                  <a:ea typeface="Aileron"/>
                  <a:cs typeface="Arial" panose="020B0604020202020204" pitchFamily="34" charset="0"/>
                  <a:sym typeface="Aileron"/>
                </a:rPr>
                <a:t>amet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adipiscing</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elit</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Vivamus</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consectetur</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odio</a:t>
              </a:r>
              <a:r>
                <a:rPr lang="en-US" sz="1600" spc="26">
                  <a:solidFill>
                    <a:srgbClr val="191919"/>
                  </a:solidFill>
                  <a:latin typeface="Arial" panose="020B0604020202020204" pitchFamily="34" charset="0"/>
                  <a:ea typeface="Aileron"/>
                  <a:cs typeface="Arial" panose="020B0604020202020204" pitchFamily="34" charset="0"/>
                  <a:sym typeface="Aileron"/>
                </a:rPr>
                <a:t> </a:t>
              </a:r>
              <a:r>
                <a:rPr lang="en-US" sz="1600" spc="26" err="1">
                  <a:solidFill>
                    <a:srgbClr val="191919"/>
                  </a:solidFill>
                  <a:latin typeface="Arial" panose="020B0604020202020204" pitchFamily="34" charset="0"/>
                  <a:ea typeface="Aileron"/>
                  <a:cs typeface="Arial" panose="020B0604020202020204" pitchFamily="34" charset="0"/>
                  <a:sym typeface="Aileron"/>
                </a:rPr>
                <a:t>aliquam</a:t>
              </a:r>
              <a:r>
                <a:rPr lang="en-US" sz="1600" spc="26">
                  <a:solidFill>
                    <a:srgbClr val="191919"/>
                  </a:solidFill>
                  <a:latin typeface="Arial" panose="020B0604020202020204" pitchFamily="34" charset="0"/>
                  <a:ea typeface="Aileron"/>
                  <a:cs typeface="Arial" panose="020B0604020202020204" pitchFamily="34" charset="0"/>
                  <a:sym typeface="Aileron"/>
                </a:rPr>
                <a:t>, </a:t>
              </a:r>
            </a:p>
          </p:txBody>
        </p:sp>
      </p:grpSp>
      <p:grpSp>
        <p:nvGrpSpPr>
          <p:cNvPr id="8" name="Group 7">
            <a:extLst>
              <a:ext uri="{FF2B5EF4-FFF2-40B4-BE49-F238E27FC236}">
                <a16:creationId xmlns:a16="http://schemas.microsoft.com/office/drawing/2014/main" id="{C20D0A38-4D5E-6B41-7A74-4C009A0B102E}"/>
              </a:ext>
            </a:extLst>
          </p:cNvPr>
          <p:cNvGrpSpPr/>
          <p:nvPr userDrawn="1"/>
        </p:nvGrpSpPr>
        <p:grpSpPr>
          <a:xfrm>
            <a:off x="451184" y="4262647"/>
            <a:ext cx="2457578" cy="1530344"/>
            <a:chOff x="0" y="-28575"/>
            <a:chExt cx="3276771" cy="2040459"/>
          </a:xfrm>
        </p:grpSpPr>
        <p:sp>
          <p:nvSpPr>
            <p:cNvPr id="47" name="TextBox 9">
              <a:extLst>
                <a:ext uri="{FF2B5EF4-FFF2-40B4-BE49-F238E27FC236}">
                  <a16:creationId xmlns:a16="http://schemas.microsoft.com/office/drawing/2014/main" id="{B335BCA9-845D-3C1C-61E6-EA2B82CF2181}"/>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rial" panose="020B0604020202020204" pitchFamily="34" charset="0"/>
                  <a:ea typeface="Aileron Bold"/>
                  <a:cs typeface="Arial" panose="020B0604020202020204" pitchFamily="34" charset="0"/>
                  <a:sym typeface="Aileron Bold"/>
                </a:rPr>
                <a:t>1980</a:t>
              </a:r>
            </a:p>
          </p:txBody>
        </p:sp>
        <p:sp>
          <p:nvSpPr>
            <p:cNvPr id="48" name="TextBox 10">
              <a:extLst>
                <a:ext uri="{FF2B5EF4-FFF2-40B4-BE49-F238E27FC236}">
                  <a16:creationId xmlns:a16="http://schemas.microsoft.com/office/drawing/2014/main" id="{C400E550-EB0D-905B-3FC9-7AF480269C46}"/>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amet, consectetur adipiscing elit. Vivamus consectetur odio aliquam, </a:t>
              </a:r>
            </a:p>
          </p:txBody>
        </p:sp>
      </p:grpSp>
      <p:grpSp>
        <p:nvGrpSpPr>
          <p:cNvPr id="9" name="Group 8">
            <a:extLst>
              <a:ext uri="{FF2B5EF4-FFF2-40B4-BE49-F238E27FC236}">
                <a16:creationId xmlns:a16="http://schemas.microsoft.com/office/drawing/2014/main" id="{BCF7EB83-DA75-A735-2374-55CEFCA42838}"/>
              </a:ext>
            </a:extLst>
          </p:cNvPr>
          <p:cNvGrpSpPr/>
          <p:nvPr userDrawn="1"/>
        </p:nvGrpSpPr>
        <p:grpSpPr>
          <a:xfrm>
            <a:off x="3205788" y="4262647"/>
            <a:ext cx="2457578" cy="1530344"/>
            <a:chOff x="0" y="-28575"/>
            <a:chExt cx="3276771" cy="2040459"/>
          </a:xfrm>
        </p:grpSpPr>
        <p:sp>
          <p:nvSpPr>
            <p:cNvPr id="45" name="TextBox 12">
              <a:extLst>
                <a:ext uri="{FF2B5EF4-FFF2-40B4-BE49-F238E27FC236}">
                  <a16:creationId xmlns:a16="http://schemas.microsoft.com/office/drawing/2014/main" id="{F2158044-E681-9E6D-315D-1E5F8C79133F}"/>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rial" panose="020B0604020202020204" pitchFamily="34" charset="0"/>
                  <a:ea typeface="Aileron Bold"/>
                  <a:cs typeface="Arial" panose="020B0604020202020204" pitchFamily="34" charset="0"/>
                  <a:sym typeface="Aileron Bold"/>
                </a:rPr>
                <a:t>1981</a:t>
              </a:r>
            </a:p>
          </p:txBody>
        </p:sp>
        <p:sp>
          <p:nvSpPr>
            <p:cNvPr id="46" name="TextBox 13">
              <a:extLst>
                <a:ext uri="{FF2B5EF4-FFF2-40B4-BE49-F238E27FC236}">
                  <a16:creationId xmlns:a16="http://schemas.microsoft.com/office/drawing/2014/main" id="{7B544EC8-4E09-2AFA-C2AA-5438BD21479A}"/>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amet, consectetur adipiscing elit. Vivamus consectetur odio aliquam, </a:t>
              </a:r>
            </a:p>
          </p:txBody>
        </p:sp>
      </p:grpSp>
      <p:grpSp>
        <p:nvGrpSpPr>
          <p:cNvPr id="10" name="Group 9">
            <a:extLst>
              <a:ext uri="{FF2B5EF4-FFF2-40B4-BE49-F238E27FC236}">
                <a16:creationId xmlns:a16="http://schemas.microsoft.com/office/drawing/2014/main" id="{A6EBEFF6-F57A-9EE1-EE47-A067270E2CCC}"/>
              </a:ext>
            </a:extLst>
          </p:cNvPr>
          <p:cNvGrpSpPr/>
          <p:nvPr userDrawn="1"/>
        </p:nvGrpSpPr>
        <p:grpSpPr>
          <a:xfrm>
            <a:off x="5960393" y="4262647"/>
            <a:ext cx="2457578" cy="1530344"/>
            <a:chOff x="0" y="-28575"/>
            <a:chExt cx="3276771" cy="2040459"/>
          </a:xfrm>
        </p:grpSpPr>
        <p:sp>
          <p:nvSpPr>
            <p:cNvPr id="43" name="TextBox 15">
              <a:extLst>
                <a:ext uri="{FF2B5EF4-FFF2-40B4-BE49-F238E27FC236}">
                  <a16:creationId xmlns:a16="http://schemas.microsoft.com/office/drawing/2014/main" id="{F48B2A52-DA7A-B5F2-AE66-392C17119451}"/>
                </a:ext>
              </a:extLst>
            </p:cNvPr>
            <p:cNvSpPr txBox="1"/>
            <p:nvPr userDrawn="1"/>
          </p:nvSpPr>
          <p:spPr>
            <a:xfrm>
              <a:off x="0" y="-28575"/>
              <a:ext cx="3276771" cy="41037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000" b="1">
                  <a:solidFill>
                    <a:srgbClr val="191919"/>
                  </a:solidFill>
                  <a:latin typeface="Arial" panose="020B0604020202020204" pitchFamily="34" charset="0"/>
                  <a:ea typeface="Aileron Bold"/>
                  <a:cs typeface="Arial" panose="020B0604020202020204" pitchFamily="34" charset="0"/>
                  <a:sym typeface="Aileron Bold"/>
                </a:rPr>
                <a:t>2011</a:t>
              </a:r>
            </a:p>
          </p:txBody>
        </p:sp>
        <p:sp>
          <p:nvSpPr>
            <p:cNvPr id="44" name="TextBox 16">
              <a:extLst>
                <a:ext uri="{FF2B5EF4-FFF2-40B4-BE49-F238E27FC236}">
                  <a16:creationId xmlns:a16="http://schemas.microsoft.com/office/drawing/2014/main" id="{FC7E0932-21D0-3824-DE1F-86208194ECDB}"/>
                </a:ext>
              </a:extLst>
            </p:cNvPr>
            <p:cNvSpPr txBox="1"/>
            <p:nvPr userDrawn="1"/>
          </p:nvSpPr>
          <p:spPr>
            <a:xfrm>
              <a:off x="0" y="698703"/>
              <a:ext cx="3276771" cy="131318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600" spc="26">
                  <a:solidFill>
                    <a:srgbClr val="191919"/>
                  </a:solidFill>
                  <a:latin typeface="Arial" panose="020B0604020202020204" pitchFamily="34" charset="0"/>
                  <a:ea typeface="Aileron"/>
                  <a:cs typeface="Arial" panose="020B0604020202020204" pitchFamily="34" charset="0"/>
                  <a:sym typeface="Aileron"/>
                </a:rPr>
                <a:t>Lorem ipsum dolor sit amet, consectetur adipiscing elit. Vivamus consectetur odio aliquam, </a:t>
              </a:r>
            </a:p>
          </p:txBody>
        </p:sp>
      </p:grpSp>
      <p:grpSp>
        <p:nvGrpSpPr>
          <p:cNvPr id="14" name="Group 13">
            <a:extLst>
              <a:ext uri="{FF2B5EF4-FFF2-40B4-BE49-F238E27FC236}">
                <a16:creationId xmlns:a16="http://schemas.microsoft.com/office/drawing/2014/main" id="{0EB46210-36A3-661B-DC89-11523C75E9CB}"/>
              </a:ext>
            </a:extLst>
          </p:cNvPr>
          <p:cNvGrpSpPr/>
          <p:nvPr userDrawn="1"/>
        </p:nvGrpSpPr>
        <p:grpSpPr>
          <a:xfrm>
            <a:off x="4027070" y="2125884"/>
            <a:ext cx="946844" cy="971454"/>
            <a:chOff x="0" y="-14473"/>
            <a:chExt cx="556826" cy="571299"/>
          </a:xfrm>
        </p:grpSpPr>
        <p:sp>
          <p:nvSpPr>
            <p:cNvPr id="35" name="Freeform 34">
              <a:extLst>
                <a:ext uri="{FF2B5EF4-FFF2-40B4-BE49-F238E27FC236}">
                  <a16:creationId xmlns:a16="http://schemas.microsoft.com/office/drawing/2014/main" id="{FF92C169-4533-35D8-F865-37BCE2C88335}"/>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E4E95"/>
            </a:solidFill>
          </p:spPr>
          <p:txBody>
            <a:bodyPr/>
            <a:lstStyle/>
            <a:p>
              <a:endParaRPr lang="en-US">
                <a:latin typeface="Arial" panose="020B0604020202020204" pitchFamily="34" charset="0"/>
                <a:cs typeface="Arial" panose="020B0604020202020204" pitchFamily="34" charset="0"/>
              </a:endParaRPr>
            </a:p>
          </p:txBody>
        </p:sp>
        <p:sp>
          <p:nvSpPr>
            <p:cNvPr id="36" name="TextBox 28">
              <a:extLst>
                <a:ext uri="{FF2B5EF4-FFF2-40B4-BE49-F238E27FC236}">
                  <a16:creationId xmlns:a16="http://schemas.microsoft.com/office/drawing/2014/main" id="{524C1F9B-974F-33AF-76B3-AD3A8BBC2D51}"/>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Arial" panose="020B0604020202020204" pitchFamily="34" charset="0"/>
                  <a:ea typeface="Gotham Bold"/>
                  <a:cs typeface="Arial" panose="020B0604020202020204" pitchFamily="34" charset="0"/>
                  <a:sym typeface="Gotham Bold"/>
                </a:rPr>
                <a:t>2</a:t>
              </a:r>
            </a:p>
          </p:txBody>
        </p:sp>
      </p:grpSp>
      <p:grpSp>
        <p:nvGrpSpPr>
          <p:cNvPr id="15" name="Group 14">
            <a:extLst>
              <a:ext uri="{FF2B5EF4-FFF2-40B4-BE49-F238E27FC236}">
                <a16:creationId xmlns:a16="http://schemas.microsoft.com/office/drawing/2014/main" id="{E35EFC44-4732-467D-0BB9-9639FFAE5D5C}"/>
              </a:ext>
            </a:extLst>
          </p:cNvPr>
          <p:cNvGrpSpPr/>
          <p:nvPr userDrawn="1"/>
        </p:nvGrpSpPr>
        <p:grpSpPr>
          <a:xfrm>
            <a:off x="6713372" y="2143158"/>
            <a:ext cx="946844" cy="971454"/>
            <a:chOff x="0" y="-14473"/>
            <a:chExt cx="556826" cy="571299"/>
          </a:xfrm>
        </p:grpSpPr>
        <p:sp>
          <p:nvSpPr>
            <p:cNvPr id="33" name="Freeform 32">
              <a:extLst>
                <a:ext uri="{FF2B5EF4-FFF2-40B4-BE49-F238E27FC236}">
                  <a16:creationId xmlns:a16="http://schemas.microsoft.com/office/drawing/2014/main" id="{0F6FA1B7-7695-A8F9-9930-6ABC935139CF}"/>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62552"/>
            </a:solidFill>
          </p:spPr>
          <p:txBody>
            <a:bodyPr/>
            <a:lstStyle/>
            <a:p>
              <a:endParaRPr lang="en-US">
                <a:latin typeface="Arial" panose="020B0604020202020204" pitchFamily="34" charset="0"/>
                <a:cs typeface="Arial" panose="020B0604020202020204" pitchFamily="34" charset="0"/>
              </a:endParaRPr>
            </a:p>
          </p:txBody>
        </p:sp>
        <p:sp>
          <p:nvSpPr>
            <p:cNvPr id="34" name="TextBox 31">
              <a:extLst>
                <a:ext uri="{FF2B5EF4-FFF2-40B4-BE49-F238E27FC236}">
                  <a16:creationId xmlns:a16="http://schemas.microsoft.com/office/drawing/2014/main" id="{7B6E1EE0-FE91-8AD9-36A2-1EC012E34EFB}"/>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Arial" panose="020B0604020202020204" pitchFamily="34" charset="0"/>
                  <a:ea typeface="Gotham Bold"/>
                  <a:cs typeface="Arial" panose="020B0604020202020204" pitchFamily="34" charset="0"/>
                  <a:sym typeface="Gotham Bold"/>
                </a:rPr>
                <a:t>3</a:t>
              </a:r>
            </a:p>
          </p:txBody>
        </p:sp>
      </p:grpSp>
      <p:grpSp>
        <p:nvGrpSpPr>
          <p:cNvPr id="16" name="Group 15">
            <a:extLst>
              <a:ext uri="{FF2B5EF4-FFF2-40B4-BE49-F238E27FC236}">
                <a16:creationId xmlns:a16="http://schemas.microsoft.com/office/drawing/2014/main" id="{BAFD45E0-CFEB-C722-3C2F-676614F9A6BD}"/>
              </a:ext>
            </a:extLst>
          </p:cNvPr>
          <p:cNvGrpSpPr/>
          <p:nvPr userDrawn="1"/>
        </p:nvGrpSpPr>
        <p:grpSpPr>
          <a:xfrm>
            <a:off x="9468772" y="2143158"/>
            <a:ext cx="946844" cy="971454"/>
            <a:chOff x="0" y="-14473"/>
            <a:chExt cx="556826" cy="571299"/>
          </a:xfrm>
        </p:grpSpPr>
        <p:sp>
          <p:nvSpPr>
            <p:cNvPr id="31" name="Freeform 30">
              <a:extLst>
                <a:ext uri="{FF2B5EF4-FFF2-40B4-BE49-F238E27FC236}">
                  <a16:creationId xmlns:a16="http://schemas.microsoft.com/office/drawing/2014/main" id="{749AB401-36D5-BF2E-2A63-B11D712ABE32}"/>
                </a:ext>
              </a:extLst>
            </p:cNvPr>
            <p:cNvSpPr/>
            <p:nvPr userDrawn="1"/>
          </p:nvSpPr>
          <p:spPr>
            <a:xfrm>
              <a:off x="0" y="0"/>
              <a:ext cx="556826" cy="556826"/>
            </a:xfrm>
            <a:custGeom>
              <a:avLst/>
              <a:gdLst/>
              <a:ahLst/>
              <a:cxnLst/>
              <a:rect l="l" t="t" r="r" b="b"/>
              <a:pathLst>
                <a:path w="556826" h="556826">
                  <a:moveTo>
                    <a:pt x="278413" y="0"/>
                  </a:moveTo>
                  <a:cubicBezTo>
                    <a:pt x="124650" y="0"/>
                    <a:pt x="0" y="124650"/>
                    <a:pt x="0" y="278413"/>
                  </a:cubicBezTo>
                  <a:cubicBezTo>
                    <a:pt x="0" y="432176"/>
                    <a:pt x="124650" y="556826"/>
                    <a:pt x="278413" y="556826"/>
                  </a:cubicBezTo>
                  <a:cubicBezTo>
                    <a:pt x="432176" y="556826"/>
                    <a:pt x="556826" y="432176"/>
                    <a:pt x="556826" y="278413"/>
                  </a:cubicBezTo>
                  <a:cubicBezTo>
                    <a:pt x="556826" y="124650"/>
                    <a:pt x="432176" y="0"/>
                    <a:pt x="278413" y="0"/>
                  </a:cubicBezTo>
                  <a:close/>
                </a:path>
              </a:pathLst>
            </a:custGeom>
            <a:solidFill>
              <a:srgbClr val="009FDA"/>
            </a:solidFill>
          </p:spPr>
          <p:txBody>
            <a:bodyPr/>
            <a:lstStyle/>
            <a:p>
              <a:endParaRPr lang="en-US">
                <a:latin typeface="Arial" panose="020B0604020202020204" pitchFamily="34" charset="0"/>
                <a:cs typeface="Arial" panose="020B0604020202020204" pitchFamily="34" charset="0"/>
              </a:endParaRPr>
            </a:p>
          </p:txBody>
        </p:sp>
        <p:sp>
          <p:nvSpPr>
            <p:cNvPr id="32" name="TextBox 34">
              <a:extLst>
                <a:ext uri="{FF2B5EF4-FFF2-40B4-BE49-F238E27FC236}">
                  <a16:creationId xmlns:a16="http://schemas.microsoft.com/office/drawing/2014/main" id="{37647DDC-735C-32A2-CE57-A46D0AE04D54}"/>
                </a:ext>
              </a:extLst>
            </p:cNvPr>
            <p:cNvSpPr txBox="1"/>
            <p:nvPr userDrawn="1"/>
          </p:nvSpPr>
          <p:spPr>
            <a:xfrm>
              <a:off x="52202" y="-14473"/>
              <a:ext cx="452421" cy="519096"/>
            </a:xfrm>
            <a:prstGeom prst="rect">
              <a:avLst/>
            </a:prstGeom>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19"/>
                </a:lnSpc>
              </a:pPr>
              <a:r>
                <a:rPr lang="en-US" sz="2799" b="1">
                  <a:solidFill>
                    <a:srgbClr val="FFFFFF"/>
                  </a:solidFill>
                  <a:latin typeface="Arial" panose="020B0604020202020204" pitchFamily="34" charset="0"/>
                  <a:ea typeface="Gotham Bold"/>
                  <a:cs typeface="Arial" panose="020B0604020202020204" pitchFamily="34" charset="0"/>
                  <a:sym typeface="Gotham Bold"/>
                </a:rPr>
                <a:t>4</a:t>
              </a:r>
            </a:p>
          </p:txBody>
        </p:sp>
      </p:grpSp>
      <p:sp>
        <p:nvSpPr>
          <p:cNvPr id="18" name="AutoShape 38">
            <a:extLst>
              <a:ext uri="{FF2B5EF4-FFF2-40B4-BE49-F238E27FC236}">
                <a16:creationId xmlns:a16="http://schemas.microsoft.com/office/drawing/2014/main" id="{5B55CC53-4B0B-1F7A-E6CF-1D807C272B88}"/>
              </a:ext>
            </a:extLst>
          </p:cNvPr>
          <p:cNvSpPr/>
          <p:nvPr userDrawn="1"/>
        </p:nvSpPr>
        <p:spPr>
          <a:xfrm>
            <a:off x="1675993"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19" name="AutoShape 39">
            <a:extLst>
              <a:ext uri="{FF2B5EF4-FFF2-40B4-BE49-F238E27FC236}">
                <a16:creationId xmlns:a16="http://schemas.microsoft.com/office/drawing/2014/main" id="{147CB15D-6D2B-85B2-EA0A-A2D72009459A}"/>
              </a:ext>
            </a:extLst>
          </p:cNvPr>
          <p:cNvSpPr/>
          <p:nvPr userDrawn="1"/>
        </p:nvSpPr>
        <p:spPr>
          <a:xfrm>
            <a:off x="4500492" y="3097338"/>
            <a:ext cx="0" cy="810133"/>
          </a:xfrm>
          <a:prstGeom prst="line">
            <a:avLst/>
          </a:prstGeom>
          <a:ln w="47625" cap="flat">
            <a:solidFill>
              <a:srgbClr val="009FDA"/>
            </a:solidFill>
            <a:prstDash val="solid"/>
            <a:headEnd type="none" w="sm" len="sm"/>
            <a:tailEnd type="oval" w="lg" len="lg"/>
          </a:ln>
        </p:spPr>
        <p:txBody>
          <a:bodyPr/>
          <a:lstStyle/>
          <a:p>
            <a:endParaRPr lang="en-US"/>
          </a:p>
        </p:txBody>
      </p:sp>
      <p:sp>
        <p:nvSpPr>
          <p:cNvPr id="20" name="AutoShape 40">
            <a:extLst>
              <a:ext uri="{FF2B5EF4-FFF2-40B4-BE49-F238E27FC236}">
                <a16:creationId xmlns:a16="http://schemas.microsoft.com/office/drawing/2014/main" id="{26EBBA74-6593-863D-9566-7B0F68E2231E}"/>
              </a:ext>
            </a:extLst>
          </p:cNvPr>
          <p:cNvSpPr/>
          <p:nvPr userDrawn="1"/>
        </p:nvSpPr>
        <p:spPr>
          <a:xfrm>
            <a:off x="7186794"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21" name="AutoShape 41">
            <a:extLst>
              <a:ext uri="{FF2B5EF4-FFF2-40B4-BE49-F238E27FC236}">
                <a16:creationId xmlns:a16="http://schemas.microsoft.com/office/drawing/2014/main" id="{87B37EE5-3174-E60F-EB7F-28EAFCDB990B}"/>
              </a:ext>
            </a:extLst>
          </p:cNvPr>
          <p:cNvSpPr/>
          <p:nvPr userDrawn="1"/>
        </p:nvSpPr>
        <p:spPr>
          <a:xfrm>
            <a:off x="9942194" y="3114613"/>
            <a:ext cx="0" cy="792119"/>
          </a:xfrm>
          <a:prstGeom prst="line">
            <a:avLst/>
          </a:prstGeom>
          <a:ln w="47625" cap="flat">
            <a:solidFill>
              <a:srgbClr val="009FDA"/>
            </a:solidFill>
            <a:prstDash val="solid"/>
            <a:headEnd type="none" w="sm" len="sm"/>
            <a:tailEnd type="oval" w="lg" len="lg"/>
          </a:ln>
        </p:spPr>
        <p:txBody>
          <a:bodyPr/>
          <a:lstStyle/>
          <a:p>
            <a:endParaRPr lang="en-US"/>
          </a:p>
        </p:txBody>
      </p:sp>
      <p:sp>
        <p:nvSpPr>
          <p:cNvPr id="24" name="AutoShape 44">
            <a:extLst>
              <a:ext uri="{FF2B5EF4-FFF2-40B4-BE49-F238E27FC236}">
                <a16:creationId xmlns:a16="http://schemas.microsoft.com/office/drawing/2014/main" id="{B173C173-30D8-B176-A7DA-38D50DA243C0}"/>
              </a:ext>
            </a:extLst>
          </p:cNvPr>
          <p:cNvSpPr/>
          <p:nvPr userDrawn="1"/>
        </p:nvSpPr>
        <p:spPr>
          <a:xfrm flipV="1">
            <a:off x="2149415" y="2623916"/>
            <a:ext cx="1877655" cy="17275"/>
          </a:xfrm>
          <a:prstGeom prst="line">
            <a:avLst/>
          </a:prstGeom>
          <a:ln w="57150" cap="flat">
            <a:solidFill>
              <a:srgbClr val="009FDA"/>
            </a:solidFill>
            <a:prstDash val="solid"/>
            <a:headEnd type="none" w="sm" len="sm"/>
            <a:tailEnd type="none" w="sm" len="sm"/>
          </a:ln>
        </p:spPr>
        <p:txBody>
          <a:bodyPr/>
          <a:lstStyle/>
          <a:p>
            <a:endParaRPr lang="en-US"/>
          </a:p>
        </p:txBody>
      </p:sp>
      <p:sp>
        <p:nvSpPr>
          <p:cNvPr id="25" name="AutoShape 45">
            <a:extLst>
              <a:ext uri="{FF2B5EF4-FFF2-40B4-BE49-F238E27FC236}">
                <a16:creationId xmlns:a16="http://schemas.microsoft.com/office/drawing/2014/main" id="{683F0CD1-60C5-B175-6B13-F66EA667B0AD}"/>
              </a:ext>
            </a:extLst>
          </p:cNvPr>
          <p:cNvSpPr/>
          <p:nvPr userDrawn="1"/>
        </p:nvSpPr>
        <p:spPr>
          <a:xfrm>
            <a:off x="4973915" y="2623916"/>
            <a:ext cx="1739457" cy="17275"/>
          </a:xfrm>
          <a:prstGeom prst="line">
            <a:avLst/>
          </a:prstGeom>
          <a:ln w="57150" cap="flat">
            <a:solidFill>
              <a:srgbClr val="009FDA"/>
            </a:solidFill>
            <a:prstDash val="solid"/>
            <a:headEnd type="none" w="sm" len="sm"/>
            <a:tailEnd type="none" w="sm" len="sm"/>
          </a:ln>
        </p:spPr>
        <p:txBody>
          <a:bodyPr/>
          <a:lstStyle/>
          <a:p>
            <a:endParaRPr lang="en-US"/>
          </a:p>
        </p:txBody>
      </p:sp>
      <p:sp>
        <p:nvSpPr>
          <p:cNvPr id="26" name="AutoShape 46">
            <a:extLst>
              <a:ext uri="{FF2B5EF4-FFF2-40B4-BE49-F238E27FC236}">
                <a16:creationId xmlns:a16="http://schemas.microsoft.com/office/drawing/2014/main" id="{F428AD71-9119-EE29-B4D0-C39466C2D067}"/>
              </a:ext>
            </a:extLst>
          </p:cNvPr>
          <p:cNvSpPr/>
          <p:nvPr userDrawn="1"/>
        </p:nvSpPr>
        <p:spPr>
          <a:xfrm>
            <a:off x="7660216" y="2641190"/>
            <a:ext cx="1808556" cy="0"/>
          </a:xfrm>
          <a:prstGeom prst="line">
            <a:avLst/>
          </a:prstGeom>
          <a:ln w="57150" cap="flat">
            <a:solidFill>
              <a:srgbClr val="009FDA"/>
            </a:solidFill>
            <a:prstDash val="solid"/>
            <a:headEnd type="none" w="sm" len="sm"/>
            <a:tailEnd type="none" w="sm" len="sm"/>
          </a:ln>
        </p:spPr>
        <p:txBody>
          <a:bodyPr/>
          <a:lstStyle/>
          <a:p>
            <a:endParaRPr lang="en-US"/>
          </a:p>
        </p:txBody>
      </p:sp>
      <p:sp>
        <p:nvSpPr>
          <p:cNvPr id="53" name="Freeform 5">
            <a:extLst>
              <a:ext uri="{FF2B5EF4-FFF2-40B4-BE49-F238E27FC236}">
                <a16:creationId xmlns:a16="http://schemas.microsoft.com/office/drawing/2014/main" id="{CCF2BEBE-A490-1991-D680-2F8AB220AA36}"/>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11330465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0">
              <a:srgbClr val="009FDA">
                <a:alpha val="100000"/>
              </a:srgbClr>
            </a:gs>
            <a:gs pos="50000">
              <a:srgbClr val="1C60A4">
                <a:alpha val="100000"/>
              </a:srgbClr>
            </a:gs>
            <a:gs pos="100000">
              <a:srgbClr val="062552">
                <a:alpha val="100000"/>
              </a:srgbClr>
            </a:gs>
          </a:gsLst>
          <a:lin ang="0" scaled="0"/>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168157-1DC9-22D1-0001-75C67BEB227F}"/>
              </a:ext>
            </a:extLst>
          </p:cNvPr>
          <p:cNvSpPr>
            <a:spLocks noGrp="1"/>
          </p:cNvSpPr>
          <p:nvPr>
            <p:ph type="dt" sz="half" idx="10"/>
          </p:nvPr>
        </p:nvSpPr>
        <p:spPr>
          <a:xfrm>
            <a:off x="838200" y="6356350"/>
            <a:ext cx="6541168" cy="365125"/>
          </a:xfrm>
        </p:spPr>
        <p:txBody>
          <a:bodyPr/>
          <a:lstStyle>
            <a:lvl1pPr>
              <a:defRPr>
                <a:solidFill>
                  <a:schemeClr val="bg1"/>
                </a:solidFill>
              </a:defRPr>
            </a:lvl1pPr>
          </a:lstStyle>
          <a:p>
            <a:r>
              <a:rPr lang="en-US"/>
              <a:t>Presentation Title</a:t>
            </a:r>
          </a:p>
        </p:txBody>
      </p:sp>
      <p:sp>
        <p:nvSpPr>
          <p:cNvPr id="4" name="Slide Number Placeholder 3">
            <a:extLst>
              <a:ext uri="{FF2B5EF4-FFF2-40B4-BE49-F238E27FC236}">
                <a16:creationId xmlns:a16="http://schemas.microsoft.com/office/drawing/2014/main" id="{28E834C7-6070-455B-5757-8B2127252D45}"/>
              </a:ext>
            </a:extLst>
          </p:cNvPr>
          <p:cNvSpPr>
            <a:spLocks noGrp="1"/>
          </p:cNvSpPr>
          <p:nvPr>
            <p:ph type="sldNum" sz="quarter" idx="12"/>
          </p:nvPr>
        </p:nvSpPr>
        <p:spPr/>
        <p:txBody>
          <a:bodyPr/>
          <a:lstStyle>
            <a:lvl1pPr>
              <a:defRPr>
                <a:solidFill>
                  <a:schemeClr val="bg1"/>
                </a:solidFill>
              </a:defRPr>
            </a:lvl1pPr>
          </a:lstStyle>
          <a:p>
            <a:fld id="{A070A489-3A69-A542-8CBF-69A14DF4633A}" type="slidenum">
              <a:rPr lang="en-US" smtClean="0"/>
              <a:pPr/>
              <a:t>‹#›</a:t>
            </a:fld>
            <a:endParaRPr lang="en-US"/>
          </a:p>
        </p:txBody>
      </p:sp>
      <p:sp>
        <p:nvSpPr>
          <p:cNvPr id="6" name="Freeform 5">
            <a:extLst>
              <a:ext uri="{FF2B5EF4-FFF2-40B4-BE49-F238E27FC236}">
                <a16:creationId xmlns:a16="http://schemas.microsoft.com/office/drawing/2014/main" id="{58E30A04-BB51-F8B2-76A7-827154EB7D7F}"/>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4"/>
          </a:solidFill>
        </p:spPr>
        <p:txBody>
          <a:bodyPr/>
          <a:lstStyle/>
          <a:p>
            <a:endParaRPr lang="en-JM"/>
          </a:p>
        </p:txBody>
      </p:sp>
      <p:sp>
        <p:nvSpPr>
          <p:cNvPr id="7" name="Title 1">
            <a:extLst>
              <a:ext uri="{FF2B5EF4-FFF2-40B4-BE49-F238E27FC236}">
                <a16:creationId xmlns:a16="http://schemas.microsoft.com/office/drawing/2014/main" id="{607245E5-5600-E311-777B-C0493CB9B0D7}"/>
              </a:ext>
            </a:extLst>
          </p:cNvPr>
          <p:cNvSpPr>
            <a:spLocks noGrp="1"/>
          </p:cNvSpPr>
          <p:nvPr>
            <p:ph type="title"/>
          </p:nvPr>
        </p:nvSpPr>
        <p:spPr>
          <a:xfrm>
            <a:off x="838200" y="365125"/>
            <a:ext cx="10515600" cy="1325563"/>
          </a:xfrm>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0" name="Text Placeholder 9">
            <a:extLst>
              <a:ext uri="{FF2B5EF4-FFF2-40B4-BE49-F238E27FC236}">
                <a16:creationId xmlns:a16="http://schemas.microsoft.com/office/drawing/2014/main" id="{0B021ECB-6A16-32DF-45AB-AEA262BB34E2}"/>
              </a:ext>
            </a:extLst>
          </p:cNvPr>
          <p:cNvSpPr>
            <a:spLocks noGrp="1"/>
          </p:cNvSpPr>
          <p:nvPr>
            <p:ph type="body" sz="quarter" idx="13" hasCustomPrompt="1"/>
          </p:nvPr>
        </p:nvSpPr>
        <p:spPr>
          <a:xfrm>
            <a:off x="838200" y="2070100"/>
            <a:ext cx="10631488" cy="3448050"/>
          </a:xfrm>
        </p:spPr>
        <p:txBody>
          <a:bodyPr>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b="0" i="0">
                <a:latin typeface="Gotham Book" panose="02000604040000020004" pitchFamily="2" charset="0"/>
              </a:rPr>
              <a:t>Insert Paragraph Details here</a:t>
            </a:r>
            <a:endParaRPr lang="en-US"/>
          </a:p>
        </p:txBody>
      </p:sp>
    </p:spTree>
    <p:extLst>
      <p:ext uri="{BB962C8B-B14F-4D97-AF65-F5344CB8AC3E}">
        <p14:creationId xmlns:p14="http://schemas.microsoft.com/office/powerpoint/2010/main" val="39525536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168157-1DC9-22D1-0001-75C67BEB227F}"/>
              </a:ext>
            </a:extLst>
          </p:cNvPr>
          <p:cNvSpPr>
            <a:spLocks noGrp="1"/>
          </p:cNvSpPr>
          <p:nvPr>
            <p:ph type="dt" sz="half" idx="10"/>
          </p:nvPr>
        </p:nvSpPr>
        <p:spPr>
          <a:xfrm>
            <a:off x="838200" y="6356350"/>
            <a:ext cx="6541168" cy="365125"/>
          </a:xfrm>
        </p:spPr>
        <p:txBody>
          <a:bodyPr/>
          <a:lstStyle>
            <a:lvl1pPr>
              <a:defRPr>
                <a:solidFill>
                  <a:schemeClr val="accent1">
                    <a:lumMod val="50000"/>
                  </a:schemeClr>
                </a:solidFill>
              </a:defRPr>
            </a:lvl1pPr>
          </a:lstStyle>
          <a:p>
            <a:r>
              <a:rPr lang="en-US"/>
              <a:t>Presentation Title</a:t>
            </a:r>
          </a:p>
        </p:txBody>
      </p:sp>
      <p:sp>
        <p:nvSpPr>
          <p:cNvPr id="4" name="Slide Number Placeholder 3">
            <a:extLst>
              <a:ext uri="{FF2B5EF4-FFF2-40B4-BE49-F238E27FC236}">
                <a16:creationId xmlns:a16="http://schemas.microsoft.com/office/drawing/2014/main" id="{28E834C7-6070-455B-5757-8B2127252D45}"/>
              </a:ext>
            </a:extLst>
          </p:cNvPr>
          <p:cNvSpPr>
            <a:spLocks noGrp="1"/>
          </p:cNvSpPr>
          <p:nvPr>
            <p:ph type="sldNum" sz="quarter" idx="12"/>
          </p:nvPr>
        </p:nvSpPr>
        <p:spPr/>
        <p:txBody>
          <a:bodyPr/>
          <a:lstStyle>
            <a:lvl1pPr>
              <a:defRPr>
                <a:solidFill>
                  <a:schemeClr val="accent1">
                    <a:lumMod val="50000"/>
                  </a:schemeClr>
                </a:solidFill>
              </a:defRPr>
            </a:lvl1pPr>
          </a:lstStyle>
          <a:p>
            <a:fld id="{A070A489-3A69-A542-8CBF-69A14DF4633A}" type="slidenum">
              <a:rPr lang="en-US" smtClean="0"/>
              <a:pPr/>
              <a:t>‹#›</a:t>
            </a:fld>
            <a:endParaRPr lang="en-US"/>
          </a:p>
        </p:txBody>
      </p:sp>
      <p:sp>
        <p:nvSpPr>
          <p:cNvPr id="6" name="Freeform 5">
            <a:extLst>
              <a:ext uri="{FF2B5EF4-FFF2-40B4-BE49-F238E27FC236}">
                <a16:creationId xmlns:a16="http://schemas.microsoft.com/office/drawing/2014/main" id="{58E30A04-BB51-F8B2-76A7-827154EB7D7F}"/>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chemeClr val="accent5"/>
          </a:solidFill>
        </p:spPr>
        <p:txBody>
          <a:bodyPr/>
          <a:lstStyle/>
          <a:p>
            <a:endParaRPr lang="en-JM"/>
          </a:p>
        </p:txBody>
      </p:sp>
      <p:sp>
        <p:nvSpPr>
          <p:cNvPr id="7" name="Title 1">
            <a:extLst>
              <a:ext uri="{FF2B5EF4-FFF2-40B4-BE49-F238E27FC236}">
                <a16:creationId xmlns:a16="http://schemas.microsoft.com/office/drawing/2014/main" id="{607245E5-5600-E311-777B-C0493CB9B0D7}"/>
              </a:ext>
            </a:extLst>
          </p:cNvPr>
          <p:cNvSpPr>
            <a:spLocks noGrp="1"/>
          </p:cNvSpPr>
          <p:nvPr>
            <p:ph type="title" hasCustomPrompt="1"/>
          </p:nvPr>
        </p:nvSpPr>
        <p:spPr>
          <a:xfrm>
            <a:off x="838200" y="365125"/>
            <a:ext cx="10515600" cy="1325563"/>
          </a:xfrm>
        </p:spPr>
        <p:txBody>
          <a:bodyPr/>
          <a:lstStyle>
            <a:lvl1pPr>
              <a:defRPr>
                <a:solidFill>
                  <a:schemeClr val="accent1">
                    <a:lumMod val="50000"/>
                  </a:schemeClr>
                </a:solidFill>
                <a:latin typeface="Arial" panose="020B0604020202020204" pitchFamily="34" charset="0"/>
                <a:cs typeface="Arial" panose="020B0604020202020204" pitchFamily="34" charset="0"/>
              </a:defRPr>
            </a:lvl1pPr>
          </a:lstStyle>
          <a:p>
            <a:r>
              <a:rPr lang="en-US"/>
              <a:t>Your Title Goes Here</a:t>
            </a:r>
          </a:p>
        </p:txBody>
      </p:sp>
      <p:sp>
        <p:nvSpPr>
          <p:cNvPr id="10" name="Text Placeholder 9">
            <a:extLst>
              <a:ext uri="{FF2B5EF4-FFF2-40B4-BE49-F238E27FC236}">
                <a16:creationId xmlns:a16="http://schemas.microsoft.com/office/drawing/2014/main" id="{0B021ECB-6A16-32DF-45AB-AEA262BB34E2}"/>
              </a:ext>
            </a:extLst>
          </p:cNvPr>
          <p:cNvSpPr>
            <a:spLocks noGrp="1"/>
          </p:cNvSpPr>
          <p:nvPr>
            <p:ph type="body" sz="quarter" idx="13" hasCustomPrompt="1"/>
          </p:nvPr>
        </p:nvSpPr>
        <p:spPr>
          <a:xfrm>
            <a:off x="838200" y="2070100"/>
            <a:ext cx="10631488" cy="3448050"/>
          </a:xfrm>
        </p:spPr>
        <p:txBody>
          <a:bodyPr>
            <a:normAutofit/>
          </a:bodyPr>
          <a:lstStyle>
            <a:lvl1pPr marL="0" indent="0">
              <a:buNone/>
              <a:defRPr sz="2000" b="0" i="0">
                <a:solidFill>
                  <a:schemeClr val="accent1">
                    <a:lumMod val="50000"/>
                  </a:schemeClr>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b="0" i="0">
                <a:latin typeface="Gotham Book" panose="02000604040000020004" pitchFamily="2" charset="0"/>
              </a:rPr>
              <a:t>Insert Paragraph Details here</a:t>
            </a:r>
            <a:endParaRPr lang="en-US"/>
          </a:p>
        </p:txBody>
      </p:sp>
    </p:spTree>
    <p:extLst>
      <p:ext uri="{BB962C8B-B14F-4D97-AF65-F5344CB8AC3E}">
        <p14:creationId xmlns:p14="http://schemas.microsoft.com/office/powerpoint/2010/main" val="145361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E393-2E9A-9983-45BF-77A29608D9F1}"/>
              </a:ext>
            </a:extLst>
          </p:cNvPr>
          <p:cNvSpPr>
            <a:spLocks noGrp="1"/>
          </p:cNvSpPr>
          <p:nvPr>
            <p:ph type="title" hasCustomPrompt="1"/>
          </p:nvPr>
        </p:nvSpPr>
        <p:spPr>
          <a:xfrm>
            <a:off x="839788" y="607995"/>
            <a:ext cx="3932237" cy="1172679"/>
          </a:xfrm>
        </p:spPr>
        <p:txBody>
          <a:bodyPr anchor="t"/>
          <a:lstStyle>
            <a:lvl1pPr>
              <a:defRPr sz="3200">
                <a:solidFill>
                  <a:schemeClr val="accent1">
                    <a:lumMod val="50000"/>
                  </a:schemeClr>
                </a:solidFill>
                <a:latin typeface="Arial" panose="020B0604020202020204" pitchFamily="34" charset="0"/>
                <a:cs typeface="Arial" panose="020B0604020202020204" pitchFamily="34" charset="0"/>
              </a:defRPr>
            </a:lvl1pPr>
          </a:lstStyle>
          <a:p>
            <a:r>
              <a:rPr lang="en-US"/>
              <a:t>Your Header</a:t>
            </a:r>
            <a:br>
              <a:rPr lang="en-US"/>
            </a:br>
            <a:r>
              <a:rPr lang="en-US"/>
              <a:t>Goes Here</a:t>
            </a:r>
          </a:p>
        </p:txBody>
      </p:sp>
      <p:sp>
        <p:nvSpPr>
          <p:cNvPr id="3" name="Content Placeholder 2">
            <a:extLst>
              <a:ext uri="{FF2B5EF4-FFF2-40B4-BE49-F238E27FC236}">
                <a16:creationId xmlns:a16="http://schemas.microsoft.com/office/drawing/2014/main" id="{927C9BD8-2B4F-4CEE-835C-9912AAF944D1}"/>
              </a:ext>
            </a:extLst>
          </p:cNvPr>
          <p:cNvSpPr>
            <a:spLocks noGrp="1"/>
          </p:cNvSpPr>
          <p:nvPr>
            <p:ph idx="1" hasCustomPrompt="1"/>
          </p:nvPr>
        </p:nvSpPr>
        <p:spPr>
          <a:xfrm>
            <a:off x="5183188" y="987425"/>
            <a:ext cx="6172200" cy="4873625"/>
          </a:xfrm>
        </p:spPr>
        <p:txBody>
          <a:bodyPr/>
          <a:lstStyle>
            <a:lvl1pPr>
              <a:defRPr sz="3200">
                <a:solidFill>
                  <a:schemeClr val="accent1">
                    <a:lumMod val="50000"/>
                  </a:schemeClr>
                </a:solidFill>
                <a:latin typeface="Arial" panose="020B0604020202020204" pitchFamily="34" charset="0"/>
                <a:cs typeface="Arial" panose="020B0604020202020204" pitchFamily="34" charset="0"/>
              </a:defRPr>
            </a:lvl1pPr>
            <a:lvl2pPr>
              <a:defRPr sz="2800">
                <a:solidFill>
                  <a:schemeClr val="accent1">
                    <a:lumMod val="50000"/>
                  </a:schemeClr>
                </a:solidFill>
              </a:defRPr>
            </a:lvl2pPr>
            <a:lvl3pPr>
              <a:defRPr sz="2400">
                <a:solidFill>
                  <a:schemeClr val="accent1">
                    <a:lumMod val="50000"/>
                  </a:schemeClr>
                </a:solidFill>
              </a:defRPr>
            </a:lvl3pPr>
            <a:lvl4pPr>
              <a:defRPr sz="2000">
                <a:solidFill>
                  <a:schemeClr val="accent1">
                    <a:lumMod val="50000"/>
                  </a:schemeClr>
                </a:solidFill>
              </a:defRPr>
            </a:lvl4pPr>
            <a:lvl5pPr>
              <a:defRPr sz="2000">
                <a:solidFill>
                  <a:schemeClr val="accent1">
                    <a:lumMod val="50000"/>
                  </a:schemeClr>
                </a:solidFill>
              </a:defRPr>
            </a:lvl5pPr>
            <a:lvl6pPr>
              <a:defRPr sz="2000"/>
            </a:lvl6pPr>
            <a:lvl7pPr>
              <a:defRPr sz="2000"/>
            </a:lvl7pPr>
            <a:lvl8pPr>
              <a:defRPr sz="2000"/>
            </a:lvl8pPr>
            <a:lvl9pPr>
              <a:defRPr sz="2000"/>
            </a:lvl9pPr>
          </a:lstStyle>
          <a:p>
            <a:pPr lvl="0"/>
            <a:r>
              <a:rPr lang="en-US"/>
              <a:t>Insert Photo Here</a:t>
            </a:r>
          </a:p>
        </p:txBody>
      </p:sp>
      <p:sp>
        <p:nvSpPr>
          <p:cNvPr id="4" name="Text Placeholder 3">
            <a:extLst>
              <a:ext uri="{FF2B5EF4-FFF2-40B4-BE49-F238E27FC236}">
                <a16:creationId xmlns:a16="http://schemas.microsoft.com/office/drawing/2014/main" id="{78D656C8-AD1A-1557-910F-A40E7EAEA079}"/>
              </a:ext>
            </a:extLst>
          </p:cNvPr>
          <p:cNvSpPr>
            <a:spLocks noGrp="1"/>
          </p:cNvSpPr>
          <p:nvPr>
            <p:ph type="body" sz="half" idx="2" hasCustomPrompt="1"/>
          </p:nvPr>
        </p:nvSpPr>
        <p:spPr>
          <a:xfrm>
            <a:off x="839788" y="2057400"/>
            <a:ext cx="3932237" cy="3811588"/>
          </a:xfrm>
        </p:spPr>
        <p:txBody>
          <a:bodyPr/>
          <a:lstStyle>
            <a:lvl1pPr marL="0" indent="0">
              <a:buNone/>
              <a:defRPr sz="1600">
                <a:solidFill>
                  <a:schemeClr val="accent1">
                    <a:lumMod val="50000"/>
                  </a:schemeClr>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Insert Summary Here</a:t>
            </a:r>
          </a:p>
        </p:txBody>
      </p:sp>
      <p:sp>
        <p:nvSpPr>
          <p:cNvPr id="5" name="Date Placeholder 4">
            <a:extLst>
              <a:ext uri="{FF2B5EF4-FFF2-40B4-BE49-F238E27FC236}">
                <a16:creationId xmlns:a16="http://schemas.microsoft.com/office/drawing/2014/main" id="{969FC0C9-500F-FE4D-7059-F06EBA9D9B82}"/>
              </a:ext>
            </a:extLst>
          </p:cNvPr>
          <p:cNvSpPr>
            <a:spLocks noGrp="1"/>
          </p:cNvSpPr>
          <p:nvPr>
            <p:ph type="dt" sz="half" idx="10"/>
          </p:nvPr>
        </p:nvSpPr>
        <p:spPr>
          <a:xfrm>
            <a:off x="838199" y="6356350"/>
            <a:ext cx="6043863" cy="365125"/>
          </a:xfrm>
        </p:spPr>
        <p:txBody>
          <a:bodyPr/>
          <a:lstStyle>
            <a:lvl1pPr>
              <a:defRPr>
                <a:solidFill>
                  <a:schemeClr val="accent1">
                    <a:lumMod val="50000"/>
                  </a:schemeClr>
                </a:solidFill>
              </a:defRPr>
            </a:lvl1pPr>
          </a:lstStyle>
          <a:p>
            <a:r>
              <a:rPr lang="en-US"/>
              <a:t>Presentation Title</a:t>
            </a:r>
          </a:p>
        </p:txBody>
      </p:sp>
      <p:sp>
        <p:nvSpPr>
          <p:cNvPr id="7" name="Slide Number Placeholder 6">
            <a:extLst>
              <a:ext uri="{FF2B5EF4-FFF2-40B4-BE49-F238E27FC236}">
                <a16:creationId xmlns:a16="http://schemas.microsoft.com/office/drawing/2014/main" id="{C96480E6-F565-AA43-351F-D8B3E480C1BC}"/>
              </a:ext>
            </a:extLst>
          </p:cNvPr>
          <p:cNvSpPr>
            <a:spLocks noGrp="1"/>
          </p:cNvSpPr>
          <p:nvPr>
            <p:ph type="sldNum" sz="quarter" idx="12"/>
          </p:nvPr>
        </p:nvSpPr>
        <p:spPr/>
        <p:txBody>
          <a:bodyPr/>
          <a:lstStyle>
            <a:lvl1pPr>
              <a:defRPr>
                <a:solidFill>
                  <a:schemeClr val="accent1">
                    <a:lumMod val="50000"/>
                  </a:schemeClr>
                </a:solidFill>
              </a:defRPr>
            </a:lvl1pPr>
          </a:lstStyle>
          <a:p>
            <a:fld id="{A070A489-3A69-A542-8CBF-69A14DF4633A}" type="slidenum">
              <a:rPr lang="en-US" smtClean="0"/>
              <a:pPr/>
              <a:t>‹#›</a:t>
            </a:fld>
            <a:endParaRPr lang="en-US"/>
          </a:p>
        </p:txBody>
      </p:sp>
      <p:sp>
        <p:nvSpPr>
          <p:cNvPr id="8" name="Freeform 5">
            <a:extLst>
              <a:ext uri="{FF2B5EF4-FFF2-40B4-BE49-F238E27FC236}">
                <a16:creationId xmlns:a16="http://schemas.microsoft.com/office/drawing/2014/main" id="{BB0E02BF-5253-F5F0-3096-EB50B28B9845}"/>
              </a:ext>
            </a:extLst>
          </p:cNvPr>
          <p:cNvSpPr/>
          <p:nvPr userDrawn="1"/>
        </p:nvSpPr>
        <p:spPr>
          <a:xfrm>
            <a:off x="548124" y="616016"/>
            <a:ext cx="160193" cy="797749"/>
          </a:xfrm>
          <a:custGeom>
            <a:avLst/>
            <a:gdLst/>
            <a:ahLst/>
            <a:cxnLst/>
            <a:rect l="l" t="t" r="r" b="b"/>
            <a:pathLst>
              <a:path w="87478" h="435632">
                <a:moveTo>
                  <a:pt x="0" y="0"/>
                </a:moveTo>
                <a:lnTo>
                  <a:pt x="87478" y="0"/>
                </a:lnTo>
                <a:lnTo>
                  <a:pt x="87478" y="435632"/>
                </a:lnTo>
                <a:lnTo>
                  <a:pt x="0" y="435632"/>
                </a:lnTo>
                <a:close/>
              </a:path>
            </a:pathLst>
          </a:custGeom>
          <a:solidFill>
            <a:srgbClr val="00B0F0"/>
          </a:solidFill>
        </p:spPr>
        <p:txBody>
          <a:bodyPr/>
          <a:lstStyle/>
          <a:p>
            <a:endParaRPr lang="en-JM"/>
          </a:p>
        </p:txBody>
      </p:sp>
    </p:spTree>
    <p:extLst>
      <p:ext uri="{BB962C8B-B14F-4D97-AF65-F5344CB8AC3E}">
        <p14:creationId xmlns:p14="http://schemas.microsoft.com/office/powerpoint/2010/main" val="5793076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9286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 Id="rId2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F0A751-1161-B5E5-857A-F6D2DD78DD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61548A-6721-D520-895E-CB2ECA019D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F626EA-AB8E-FC2B-091F-C087201288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18B40F0A-320E-6442-A923-5A57A6A8D9C5}" type="datetimeFigureOut">
              <a:rPr lang="en-US" smtClean="0"/>
              <a:pPr/>
              <a:t>10/14/2026</a:t>
            </a:fld>
            <a:endParaRPr lang="en-US"/>
          </a:p>
        </p:txBody>
      </p:sp>
      <p:sp>
        <p:nvSpPr>
          <p:cNvPr id="5" name="Footer Placeholder 4">
            <a:extLst>
              <a:ext uri="{FF2B5EF4-FFF2-40B4-BE49-F238E27FC236}">
                <a16:creationId xmlns:a16="http://schemas.microsoft.com/office/drawing/2014/main" id="{8BF13154-829B-3A43-2A1A-A6A0418908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ptos" panose="020B0004020202020204" pitchFamily="34" charset="0"/>
              </a:defRPr>
            </a:lvl1pPr>
          </a:lstStyle>
          <a:p>
            <a:endParaRPr lang="en-US"/>
          </a:p>
        </p:txBody>
      </p:sp>
      <p:sp>
        <p:nvSpPr>
          <p:cNvPr id="6" name="Slide Number Placeholder 5">
            <a:extLst>
              <a:ext uri="{FF2B5EF4-FFF2-40B4-BE49-F238E27FC236}">
                <a16:creationId xmlns:a16="http://schemas.microsoft.com/office/drawing/2014/main" id="{76B00FEF-A83D-8D73-E4C2-319D8E1648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A070A489-3A69-A542-8CBF-69A14DF4633A}" type="slidenum">
              <a:rPr lang="en-US" smtClean="0"/>
              <a:pPr/>
              <a:t>‹#›</a:t>
            </a:fld>
            <a:endParaRPr lang="en-US"/>
          </a:p>
        </p:txBody>
      </p:sp>
      <p:sp>
        <p:nvSpPr>
          <p:cNvPr id="10" name="Freeform 5">
            <a:extLst>
              <a:ext uri="{FF2B5EF4-FFF2-40B4-BE49-F238E27FC236}">
                <a16:creationId xmlns:a16="http://schemas.microsoft.com/office/drawing/2014/main" id="{5752760B-33EF-16A0-4C1A-D5DA671FA413}"/>
              </a:ext>
            </a:extLst>
          </p:cNvPr>
          <p:cNvSpPr/>
          <p:nvPr userDrawn="1"/>
        </p:nvSpPr>
        <p:spPr>
          <a:xfrm>
            <a:off x="11138841" y="365125"/>
            <a:ext cx="814370" cy="276441"/>
          </a:xfrm>
          <a:custGeom>
            <a:avLst/>
            <a:gdLst/>
            <a:ahLst/>
            <a:cxnLst/>
            <a:rect l="l" t="t" r="r" b="b"/>
            <a:pathLst>
              <a:path w="3746416" h="1271736">
                <a:moveTo>
                  <a:pt x="0" y="0"/>
                </a:moveTo>
                <a:lnTo>
                  <a:pt x="3746416" y="0"/>
                </a:lnTo>
                <a:lnTo>
                  <a:pt x="3746416" y="1271737"/>
                </a:lnTo>
                <a:lnTo>
                  <a:pt x="0" y="1271737"/>
                </a:lnTo>
                <a:lnTo>
                  <a:pt x="0" y="0"/>
                </a:lnTo>
                <a:close/>
              </a:path>
            </a:pathLst>
          </a:custGeom>
          <a:blipFill>
            <a:blip r:embed="rId25"/>
            <a:stretch>
              <a:fillRect/>
            </a:stretch>
          </a:blipFill>
        </p:spPr>
        <p:txBody>
          <a:bodyPr/>
          <a:lstStyle/>
          <a:p>
            <a:endParaRPr lang="en-JM"/>
          </a:p>
        </p:txBody>
      </p:sp>
      <p:sp>
        <p:nvSpPr>
          <p:cNvPr id="9" name="Rectangle 8">
            <a:extLst>
              <a:ext uri="{FF2B5EF4-FFF2-40B4-BE49-F238E27FC236}">
                <a16:creationId xmlns:a16="http://schemas.microsoft.com/office/drawing/2014/main" id="{4E8AD4AA-68AC-5F26-D7F6-6F73C00A5B9F}"/>
              </a:ext>
            </a:extLst>
          </p:cNvPr>
          <p:cNvSpPr/>
          <p:nvPr userDrawn="1"/>
        </p:nvSpPr>
        <p:spPr>
          <a:xfrm>
            <a:off x="5157281" y="6491422"/>
            <a:ext cx="1877437" cy="369332"/>
          </a:xfrm>
          <a:prstGeom prst="rect">
            <a:avLst/>
          </a:prstGeom>
          <a:noFill/>
        </p:spPr>
        <p:txBody>
          <a:bodyPr wrap="none" lIns="91440" tIns="45720" rIns="91440" bIns="45720">
            <a:spAutoFit/>
          </a:bodyPr>
          <a:lstStyle/>
          <a:p>
            <a:pPr algn="ctr"/>
            <a:r>
              <a:rPr lang="en-US" sz="1800" b="0" cap="none" spc="0">
                <a:ln w="0"/>
                <a:solidFill>
                  <a:schemeClr val="bg2">
                    <a:alpha val="25000"/>
                  </a:schemeClr>
                </a:solidFill>
                <a:effectLst>
                  <a:outerShdw blurRad="38100" dist="19050" dir="2700000" algn="tl" rotWithShape="0">
                    <a:schemeClr val="dk1">
                      <a:alpha val="40000"/>
                    </a:schemeClr>
                  </a:outerShdw>
                </a:effectLst>
                <a:latin typeface="Arial" panose="020B0604020202020204" pitchFamily="34" charset="0"/>
              </a:rPr>
              <a:t>CONFIDENTIAL</a:t>
            </a:r>
          </a:p>
        </p:txBody>
      </p:sp>
    </p:spTree>
    <p:extLst>
      <p:ext uri="{BB962C8B-B14F-4D97-AF65-F5344CB8AC3E}">
        <p14:creationId xmlns:p14="http://schemas.microsoft.com/office/powerpoint/2010/main" val="41331550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77" r:id="rId23"/>
  </p:sldLayoutIdLst>
  <p:txStyles>
    <p:titleStyle>
      <a:lvl1pPr algn="l" defTabSz="914400" rtl="0" eaLnBrk="1" latinLnBrk="0" hangingPunct="1">
        <a:lnSpc>
          <a:spcPct val="90000"/>
        </a:lnSpc>
        <a:spcBef>
          <a:spcPct val="0"/>
        </a:spcBef>
        <a:buNone/>
        <a:defRPr sz="4000" b="1" i="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F0A751-1161-B5E5-857A-F6D2DD78DD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61548A-6721-D520-895E-CB2ECA019D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F626EA-AB8E-FC2B-091F-C087201288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ptos" panose="020B0004020202020204" pitchFamily="34" charset="0"/>
              </a:defRPr>
            </a:lvl1pPr>
          </a:lstStyle>
          <a:p>
            <a:fld id="{18B40F0A-320E-6442-A923-5A57A6A8D9C5}" type="datetimeFigureOut">
              <a:rPr lang="en-US" smtClean="0"/>
              <a:pPr/>
              <a:t>10/14/2026</a:t>
            </a:fld>
            <a:endParaRPr lang="en-US"/>
          </a:p>
        </p:txBody>
      </p:sp>
      <p:sp>
        <p:nvSpPr>
          <p:cNvPr id="5" name="Footer Placeholder 4">
            <a:extLst>
              <a:ext uri="{FF2B5EF4-FFF2-40B4-BE49-F238E27FC236}">
                <a16:creationId xmlns:a16="http://schemas.microsoft.com/office/drawing/2014/main" id="{8BF13154-829B-3A43-2A1A-A6A0418908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ptos" panose="020B0004020202020204" pitchFamily="34" charset="0"/>
              </a:defRPr>
            </a:lvl1pPr>
          </a:lstStyle>
          <a:p>
            <a:endParaRPr lang="en-US"/>
          </a:p>
        </p:txBody>
      </p:sp>
      <p:sp>
        <p:nvSpPr>
          <p:cNvPr id="6" name="Slide Number Placeholder 5">
            <a:extLst>
              <a:ext uri="{FF2B5EF4-FFF2-40B4-BE49-F238E27FC236}">
                <a16:creationId xmlns:a16="http://schemas.microsoft.com/office/drawing/2014/main" id="{76B00FEF-A83D-8D73-E4C2-319D8E1648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A070A489-3A69-A542-8CBF-69A14DF4633A}" type="slidenum">
              <a:rPr lang="en-US" smtClean="0"/>
              <a:pPr/>
              <a:t>‹#›</a:t>
            </a:fld>
            <a:endParaRPr lang="en-US"/>
          </a:p>
        </p:txBody>
      </p:sp>
      <p:sp>
        <p:nvSpPr>
          <p:cNvPr id="10" name="Freeform 5">
            <a:extLst>
              <a:ext uri="{FF2B5EF4-FFF2-40B4-BE49-F238E27FC236}">
                <a16:creationId xmlns:a16="http://schemas.microsoft.com/office/drawing/2014/main" id="{5752760B-33EF-16A0-4C1A-D5DA671FA413}"/>
              </a:ext>
            </a:extLst>
          </p:cNvPr>
          <p:cNvSpPr/>
          <p:nvPr userDrawn="1"/>
        </p:nvSpPr>
        <p:spPr>
          <a:xfrm>
            <a:off x="11138841" y="365125"/>
            <a:ext cx="814370" cy="276441"/>
          </a:xfrm>
          <a:custGeom>
            <a:avLst/>
            <a:gdLst/>
            <a:ahLst/>
            <a:cxnLst/>
            <a:rect l="l" t="t" r="r" b="b"/>
            <a:pathLst>
              <a:path w="3746416" h="1271736">
                <a:moveTo>
                  <a:pt x="0" y="0"/>
                </a:moveTo>
                <a:lnTo>
                  <a:pt x="3746416" y="0"/>
                </a:lnTo>
                <a:lnTo>
                  <a:pt x="3746416" y="1271737"/>
                </a:lnTo>
                <a:lnTo>
                  <a:pt x="0" y="1271737"/>
                </a:lnTo>
                <a:lnTo>
                  <a:pt x="0" y="0"/>
                </a:lnTo>
                <a:close/>
              </a:path>
            </a:pathLst>
          </a:custGeom>
          <a:blipFill>
            <a:blip r:embed="rId14"/>
            <a:stretch>
              <a:fillRect/>
            </a:stretch>
          </a:blipFill>
        </p:spPr>
        <p:txBody>
          <a:bodyPr/>
          <a:lstStyle/>
          <a:p>
            <a:endParaRPr lang="en-JM"/>
          </a:p>
        </p:txBody>
      </p:sp>
      <p:sp>
        <p:nvSpPr>
          <p:cNvPr id="9" name="Rectangle 8">
            <a:extLst>
              <a:ext uri="{FF2B5EF4-FFF2-40B4-BE49-F238E27FC236}">
                <a16:creationId xmlns:a16="http://schemas.microsoft.com/office/drawing/2014/main" id="{C0F8D44C-0D43-B0FF-AFB1-0A9B210C970E}"/>
              </a:ext>
            </a:extLst>
          </p:cNvPr>
          <p:cNvSpPr/>
          <p:nvPr userDrawn="1"/>
        </p:nvSpPr>
        <p:spPr>
          <a:xfrm>
            <a:off x="5157281" y="6492876"/>
            <a:ext cx="1877437" cy="369332"/>
          </a:xfrm>
          <a:prstGeom prst="rect">
            <a:avLst/>
          </a:prstGeom>
          <a:noFill/>
        </p:spPr>
        <p:txBody>
          <a:bodyPr wrap="none" lIns="91440" tIns="45720" rIns="91440" bIns="45720">
            <a:spAutoFit/>
          </a:bodyPr>
          <a:lstStyle/>
          <a:p>
            <a:pPr algn="ctr"/>
            <a:r>
              <a:rPr lang="en-US" sz="1800" b="0" cap="none" spc="0">
                <a:ln w="0"/>
                <a:solidFill>
                  <a:schemeClr val="bg2">
                    <a:alpha val="25000"/>
                  </a:schemeClr>
                </a:solidFill>
                <a:effectLst>
                  <a:outerShdw blurRad="38100" dist="19050" dir="2700000" algn="tl" rotWithShape="0">
                    <a:schemeClr val="dk1">
                      <a:alpha val="40000"/>
                    </a:schemeClr>
                  </a:outerShdw>
                </a:effectLst>
                <a:latin typeface="Arial" panose="020B0604020202020204" pitchFamily="34" charset="0"/>
              </a:rPr>
              <a:t>CONFIDENTIAL</a:t>
            </a:r>
          </a:p>
        </p:txBody>
      </p:sp>
    </p:spTree>
    <p:extLst>
      <p:ext uri="{BB962C8B-B14F-4D97-AF65-F5344CB8AC3E}">
        <p14:creationId xmlns:p14="http://schemas.microsoft.com/office/powerpoint/2010/main" val="1571557860"/>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defTabSz="914400" rtl="0" eaLnBrk="1" latinLnBrk="0" hangingPunct="1">
        <a:lnSpc>
          <a:spcPct val="90000"/>
        </a:lnSpc>
        <a:spcBef>
          <a:spcPct val="0"/>
        </a:spcBef>
        <a:buNone/>
        <a:defRPr sz="4000" b="1" i="0" kern="1200">
          <a:solidFill>
            <a:schemeClr val="tx1"/>
          </a:solidFill>
          <a:latin typeface="Aptos Black"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What We Need From You</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Review what we hold for your accounts, correct it, and tell us what we are missing</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The account workbook has one sheet for each ask, with a yellow column to respond in.</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1</a:t>
            </a:r>
          </a:p>
        </p:txBody>
      </p:sp>
      <p:sp>
        <p:nvSpPr>
          <p:cNvPr id="7" name="Rectangle 6"/>
          <p:cNvSpPr/>
          <p:nvPr/>
        </p:nvSpPr>
        <p:spPr>
          <a:xfrm>
            <a:off x="274320" y="2000000"/>
            <a:ext cx="3750000" cy="240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2000000"/>
            <a:ext cx="3750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4320" y="2110000"/>
            <a:ext cx="3490000" cy="170000"/>
          </a:xfrm>
          <a:prstGeom prst="rect">
            <a:avLst/>
          </a:prstGeom>
          <a:noFill/>
        </p:spPr>
        <p:txBody>
          <a:bodyPr wrap="square" lIns="0" rIns="0" tIns="0" bIns="0" anchor="t">
            <a:spAutoFit/>
          </a:bodyPr>
          <a:lstStyle/>
          <a:p>
            <a:pPr algn="l"/>
            <a:r>
              <a:rPr sz="900" b="1">
                <a:solidFill>
                  <a:srgbClr val="66788A"/>
                </a:solidFill>
                <a:latin typeface="Arial"/>
              </a:rPr>
              <a:t>1  CONFIRM THE ADJUSTMENTS</a:t>
            </a:r>
          </a:p>
        </p:txBody>
      </p:sp>
      <p:sp>
        <p:nvSpPr>
          <p:cNvPr id="10" name="TextBox 9"/>
          <p:cNvSpPr txBox="1"/>
          <p:nvPr/>
        </p:nvSpPr>
        <p:spPr>
          <a:xfrm>
            <a:off x="404320" y="2330000"/>
            <a:ext cx="3490000" cy="420000"/>
          </a:xfrm>
          <a:prstGeom prst="rect">
            <a:avLst/>
          </a:prstGeom>
          <a:noFill/>
        </p:spPr>
        <p:txBody>
          <a:bodyPr wrap="square" lIns="0" rIns="0" tIns="0" bIns="0" anchor="t">
            <a:spAutoFit/>
          </a:bodyPr>
          <a:lstStyle/>
          <a:p>
            <a:pPr algn="l"/>
            <a:r>
              <a:rPr sz="2200" b="1">
                <a:solidFill>
                  <a:srgbClr val="062552"/>
                </a:solidFill>
                <a:latin typeface="Arial"/>
              </a:rPr>
              <a:t>75 adjustments</a:t>
            </a:r>
          </a:p>
        </p:txBody>
      </p:sp>
      <p:sp>
        <p:nvSpPr>
          <p:cNvPr id="11" name="TextBox 10"/>
          <p:cNvSpPr txBox="1"/>
          <p:nvPr/>
        </p:nvSpPr>
        <p:spPr>
          <a:xfrm>
            <a:off x="404320" y="2800000"/>
            <a:ext cx="3490000" cy="1550000"/>
          </a:xfrm>
          <a:prstGeom prst="rect">
            <a:avLst/>
          </a:prstGeom>
          <a:noFill/>
        </p:spPr>
        <p:txBody>
          <a:bodyPr wrap="square" lIns="0" rIns="0" tIns="0" bIns="0" anchor="t">
            <a:spAutoFit/>
          </a:bodyPr>
          <a:lstStyle/>
          <a:p>
            <a:pPr algn="l"/>
            <a:r>
              <a:rPr sz="950" b="0">
                <a:solidFill>
                  <a:srgbClr val="1F1F1F"/>
                </a:solidFill>
                <a:latin typeface="Arial"/>
              </a:rPr>
              <a:t>coming up on 55 accounts. Keep, change or remove each one in the Adjustments sheet. 133 of the 187 monthly entries on file were made by Sales Forecasting, not by a KAM, so they need your confirmation most.</a:t>
            </a:r>
          </a:p>
        </p:txBody>
      </p:sp>
      <p:sp>
        <p:nvSpPr>
          <p:cNvPr id="12" name="Rectangle 11"/>
          <p:cNvSpPr/>
          <p:nvPr/>
        </p:nvSpPr>
        <p:spPr>
          <a:xfrm>
            <a:off x="4250000" y="2000000"/>
            <a:ext cx="3750000" cy="240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0000" y="2000000"/>
            <a:ext cx="3750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0000" y="2110000"/>
            <a:ext cx="3490000" cy="170000"/>
          </a:xfrm>
          <a:prstGeom prst="rect">
            <a:avLst/>
          </a:prstGeom>
          <a:noFill/>
        </p:spPr>
        <p:txBody>
          <a:bodyPr wrap="square" lIns="0" rIns="0" tIns="0" bIns="0" anchor="t">
            <a:spAutoFit/>
          </a:bodyPr>
          <a:lstStyle/>
          <a:p>
            <a:pPr algn="l"/>
            <a:r>
              <a:rPr sz="900" b="1">
                <a:solidFill>
                  <a:srgbClr val="66788A"/>
                </a:solidFill>
                <a:latin typeface="Arial"/>
              </a:rPr>
              <a:t>2  CONFIRM WHAT IS PERMANENT</a:t>
            </a:r>
          </a:p>
        </p:txBody>
      </p:sp>
      <p:sp>
        <p:nvSpPr>
          <p:cNvPr id="15" name="TextBox 14"/>
          <p:cNvSpPr txBox="1"/>
          <p:nvPr/>
        </p:nvSpPr>
        <p:spPr>
          <a:xfrm>
            <a:off x="4380000" y="2330000"/>
            <a:ext cx="3490000" cy="420000"/>
          </a:xfrm>
          <a:prstGeom prst="rect">
            <a:avLst/>
          </a:prstGeom>
          <a:noFill/>
        </p:spPr>
        <p:txBody>
          <a:bodyPr wrap="square" lIns="0" rIns="0" tIns="0" bIns="0" anchor="t">
            <a:spAutoFit/>
          </a:bodyPr>
          <a:lstStyle/>
          <a:p>
            <a:pPr algn="l"/>
            <a:r>
              <a:rPr sz="2200" b="1">
                <a:solidFill>
                  <a:srgbClr val="062552"/>
                </a:solidFill>
                <a:latin typeface="Arial"/>
              </a:rPr>
              <a:t>26 customers</a:t>
            </a:r>
          </a:p>
        </p:txBody>
      </p:sp>
      <p:sp>
        <p:nvSpPr>
          <p:cNvPr id="16" name="TextBox 15"/>
          <p:cNvSpPr txBox="1"/>
          <p:nvPr/>
        </p:nvSpPr>
        <p:spPr>
          <a:xfrm>
            <a:off x="4380000" y="2800000"/>
            <a:ext cx="3490000" cy="1550000"/>
          </a:xfrm>
          <a:prstGeom prst="rect">
            <a:avLst/>
          </a:prstGeom>
          <a:noFill/>
        </p:spPr>
        <p:txBody>
          <a:bodyPr wrap="square" lIns="0" rIns="0" tIns="0" bIns="0" anchor="t">
            <a:spAutoFit/>
          </a:bodyPr>
          <a:lstStyle/>
          <a:p>
            <a:pPr algn="l"/>
            <a:r>
              <a:rPr sz="950" b="0">
                <a:solidFill>
                  <a:srgbClr val="1F1F1F"/>
                </a:solidFill>
                <a:latin typeface="Arial"/>
              </a:rPr>
              <a:t>have a defection, expansion or renewal entry that now carries forward to December 2028 until the next entry. Tell us which are permanent and which should end.</a:t>
            </a:r>
          </a:p>
        </p:txBody>
      </p:sp>
      <p:sp>
        <p:nvSpPr>
          <p:cNvPr id="17" name="Rectangle 16"/>
          <p:cNvSpPr/>
          <p:nvPr/>
        </p:nvSpPr>
        <p:spPr>
          <a:xfrm>
            <a:off x="8225000" y="2000000"/>
            <a:ext cx="3750000" cy="240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5000" y="2000000"/>
            <a:ext cx="3750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5000" y="2110000"/>
            <a:ext cx="3490000" cy="170000"/>
          </a:xfrm>
          <a:prstGeom prst="rect">
            <a:avLst/>
          </a:prstGeom>
          <a:noFill/>
        </p:spPr>
        <p:txBody>
          <a:bodyPr wrap="square" lIns="0" rIns="0" tIns="0" bIns="0" anchor="t">
            <a:spAutoFit/>
          </a:bodyPr>
          <a:lstStyle/>
          <a:p>
            <a:pPr algn="l"/>
            <a:r>
              <a:rPr sz="900" b="1">
                <a:solidFill>
                  <a:srgbClr val="66788A"/>
                </a:solidFill>
                <a:latin typeface="Arial"/>
              </a:rPr>
              <a:t>3  TELL US WHAT IS MISSING</a:t>
            </a:r>
          </a:p>
        </p:txBody>
      </p:sp>
      <p:sp>
        <p:nvSpPr>
          <p:cNvPr id="20" name="TextBox 19"/>
          <p:cNvSpPr txBox="1"/>
          <p:nvPr/>
        </p:nvSpPr>
        <p:spPr>
          <a:xfrm>
            <a:off x="8355000" y="2330000"/>
            <a:ext cx="3490000" cy="420000"/>
          </a:xfrm>
          <a:prstGeom prst="rect">
            <a:avLst/>
          </a:prstGeom>
          <a:noFill/>
        </p:spPr>
        <p:txBody>
          <a:bodyPr wrap="square" lIns="0" rIns="0" tIns="0" bIns="0" anchor="t">
            <a:spAutoFit/>
          </a:bodyPr>
          <a:lstStyle/>
          <a:p>
            <a:pPr algn="l"/>
            <a:r>
              <a:rPr sz="2200" b="1">
                <a:solidFill>
                  <a:srgbClr val="062552"/>
                </a:solidFill>
                <a:latin typeface="Arial"/>
              </a:rPr>
              <a:t>Gaps and changes</a:t>
            </a:r>
          </a:p>
        </p:txBody>
      </p:sp>
      <p:sp>
        <p:nvSpPr>
          <p:cNvPr id="21" name="TextBox 20"/>
          <p:cNvSpPr txBox="1"/>
          <p:nvPr/>
        </p:nvSpPr>
        <p:spPr>
          <a:xfrm>
            <a:off x="8355000" y="2800000"/>
            <a:ext cx="3490000" cy="1550000"/>
          </a:xfrm>
          <a:prstGeom prst="rect">
            <a:avLst/>
          </a:prstGeom>
          <a:noFill/>
        </p:spPr>
        <p:txBody>
          <a:bodyPr wrap="square" lIns="0" rIns="0" tIns="0" bIns="0" anchor="t">
            <a:spAutoFit/>
          </a:bodyPr>
          <a:lstStyle/>
          <a:p>
            <a:pPr algn="l"/>
            <a:r>
              <a:rPr sz="950" b="0">
                <a:solidFill>
                  <a:srgbClr val="1F1F1F"/>
                </a:solidFill>
                <a:latin typeface="Arial"/>
              </a:rPr>
              <a:t>New connections, closures, solar or self-generation, expansions. Add them in the Portfolio forecast sheet, and confirm the 13 pipeline customers.</a:t>
            </a:r>
          </a:p>
        </p:txBody>
      </p:sp>
      <p:sp>
        <p:nvSpPr>
          <p:cNvPr id="22" name="Rectangle 21"/>
          <p:cNvSpPr/>
          <p:nvPr/>
        </p:nvSpPr>
        <p:spPr>
          <a:xfrm>
            <a:off x="274320" y="4750000"/>
            <a:ext cx="11650000" cy="110000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750000"/>
            <a:ext cx="54000" cy="1100000"/>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20" y="4830000"/>
            <a:ext cx="11390000" cy="980000"/>
          </a:xfrm>
          <a:prstGeom prst="rect">
            <a:avLst/>
          </a:prstGeom>
          <a:noFill/>
        </p:spPr>
        <p:txBody>
          <a:bodyPr wrap="square" lIns="0" rIns="0" tIns="0" bIns="0" anchor="t">
            <a:spAutoFit/>
          </a:bodyPr>
          <a:lstStyle/>
          <a:p>
            <a:pPr algn="l"/>
            <a:r>
              <a:rPr sz="1050" b="1">
                <a:solidFill>
                  <a:srgbClr val="062552"/>
                </a:solidFill>
                <a:latin typeface="Arial"/>
              </a:rPr>
              <a:t>Why now. </a:t>
            </a:r>
            <a:r>
              <a:rPr sz="1050" b="0">
                <a:solidFill>
                  <a:srgbClr val="1F1F1F"/>
                </a:solidFill>
                <a:latin typeface="Arial"/>
              </a:rPr>
              <a:t>September came in 9.1 GWh above the company forecast and 43 accounts in your portfolios missed by more than 0.05 GWh. The next forecast round starts from the adjustments on file, so any that are wrong or missing carry straight into FY2027 and FY2028.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Forecast Accuracy: Last Round</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September was forecast to 98% in total, but only 86% account by account</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Forecast = account forecast after the August close. Actual = September billed sales. Assigned commercial accounts, 108.9 GWh of the 294.8 GWh company total.</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2</a:t>
            </a:r>
          </a:p>
        </p:txBody>
      </p:sp>
      <p:graphicFrame>
        <p:nvGraphicFramePr>
          <p:cNvPr id="7" name="Table 6"/>
          <p:cNvGraphicFramePr>
            <a:graphicFrameLocks noGrp="1"/>
          </p:cNvGraphicFramePr>
          <p:nvPr/>
        </p:nvGraphicFramePr>
        <p:xfrm>
          <a:off x="274320" y="1950000"/>
          <a:ext cx="7199996" cy="3862000"/>
        </p:xfrm>
        <a:graphic>
          <a:graphicData uri="http://schemas.openxmlformats.org/drawingml/2006/table">
            <a:tbl>
              <a:tblPr firstRow="0" bandRow="0">
                <a:tableStyleId>{5940675A-B579-460E-94D1-54222C63F5DA}</a:tableStyleId>
              </a:tblPr>
              <a:tblGrid>
                <a:gridCol w="1955555"/>
                <a:gridCol w="800000"/>
                <a:gridCol w="888888"/>
                <a:gridCol w="888888"/>
                <a:gridCol w="888888"/>
                <a:gridCol w="800000"/>
                <a:gridCol w="977777"/>
              </a:tblGrid>
              <a:tr h="320000">
                <a:tc>
                  <a:txBody>
                    <a:bodyPr wrap="square"/>
                    <a:lstStyle/>
                    <a:p>
                      <a:pPr algn="l"/>
                      <a:r>
                        <a:rPr sz="900" b="1">
                          <a:solidFill>
                            <a:srgbClr val="FFFFFF"/>
                          </a:solidFill>
                          <a:latin typeface="Arial"/>
                        </a:rPr>
                        <a:t>KAM</a:t>
                      </a:r>
                    </a:p>
                  </a:txBody>
                  <a:tcPr marL="54000" marR="54000" marT="18000" marB="18000" anchor="ctr">
                    <a:solidFill>
                      <a:srgbClr val="062552"/>
                    </a:solidFill>
                  </a:tcPr>
                </a:tc>
                <a:tc>
                  <a:txBody>
                    <a:bodyPr wrap="square"/>
                    <a:lstStyle/>
                    <a:p>
                      <a:pPr algn="ctr"/>
                      <a:r>
                        <a:rPr sz="900" b="1">
                          <a:solidFill>
                            <a:srgbClr val="FFFFFF"/>
                          </a:solidFill>
                          <a:latin typeface="Arial"/>
                        </a:rPr>
                        <a:t>Accounts</a:t>
                      </a:r>
                    </a:p>
                  </a:txBody>
                  <a:tcPr marL="54000" marR="54000" marT="18000" marB="18000" anchor="ctr">
                    <a:solidFill>
                      <a:srgbClr val="062552"/>
                    </a:solidFill>
                  </a:tcPr>
                </a:tc>
                <a:tc>
                  <a:txBody>
                    <a:bodyPr wrap="square"/>
                    <a:lstStyle/>
                    <a:p>
                      <a:pPr algn="ctr"/>
                      <a:r>
                        <a:rPr sz="900" b="1">
                          <a:solidFill>
                            <a:srgbClr val="FFFFFF"/>
                          </a:solidFill>
                          <a:latin typeface="Arial"/>
                        </a:rPr>
                        <a:t>Forecast</a:t>
                      </a:r>
                    </a:p>
                  </a:txBody>
                  <a:tcPr marL="54000" marR="54000" marT="18000" marB="18000" anchor="ctr">
                    <a:solidFill>
                      <a:srgbClr val="062552"/>
                    </a:solidFill>
                  </a:tcPr>
                </a:tc>
                <a:tc>
                  <a:txBody>
                    <a:bodyPr wrap="square"/>
                    <a:lstStyle/>
                    <a:p>
                      <a:pPr algn="ctr"/>
                      <a:r>
                        <a:rPr sz="900" b="1">
                          <a:solidFill>
                            <a:srgbClr val="FFFFFF"/>
                          </a:solidFill>
                          <a:latin typeface="Arial"/>
                        </a:rPr>
                        <a:t>Actual</a:t>
                      </a:r>
                    </a:p>
                  </a:txBody>
                  <a:tcPr marL="54000" marR="54000" marT="18000" marB="18000" anchor="ctr">
                    <a:solidFill>
                      <a:srgbClr val="062552"/>
                    </a:solidFill>
                  </a:tcPr>
                </a:tc>
                <a:tc>
                  <a:txBody>
                    <a:bodyPr wrap="square"/>
                    <a:lstStyle/>
                    <a:p>
                      <a:pPr algn="ctr"/>
                      <a:r>
                        <a:rPr sz="900" b="1">
                          <a:solidFill>
                            <a:srgbClr val="FFFFFF"/>
                          </a:solidFill>
                          <a:latin typeface="Arial"/>
                        </a:rPr>
                        <a:t>Variance</a:t>
                      </a:r>
                    </a:p>
                  </a:txBody>
                  <a:tcPr marL="54000" marR="54000" marT="18000" marB="18000" anchor="ctr">
                    <a:solidFill>
                      <a:srgbClr val="062552"/>
                    </a:solidFill>
                  </a:tcPr>
                </a:tc>
                <a:tc>
                  <a:txBody>
                    <a:bodyPr wrap="square"/>
                    <a:lstStyle/>
                    <a:p>
                      <a:pPr algn="ctr"/>
                      <a:r>
                        <a:rPr sz="900" b="1">
                          <a:solidFill>
                            <a:srgbClr val="FFFFFF"/>
                          </a:solidFill>
                          <a:latin typeface="Arial"/>
                        </a:rPr>
                        <a:t>Net</a:t>
                      </a:r>
                    </a:p>
                  </a:txBody>
                  <a:tcPr marL="54000" marR="54000" marT="18000" marB="18000" anchor="ctr">
                    <a:solidFill>
                      <a:srgbClr val="062552"/>
                    </a:solidFill>
                  </a:tcPr>
                </a:tc>
                <a:tc>
                  <a:txBody>
                    <a:bodyPr wrap="square"/>
                    <a:lstStyle/>
                    <a:p>
                      <a:pPr algn="ctr"/>
                      <a:r>
                        <a:rPr sz="900" b="1">
                          <a:solidFill>
                            <a:srgbClr val="FFFFFF"/>
                          </a:solidFill>
                          <a:latin typeface="Arial"/>
                        </a:rPr>
                        <a:t>Account level</a:t>
                      </a:r>
                    </a:p>
                  </a:txBody>
                  <a:tcPr marL="54000" marR="54000" marT="18000" marB="18000" anchor="ctr">
                    <a:solidFill>
                      <a:srgbClr val="062552"/>
                    </a:solidFill>
                  </a:tcPr>
                </a:tc>
              </a:tr>
              <a:tr h="322000">
                <a:tc>
                  <a:txBody>
                    <a:bodyPr wrap="square"/>
                    <a:lstStyle/>
                    <a:p>
                      <a:pPr algn="l"/>
                      <a:r>
                        <a:rPr sz="900" b="1">
                          <a:solidFill>
                            <a:srgbClr val="062552"/>
                          </a:solidFill>
                          <a:latin typeface="Arial"/>
                        </a:rPr>
                        <a:t>Simone Chisholm</a:t>
                      </a:r>
                    </a:p>
                  </a:txBody>
                  <a:tcPr marL="54000" marR="54000" marT="18000" marB="18000" anchor="ctr">
                    <a:noFill/>
                  </a:tcPr>
                </a:tc>
                <a:tc>
                  <a:txBody>
                    <a:bodyPr wrap="square"/>
                    <a:lstStyle/>
                    <a:p>
                      <a:pPr algn="ctr"/>
                      <a:r>
                        <a:rPr sz="900" b="0">
                          <a:solidFill>
                            <a:srgbClr val="1F1F1F"/>
                          </a:solidFill>
                          <a:latin typeface="Arial"/>
                        </a:rPr>
                        <a:t>2,978</a:t>
                      </a:r>
                    </a:p>
                  </a:txBody>
                  <a:tcPr marL="54000" marR="54000" marT="18000" marB="18000" anchor="ctr">
                    <a:noFill/>
                  </a:tcPr>
                </a:tc>
                <a:tc>
                  <a:txBody>
                    <a:bodyPr wrap="square"/>
                    <a:lstStyle/>
                    <a:p>
                      <a:pPr algn="ctr"/>
                      <a:r>
                        <a:rPr sz="900" b="0">
                          <a:solidFill>
                            <a:srgbClr val="1F1F1F"/>
                          </a:solidFill>
                          <a:latin typeface="Arial"/>
                        </a:rPr>
                        <a:t>27.55</a:t>
                      </a:r>
                    </a:p>
                  </a:txBody>
                  <a:tcPr marL="54000" marR="54000" marT="18000" marB="18000" anchor="ctr">
                    <a:noFill/>
                  </a:tcPr>
                </a:tc>
                <a:tc>
                  <a:txBody>
                    <a:bodyPr wrap="square"/>
                    <a:lstStyle/>
                    <a:p>
                      <a:pPr algn="ctr"/>
                      <a:r>
                        <a:rPr sz="900" b="0">
                          <a:solidFill>
                            <a:srgbClr val="1F1F1F"/>
                          </a:solidFill>
                          <a:latin typeface="Arial"/>
                        </a:rPr>
                        <a:t>28.36</a:t>
                      </a:r>
                    </a:p>
                  </a:txBody>
                  <a:tcPr marL="54000" marR="54000" marT="18000" marB="18000" anchor="ctr">
                    <a:noFill/>
                  </a:tcPr>
                </a:tc>
                <a:tc>
                  <a:txBody>
                    <a:bodyPr wrap="square"/>
                    <a:lstStyle/>
                    <a:p>
                      <a:pPr algn="ctr"/>
                      <a:r>
                        <a:rPr sz="900" b="0">
                          <a:solidFill>
                            <a:srgbClr val="0E4E95"/>
                          </a:solidFill>
                          <a:latin typeface="Arial"/>
                        </a:rPr>
                        <a:t>+0.81</a:t>
                      </a:r>
                    </a:p>
                  </a:txBody>
                  <a:tcPr marL="54000" marR="54000" marT="18000" marB="18000" anchor="ctr">
                    <a:noFill/>
                  </a:tcPr>
                </a:tc>
                <a:tc>
                  <a:txBody>
                    <a:bodyPr wrap="square"/>
                    <a:lstStyle/>
                    <a:p>
                      <a:pPr algn="ctr"/>
                      <a:r>
                        <a:rPr sz="900" b="0">
                          <a:solidFill>
                            <a:srgbClr val="1F1F1F"/>
                          </a:solidFill>
                          <a:latin typeface="Arial"/>
                        </a:rPr>
                        <a:t>97%</a:t>
                      </a:r>
                    </a:p>
                  </a:txBody>
                  <a:tcPr marL="54000" marR="54000" marT="18000" marB="18000" anchor="ctr">
                    <a:solidFill>
                      <a:srgbClr val="DDEFDF"/>
                    </a:solidFill>
                  </a:tcPr>
                </a:tc>
                <a:tc>
                  <a:txBody>
                    <a:bodyPr wrap="square"/>
                    <a:lstStyle/>
                    <a:p>
                      <a:pPr algn="ctr"/>
                      <a:r>
                        <a:rPr sz="900" b="0">
                          <a:solidFill>
                            <a:srgbClr val="1F1F1F"/>
                          </a:solidFill>
                          <a:latin typeface="Arial"/>
                        </a:rPr>
                        <a:t>86%</a:t>
                      </a:r>
                    </a:p>
                  </a:txBody>
                  <a:tcPr marL="54000" marR="54000" marT="18000" marB="18000" anchor="ctr">
                    <a:solidFill>
                      <a:srgbClr val="FFF0C8"/>
                    </a:solidFill>
                  </a:tcPr>
                </a:tc>
              </a:tr>
              <a:tr h="322000">
                <a:tc>
                  <a:txBody>
                    <a:bodyPr wrap="square"/>
                    <a:lstStyle/>
                    <a:p>
                      <a:pPr algn="l"/>
                      <a:r>
                        <a:rPr sz="900" b="1">
                          <a:solidFill>
                            <a:srgbClr val="062552"/>
                          </a:solidFill>
                          <a:latin typeface="Arial"/>
                        </a:rPr>
                        <a:t>Nicole Watson</a:t>
                      </a:r>
                    </a:p>
                  </a:txBody>
                  <a:tcPr marL="54000" marR="54000" marT="18000" marB="18000" anchor="ctr">
                    <a:solidFill>
                      <a:srgbClr val="F3F6FB"/>
                    </a:solidFill>
                  </a:tcPr>
                </a:tc>
                <a:tc>
                  <a:txBody>
                    <a:bodyPr wrap="square"/>
                    <a:lstStyle/>
                    <a:p>
                      <a:pPr algn="ctr"/>
                      <a:r>
                        <a:rPr sz="900" b="0">
                          <a:solidFill>
                            <a:srgbClr val="1F1F1F"/>
                          </a:solidFill>
                          <a:latin typeface="Arial"/>
                        </a:rPr>
                        <a:t>190</a:t>
                      </a:r>
                    </a:p>
                  </a:txBody>
                  <a:tcPr marL="54000" marR="54000" marT="18000" marB="18000" anchor="ctr">
                    <a:solidFill>
                      <a:srgbClr val="F3F6FB"/>
                    </a:solidFill>
                  </a:tcPr>
                </a:tc>
                <a:tc>
                  <a:txBody>
                    <a:bodyPr wrap="square"/>
                    <a:lstStyle/>
                    <a:p>
                      <a:pPr algn="ctr"/>
                      <a:r>
                        <a:rPr sz="900" b="0">
                          <a:solidFill>
                            <a:srgbClr val="1F1F1F"/>
                          </a:solidFill>
                          <a:latin typeface="Arial"/>
                        </a:rPr>
                        <a:t>17.76</a:t>
                      </a:r>
                    </a:p>
                  </a:txBody>
                  <a:tcPr marL="54000" marR="54000" marT="18000" marB="18000" anchor="ctr">
                    <a:solidFill>
                      <a:srgbClr val="F3F6FB"/>
                    </a:solidFill>
                  </a:tcPr>
                </a:tc>
                <a:tc>
                  <a:txBody>
                    <a:bodyPr wrap="square"/>
                    <a:lstStyle/>
                    <a:p>
                      <a:pPr algn="ctr"/>
                      <a:r>
                        <a:rPr sz="900" b="0">
                          <a:solidFill>
                            <a:srgbClr val="1F1F1F"/>
                          </a:solidFill>
                          <a:latin typeface="Arial"/>
                        </a:rPr>
                        <a:t>16.68</a:t>
                      </a:r>
                    </a:p>
                  </a:txBody>
                  <a:tcPr marL="54000" marR="54000" marT="18000" marB="18000" anchor="ctr">
                    <a:solidFill>
                      <a:srgbClr val="F3F6FB"/>
                    </a:solidFill>
                  </a:tcPr>
                </a:tc>
                <a:tc>
                  <a:txBody>
                    <a:bodyPr wrap="square"/>
                    <a:lstStyle/>
                    <a:p>
                      <a:pPr algn="ctr"/>
                      <a:r>
                        <a:rPr sz="900" b="0">
                          <a:solidFill>
                            <a:srgbClr val="C00000"/>
                          </a:solidFill>
                          <a:latin typeface="Arial"/>
                        </a:rPr>
                        <a:t>−1.08</a:t>
                      </a:r>
                    </a:p>
                  </a:txBody>
                  <a:tcPr marL="54000" marR="54000" marT="18000" marB="18000" anchor="ctr">
                    <a:solidFill>
                      <a:srgbClr val="F3F6FB"/>
                    </a:solidFill>
                  </a:tcPr>
                </a:tc>
                <a:tc>
                  <a:txBody>
                    <a:bodyPr wrap="square"/>
                    <a:lstStyle/>
                    <a:p>
                      <a:pPr algn="ctr"/>
                      <a:r>
                        <a:rPr sz="900" b="0">
                          <a:solidFill>
                            <a:srgbClr val="1F1F1F"/>
                          </a:solidFill>
                          <a:latin typeface="Arial"/>
                        </a:rPr>
                        <a:t>94%</a:t>
                      </a:r>
                    </a:p>
                  </a:txBody>
                  <a:tcPr marL="54000" marR="54000" marT="18000" marB="18000" anchor="ctr">
                    <a:solidFill>
                      <a:srgbClr val="FFF0C8"/>
                    </a:solidFill>
                  </a:tcPr>
                </a:tc>
                <a:tc>
                  <a:txBody>
                    <a:bodyPr wrap="square"/>
                    <a:lstStyle/>
                    <a:p>
                      <a:pPr algn="ctr"/>
                      <a:r>
                        <a:rPr sz="900" b="0">
                          <a:solidFill>
                            <a:srgbClr val="1F1F1F"/>
                          </a:solidFill>
                          <a:latin typeface="Arial"/>
                        </a:rPr>
                        <a:t>79%</a:t>
                      </a:r>
                    </a:p>
                  </a:txBody>
                  <a:tcPr marL="54000" marR="54000" marT="18000" marB="18000" anchor="ctr">
                    <a:solidFill>
                      <a:srgbClr val="F6D3D6"/>
                    </a:solidFill>
                  </a:tcPr>
                </a:tc>
              </a:tr>
              <a:tr h="322000">
                <a:tc>
                  <a:txBody>
                    <a:bodyPr wrap="square"/>
                    <a:lstStyle/>
                    <a:p>
                      <a:pPr algn="l"/>
                      <a:r>
                        <a:rPr sz="900" b="1">
                          <a:solidFill>
                            <a:srgbClr val="062552"/>
                          </a:solidFill>
                          <a:latin typeface="Arial"/>
                        </a:rPr>
                        <a:t>Tanya Williams</a:t>
                      </a:r>
                    </a:p>
                  </a:txBody>
                  <a:tcPr marL="54000" marR="54000" marT="18000" marB="18000" anchor="ctr">
                    <a:noFill/>
                  </a:tcPr>
                </a:tc>
                <a:tc>
                  <a:txBody>
                    <a:bodyPr wrap="square"/>
                    <a:lstStyle/>
                    <a:p>
                      <a:pPr algn="ctr"/>
                      <a:r>
                        <a:rPr sz="900" b="0">
                          <a:solidFill>
                            <a:srgbClr val="1F1F1F"/>
                          </a:solidFill>
                          <a:latin typeface="Arial"/>
                        </a:rPr>
                        <a:t>1,283</a:t>
                      </a:r>
                    </a:p>
                  </a:txBody>
                  <a:tcPr marL="54000" marR="54000" marT="18000" marB="18000" anchor="ctr">
                    <a:noFill/>
                  </a:tcPr>
                </a:tc>
                <a:tc>
                  <a:txBody>
                    <a:bodyPr wrap="square"/>
                    <a:lstStyle/>
                    <a:p>
                      <a:pPr algn="ctr"/>
                      <a:r>
                        <a:rPr sz="900" b="0">
                          <a:solidFill>
                            <a:srgbClr val="1F1F1F"/>
                          </a:solidFill>
                          <a:latin typeface="Arial"/>
                        </a:rPr>
                        <a:t>16.44</a:t>
                      </a:r>
                    </a:p>
                  </a:txBody>
                  <a:tcPr marL="54000" marR="54000" marT="18000" marB="18000" anchor="ctr">
                    <a:noFill/>
                  </a:tcPr>
                </a:tc>
                <a:tc>
                  <a:txBody>
                    <a:bodyPr wrap="square"/>
                    <a:lstStyle/>
                    <a:p>
                      <a:pPr algn="ctr"/>
                      <a:r>
                        <a:rPr sz="900" b="0">
                          <a:solidFill>
                            <a:srgbClr val="1F1F1F"/>
                          </a:solidFill>
                          <a:latin typeface="Arial"/>
                        </a:rPr>
                        <a:t>17.24</a:t>
                      </a:r>
                    </a:p>
                  </a:txBody>
                  <a:tcPr marL="54000" marR="54000" marT="18000" marB="18000" anchor="ctr">
                    <a:noFill/>
                  </a:tcPr>
                </a:tc>
                <a:tc>
                  <a:txBody>
                    <a:bodyPr wrap="square"/>
                    <a:lstStyle/>
                    <a:p>
                      <a:pPr algn="ctr"/>
                      <a:r>
                        <a:rPr sz="900" b="0">
                          <a:solidFill>
                            <a:srgbClr val="0E4E95"/>
                          </a:solidFill>
                          <a:latin typeface="Arial"/>
                        </a:rPr>
                        <a:t>+0.81</a:t>
                      </a:r>
                    </a:p>
                  </a:txBody>
                  <a:tcPr marL="54000" marR="54000" marT="18000" marB="18000" anchor="ctr">
                    <a:noFill/>
                  </a:tcPr>
                </a:tc>
                <a:tc>
                  <a:txBody>
                    <a:bodyPr wrap="square"/>
                    <a:lstStyle/>
                    <a:p>
                      <a:pPr algn="ctr"/>
                      <a:r>
                        <a:rPr sz="900" b="0">
                          <a:solidFill>
                            <a:srgbClr val="1F1F1F"/>
                          </a:solidFill>
                          <a:latin typeface="Arial"/>
                        </a:rPr>
                        <a:t>95%</a:t>
                      </a:r>
                    </a:p>
                  </a:txBody>
                  <a:tcPr marL="54000" marR="54000" marT="18000" marB="18000" anchor="ctr">
                    <a:solidFill>
                      <a:srgbClr val="DDEFDF"/>
                    </a:solidFill>
                  </a:tcPr>
                </a:tc>
                <a:tc>
                  <a:txBody>
                    <a:bodyPr wrap="square"/>
                    <a:lstStyle/>
                    <a:p>
                      <a:pPr algn="ctr"/>
                      <a:r>
                        <a:rPr sz="900" b="0">
                          <a:solidFill>
                            <a:srgbClr val="1F1F1F"/>
                          </a:solidFill>
                          <a:latin typeface="Arial"/>
                        </a:rPr>
                        <a:t>91%</a:t>
                      </a:r>
                    </a:p>
                  </a:txBody>
                  <a:tcPr marL="54000" marR="54000" marT="18000" marB="18000" anchor="ctr">
                    <a:solidFill>
                      <a:srgbClr val="FFF0C8"/>
                    </a:solidFill>
                  </a:tcPr>
                </a:tc>
              </a:tr>
              <a:tr h="322000">
                <a:tc>
                  <a:txBody>
                    <a:bodyPr wrap="square"/>
                    <a:lstStyle/>
                    <a:p>
                      <a:pPr algn="l"/>
                      <a:r>
                        <a:rPr sz="900" b="1">
                          <a:solidFill>
                            <a:srgbClr val="062552"/>
                          </a:solidFill>
                          <a:latin typeface="Arial"/>
                        </a:rPr>
                        <a:t>Anna-Kay Toyloy</a:t>
                      </a:r>
                    </a:p>
                  </a:txBody>
                  <a:tcPr marL="54000" marR="54000" marT="18000" marB="18000" anchor="ctr">
                    <a:solidFill>
                      <a:srgbClr val="F3F6FB"/>
                    </a:solidFill>
                  </a:tcPr>
                </a:tc>
                <a:tc>
                  <a:txBody>
                    <a:bodyPr wrap="square"/>
                    <a:lstStyle/>
                    <a:p>
                      <a:pPr algn="ctr"/>
                      <a:r>
                        <a:rPr sz="900" b="0">
                          <a:solidFill>
                            <a:srgbClr val="1F1F1F"/>
                          </a:solidFill>
                          <a:latin typeface="Arial"/>
                        </a:rPr>
                        <a:t>169</a:t>
                      </a:r>
                    </a:p>
                  </a:txBody>
                  <a:tcPr marL="54000" marR="54000" marT="18000" marB="18000" anchor="ctr">
                    <a:solidFill>
                      <a:srgbClr val="F3F6FB"/>
                    </a:solidFill>
                  </a:tcPr>
                </a:tc>
                <a:tc>
                  <a:txBody>
                    <a:bodyPr wrap="square"/>
                    <a:lstStyle/>
                    <a:p>
                      <a:pPr algn="ctr"/>
                      <a:r>
                        <a:rPr sz="900" b="0">
                          <a:solidFill>
                            <a:srgbClr val="1F1F1F"/>
                          </a:solidFill>
                          <a:latin typeface="Arial"/>
                        </a:rPr>
                        <a:t>10.04</a:t>
                      </a:r>
                    </a:p>
                  </a:txBody>
                  <a:tcPr marL="54000" marR="54000" marT="18000" marB="18000" anchor="ctr">
                    <a:solidFill>
                      <a:srgbClr val="F3F6FB"/>
                    </a:solidFill>
                  </a:tcPr>
                </a:tc>
                <a:tc>
                  <a:txBody>
                    <a:bodyPr wrap="square"/>
                    <a:lstStyle/>
                    <a:p>
                      <a:pPr algn="ctr"/>
                      <a:r>
                        <a:rPr sz="900" b="0">
                          <a:solidFill>
                            <a:srgbClr val="1F1F1F"/>
                          </a:solidFill>
                          <a:latin typeface="Arial"/>
                        </a:rPr>
                        <a:t>10.48</a:t>
                      </a:r>
                    </a:p>
                  </a:txBody>
                  <a:tcPr marL="54000" marR="54000" marT="18000" marB="18000" anchor="ctr">
                    <a:solidFill>
                      <a:srgbClr val="F3F6FB"/>
                    </a:solidFill>
                  </a:tcPr>
                </a:tc>
                <a:tc>
                  <a:txBody>
                    <a:bodyPr wrap="square"/>
                    <a:lstStyle/>
                    <a:p>
                      <a:pPr algn="ctr"/>
                      <a:r>
                        <a:rPr sz="900" b="0">
                          <a:solidFill>
                            <a:srgbClr val="0E4E95"/>
                          </a:solidFill>
                          <a:latin typeface="Arial"/>
                        </a:rPr>
                        <a:t>+0.43</a:t>
                      </a:r>
                    </a:p>
                  </a:txBody>
                  <a:tcPr marL="54000" marR="54000" marT="18000" marB="18000" anchor="ctr">
                    <a:solidFill>
                      <a:srgbClr val="F3F6FB"/>
                    </a:solidFill>
                  </a:tcPr>
                </a:tc>
                <a:tc>
                  <a:txBody>
                    <a:bodyPr wrap="square"/>
                    <a:lstStyle/>
                    <a:p>
                      <a:pPr algn="ctr"/>
                      <a:r>
                        <a:rPr sz="900" b="0">
                          <a:solidFill>
                            <a:srgbClr val="1F1F1F"/>
                          </a:solidFill>
                          <a:latin typeface="Arial"/>
                        </a:rPr>
                        <a:t>96%</a:t>
                      </a:r>
                    </a:p>
                  </a:txBody>
                  <a:tcPr marL="54000" marR="54000" marT="18000" marB="18000" anchor="ctr">
                    <a:solidFill>
                      <a:srgbClr val="DDEFDF"/>
                    </a:solidFill>
                  </a:tcPr>
                </a:tc>
                <a:tc>
                  <a:txBody>
                    <a:bodyPr wrap="square"/>
                    <a:lstStyle/>
                    <a:p>
                      <a:pPr algn="ctr"/>
                      <a:r>
                        <a:rPr sz="900" b="0">
                          <a:solidFill>
                            <a:srgbClr val="1F1F1F"/>
                          </a:solidFill>
                          <a:latin typeface="Arial"/>
                        </a:rPr>
                        <a:t>90%</a:t>
                      </a:r>
                    </a:p>
                  </a:txBody>
                  <a:tcPr marL="54000" marR="54000" marT="18000" marB="18000" anchor="ctr">
                    <a:solidFill>
                      <a:srgbClr val="FFF0C8"/>
                    </a:solidFill>
                  </a:tcPr>
                </a:tc>
              </a:tr>
              <a:tr h="322000">
                <a:tc>
                  <a:txBody>
                    <a:bodyPr wrap="square"/>
                    <a:lstStyle/>
                    <a:p>
                      <a:pPr algn="l"/>
                      <a:r>
                        <a:rPr sz="900" b="1">
                          <a:solidFill>
                            <a:srgbClr val="062552"/>
                          </a:solidFill>
                          <a:latin typeface="Arial"/>
                        </a:rPr>
                        <a:t>Sheryl Davis</a:t>
                      </a:r>
                    </a:p>
                  </a:txBody>
                  <a:tcPr marL="54000" marR="54000" marT="18000" marB="18000" anchor="ctr">
                    <a:noFill/>
                  </a:tcPr>
                </a:tc>
                <a:tc>
                  <a:txBody>
                    <a:bodyPr wrap="square"/>
                    <a:lstStyle/>
                    <a:p>
                      <a:pPr algn="ctr"/>
                      <a:r>
                        <a:rPr sz="900" b="0">
                          <a:solidFill>
                            <a:srgbClr val="1F1F1F"/>
                          </a:solidFill>
                          <a:latin typeface="Arial"/>
                        </a:rPr>
                        <a:t>2,082</a:t>
                      </a:r>
                    </a:p>
                  </a:txBody>
                  <a:tcPr marL="54000" marR="54000" marT="18000" marB="18000" anchor="ctr">
                    <a:noFill/>
                  </a:tcPr>
                </a:tc>
                <a:tc>
                  <a:txBody>
                    <a:bodyPr wrap="square"/>
                    <a:lstStyle/>
                    <a:p>
                      <a:pPr algn="ctr"/>
                      <a:r>
                        <a:rPr sz="900" b="0">
                          <a:solidFill>
                            <a:srgbClr val="1F1F1F"/>
                          </a:solidFill>
                          <a:latin typeface="Arial"/>
                        </a:rPr>
                        <a:t>10.54</a:t>
                      </a:r>
                    </a:p>
                  </a:txBody>
                  <a:tcPr marL="54000" marR="54000" marT="18000" marB="18000" anchor="ctr">
                    <a:noFill/>
                  </a:tcPr>
                </a:tc>
                <a:tc>
                  <a:txBody>
                    <a:bodyPr wrap="square"/>
                    <a:lstStyle/>
                    <a:p>
                      <a:pPr algn="ctr"/>
                      <a:r>
                        <a:rPr sz="900" b="0">
                          <a:solidFill>
                            <a:srgbClr val="1F1F1F"/>
                          </a:solidFill>
                          <a:latin typeface="Arial"/>
                        </a:rPr>
                        <a:t>10.77</a:t>
                      </a:r>
                    </a:p>
                  </a:txBody>
                  <a:tcPr marL="54000" marR="54000" marT="18000" marB="18000" anchor="ctr">
                    <a:noFill/>
                  </a:tcPr>
                </a:tc>
                <a:tc>
                  <a:txBody>
                    <a:bodyPr wrap="square"/>
                    <a:lstStyle/>
                    <a:p>
                      <a:pPr algn="ctr"/>
                      <a:r>
                        <a:rPr sz="900" b="0">
                          <a:solidFill>
                            <a:srgbClr val="0E4E95"/>
                          </a:solidFill>
                          <a:latin typeface="Arial"/>
                        </a:rPr>
                        <a:t>+0.23</a:t>
                      </a:r>
                    </a:p>
                  </a:txBody>
                  <a:tcPr marL="54000" marR="54000" marT="18000" marB="18000" anchor="ctr">
                    <a:noFill/>
                  </a:tcPr>
                </a:tc>
                <a:tc>
                  <a:txBody>
                    <a:bodyPr wrap="square"/>
                    <a:lstStyle/>
                    <a:p>
                      <a:pPr algn="ctr"/>
                      <a:r>
                        <a:rPr sz="900" b="0">
                          <a:solidFill>
                            <a:srgbClr val="1F1F1F"/>
                          </a:solidFill>
                          <a:latin typeface="Arial"/>
                        </a:rPr>
                        <a:t>98%</a:t>
                      </a:r>
                    </a:p>
                  </a:txBody>
                  <a:tcPr marL="54000" marR="54000" marT="18000" marB="18000" anchor="ctr">
                    <a:solidFill>
                      <a:srgbClr val="DDEFDF"/>
                    </a:solidFill>
                  </a:tcPr>
                </a:tc>
                <a:tc>
                  <a:txBody>
                    <a:bodyPr wrap="square"/>
                    <a:lstStyle/>
                    <a:p>
                      <a:pPr algn="ctr"/>
                      <a:r>
                        <a:rPr sz="900" b="0">
                          <a:solidFill>
                            <a:srgbClr val="1F1F1F"/>
                          </a:solidFill>
                          <a:latin typeface="Arial"/>
                        </a:rPr>
                        <a:t>93%</a:t>
                      </a:r>
                    </a:p>
                  </a:txBody>
                  <a:tcPr marL="54000" marR="54000" marT="18000" marB="18000" anchor="ctr">
                    <a:solidFill>
                      <a:srgbClr val="FFF0C8"/>
                    </a:solidFill>
                  </a:tcPr>
                </a:tc>
              </a:tr>
              <a:tr h="322000">
                <a:tc>
                  <a:txBody>
                    <a:bodyPr wrap="square"/>
                    <a:lstStyle/>
                    <a:p>
                      <a:pPr algn="l"/>
                      <a:r>
                        <a:rPr sz="900" b="1">
                          <a:solidFill>
                            <a:srgbClr val="062552"/>
                          </a:solidFill>
                          <a:latin typeface="Arial"/>
                        </a:rPr>
                        <a:t>Ewan Pitter</a:t>
                      </a:r>
                    </a:p>
                  </a:txBody>
                  <a:tcPr marL="54000" marR="54000" marT="18000" marB="18000" anchor="ctr">
                    <a:solidFill>
                      <a:srgbClr val="F3F6FB"/>
                    </a:solidFill>
                  </a:tcPr>
                </a:tc>
                <a:tc>
                  <a:txBody>
                    <a:bodyPr wrap="square"/>
                    <a:lstStyle/>
                    <a:p>
                      <a:pPr algn="ctr"/>
                      <a:r>
                        <a:rPr sz="900" b="0">
                          <a:solidFill>
                            <a:srgbClr val="1F1F1F"/>
                          </a:solidFill>
                          <a:latin typeface="Arial"/>
                        </a:rPr>
                        <a:t>170</a:t>
                      </a:r>
                    </a:p>
                  </a:txBody>
                  <a:tcPr marL="54000" marR="54000" marT="18000" marB="18000" anchor="ctr">
                    <a:solidFill>
                      <a:srgbClr val="F3F6FB"/>
                    </a:solidFill>
                  </a:tcPr>
                </a:tc>
                <a:tc>
                  <a:txBody>
                    <a:bodyPr wrap="square"/>
                    <a:lstStyle/>
                    <a:p>
                      <a:pPr algn="ctr"/>
                      <a:r>
                        <a:rPr sz="900" b="0">
                          <a:solidFill>
                            <a:srgbClr val="1F1F1F"/>
                          </a:solidFill>
                          <a:latin typeface="Arial"/>
                        </a:rPr>
                        <a:t>8.53</a:t>
                      </a:r>
                    </a:p>
                  </a:txBody>
                  <a:tcPr marL="54000" marR="54000" marT="18000" marB="18000" anchor="ctr">
                    <a:solidFill>
                      <a:srgbClr val="F3F6FB"/>
                    </a:solidFill>
                  </a:tcPr>
                </a:tc>
                <a:tc>
                  <a:txBody>
                    <a:bodyPr wrap="square"/>
                    <a:lstStyle/>
                    <a:p>
                      <a:pPr algn="ctr"/>
                      <a:r>
                        <a:rPr sz="900" b="0">
                          <a:solidFill>
                            <a:srgbClr val="1F1F1F"/>
                          </a:solidFill>
                          <a:latin typeface="Arial"/>
                        </a:rPr>
                        <a:t>8.23</a:t>
                      </a:r>
                    </a:p>
                  </a:txBody>
                  <a:tcPr marL="54000" marR="54000" marT="18000" marB="18000" anchor="ctr">
                    <a:solidFill>
                      <a:srgbClr val="F3F6FB"/>
                    </a:solidFill>
                  </a:tcPr>
                </a:tc>
                <a:tc>
                  <a:txBody>
                    <a:bodyPr wrap="square"/>
                    <a:lstStyle/>
                    <a:p>
                      <a:pPr algn="ctr"/>
                      <a:r>
                        <a:rPr sz="900" b="0">
                          <a:solidFill>
                            <a:srgbClr val="C00000"/>
                          </a:solidFill>
                          <a:latin typeface="Arial"/>
                        </a:rPr>
                        <a:t>−0.30</a:t>
                      </a:r>
                    </a:p>
                  </a:txBody>
                  <a:tcPr marL="54000" marR="54000" marT="18000" marB="18000" anchor="ctr">
                    <a:solidFill>
                      <a:srgbClr val="F3F6FB"/>
                    </a:solidFill>
                  </a:tcPr>
                </a:tc>
                <a:tc>
                  <a:txBody>
                    <a:bodyPr wrap="square"/>
                    <a:lstStyle/>
                    <a:p>
                      <a:pPr algn="ctr"/>
                      <a:r>
                        <a:rPr sz="900" b="0">
                          <a:solidFill>
                            <a:srgbClr val="1F1F1F"/>
                          </a:solidFill>
                          <a:latin typeface="Arial"/>
                        </a:rPr>
                        <a:t>96%</a:t>
                      </a:r>
                    </a:p>
                  </a:txBody>
                  <a:tcPr marL="54000" marR="54000" marT="18000" marB="18000" anchor="ctr">
                    <a:solidFill>
                      <a:srgbClr val="DDEFDF"/>
                    </a:solidFill>
                  </a:tcPr>
                </a:tc>
                <a:tc>
                  <a:txBody>
                    <a:bodyPr wrap="square"/>
                    <a:lstStyle/>
                    <a:p>
                      <a:pPr algn="ctr"/>
                      <a:r>
                        <a:rPr sz="900" b="0">
                          <a:solidFill>
                            <a:srgbClr val="1F1F1F"/>
                          </a:solidFill>
                          <a:latin typeface="Arial"/>
                        </a:rPr>
                        <a:t>83%</a:t>
                      </a:r>
                    </a:p>
                  </a:txBody>
                  <a:tcPr marL="54000" marR="54000" marT="18000" marB="18000" anchor="ctr">
                    <a:solidFill>
                      <a:srgbClr val="F6D3D6"/>
                    </a:solidFill>
                  </a:tcPr>
                </a:tc>
              </a:tr>
              <a:tr h="322000">
                <a:tc>
                  <a:txBody>
                    <a:bodyPr wrap="square"/>
                    <a:lstStyle/>
                    <a:p>
                      <a:pPr algn="l"/>
                      <a:r>
                        <a:rPr sz="900" b="1">
                          <a:solidFill>
                            <a:srgbClr val="062552"/>
                          </a:solidFill>
                          <a:latin typeface="Arial"/>
                        </a:rPr>
                        <a:t>Sharmica Holness</a:t>
                      </a:r>
                    </a:p>
                  </a:txBody>
                  <a:tcPr marL="54000" marR="54000" marT="18000" marB="18000" anchor="ctr">
                    <a:noFill/>
                  </a:tcPr>
                </a:tc>
                <a:tc>
                  <a:txBody>
                    <a:bodyPr wrap="square"/>
                    <a:lstStyle/>
                    <a:p>
                      <a:pPr algn="ctr"/>
                      <a:r>
                        <a:rPr sz="900" b="0">
                          <a:solidFill>
                            <a:srgbClr val="1F1F1F"/>
                          </a:solidFill>
                          <a:latin typeface="Arial"/>
                        </a:rPr>
                        <a:t>199</a:t>
                      </a:r>
                    </a:p>
                  </a:txBody>
                  <a:tcPr marL="54000" marR="54000" marT="18000" marB="18000" anchor="ctr">
                    <a:noFill/>
                  </a:tcPr>
                </a:tc>
                <a:tc>
                  <a:txBody>
                    <a:bodyPr wrap="square"/>
                    <a:lstStyle/>
                    <a:p>
                      <a:pPr algn="ctr"/>
                      <a:r>
                        <a:rPr sz="900" b="0">
                          <a:solidFill>
                            <a:srgbClr val="1F1F1F"/>
                          </a:solidFill>
                          <a:latin typeface="Arial"/>
                        </a:rPr>
                        <a:t>6.59</a:t>
                      </a:r>
                    </a:p>
                  </a:txBody>
                  <a:tcPr marL="54000" marR="54000" marT="18000" marB="18000" anchor="ctr">
                    <a:noFill/>
                  </a:tcPr>
                </a:tc>
                <a:tc>
                  <a:txBody>
                    <a:bodyPr wrap="square"/>
                    <a:lstStyle/>
                    <a:p>
                      <a:pPr algn="ctr"/>
                      <a:r>
                        <a:rPr sz="900" b="0">
                          <a:solidFill>
                            <a:srgbClr val="1F1F1F"/>
                          </a:solidFill>
                          <a:latin typeface="Arial"/>
                        </a:rPr>
                        <a:t>7.53</a:t>
                      </a:r>
                    </a:p>
                  </a:txBody>
                  <a:tcPr marL="54000" marR="54000" marT="18000" marB="18000" anchor="ctr">
                    <a:noFill/>
                  </a:tcPr>
                </a:tc>
                <a:tc>
                  <a:txBody>
                    <a:bodyPr wrap="square"/>
                    <a:lstStyle/>
                    <a:p>
                      <a:pPr algn="ctr"/>
                      <a:r>
                        <a:rPr sz="900" b="0">
                          <a:solidFill>
                            <a:srgbClr val="0E4E95"/>
                          </a:solidFill>
                          <a:latin typeface="Arial"/>
                        </a:rPr>
                        <a:t>+0.94</a:t>
                      </a:r>
                    </a:p>
                  </a:txBody>
                  <a:tcPr marL="54000" marR="54000" marT="18000" marB="18000" anchor="ctr">
                    <a:noFill/>
                  </a:tcPr>
                </a:tc>
                <a:tc>
                  <a:txBody>
                    <a:bodyPr wrap="square"/>
                    <a:lstStyle/>
                    <a:p>
                      <a:pPr algn="ctr"/>
                      <a:r>
                        <a:rPr sz="900" b="0">
                          <a:solidFill>
                            <a:srgbClr val="1F1F1F"/>
                          </a:solidFill>
                          <a:latin typeface="Arial"/>
                        </a:rPr>
                        <a:t>87%</a:t>
                      </a:r>
                    </a:p>
                  </a:txBody>
                  <a:tcPr marL="54000" marR="54000" marT="18000" marB="18000" anchor="ctr">
                    <a:solidFill>
                      <a:srgbClr val="FFF0C8"/>
                    </a:solidFill>
                  </a:tcPr>
                </a:tc>
                <a:tc>
                  <a:txBody>
                    <a:bodyPr wrap="square"/>
                    <a:lstStyle/>
                    <a:p>
                      <a:pPr algn="ctr"/>
                      <a:r>
                        <a:rPr sz="900" b="0">
                          <a:solidFill>
                            <a:srgbClr val="1F1F1F"/>
                          </a:solidFill>
                          <a:latin typeface="Arial"/>
                        </a:rPr>
                        <a:t>82%</a:t>
                      </a:r>
                    </a:p>
                  </a:txBody>
                  <a:tcPr marL="54000" marR="54000" marT="18000" marB="18000" anchor="ctr">
                    <a:solidFill>
                      <a:srgbClr val="F6D3D6"/>
                    </a:solidFill>
                  </a:tcPr>
                </a:tc>
              </a:tr>
              <a:tr h="322000">
                <a:tc>
                  <a:txBody>
                    <a:bodyPr wrap="square"/>
                    <a:lstStyle/>
                    <a:p>
                      <a:pPr algn="l"/>
                      <a:r>
                        <a:rPr sz="900" b="1">
                          <a:solidFill>
                            <a:srgbClr val="062552"/>
                          </a:solidFill>
                          <a:latin typeface="Arial"/>
                        </a:rPr>
                        <a:t>Ruel Barnett</a:t>
                      </a:r>
                    </a:p>
                  </a:txBody>
                  <a:tcPr marL="54000" marR="54000" marT="18000" marB="18000" anchor="ctr">
                    <a:solidFill>
                      <a:srgbClr val="F3F6FB"/>
                    </a:solidFill>
                  </a:tcPr>
                </a:tc>
                <a:tc>
                  <a:txBody>
                    <a:bodyPr wrap="square"/>
                    <a:lstStyle/>
                    <a:p>
                      <a:pPr algn="ctr"/>
                      <a:r>
                        <a:rPr sz="900" b="0">
                          <a:solidFill>
                            <a:srgbClr val="1F1F1F"/>
                          </a:solidFill>
                          <a:latin typeface="Arial"/>
                        </a:rPr>
                        <a:t>96</a:t>
                      </a:r>
                    </a:p>
                  </a:txBody>
                  <a:tcPr marL="54000" marR="54000" marT="18000" marB="18000" anchor="ctr">
                    <a:solidFill>
                      <a:srgbClr val="F3F6FB"/>
                    </a:solidFill>
                  </a:tcPr>
                </a:tc>
                <a:tc>
                  <a:txBody>
                    <a:bodyPr wrap="square"/>
                    <a:lstStyle/>
                    <a:p>
                      <a:pPr algn="ctr"/>
                      <a:r>
                        <a:rPr sz="900" b="0">
                          <a:solidFill>
                            <a:srgbClr val="1F1F1F"/>
                          </a:solidFill>
                          <a:latin typeface="Arial"/>
                        </a:rPr>
                        <a:t>3.66</a:t>
                      </a:r>
                    </a:p>
                  </a:txBody>
                  <a:tcPr marL="54000" marR="54000" marT="18000" marB="18000" anchor="ctr">
                    <a:solidFill>
                      <a:srgbClr val="F3F6FB"/>
                    </a:solidFill>
                  </a:tcPr>
                </a:tc>
                <a:tc>
                  <a:txBody>
                    <a:bodyPr wrap="square"/>
                    <a:lstStyle/>
                    <a:p>
                      <a:pPr algn="ctr"/>
                      <a:r>
                        <a:rPr sz="900" b="0">
                          <a:solidFill>
                            <a:srgbClr val="1F1F1F"/>
                          </a:solidFill>
                          <a:latin typeface="Arial"/>
                        </a:rPr>
                        <a:t>3.65</a:t>
                      </a:r>
                    </a:p>
                  </a:txBody>
                  <a:tcPr marL="54000" marR="54000" marT="18000" marB="18000" anchor="ctr">
                    <a:solidFill>
                      <a:srgbClr val="F3F6FB"/>
                    </a:solidFill>
                  </a:tcPr>
                </a:tc>
                <a:tc>
                  <a:txBody>
                    <a:bodyPr wrap="square"/>
                    <a:lstStyle/>
                    <a:p>
                      <a:pPr algn="ctr"/>
                      <a:r>
                        <a:rPr sz="900" b="0">
                          <a:solidFill>
                            <a:srgbClr val="C00000"/>
                          </a:solidFill>
                          <a:latin typeface="Arial"/>
                        </a:rPr>
                        <a:t>−0.01</a:t>
                      </a:r>
                    </a:p>
                  </a:txBody>
                  <a:tcPr marL="54000" marR="54000" marT="18000" marB="18000" anchor="ctr">
                    <a:solidFill>
                      <a:srgbClr val="F3F6FB"/>
                    </a:solidFill>
                  </a:tcPr>
                </a:tc>
                <a:tc>
                  <a:txBody>
                    <a:bodyPr wrap="square"/>
                    <a:lstStyle/>
                    <a:p>
                      <a:pPr algn="ctr"/>
                      <a:r>
                        <a:rPr sz="900" b="0">
                          <a:solidFill>
                            <a:srgbClr val="1F1F1F"/>
                          </a:solidFill>
                          <a:latin typeface="Arial"/>
                        </a:rPr>
                        <a:t>100%</a:t>
                      </a:r>
                    </a:p>
                  </a:txBody>
                  <a:tcPr marL="54000" marR="54000" marT="18000" marB="18000" anchor="ctr">
                    <a:solidFill>
                      <a:srgbClr val="DDEFDF"/>
                    </a:solidFill>
                  </a:tcPr>
                </a:tc>
                <a:tc>
                  <a:txBody>
                    <a:bodyPr wrap="square"/>
                    <a:lstStyle/>
                    <a:p>
                      <a:pPr algn="ctr"/>
                      <a:r>
                        <a:rPr sz="900" b="0">
                          <a:solidFill>
                            <a:srgbClr val="1F1F1F"/>
                          </a:solidFill>
                          <a:latin typeface="Arial"/>
                        </a:rPr>
                        <a:t>73%</a:t>
                      </a:r>
                    </a:p>
                  </a:txBody>
                  <a:tcPr marL="54000" marR="54000" marT="18000" marB="18000" anchor="ctr">
                    <a:solidFill>
                      <a:srgbClr val="F6D3D6"/>
                    </a:solidFill>
                  </a:tcPr>
                </a:tc>
              </a:tr>
              <a:tr h="322000">
                <a:tc>
                  <a:txBody>
                    <a:bodyPr wrap="square"/>
                    <a:lstStyle/>
                    <a:p>
                      <a:pPr algn="l"/>
                      <a:r>
                        <a:rPr sz="900" b="1">
                          <a:solidFill>
                            <a:srgbClr val="062552"/>
                          </a:solidFill>
                          <a:latin typeface="Arial"/>
                        </a:rPr>
                        <a:t>Kenroy Williams</a:t>
                      </a:r>
                    </a:p>
                  </a:txBody>
                  <a:tcPr marL="54000" marR="54000" marT="18000" marB="18000" anchor="ctr">
                    <a:noFill/>
                  </a:tcPr>
                </a:tc>
                <a:tc>
                  <a:txBody>
                    <a:bodyPr wrap="square"/>
                    <a:lstStyle/>
                    <a:p>
                      <a:pPr algn="ctr"/>
                      <a:r>
                        <a:rPr sz="900" b="0">
                          <a:solidFill>
                            <a:srgbClr val="1F1F1F"/>
                          </a:solidFill>
                          <a:latin typeface="Arial"/>
                        </a:rPr>
                        <a:t>95</a:t>
                      </a:r>
                    </a:p>
                  </a:txBody>
                  <a:tcPr marL="54000" marR="54000" marT="18000" marB="18000" anchor="ctr">
                    <a:noFill/>
                  </a:tcPr>
                </a:tc>
                <a:tc>
                  <a:txBody>
                    <a:bodyPr wrap="square"/>
                    <a:lstStyle/>
                    <a:p>
                      <a:pPr algn="ctr"/>
                      <a:r>
                        <a:rPr sz="900" b="0">
                          <a:solidFill>
                            <a:srgbClr val="1F1F1F"/>
                          </a:solidFill>
                          <a:latin typeface="Arial"/>
                        </a:rPr>
                        <a:t>3.00</a:t>
                      </a:r>
                    </a:p>
                  </a:txBody>
                  <a:tcPr marL="54000" marR="54000" marT="18000" marB="18000" anchor="ctr">
                    <a:noFill/>
                  </a:tcPr>
                </a:tc>
                <a:tc>
                  <a:txBody>
                    <a:bodyPr wrap="square"/>
                    <a:lstStyle/>
                    <a:p>
                      <a:pPr algn="ctr"/>
                      <a:r>
                        <a:rPr sz="900" b="0">
                          <a:solidFill>
                            <a:srgbClr val="1F1F1F"/>
                          </a:solidFill>
                          <a:latin typeface="Arial"/>
                        </a:rPr>
                        <a:t>3.39</a:t>
                      </a:r>
                    </a:p>
                  </a:txBody>
                  <a:tcPr marL="54000" marR="54000" marT="18000" marB="18000" anchor="ctr">
                    <a:noFill/>
                  </a:tcPr>
                </a:tc>
                <a:tc>
                  <a:txBody>
                    <a:bodyPr wrap="square"/>
                    <a:lstStyle/>
                    <a:p>
                      <a:pPr algn="ctr"/>
                      <a:r>
                        <a:rPr sz="900" b="0">
                          <a:solidFill>
                            <a:srgbClr val="0E4E95"/>
                          </a:solidFill>
                          <a:latin typeface="Arial"/>
                        </a:rPr>
                        <a:t>+0.39</a:t>
                      </a:r>
                    </a:p>
                  </a:txBody>
                  <a:tcPr marL="54000" marR="54000" marT="18000" marB="18000" anchor="ctr">
                    <a:noFill/>
                  </a:tcPr>
                </a:tc>
                <a:tc>
                  <a:txBody>
                    <a:bodyPr wrap="square"/>
                    <a:lstStyle/>
                    <a:p>
                      <a:pPr algn="ctr"/>
                      <a:r>
                        <a:rPr sz="900" b="0">
                          <a:solidFill>
                            <a:srgbClr val="1F1F1F"/>
                          </a:solidFill>
                          <a:latin typeface="Arial"/>
                        </a:rPr>
                        <a:t>89%</a:t>
                      </a:r>
                    </a:p>
                  </a:txBody>
                  <a:tcPr marL="54000" marR="54000" marT="18000" marB="18000" anchor="ctr">
                    <a:solidFill>
                      <a:srgbClr val="FFF0C8"/>
                    </a:solidFill>
                  </a:tcPr>
                </a:tc>
                <a:tc>
                  <a:txBody>
                    <a:bodyPr wrap="square"/>
                    <a:lstStyle/>
                    <a:p>
                      <a:pPr algn="ctr"/>
                      <a:r>
                        <a:rPr sz="900" b="0">
                          <a:solidFill>
                            <a:srgbClr val="1F1F1F"/>
                          </a:solidFill>
                          <a:latin typeface="Arial"/>
                        </a:rPr>
                        <a:t>81%</a:t>
                      </a:r>
                    </a:p>
                  </a:txBody>
                  <a:tcPr marL="54000" marR="54000" marT="18000" marB="18000" anchor="ctr">
                    <a:solidFill>
                      <a:srgbClr val="F6D3D6"/>
                    </a:solidFill>
                  </a:tcPr>
                </a:tc>
              </a:tr>
              <a:tr h="322000">
                <a:tc>
                  <a:txBody>
                    <a:bodyPr wrap="square"/>
                    <a:lstStyle/>
                    <a:p>
                      <a:pPr algn="l"/>
                      <a:r>
                        <a:rPr sz="900" b="1">
                          <a:solidFill>
                            <a:srgbClr val="062552"/>
                          </a:solidFill>
                          <a:latin typeface="Arial"/>
                        </a:rPr>
                        <a:t>Jean Waugh-Evans</a:t>
                      </a:r>
                    </a:p>
                  </a:txBody>
                  <a:tcPr marL="54000" marR="54000" marT="18000" marB="18000" anchor="ctr">
                    <a:solidFill>
                      <a:srgbClr val="F3F6FB"/>
                    </a:solidFill>
                  </a:tcPr>
                </a:tc>
                <a:tc>
                  <a:txBody>
                    <a:bodyPr wrap="square"/>
                    <a:lstStyle/>
                    <a:p>
                      <a:pPr algn="ctr"/>
                      <a:r>
                        <a:rPr sz="900" b="0">
                          <a:solidFill>
                            <a:srgbClr val="1F1F1F"/>
                          </a:solidFill>
                          <a:latin typeface="Arial"/>
                        </a:rPr>
                        <a:t>3</a:t>
                      </a:r>
                    </a:p>
                  </a:txBody>
                  <a:tcPr marL="54000" marR="54000" marT="18000" marB="18000" anchor="ctr">
                    <a:solidFill>
                      <a:srgbClr val="F3F6FB"/>
                    </a:solidFill>
                  </a:tcPr>
                </a:tc>
                <a:tc>
                  <a:txBody>
                    <a:bodyPr wrap="square"/>
                    <a:lstStyle/>
                    <a:p>
                      <a:pPr algn="ctr"/>
                      <a:r>
                        <a:rPr sz="900" b="0">
                          <a:solidFill>
                            <a:srgbClr val="1F1F1F"/>
                          </a:solidFill>
                          <a:latin typeface="Arial"/>
                        </a:rPr>
                        <a:t>2.50</a:t>
                      </a:r>
                    </a:p>
                  </a:txBody>
                  <a:tcPr marL="54000" marR="54000" marT="18000" marB="18000" anchor="ctr">
                    <a:solidFill>
                      <a:srgbClr val="F3F6FB"/>
                    </a:solidFill>
                  </a:tcPr>
                </a:tc>
                <a:tc>
                  <a:txBody>
                    <a:bodyPr wrap="square"/>
                    <a:lstStyle/>
                    <a:p>
                      <a:pPr algn="ctr"/>
                      <a:r>
                        <a:rPr sz="900" b="0">
                          <a:solidFill>
                            <a:srgbClr val="1F1F1F"/>
                          </a:solidFill>
                          <a:latin typeface="Arial"/>
                        </a:rPr>
                        <a:t>2.58</a:t>
                      </a:r>
                    </a:p>
                  </a:txBody>
                  <a:tcPr marL="54000" marR="54000" marT="18000" marB="18000" anchor="ctr">
                    <a:solidFill>
                      <a:srgbClr val="F3F6FB"/>
                    </a:solidFill>
                  </a:tcPr>
                </a:tc>
                <a:tc>
                  <a:txBody>
                    <a:bodyPr wrap="square"/>
                    <a:lstStyle/>
                    <a:p>
                      <a:pPr algn="ctr"/>
                      <a:r>
                        <a:rPr sz="900" b="0">
                          <a:solidFill>
                            <a:srgbClr val="0E4E95"/>
                          </a:solidFill>
                          <a:latin typeface="Arial"/>
                        </a:rPr>
                        <a:t>+0.07</a:t>
                      </a:r>
                    </a:p>
                  </a:txBody>
                  <a:tcPr marL="54000" marR="54000" marT="18000" marB="18000" anchor="ctr">
                    <a:solidFill>
                      <a:srgbClr val="F3F6FB"/>
                    </a:solidFill>
                  </a:tcPr>
                </a:tc>
                <a:tc>
                  <a:txBody>
                    <a:bodyPr wrap="square"/>
                    <a:lstStyle/>
                    <a:p>
                      <a:pPr algn="ctr"/>
                      <a:r>
                        <a:rPr sz="900" b="0">
                          <a:solidFill>
                            <a:srgbClr val="1F1F1F"/>
                          </a:solidFill>
                          <a:latin typeface="Arial"/>
                        </a:rPr>
                        <a:t>97%</a:t>
                      </a:r>
                    </a:p>
                  </a:txBody>
                  <a:tcPr marL="54000" marR="54000" marT="18000" marB="18000" anchor="ctr">
                    <a:solidFill>
                      <a:srgbClr val="DDEFDF"/>
                    </a:solidFill>
                  </a:tcPr>
                </a:tc>
                <a:tc>
                  <a:txBody>
                    <a:bodyPr wrap="square"/>
                    <a:lstStyle/>
                    <a:p>
                      <a:pPr algn="ctr"/>
                      <a:r>
                        <a:rPr sz="900" b="0">
                          <a:solidFill>
                            <a:srgbClr val="1F1F1F"/>
                          </a:solidFill>
                          <a:latin typeface="Arial"/>
                        </a:rPr>
                        <a:t>90%</a:t>
                      </a:r>
                    </a:p>
                  </a:txBody>
                  <a:tcPr marL="54000" marR="54000" marT="18000" marB="18000" anchor="ctr">
                    <a:solidFill>
                      <a:srgbClr val="FFF0C8"/>
                    </a:solidFill>
                  </a:tcPr>
                </a:tc>
              </a:tr>
              <a:tr h="322000">
                <a:tc>
                  <a:txBody>
                    <a:bodyPr wrap="square"/>
                    <a:lstStyle/>
                    <a:p>
                      <a:pPr algn="l"/>
                      <a:r>
                        <a:rPr sz="900" b="1">
                          <a:solidFill>
                            <a:srgbClr val="FFFFFF"/>
                          </a:solidFill>
                          <a:latin typeface="Arial"/>
                        </a:rPr>
                        <a:t>Total assigned</a:t>
                      </a:r>
                    </a:p>
                  </a:txBody>
                  <a:tcPr marL="54000" marR="54000" marT="18000" marB="18000" anchor="ctr">
                    <a:solidFill>
                      <a:srgbClr val="062552"/>
                    </a:solidFill>
                  </a:tcPr>
                </a:tc>
                <a:tc>
                  <a:txBody>
                    <a:bodyPr wrap="square"/>
                    <a:lstStyle/>
                    <a:p>
                      <a:pPr algn="ctr"/>
                      <a:r>
                        <a:rPr sz="900" b="1">
                          <a:solidFill>
                            <a:srgbClr val="FFFFFF"/>
                          </a:solidFill>
                          <a:latin typeface="Arial"/>
                        </a:rPr>
                        <a:t>7,265</a:t>
                      </a:r>
                    </a:p>
                  </a:txBody>
                  <a:tcPr marL="54000" marR="54000" marT="18000" marB="18000" anchor="ctr">
                    <a:solidFill>
                      <a:srgbClr val="062552"/>
                    </a:solidFill>
                  </a:tcPr>
                </a:tc>
                <a:tc>
                  <a:txBody>
                    <a:bodyPr wrap="square"/>
                    <a:lstStyle/>
                    <a:p>
                      <a:pPr algn="ctr"/>
                      <a:r>
                        <a:rPr sz="900" b="1">
                          <a:solidFill>
                            <a:srgbClr val="FFFFFF"/>
                          </a:solidFill>
                          <a:latin typeface="Arial"/>
                        </a:rPr>
                        <a:t>106.61</a:t>
                      </a:r>
                    </a:p>
                  </a:txBody>
                  <a:tcPr marL="54000" marR="54000" marT="18000" marB="18000" anchor="ctr">
                    <a:solidFill>
                      <a:srgbClr val="062552"/>
                    </a:solidFill>
                  </a:tcPr>
                </a:tc>
                <a:tc>
                  <a:txBody>
                    <a:bodyPr wrap="square"/>
                    <a:lstStyle/>
                    <a:p>
                      <a:pPr algn="ctr"/>
                      <a:r>
                        <a:rPr sz="900" b="1">
                          <a:solidFill>
                            <a:srgbClr val="FFFFFF"/>
                          </a:solidFill>
                          <a:latin typeface="Arial"/>
                        </a:rPr>
                        <a:t>108.91</a:t>
                      </a:r>
                    </a:p>
                  </a:txBody>
                  <a:tcPr marL="54000" marR="54000" marT="18000" marB="18000" anchor="ctr">
                    <a:solidFill>
                      <a:srgbClr val="062552"/>
                    </a:solidFill>
                  </a:tcPr>
                </a:tc>
                <a:tc>
                  <a:txBody>
                    <a:bodyPr wrap="square"/>
                    <a:lstStyle/>
                    <a:p>
                      <a:pPr algn="ctr"/>
                      <a:r>
                        <a:rPr sz="900" b="1">
                          <a:solidFill>
                            <a:srgbClr val="FFFFFF"/>
                          </a:solidFill>
                          <a:latin typeface="Arial"/>
                        </a:rPr>
                        <a:t>+2.30</a:t>
                      </a:r>
                    </a:p>
                  </a:txBody>
                  <a:tcPr marL="54000" marR="54000" marT="18000" marB="18000" anchor="ctr">
                    <a:solidFill>
                      <a:srgbClr val="062552"/>
                    </a:solidFill>
                  </a:tcPr>
                </a:tc>
                <a:tc>
                  <a:txBody>
                    <a:bodyPr wrap="square"/>
                    <a:lstStyle/>
                    <a:p>
                      <a:pPr algn="ctr"/>
                      <a:r>
                        <a:rPr sz="900" b="1">
                          <a:solidFill>
                            <a:srgbClr val="FFFFFF"/>
                          </a:solidFill>
                          <a:latin typeface="Arial"/>
                        </a:rPr>
                        <a:t>97.9%</a:t>
                      </a:r>
                    </a:p>
                  </a:txBody>
                  <a:tcPr marL="54000" marR="54000" marT="18000" marB="18000" anchor="ctr">
                    <a:solidFill>
                      <a:srgbClr val="062552"/>
                    </a:solidFill>
                  </a:tcPr>
                </a:tc>
                <a:tc>
                  <a:txBody>
                    <a:bodyPr wrap="square"/>
                    <a:lstStyle/>
                    <a:p>
                      <a:pPr algn="ctr"/>
                      <a:r>
                        <a:rPr sz="900" b="1">
                          <a:solidFill>
                            <a:srgbClr val="FFFFFF"/>
                          </a:solidFill>
                          <a:latin typeface="Arial"/>
                        </a:rPr>
                        <a:t>85.9%</a:t>
                      </a:r>
                    </a:p>
                  </a:txBody>
                  <a:tcPr marL="54000" marR="54000" marT="18000" marB="18000" anchor="ctr">
                    <a:solidFill>
                      <a:srgbClr val="062552"/>
                    </a:solidFill>
                  </a:tcPr>
                </a:tc>
              </a:tr>
            </a:tbl>
          </a:graphicData>
        </a:graphic>
      </p:graphicFrame>
      <p:sp>
        <p:nvSpPr>
          <p:cNvPr id="8" name="Rectangle 7"/>
          <p:cNvSpPr/>
          <p:nvPr/>
        </p:nvSpPr>
        <p:spPr>
          <a:xfrm>
            <a:off x="7690000" y="1910000"/>
            <a:ext cx="4370000" cy="338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90000" y="1910000"/>
            <a:ext cx="4370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90000" y="1980000"/>
            <a:ext cx="4250000" cy="200000"/>
          </a:xfrm>
          <a:prstGeom prst="rect">
            <a:avLst/>
          </a:prstGeom>
          <a:noFill/>
        </p:spPr>
        <p:txBody>
          <a:bodyPr wrap="square" lIns="0" rIns="0" tIns="0" bIns="0" anchor="t">
            <a:spAutoFit/>
          </a:bodyPr>
          <a:lstStyle/>
          <a:p>
            <a:pPr algn="l"/>
            <a:r>
              <a:rPr sz="1000" b="1">
                <a:solidFill>
                  <a:srgbClr val="66788A"/>
                </a:solidFill>
                <a:latin typeface="Arial"/>
              </a:rPr>
              <a:t>ACCURACY BY KAM, SEPTEMBER</a:t>
            </a:r>
          </a:p>
        </p:txBody>
      </p:sp>
      <p:graphicFrame>
        <p:nvGraphicFramePr>
          <p:cNvPr id="11" name="Chart 10"/>
          <p:cNvGraphicFramePr>
            <a:graphicFrameLocks noGrp="1"/>
          </p:cNvGraphicFramePr>
          <p:nvPr/>
        </p:nvGraphicFramePr>
        <p:xfrm>
          <a:off x="7750000" y="2200000"/>
          <a:ext cx="4250000" cy="3030000"/>
        </p:xfrm>
        <a:graphic>
          <a:graphicData uri="http://schemas.openxmlformats.org/drawingml/2006/chart">
            <c:chart xmlns:c="http://schemas.openxmlformats.org/drawingml/2006/chart" r:id="rId2"/>
          </a:graphicData>
        </a:graphic>
      </p:graphicFrame>
      <p:sp>
        <p:nvSpPr>
          <p:cNvPr id="12" name="Rectangle 11"/>
          <p:cNvSpPr/>
          <p:nvPr/>
        </p:nvSpPr>
        <p:spPr>
          <a:xfrm>
            <a:off x="274320" y="5560000"/>
            <a:ext cx="11650000" cy="70000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5560000"/>
            <a:ext cx="54000" cy="700000"/>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20" y="5640000"/>
            <a:ext cx="11390000" cy="580000"/>
          </a:xfrm>
          <a:prstGeom prst="rect">
            <a:avLst/>
          </a:prstGeom>
          <a:noFill/>
        </p:spPr>
        <p:txBody>
          <a:bodyPr wrap="square" lIns="0" rIns="0" tIns="0" bIns="0" anchor="t">
            <a:spAutoFit/>
          </a:bodyPr>
          <a:lstStyle/>
          <a:p>
            <a:pPr algn="l"/>
            <a:r>
              <a:rPr sz="1050" b="1">
                <a:solidFill>
                  <a:srgbClr val="062552"/>
                </a:solidFill>
                <a:latin typeface="Arial"/>
              </a:rPr>
              <a:t>Reading it. </a:t>
            </a:r>
            <a:r>
              <a:rPr sz="1050" b="0">
                <a:solidFill>
                  <a:srgbClr val="1F1F1F"/>
                </a:solidFill>
                <a:latin typeface="Arial"/>
              </a:rPr>
              <a:t>Net accuracy is high because over and under misses cancel inside a portfolio. Account level adds up every miss and is the better test of whether each account forecast is right: Ruel Barnett nets to 100% but is 73% account by account.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Where The Misses Were</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Five accounts make up 29% of the total miss; 43 accounts missed by more than 0.05 GWh</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September, GWh. Variance is actual less forecast. The full list is in the Sept account misses sheet.</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3</a:t>
            </a:r>
          </a:p>
        </p:txBody>
      </p:sp>
      <p:graphicFrame>
        <p:nvGraphicFramePr>
          <p:cNvPr id="7" name="Table 6"/>
          <p:cNvGraphicFramePr>
            <a:graphicFrameLocks noGrp="1"/>
          </p:cNvGraphicFramePr>
          <p:nvPr/>
        </p:nvGraphicFramePr>
        <p:xfrm>
          <a:off x="274320" y="1950000"/>
          <a:ext cx="11649997" cy="3470000"/>
        </p:xfrm>
        <a:graphic>
          <a:graphicData uri="http://schemas.openxmlformats.org/drawingml/2006/table">
            <a:tbl>
              <a:tblPr firstRow="0" bandRow="0">
                <a:tableStyleId>{5940675A-B579-460E-94D1-54222C63F5DA}</a:tableStyleId>
              </a:tblPr>
              <a:tblGrid>
                <a:gridCol w="2830841"/>
                <a:gridCol w="1633177"/>
                <a:gridCol w="762149"/>
                <a:gridCol w="979906"/>
                <a:gridCol w="979906"/>
                <a:gridCol w="979906"/>
                <a:gridCol w="3484112"/>
              </a:tblGrid>
              <a:tr h="320000">
                <a:tc>
                  <a:txBody>
                    <a:bodyPr wrap="square"/>
                    <a:lstStyle/>
                    <a:p>
                      <a:pPr algn="l"/>
                      <a:r>
                        <a:rPr sz="900" b="1">
                          <a:solidFill>
                            <a:srgbClr val="FFFFFF"/>
                          </a:solidFill>
                          <a:latin typeface="Arial"/>
                        </a:rPr>
                        <a:t>Account</a:t>
                      </a:r>
                    </a:p>
                  </a:txBody>
                  <a:tcPr marL="54000" marR="54000" marT="18000" marB="18000" anchor="ctr">
                    <a:solidFill>
                      <a:srgbClr val="062552"/>
                    </a:solidFill>
                  </a:tcPr>
                </a:tc>
                <a:tc>
                  <a:txBody>
                    <a:bodyPr wrap="square"/>
                    <a:lstStyle/>
                    <a:p>
                      <a:pPr algn="l"/>
                      <a:r>
                        <a:rPr sz="900" b="1">
                          <a:solidFill>
                            <a:srgbClr val="FFFFFF"/>
                          </a:solidFill>
                          <a:latin typeface="Arial"/>
                        </a:rPr>
                        <a:t>KAM</a:t>
                      </a:r>
                    </a:p>
                  </a:txBody>
                  <a:tcPr marL="54000" marR="54000" marT="18000" marB="18000" anchor="ctr">
                    <a:solidFill>
                      <a:srgbClr val="062552"/>
                    </a:solidFill>
                  </a:tcPr>
                </a:tc>
                <a:tc>
                  <a:txBody>
                    <a:bodyPr wrap="square"/>
                    <a:lstStyle/>
                    <a:p>
                      <a:pPr algn="ctr"/>
                      <a:r>
                        <a:rPr sz="900" b="1">
                          <a:solidFill>
                            <a:srgbClr val="FFFFFF"/>
                          </a:solidFill>
                          <a:latin typeface="Arial"/>
                        </a:rPr>
                        <a:t>Class</a:t>
                      </a:r>
                    </a:p>
                  </a:txBody>
                  <a:tcPr marL="54000" marR="54000" marT="18000" marB="18000" anchor="ctr">
                    <a:solidFill>
                      <a:srgbClr val="062552"/>
                    </a:solidFill>
                  </a:tcPr>
                </a:tc>
                <a:tc>
                  <a:txBody>
                    <a:bodyPr wrap="square"/>
                    <a:lstStyle/>
                    <a:p>
                      <a:pPr algn="ctr"/>
                      <a:r>
                        <a:rPr sz="900" b="1">
                          <a:solidFill>
                            <a:srgbClr val="FFFFFF"/>
                          </a:solidFill>
                          <a:latin typeface="Arial"/>
                        </a:rPr>
                        <a:t>Forecast</a:t>
                      </a:r>
                    </a:p>
                  </a:txBody>
                  <a:tcPr marL="54000" marR="54000" marT="18000" marB="18000" anchor="ctr">
                    <a:solidFill>
                      <a:srgbClr val="062552"/>
                    </a:solidFill>
                  </a:tcPr>
                </a:tc>
                <a:tc>
                  <a:txBody>
                    <a:bodyPr wrap="square"/>
                    <a:lstStyle/>
                    <a:p>
                      <a:pPr algn="ctr"/>
                      <a:r>
                        <a:rPr sz="900" b="1">
                          <a:solidFill>
                            <a:srgbClr val="FFFFFF"/>
                          </a:solidFill>
                          <a:latin typeface="Arial"/>
                        </a:rPr>
                        <a:t>Actual</a:t>
                      </a:r>
                    </a:p>
                  </a:txBody>
                  <a:tcPr marL="54000" marR="54000" marT="18000" marB="18000" anchor="ctr">
                    <a:solidFill>
                      <a:srgbClr val="062552"/>
                    </a:solidFill>
                  </a:tcPr>
                </a:tc>
                <a:tc>
                  <a:txBody>
                    <a:bodyPr wrap="square"/>
                    <a:lstStyle/>
                    <a:p>
                      <a:pPr algn="ctr"/>
                      <a:r>
                        <a:rPr sz="900" b="1">
                          <a:solidFill>
                            <a:srgbClr val="FFFFFF"/>
                          </a:solidFill>
                          <a:latin typeface="Arial"/>
                        </a:rPr>
                        <a:t>Variance</a:t>
                      </a:r>
                    </a:p>
                  </a:txBody>
                  <a:tcPr marL="54000" marR="54000" marT="18000" marB="18000" anchor="ctr">
                    <a:solidFill>
                      <a:srgbClr val="062552"/>
                    </a:solidFill>
                  </a:tcPr>
                </a:tc>
                <a:tc>
                  <a:txBody>
                    <a:bodyPr wrap="square"/>
                    <a:lstStyle/>
                    <a:p>
                      <a:pPr algn="l"/>
                      <a:r>
                        <a:rPr sz="900" b="1">
                          <a:solidFill>
                            <a:srgbClr val="FFFFFF"/>
                          </a:solidFill>
                          <a:latin typeface="Arial"/>
                        </a:rPr>
                        <a:t>What we know</a:t>
                      </a:r>
                    </a:p>
                  </a:txBody>
                  <a:tcPr marL="54000" marR="54000" marT="18000" marB="18000" anchor="ctr">
                    <a:solidFill>
                      <a:srgbClr val="062552"/>
                    </a:solidFill>
                  </a:tcPr>
                </a:tc>
              </a:tr>
              <a:tr h="315000">
                <a:tc>
                  <a:txBody>
                    <a:bodyPr wrap="square"/>
                    <a:lstStyle/>
                    <a:p>
                      <a:pPr algn="l"/>
                      <a:r>
                        <a:rPr sz="900" b="1">
                          <a:solidFill>
                            <a:srgbClr val="062552"/>
                          </a:solidFill>
                          <a:latin typeface="Arial"/>
                        </a:rPr>
                        <a:t>Caribbean Broilers Ja Ltd</a:t>
                      </a:r>
                    </a:p>
                  </a:txBody>
                  <a:tcPr marL="54000" marR="54000" marT="18000" marB="18000" anchor="ctr">
                    <a:noFill/>
                  </a:tcPr>
                </a:tc>
                <a:tc>
                  <a:txBody>
                    <a:bodyPr wrap="square"/>
                    <a:lstStyle/>
                    <a:p>
                      <a:pPr algn="l"/>
                      <a:r>
                        <a:rPr sz="900" b="0">
                          <a:solidFill>
                            <a:srgbClr val="1F1F1F"/>
                          </a:solidFill>
                          <a:latin typeface="Arial"/>
                        </a:rPr>
                        <a:t>Nicole Watson</a:t>
                      </a:r>
                    </a:p>
                  </a:txBody>
                  <a:tcPr marL="54000" marR="54000" marT="18000" marB="18000" anchor="ctr">
                    <a:noFill/>
                  </a:tcPr>
                </a:tc>
                <a:tc>
                  <a:txBody>
                    <a:bodyPr wrap="square"/>
                    <a:lstStyle/>
                    <a:p>
                      <a:pPr algn="ctr"/>
                      <a:r>
                        <a:rPr sz="900" b="0">
                          <a:solidFill>
                            <a:srgbClr val="1F1F1F"/>
                          </a:solidFill>
                          <a:latin typeface="Arial"/>
                        </a:rPr>
                        <a:t>RT40</a:t>
                      </a:r>
                    </a:p>
                  </a:txBody>
                  <a:tcPr marL="54000" marR="54000" marT="18000" marB="18000" anchor="ctr">
                    <a:noFill/>
                  </a:tcPr>
                </a:tc>
                <a:tc>
                  <a:txBody>
                    <a:bodyPr wrap="square"/>
                    <a:lstStyle/>
                    <a:p>
                      <a:pPr algn="ctr"/>
                      <a:r>
                        <a:rPr sz="900" b="0">
                          <a:solidFill>
                            <a:srgbClr val="1F1F1F"/>
                          </a:solidFill>
                          <a:latin typeface="Arial"/>
                        </a:rPr>
                        <a:t>2.21</a:t>
                      </a:r>
                    </a:p>
                  </a:txBody>
                  <a:tcPr marL="54000" marR="54000" marT="18000" marB="18000" anchor="ctr">
                    <a:noFill/>
                  </a:tcPr>
                </a:tc>
                <a:tc>
                  <a:txBody>
                    <a:bodyPr wrap="square"/>
                    <a:lstStyle/>
                    <a:p>
                      <a:pPr algn="ctr"/>
                      <a:r>
                        <a:rPr sz="900" b="0">
                          <a:solidFill>
                            <a:srgbClr val="1F1F1F"/>
                          </a:solidFill>
                          <a:latin typeface="Arial"/>
                        </a:rPr>
                        <a:t>0.08</a:t>
                      </a:r>
                    </a:p>
                  </a:txBody>
                  <a:tcPr marL="54000" marR="54000" marT="18000" marB="18000" anchor="ctr">
                    <a:noFill/>
                  </a:tcPr>
                </a:tc>
                <a:tc>
                  <a:txBody>
                    <a:bodyPr wrap="square"/>
                    <a:lstStyle/>
                    <a:p>
                      <a:pPr algn="ctr"/>
                      <a:r>
                        <a:rPr sz="900" b="0">
                          <a:solidFill>
                            <a:srgbClr val="C00000"/>
                          </a:solidFill>
                          <a:latin typeface="Arial"/>
                        </a:rPr>
                        <a:t>−2.13</a:t>
                      </a:r>
                    </a:p>
                  </a:txBody>
                  <a:tcPr marL="54000" marR="54000" marT="18000" marB="18000" anchor="ctr">
                    <a:noFill/>
                  </a:tcPr>
                </a:tc>
                <a:tc>
                  <a:txBody>
                    <a:bodyPr wrap="square"/>
                    <a:lstStyle/>
                    <a:p>
                      <a:pPr algn="l"/>
                      <a:r>
                        <a:rPr sz="900" b="0">
                          <a:solidFill>
                            <a:srgbClr val="1F1F1F"/>
                          </a:solidFill>
                          <a:latin typeface="Arial"/>
                        </a:rPr>
                        <a:t>Two periods billed in August, a stub in September</a:t>
                      </a:r>
                    </a:p>
                  </a:txBody>
                  <a:tcPr marL="54000" marR="54000" marT="18000" marB="18000" anchor="ctr">
                    <a:noFill/>
                  </a:tcPr>
                </a:tc>
              </a:tr>
              <a:tr h="315000">
                <a:tc>
                  <a:txBody>
                    <a:bodyPr wrap="square"/>
                    <a:lstStyle/>
                    <a:p>
                      <a:pPr algn="l"/>
                      <a:r>
                        <a:rPr sz="900" b="1">
                          <a:solidFill>
                            <a:srgbClr val="062552"/>
                          </a:solidFill>
                          <a:latin typeface="Arial"/>
                        </a:rPr>
                        <a:t>Caribbean Cement Co Ltd</a:t>
                      </a:r>
                    </a:p>
                  </a:txBody>
                  <a:tcPr marL="54000" marR="54000" marT="18000" marB="18000" anchor="ctr">
                    <a:solidFill>
                      <a:srgbClr val="F3F6FB"/>
                    </a:solidFill>
                  </a:tcPr>
                </a:tc>
                <a:tc>
                  <a:txBody>
                    <a:bodyPr wrap="square"/>
                    <a:lstStyle/>
                    <a:p>
                      <a:pPr algn="l"/>
                      <a:r>
                        <a:rPr sz="900" b="0">
                          <a:solidFill>
                            <a:srgbClr val="1F1F1F"/>
                          </a:solidFill>
                          <a:latin typeface="Arial"/>
                        </a:rPr>
                        <a:t>Nicole Watson</a:t>
                      </a:r>
                    </a:p>
                  </a:txBody>
                  <a:tcPr marL="54000" marR="54000" marT="18000" marB="18000" anchor="ctr">
                    <a:solidFill>
                      <a:srgbClr val="F3F6FB"/>
                    </a:solidFill>
                  </a:tcPr>
                </a:tc>
                <a:tc>
                  <a:txBody>
                    <a:bodyPr wrap="square"/>
                    <a:lstStyle/>
                    <a:p>
                      <a:pPr algn="ctr"/>
                      <a:r>
                        <a:rPr sz="900" b="0">
                          <a:solidFill>
                            <a:srgbClr val="1F1F1F"/>
                          </a:solidFill>
                          <a:latin typeface="Arial"/>
                        </a:rPr>
                        <a:t>RT50</a:t>
                      </a:r>
                    </a:p>
                  </a:txBody>
                  <a:tcPr marL="54000" marR="54000" marT="18000" marB="18000" anchor="ctr">
                    <a:solidFill>
                      <a:srgbClr val="F3F6FB"/>
                    </a:solidFill>
                  </a:tcPr>
                </a:tc>
                <a:tc>
                  <a:txBody>
                    <a:bodyPr wrap="square"/>
                    <a:lstStyle/>
                    <a:p>
                      <a:pPr algn="ctr"/>
                      <a:r>
                        <a:rPr sz="900" b="0">
                          <a:solidFill>
                            <a:srgbClr val="1F1F1F"/>
                          </a:solidFill>
                          <a:latin typeface="Arial"/>
                        </a:rPr>
                        <a:t>8.37</a:t>
                      </a:r>
                    </a:p>
                  </a:txBody>
                  <a:tcPr marL="54000" marR="54000" marT="18000" marB="18000" anchor="ctr">
                    <a:solidFill>
                      <a:srgbClr val="F3F6FB"/>
                    </a:solidFill>
                  </a:tcPr>
                </a:tc>
                <a:tc>
                  <a:txBody>
                    <a:bodyPr wrap="square"/>
                    <a:lstStyle/>
                    <a:p>
                      <a:pPr algn="ctr"/>
                      <a:r>
                        <a:rPr sz="900" b="0">
                          <a:solidFill>
                            <a:srgbClr val="1F1F1F"/>
                          </a:solidFill>
                          <a:latin typeface="Arial"/>
                        </a:rPr>
                        <a:t>9.13</a:t>
                      </a:r>
                    </a:p>
                  </a:txBody>
                  <a:tcPr marL="54000" marR="54000" marT="18000" marB="18000" anchor="ctr">
                    <a:solidFill>
                      <a:srgbClr val="F3F6FB"/>
                    </a:solidFill>
                  </a:tcPr>
                </a:tc>
                <a:tc>
                  <a:txBody>
                    <a:bodyPr wrap="square"/>
                    <a:lstStyle/>
                    <a:p>
                      <a:pPr algn="ctr"/>
                      <a:r>
                        <a:rPr sz="900" b="0">
                          <a:solidFill>
                            <a:srgbClr val="0E4E95"/>
                          </a:solidFill>
                          <a:latin typeface="Arial"/>
                        </a:rPr>
                        <a:t>+0.75</a:t>
                      </a:r>
                    </a:p>
                  </a:txBody>
                  <a:tcPr marL="54000" marR="54000" marT="18000" marB="18000" anchor="ctr">
                    <a:solidFill>
                      <a:srgbClr val="F3F6FB"/>
                    </a:solidFill>
                  </a:tcPr>
                </a:tc>
                <a:tc>
                  <a:txBody>
                    <a:bodyPr wrap="square"/>
                    <a:lstStyle/>
                    <a:p>
                      <a:pPr algn="l"/>
                      <a:r>
                        <a:rPr sz="900" b="0">
                          <a:solidFill>
                            <a:srgbClr val="1F1F1F"/>
                          </a:solidFill>
                          <a:latin typeface="Arial"/>
                        </a:rPr>
                        <a:t>KAM to explain</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Petrojam Ltd</a:t>
                      </a:r>
                    </a:p>
                  </a:txBody>
                  <a:tcPr marL="54000" marR="54000" marT="18000" marB="18000" anchor="ctr">
                    <a:noFill/>
                  </a:tcPr>
                </a:tc>
                <a:tc>
                  <a:txBody>
                    <a:bodyPr wrap="square"/>
                    <a:lstStyle/>
                    <a:p>
                      <a:pPr algn="l"/>
                      <a:r>
                        <a:rPr sz="900" b="0">
                          <a:solidFill>
                            <a:srgbClr val="1F1F1F"/>
                          </a:solidFill>
                          <a:latin typeface="Arial"/>
                        </a:rPr>
                        <a:t>Ewan Pitter</a:t>
                      </a:r>
                    </a:p>
                  </a:txBody>
                  <a:tcPr marL="54000" marR="54000" marT="18000" marB="18000" anchor="ctr">
                    <a:noFill/>
                  </a:tcPr>
                </a:tc>
                <a:tc>
                  <a:txBody>
                    <a:bodyPr wrap="square"/>
                    <a:lstStyle/>
                    <a:p>
                      <a:pPr algn="ctr"/>
                      <a:r>
                        <a:rPr sz="900" b="0">
                          <a:solidFill>
                            <a:srgbClr val="1F1F1F"/>
                          </a:solidFill>
                          <a:latin typeface="Arial"/>
                        </a:rPr>
                        <a:t>RT70</a:t>
                      </a:r>
                    </a:p>
                  </a:txBody>
                  <a:tcPr marL="54000" marR="54000" marT="18000" marB="18000" anchor="ctr">
                    <a:noFill/>
                  </a:tcPr>
                </a:tc>
                <a:tc>
                  <a:txBody>
                    <a:bodyPr wrap="square"/>
                    <a:lstStyle/>
                    <a:p>
                      <a:pPr algn="ctr"/>
                      <a:r>
                        <a:rPr sz="900" b="0">
                          <a:solidFill>
                            <a:srgbClr val="1F1F1F"/>
                          </a:solidFill>
                          <a:latin typeface="Arial"/>
                        </a:rPr>
                        <a:t>1.57</a:t>
                      </a:r>
                    </a:p>
                  </a:txBody>
                  <a:tcPr marL="54000" marR="54000" marT="18000" marB="18000" anchor="ctr">
                    <a:noFill/>
                  </a:tcPr>
                </a:tc>
                <a:tc>
                  <a:txBody>
                    <a:bodyPr wrap="square"/>
                    <a:lstStyle/>
                    <a:p>
                      <a:pPr algn="ctr"/>
                      <a:r>
                        <a:rPr sz="900" b="0">
                          <a:solidFill>
                            <a:srgbClr val="1F1F1F"/>
                          </a:solidFill>
                          <a:latin typeface="Arial"/>
                        </a:rPr>
                        <a:t>0.85</a:t>
                      </a:r>
                    </a:p>
                  </a:txBody>
                  <a:tcPr marL="54000" marR="54000" marT="18000" marB="18000" anchor="ctr">
                    <a:noFill/>
                  </a:tcPr>
                </a:tc>
                <a:tc>
                  <a:txBody>
                    <a:bodyPr wrap="square"/>
                    <a:lstStyle/>
                    <a:p>
                      <a:pPr algn="ctr"/>
                      <a:r>
                        <a:rPr sz="900" b="0">
                          <a:solidFill>
                            <a:srgbClr val="C00000"/>
                          </a:solidFill>
                          <a:latin typeface="Arial"/>
                        </a:rPr>
                        <a:t>−0.72</a:t>
                      </a:r>
                    </a:p>
                  </a:txBody>
                  <a:tcPr marL="54000" marR="54000" marT="18000" marB="18000" anchor="ctr">
                    <a:noFill/>
                  </a:tcPr>
                </a:tc>
                <a:tc>
                  <a:txBody>
                    <a:bodyPr wrap="square"/>
                    <a:lstStyle/>
                    <a:p>
                      <a:pPr algn="l"/>
                      <a:r>
                        <a:rPr sz="900" b="0">
                          <a:solidFill>
                            <a:srgbClr val="1F1F1F"/>
                          </a:solidFill>
                          <a:latin typeface="Arial"/>
                        </a:rPr>
                        <a:t>KAM to explain</a:t>
                      </a:r>
                    </a:p>
                  </a:txBody>
                  <a:tcPr marL="54000" marR="54000" marT="18000" marB="18000" anchor="ctr">
                    <a:noFill/>
                  </a:tcPr>
                </a:tc>
              </a:tr>
              <a:tr h="315000">
                <a:tc>
                  <a:txBody>
                    <a:bodyPr wrap="square"/>
                    <a:lstStyle/>
                    <a:p>
                      <a:pPr algn="l"/>
                      <a:r>
                        <a:rPr sz="900" b="1">
                          <a:solidFill>
                            <a:srgbClr val="062552"/>
                          </a:solidFill>
                          <a:latin typeface="Arial"/>
                        </a:rPr>
                        <a:t>Alcoa Mins Of Ja Ltd</a:t>
                      </a:r>
                    </a:p>
                  </a:txBody>
                  <a:tcPr marL="54000" marR="54000" marT="18000" marB="18000" anchor="ctr">
                    <a:solidFill>
                      <a:srgbClr val="F3F6FB"/>
                    </a:solidFill>
                  </a:tcPr>
                </a:tc>
                <a:tc>
                  <a:txBody>
                    <a:bodyPr wrap="square"/>
                    <a:lstStyle/>
                    <a:p>
                      <a:pPr algn="l"/>
                      <a:r>
                        <a:rPr sz="900" b="0">
                          <a:solidFill>
                            <a:srgbClr val="1F1F1F"/>
                          </a:solidFill>
                          <a:latin typeface="Arial"/>
                        </a:rPr>
                        <a:t>Sharmica Holness</a:t>
                      </a:r>
                    </a:p>
                  </a:txBody>
                  <a:tcPr marL="54000" marR="54000" marT="18000" marB="18000" anchor="ctr">
                    <a:solidFill>
                      <a:srgbClr val="F3F6FB"/>
                    </a:solidFill>
                  </a:tcPr>
                </a:tc>
                <a:tc>
                  <a:txBody>
                    <a:bodyPr wrap="square"/>
                    <a:lstStyle/>
                    <a:p>
                      <a:pPr algn="ctr"/>
                      <a:r>
                        <a:rPr sz="900" b="0">
                          <a:solidFill>
                            <a:srgbClr val="1F1F1F"/>
                          </a:solidFill>
                          <a:latin typeface="Arial"/>
                        </a:rPr>
                        <a:t>RT70</a:t>
                      </a:r>
                    </a:p>
                  </a:txBody>
                  <a:tcPr marL="54000" marR="54000" marT="18000" marB="18000" anchor="ctr">
                    <a:solidFill>
                      <a:srgbClr val="F3F6FB"/>
                    </a:solidFill>
                  </a:tcPr>
                </a:tc>
                <a:tc>
                  <a:txBody>
                    <a:bodyPr wrap="square"/>
                    <a:lstStyle/>
                    <a:p>
                      <a:pPr algn="ctr"/>
                      <a:r>
                        <a:rPr sz="900" b="0">
                          <a:solidFill>
                            <a:srgbClr val="1F1F1F"/>
                          </a:solidFill>
                          <a:latin typeface="Arial"/>
                        </a:rPr>
                        <a:t>0.00</a:t>
                      </a:r>
                    </a:p>
                  </a:txBody>
                  <a:tcPr marL="54000" marR="54000" marT="18000" marB="18000" anchor="ctr">
                    <a:solidFill>
                      <a:srgbClr val="F3F6FB"/>
                    </a:solidFill>
                  </a:tcPr>
                </a:tc>
                <a:tc>
                  <a:txBody>
                    <a:bodyPr wrap="square"/>
                    <a:lstStyle/>
                    <a:p>
                      <a:pPr algn="ctr"/>
                      <a:r>
                        <a:rPr sz="900" b="0">
                          <a:solidFill>
                            <a:srgbClr val="1F1F1F"/>
                          </a:solidFill>
                          <a:latin typeface="Arial"/>
                        </a:rPr>
                        <a:t>0.62</a:t>
                      </a:r>
                    </a:p>
                  </a:txBody>
                  <a:tcPr marL="54000" marR="54000" marT="18000" marB="18000" anchor="ctr">
                    <a:solidFill>
                      <a:srgbClr val="F3F6FB"/>
                    </a:solidFill>
                  </a:tcPr>
                </a:tc>
                <a:tc>
                  <a:txBody>
                    <a:bodyPr wrap="square"/>
                    <a:lstStyle/>
                    <a:p>
                      <a:pPr algn="ctr"/>
                      <a:r>
                        <a:rPr sz="900" b="0">
                          <a:solidFill>
                            <a:srgbClr val="0E4E95"/>
                          </a:solidFill>
                          <a:latin typeface="Arial"/>
                        </a:rPr>
                        <a:t>+0.62</a:t>
                      </a:r>
                    </a:p>
                  </a:txBody>
                  <a:tcPr marL="54000" marR="54000" marT="18000" marB="18000" anchor="ctr">
                    <a:solidFill>
                      <a:srgbClr val="F3F6FB"/>
                    </a:solidFill>
                  </a:tcPr>
                </a:tc>
                <a:tc>
                  <a:txBody>
                    <a:bodyPr wrap="square"/>
                    <a:lstStyle/>
                    <a:p>
                      <a:pPr algn="l"/>
                      <a:r>
                        <a:rPr sz="900" b="0">
                          <a:solidFill>
                            <a:srgbClr val="1F1F1F"/>
                          </a:solidFill>
                          <a:latin typeface="Arial"/>
                        </a:rPr>
                        <a:t>Entered at −100% from August; 0.6 GWh still billed</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Operadora Palace Resorts (Ja.) Ltd</a:t>
                      </a:r>
                    </a:p>
                  </a:txBody>
                  <a:tcPr marL="54000" marR="54000" marT="18000" marB="18000" anchor="ctr">
                    <a:noFill/>
                  </a:tcPr>
                </a:tc>
                <a:tc>
                  <a:txBody>
                    <a:bodyPr wrap="square"/>
                    <a:lstStyle/>
                    <a:p>
                      <a:pPr algn="l"/>
                      <a:r>
                        <a:rPr sz="900" b="0">
                          <a:solidFill>
                            <a:srgbClr val="1F1F1F"/>
                          </a:solidFill>
                          <a:latin typeface="Arial"/>
                        </a:rPr>
                        <a:t>Ruel Barnett</a:t>
                      </a:r>
                    </a:p>
                  </a:txBody>
                  <a:tcPr marL="54000" marR="54000" marT="18000" marB="18000" anchor="ctr">
                    <a:noFill/>
                  </a:tcPr>
                </a:tc>
                <a:tc>
                  <a:txBody>
                    <a:bodyPr wrap="square"/>
                    <a:lstStyle/>
                    <a:p>
                      <a:pPr algn="ctr"/>
                      <a:r>
                        <a:rPr sz="900" b="0">
                          <a:solidFill>
                            <a:srgbClr val="1F1F1F"/>
                          </a:solidFill>
                          <a:latin typeface="Arial"/>
                        </a:rPr>
                        <a:t>RT70</a:t>
                      </a:r>
                    </a:p>
                  </a:txBody>
                  <a:tcPr marL="54000" marR="54000" marT="18000" marB="18000" anchor="ctr">
                    <a:noFill/>
                  </a:tcPr>
                </a:tc>
                <a:tc>
                  <a:txBody>
                    <a:bodyPr wrap="square"/>
                    <a:lstStyle/>
                    <a:p>
                      <a:pPr algn="ctr"/>
                      <a:r>
                        <a:rPr sz="900" b="0">
                          <a:solidFill>
                            <a:srgbClr val="1F1F1F"/>
                          </a:solidFill>
                          <a:latin typeface="Arial"/>
                        </a:rPr>
                        <a:t>0.37</a:t>
                      </a:r>
                    </a:p>
                  </a:txBody>
                  <a:tcPr marL="54000" marR="54000" marT="18000" marB="18000" anchor="ctr">
                    <a:noFill/>
                  </a:tcPr>
                </a:tc>
                <a:tc>
                  <a:txBody>
                    <a:bodyPr wrap="square"/>
                    <a:lstStyle/>
                    <a:p>
                      <a:pPr algn="ctr"/>
                      <a:r>
                        <a:rPr sz="900" b="0">
                          <a:solidFill>
                            <a:srgbClr val="1F1F1F"/>
                          </a:solidFill>
                          <a:latin typeface="Arial"/>
                        </a:rPr>
                        <a:t>0.59</a:t>
                      </a:r>
                    </a:p>
                  </a:txBody>
                  <a:tcPr marL="54000" marR="54000" marT="18000" marB="18000" anchor="ctr">
                    <a:noFill/>
                  </a:tcPr>
                </a:tc>
                <a:tc>
                  <a:txBody>
                    <a:bodyPr wrap="square"/>
                    <a:lstStyle/>
                    <a:p>
                      <a:pPr algn="ctr"/>
                      <a:r>
                        <a:rPr sz="900" b="0">
                          <a:solidFill>
                            <a:srgbClr val="0E4E95"/>
                          </a:solidFill>
                          <a:latin typeface="Arial"/>
                        </a:rPr>
                        <a:t>+0.21</a:t>
                      </a:r>
                    </a:p>
                  </a:txBody>
                  <a:tcPr marL="54000" marR="54000" marT="18000" marB="18000" anchor="ctr">
                    <a:noFill/>
                  </a:tcPr>
                </a:tc>
                <a:tc>
                  <a:txBody>
                    <a:bodyPr wrap="square"/>
                    <a:lstStyle/>
                    <a:p>
                      <a:pPr algn="l"/>
                      <a:r>
                        <a:rPr sz="900" b="0">
                          <a:solidFill>
                            <a:srgbClr val="1F1F1F"/>
                          </a:solidFill>
                          <a:latin typeface="Arial"/>
                        </a:rPr>
                        <a:t>KAM to explain</a:t>
                      </a:r>
                    </a:p>
                  </a:txBody>
                  <a:tcPr marL="54000" marR="54000" marT="18000" marB="18000" anchor="ctr">
                    <a:noFill/>
                  </a:tcPr>
                </a:tc>
              </a:tr>
              <a:tr h="315000">
                <a:tc>
                  <a:txBody>
                    <a:bodyPr wrap="square"/>
                    <a:lstStyle/>
                    <a:p>
                      <a:pPr algn="l"/>
                      <a:r>
                        <a:rPr sz="900" b="1">
                          <a:solidFill>
                            <a:srgbClr val="062552"/>
                          </a:solidFill>
                          <a:latin typeface="Arial"/>
                        </a:rPr>
                        <a:t>NFE NORTH HOLDINGS LIMITED</a:t>
                      </a:r>
                    </a:p>
                  </a:txBody>
                  <a:tcPr marL="54000" marR="54000" marT="18000" marB="18000" anchor="ctr">
                    <a:solidFill>
                      <a:srgbClr val="F3F6FB"/>
                    </a:solidFill>
                  </a:tcPr>
                </a:tc>
                <a:tc>
                  <a:txBody>
                    <a:bodyPr wrap="square"/>
                    <a:lstStyle/>
                    <a:p>
                      <a:pPr algn="l"/>
                      <a:r>
                        <a:rPr sz="900" b="0">
                          <a:solidFill>
                            <a:srgbClr val="1F1F1F"/>
                          </a:solidFill>
                          <a:latin typeface="Arial"/>
                        </a:rPr>
                        <a:t>Ruel Barnett</a:t>
                      </a:r>
                    </a:p>
                  </a:txBody>
                  <a:tcPr marL="54000" marR="54000" marT="18000" marB="18000" anchor="ctr">
                    <a:solidFill>
                      <a:srgbClr val="F3F6FB"/>
                    </a:solidFill>
                  </a:tcPr>
                </a:tc>
                <a:tc>
                  <a:txBody>
                    <a:bodyPr wrap="square"/>
                    <a:lstStyle/>
                    <a:p>
                      <a:pPr algn="ctr"/>
                      <a:r>
                        <a:rPr sz="900" b="0">
                          <a:solidFill>
                            <a:srgbClr val="1F1F1F"/>
                          </a:solidFill>
                          <a:latin typeface="Arial"/>
                        </a:rPr>
                        <a:t>RT50</a:t>
                      </a:r>
                    </a:p>
                  </a:txBody>
                  <a:tcPr marL="54000" marR="54000" marT="18000" marB="18000" anchor="ctr">
                    <a:solidFill>
                      <a:srgbClr val="F3F6FB"/>
                    </a:solidFill>
                  </a:tcPr>
                </a:tc>
                <a:tc>
                  <a:txBody>
                    <a:bodyPr wrap="square"/>
                    <a:lstStyle/>
                    <a:p>
                      <a:pPr algn="ctr"/>
                      <a:r>
                        <a:rPr sz="900" b="0">
                          <a:solidFill>
                            <a:srgbClr val="1F1F1F"/>
                          </a:solidFill>
                          <a:latin typeface="Arial"/>
                        </a:rPr>
                        <a:t>0.39</a:t>
                      </a:r>
                    </a:p>
                  </a:txBody>
                  <a:tcPr marL="54000" marR="54000" marT="18000" marB="18000" anchor="ctr">
                    <a:solidFill>
                      <a:srgbClr val="F3F6FB"/>
                    </a:solidFill>
                  </a:tcPr>
                </a:tc>
                <a:tc>
                  <a:txBody>
                    <a:bodyPr wrap="square"/>
                    <a:lstStyle/>
                    <a:p>
                      <a:pPr algn="ctr"/>
                      <a:r>
                        <a:rPr sz="900" b="0">
                          <a:solidFill>
                            <a:srgbClr val="1F1F1F"/>
                          </a:solidFill>
                          <a:latin typeface="Arial"/>
                        </a:rPr>
                        <a:t>0.20</a:t>
                      </a:r>
                    </a:p>
                  </a:txBody>
                  <a:tcPr marL="54000" marR="54000" marT="18000" marB="18000" anchor="ctr">
                    <a:solidFill>
                      <a:srgbClr val="F3F6FB"/>
                    </a:solidFill>
                  </a:tcPr>
                </a:tc>
                <a:tc>
                  <a:txBody>
                    <a:bodyPr wrap="square"/>
                    <a:lstStyle/>
                    <a:p>
                      <a:pPr algn="ctr"/>
                      <a:r>
                        <a:rPr sz="900" b="0">
                          <a:solidFill>
                            <a:srgbClr val="C00000"/>
                          </a:solidFill>
                          <a:latin typeface="Arial"/>
                        </a:rPr>
                        <a:t>−0.19</a:t>
                      </a:r>
                    </a:p>
                  </a:txBody>
                  <a:tcPr marL="54000" marR="54000" marT="18000" marB="18000" anchor="ctr">
                    <a:solidFill>
                      <a:srgbClr val="F3F6FB"/>
                    </a:solidFill>
                  </a:tcPr>
                </a:tc>
                <a:tc>
                  <a:txBody>
                    <a:bodyPr wrap="square"/>
                    <a:lstStyle/>
                    <a:p>
                      <a:pPr algn="l"/>
                      <a:r>
                        <a:rPr sz="900" b="0">
                          <a:solidFill>
                            <a:srgbClr val="1F1F1F"/>
                          </a:solidFill>
                          <a:latin typeface="Arial"/>
                        </a:rPr>
                        <a:t>KAM to explain</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Riu Jamaicotel Limited</a:t>
                      </a:r>
                    </a:p>
                  </a:txBody>
                  <a:tcPr marL="54000" marR="54000" marT="18000" marB="18000" anchor="ctr">
                    <a:noFill/>
                  </a:tcPr>
                </a:tc>
                <a:tc>
                  <a:txBody>
                    <a:bodyPr wrap="square"/>
                    <a:lstStyle/>
                    <a:p>
                      <a:pPr algn="l"/>
                      <a:r>
                        <a:rPr sz="900" b="0">
                          <a:solidFill>
                            <a:srgbClr val="1F1F1F"/>
                          </a:solidFill>
                          <a:latin typeface="Arial"/>
                        </a:rPr>
                        <a:t>Anna-Kay Toyloy</a:t>
                      </a:r>
                    </a:p>
                  </a:txBody>
                  <a:tcPr marL="54000" marR="54000" marT="18000" marB="18000" anchor="ctr">
                    <a:noFill/>
                  </a:tcPr>
                </a:tc>
                <a:tc>
                  <a:txBody>
                    <a:bodyPr wrap="square"/>
                    <a:lstStyle/>
                    <a:p>
                      <a:pPr algn="ctr"/>
                      <a:r>
                        <a:rPr sz="900" b="0">
                          <a:solidFill>
                            <a:srgbClr val="1F1F1F"/>
                          </a:solidFill>
                          <a:latin typeface="Arial"/>
                        </a:rPr>
                        <a:t>RT70</a:t>
                      </a:r>
                    </a:p>
                  </a:txBody>
                  <a:tcPr marL="54000" marR="54000" marT="18000" marB="18000" anchor="ctr">
                    <a:noFill/>
                  </a:tcPr>
                </a:tc>
                <a:tc>
                  <a:txBody>
                    <a:bodyPr wrap="square"/>
                    <a:lstStyle/>
                    <a:p>
                      <a:pPr algn="ctr"/>
                      <a:r>
                        <a:rPr sz="900" b="0">
                          <a:solidFill>
                            <a:srgbClr val="1F1F1F"/>
                          </a:solidFill>
                          <a:latin typeface="Arial"/>
                        </a:rPr>
                        <a:t>1.11</a:t>
                      </a:r>
                    </a:p>
                  </a:txBody>
                  <a:tcPr marL="54000" marR="54000" marT="18000" marB="18000" anchor="ctr">
                    <a:noFill/>
                  </a:tcPr>
                </a:tc>
                <a:tc>
                  <a:txBody>
                    <a:bodyPr wrap="square"/>
                    <a:lstStyle/>
                    <a:p>
                      <a:pPr algn="ctr"/>
                      <a:r>
                        <a:rPr sz="900" b="0">
                          <a:solidFill>
                            <a:srgbClr val="1F1F1F"/>
                          </a:solidFill>
                          <a:latin typeface="Arial"/>
                        </a:rPr>
                        <a:t>0.92</a:t>
                      </a:r>
                    </a:p>
                  </a:txBody>
                  <a:tcPr marL="54000" marR="54000" marT="18000" marB="18000" anchor="ctr">
                    <a:noFill/>
                  </a:tcPr>
                </a:tc>
                <a:tc>
                  <a:txBody>
                    <a:bodyPr wrap="square"/>
                    <a:lstStyle/>
                    <a:p>
                      <a:pPr algn="ctr"/>
                      <a:r>
                        <a:rPr sz="900" b="0">
                          <a:solidFill>
                            <a:srgbClr val="C00000"/>
                          </a:solidFill>
                          <a:latin typeface="Arial"/>
                        </a:rPr>
                        <a:t>−0.18</a:t>
                      </a:r>
                    </a:p>
                  </a:txBody>
                  <a:tcPr marL="54000" marR="54000" marT="18000" marB="18000" anchor="ctr">
                    <a:noFill/>
                  </a:tcPr>
                </a:tc>
                <a:tc>
                  <a:txBody>
                    <a:bodyPr wrap="square"/>
                    <a:lstStyle/>
                    <a:p>
                      <a:pPr algn="l"/>
                      <a:r>
                        <a:rPr sz="900" b="0">
                          <a:solidFill>
                            <a:srgbClr val="1F1F1F"/>
                          </a:solidFill>
                          <a:latin typeface="Arial"/>
                        </a:rPr>
                        <a:t>KAM to explain</a:t>
                      </a:r>
                    </a:p>
                  </a:txBody>
                  <a:tcPr marL="54000" marR="54000" marT="18000" marB="18000" anchor="ctr">
                    <a:noFill/>
                  </a:tcPr>
                </a:tc>
              </a:tr>
              <a:tr h="315000">
                <a:tc>
                  <a:txBody>
                    <a:bodyPr wrap="square"/>
                    <a:lstStyle/>
                    <a:p>
                      <a:pPr algn="l"/>
                      <a:r>
                        <a:rPr sz="900" b="1">
                          <a:solidFill>
                            <a:srgbClr val="062552"/>
                          </a:solidFill>
                          <a:latin typeface="Arial"/>
                        </a:rPr>
                        <a:t>Mega Mart</a:t>
                      </a:r>
                    </a:p>
                  </a:txBody>
                  <a:tcPr marL="54000" marR="54000" marT="18000" marB="18000" anchor="ctr">
                    <a:solidFill>
                      <a:srgbClr val="F3F6FB"/>
                    </a:solidFill>
                  </a:tcPr>
                </a:tc>
                <a:tc>
                  <a:txBody>
                    <a:bodyPr wrap="square"/>
                    <a:lstStyle/>
                    <a:p>
                      <a:pPr algn="l"/>
                      <a:r>
                        <a:rPr sz="900" b="0">
                          <a:solidFill>
                            <a:srgbClr val="1F1F1F"/>
                          </a:solidFill>
                          <a:latin typeface="Arial"/>
                        </a:rPr>
                        <a:t>Kenroy Williams</a:t>
                      </a:r>
                    </a:p>
                  </a:txBody>
                  <a:tcPr marL="54000" marR="54000" marT="18000" marB="18000" anchor="ctr">
                    <a:solidFill>
                      <a:srgbClr val="F3F6FB"/>
                    </a:solidFill>
                  </a:tcPr>
                </a:tc>
                <a:tc>
                  <a:txBody>
                    <a:bodyPr wrap="square"/>
                    <a:lstStyle/>
                    <a:p>
                      <a:pPr algn="ctr"/>
                      <a:r>
                        <a:rPr sz="900" b="0">
                          <a:solidFill>
                            <a:srgbClr val="1F1F1F"/>
                          </a:solidFill>
                          <a:latin typeface="Arial"/>
                        </a:rPr>
                        <a:t>RT40</a:t>
                      </a:r>
                    </a:p>
                  </a:txBody>
                  <a:tcPr marL="54000" marR="54000" marT="18000" marB="18000" anchor="ctr">
                    <a:solidFill>
                      <a:srgbClr val="F3F6FB"/>
                    </a:solidFill>
                  </a:tcPr>
                </a:tc>
                <a:tc>
                  <a:txBody>
                    <a:bodyPr wrap="square"/>
                    <a:lstStyle/>
                    <a:p>
                      <a:pPr algn="ctr"/>
                      <a:r>
                        <a:rPr sz="900" b="0">
                          <a:solidFill>
                            <a:srgbClr val="1F1F1F"/>
                          </a:solidFill>
                          <a:latin typeface="Arial"/>
                        </a:rPr>
                        <a:t>0.00</a:t>
                      </a:r>
                    </a:p>
                  </a:txBody>
                  <a:tcPr marL="54000" marR="54000" marT="18000" marB="18000" anchor="ctr">
                    <a:solidFill>
                      <a:srgbClr val="F3F6FB"/>
                    </a:solidFill>
                  </a:tcPr>
                </a:tc>
                <a:tc>
                  <a:txBody>
                    <a:bodyPr wrap="square"/>
                    <a:lstStyle/>
                    <a:p>
                      <a:pPr algn="ctr"/>
                      <a:r>
                        <a:rPr sz="900" b="0">
                          <a:solidFill>
                            <a:srgbClr val="1F1F1F"/>
                          </a:solidFill>
                          <a:latin typeface="Arial"/>
                        </a:rPr>
                        <a:t>0.18</a:t>
                      </a:r>
                    </a:p>
                  </a:txBody>
                  <a:tcPr marL="54000" marR="54000" marT="18000" marB="18000" anchor="ctr">
                    <a:solidFill>
                      <a:srgbClr val="F3F6FB"/>
                    </a:solidFill>
                  </a:tcPr>
                </a:tc>
                <a:tc>
                  <a:txBody>
                    <a:bodyPr wrap="square"/>
                    <a:lstStyle/>
                    <a:p>
                      <a:pPr algn="ctr"/>
                      <a:r>
                        <a:rPr sz="900" b="0">
                          <a:solidFill>
                            <a:srgbClr val="0E4E95"/>
                          </a:solidFill>
                          <a:latin typeface="Arial"/>
                        </a:rPr>
                        <a:t>+0.18</a:t>
                      </a:r>
                    </a:p>
                  </a:txBody>
                  <a:tcPr marL="54000" marR="54000" marT="18000" marB="18000" anchor="ctr">
                    <a:solidFill>
                      <a:srgbClr val="F3F6FB"/>
                    </a:solidFill>
                  </a:tcPr>
                </a:tc>
                <a:tc>
                  <a:txBody>
                    <a:bodyPr wrap="square"/>
                    <a:lstStyle/>
                    <a:p>
                      <a:pPr algn="l"/>
                      <a:r>
                        <a:rPr sz="900" b="0">
                          <a:solidFill>
                            <a:srgbClr val="1F1F1F"/>
                          </a:solidFill>
                          <a:latin typeface="Arial"/>
                        </a:rPr>
                        <a:t>KAM to explain</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National Water Commission</a:t>
                      </a:r>
                    </a:p>
                  </a:txBody>
                  <a:tcPr marL="54000" marR="54000" marT="18000" marB="18000" anchor="ctr">
                    <a:noFill/>
                  </a:tcPr>
                </a:tc>
                <a:tc>
                  <a:txBody>
                    <a:bodyPr wrap="square"/>
                    <a:lstStyle/>
                    <a:p>
                      <a:pPr algn="l"/>
                      <a:r>
                        <a:rPr sz="900" b="0">
                          <a:solidFill>
                            <a:srgbClr val="1F1F1F"/>
                          </a:solidFill>
                          <a:latin typeface="Arial"/>
                        </a:rPr>
                        <a:t>Simone Chisholm</a:t>
                      </a:r>
                    </a:p>
                  </a:txBody>
                  <a:tcPr marL="54000" marR="54000" marT="18000" marB="18000" anchor="ctr">
                    <a:noFill/>
                  </a:tcPr>
                </a:tc>
                <a:tc>
                  <a:txBody>
                    <a:bodyPr wrap="square"/>
                    <a:lstStyle/>
                    <a:p>
                      <a:pPr algn="ctr"/>
                      <a:r>
                        <a:rPr sz="900" b="0">
                          <a:solidFill>
                            <a:srgbClr val="1F1F1F"/>
                          </a:solidFill>
                          <a:latin typeface="Arial"/>
                        </a:rPr>
                        <a:t>RT40</a:t>
                      </a:r>
                    </a:p>
                  </a:txBody>
                  <a:tcPr marL="54000" marR="54000" marT="18000" marB="18000" anchor="ctr">
                    <a:noFill/>
                  </a:tcPr>
                </a:tc>
                <a:tc>
                  <a:txBody>
                    <a:bodyPr wrap="square"/>
                    <a:lstStyle/>
                    <a:p>
                      <a:pPr algn="ctr"/>
                      <a:r>
                        <a:rPr sz="900" b="0">
                          <a:solidFill>
                            <a:srgbClr val="1F1F1F"/>
                          </a:solidFill>
                          <a:latin typeface="Arial"/>
                        </a:rPr>
                        <a:t>0.08</a:t>
                      </a:r>
                    </a:p>
                  </a:txBody>
                  <a:tcPr marL="54000" marR="54000" marT="18000" marB="18000" anchor="ctr">
                    <a:noFill/>
                  </a:tcPr>
                </a:tc>
                <a:tc>
                  <a:txBody>
                    <a:bodyPr wrap="square"/>
                    <a:lstStyle/>
                    <a:p>
                      <a:pPr algn="ctr"/>
                      <a:r>
                        <a:rPr sz="900" b="0">
                          <a:solidFill>
                            <a:srgbClr val="1F1F1F"/>
                          </a:solidFill>
                          <a:latin typeface="Arial"/>
                        </a:rPr>
                        <a:t>0.25</a:t>
                      </a:r>
                    </a:p>
                  </a:txBody>
                  <a:tcPr marL="54000" marR="54000" marT="18000" marB="18000" anchor="ctr">
                    <a:noFill/>
                  </a:tcPr>
                </a:tc>
                <a:tc>
                  <a:txBody>
                    <a:bodyPr wrap="square"/>
                    <a:lstStyle/>
                    <a:p>
                      <a:pPr algn="ctr"/>
                      <a:r>
                        <a:rPr sz="900" b="0">
                          <a:solidFill>
                            <a:srgbClr val="0E4E95"/>
                          </a:solidFill>
                          <a:latin typeface="Arial"/>
                        </a:rPr>
                        <a:t>+0.17</a:t>
                      </a:r>
                    </a:p>
                  </a:txBody>
                  <a:tcPr marL="54000" marR="54000" marT="18000" marB="18000" anchor="ctr">
                    <a:noFill/>
                  </a:tcPr>
                </a:tc>
                <a:tc>
                  <a:txBody>
                    <a:bodyPr wrap="square"/>
                    <a:lstStyle/>
                    <a:p>
                      <a:pPr algn="l"/>
                      <a:r>
                        <a:rPr sz="900" b="0">
                          <a:solidFill>
                            <a:srgbClr val="1F1F1F"/>
                          </a:solidFill>
                          <a:latin typeface="Arial"/>
                        </a:rPr>
                        <a:t>KAM to explain</a:t>
                      </a:r>
                    </a:p>
                  </a:txBody>
                  <a:tcPr marL="54000" marR="54000" marT="18000" marB="18000" anchor="ctr">
                    <a:noFill/>
                  </a:tcPr>
                </a:tc>
              </a:tr>
              <a:tr h="315000">
                <a:tc>
                  <a:txBody>
                    <a:bodyPr wrap="square"/>
                    <a:lstStyle/>
                    <a:p>
                      <a:pPr algn="l"/>
                      <a:r>
                        <a:rPr sz="900" b="1">
                          <a:solidFill>
                            <a:srgbClr val="062552"/>
                          </a:solidFill>
                          <a:latin typeface="Arial"/>
                        </a:rPr>
                        <a:t>Bush Cay West Ltd</a:t>
                      </a:r>
                    </a:p>
                  </a:txBody>
                  <a:tcPr marL="54000" marR="54000" marT="18000" marB="18000" anchor="ctr">
                    <a:solidFill>
                      <a:srgbClr val="F3F6FB"/>
                    </a:solidFill>
                  </a:tcPr>
                </a:tc>
                <a:tc>
                  <a:txBody>
                    <a:bodyPr wrap="square"/>
                    <a:lstStyle/>
                    <a:p>
                      <a:pPr algn="l"/>
                      <a:r>
                        <a:rPr sz="900" b="0">
                          <a:solidFill>
                            <a:srgbClr val="1F1F1F"/>
                          </a:solidFill>
                          <a:latin typeface="Arial"/>
                        </a:rPr>
                        <a:t>Kenroy Williams</a:t>
                      </a:r>
                    </a:p>
                  </a:txBody>
                  <a:tcPr marL="54000" marR="54000" marT="18000" marB="18000" anchor="ctr">
                    <a:solidFill>
                      <a:srgbClr val="F3F6FB"/>
                    </a:solidFill>
                  </a:tcPr>
                </a:tc>
                <a:tc>
                  <a:txBody>
                    <a:bodyPr wrap="square"/>
                    <a:lstStyle/>
                    <a:p>
                      <a:pPr algn="ctr"/>
                      <a:r>
                        <a:rPr sz="900" b="0">
                          <a:solidFill>
                            <a:srgbClr val="1F1F1F"/>
                          </a:solidFill>
                          <a:latin typeface="Arial"/>
                        </a:rPr>
                        <a:t>RT50</a:t>
                      </a:r>
                    </a:p>
                  </a:txBody>
                  <a:tcPr marL="54000" marR="54000" marT="18000" marB="18000" anchor="ctr">
                    <a:solidFill>
                      <a:srgbClr val="F3F6FB"/>
                    </a:solidFill>
                  </a:tcPr>
                </a:tc>
                <a:tc>
                  <a:txBody>
                    <a:bodyPr wrap="square"/>
                    <a:lstStyle/>
                    <a:p>
                      <a:pPr algn="ctr"/>
                      <a:r>
                        <a:rPr sz="900" b="0">
                          <a:solidFill>
                            <a:srgbClr val="1F1F1F"/>
                          </a:solidFill>
                          <a:latin typeface="Arial"/>
                        </a:rPr>
                        <a:t>0.73</a:t>
                      </a:r>
                    </a:p>
                  </a:txBody>
                  <a:tcPr marL="54000" marR="54000" marT="18000" marB="18000" anchor="ctr">
                    <a:solidFill>
                      <a:srgbClr val="F3F6FB"/>
                    </a:solidFill>
                  </a:tcPr>
                </a:tc>
                <a:tc>
                  <a:txBody>
                    <a:bodyPr wrap="square"/>
                    <a:lstStyle/>
                    <a:p>
                      <a:pPr algn="ctr"/>
                      <a:r>
                        <a:rPr sz="900" b="0">
                          <a:solidFill>
                            <a:srgbClr val="1F1F1F"/>
                          </a:solidFill>
                          <a:latin typeface="Arial"/>
                        </a:rPr>
                        <a:t>0.90</a:t>
                      </a:r>
                    </a:p>
                  </a:txBody>
                  <a:tcPr marL="54000" marR="54000" marT="18000" marB="18000" anchor="ctr">
                    <a:solidFill>
                      <a:srgbClr val="F3F6FB"/>
                    </a:solidFill>
                  </a:tcPr>
                </a:tc>
                <a:tc>
                  <a:txBody>
                    <a:bodyPr wrap="square"/>
                    <a:lstStyle/>
                    <a:p>
                      <a:pPr algn="ctr"/>
                      <a:r>
                        <a:rPr sz="900" b="0">
                          <a:solidFill>
                            <a:srgbClr val="0E4E95"/>
                          </a:solidFill>
                          <a:latin typeface="Arial"/>
                        </a:rPr>
                        <a:t>+0.17</a:t>
                      </a:r>
                    </a:p>
                  </a:txBody>
                  <a:tcPr marL="54000" marR="54000" marT="18000" marB="18000" anchor="ctr">
                    <a:solidFill>
                      <a:srgbClr val="F3F6FB"/>
                    </a:solidFill>
                  </a:tcPr>
                </a:tc>
                <a:tc>
                  <a:txBody>
                    <a:bodyPr wrap="square"/>
                    <a:lstStyle/>
                    <a:p>
                      <a:pPr algn="l"/>
                      <a:r>
                        <a:rPr sz="900" b="0">
                          <a:solidFill>
                            <a:srgbClr val="1F1F1F"/>
                          </a:solidFill>
                          <a:latin typeface="Arial"/>
                        </a:rPr>
                        <a:t>KAM to explain</a:t>
                      </a:r>
                    </a:p>
                  </a:txBody>
                  <a:tcPr marL="54000" marR="54000" marT="18000" marB="18000" anchor="ctr">
                    <a:solidFill>
                      <a:srgbClr val="F3F6FB"/>
                    </a:solidFill>
                  </a:tcPr>
                </a:tc>
              </a:tr>
            </a:tbl>
          </a:graphicData>
        </a:graphic>
      </p:graphicFrame>
      <p:sp>
        <p:nvSpPr>
          <p:cNvPr id="8" name="Rectangle 7"/>
          <p:cNvSpPr/>
          <p:nvPr/>
        </p:nvSpPr>
        <p:spPr>
          <a:xfrm>
            <a:off x="274320" y="5500000"/>
            <a:ext cx="11650000" cy="76000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5500000"/>
            <a:ext cx="54000" cy="760000"/>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20" y="5580000"/>
            <a:ext cx="11390000" cy="640000"/>
          </a:xfrm>
          <a:prstGeom prst="rect">
            <a:avLst/>
          </a:prstGeom>
          <a:noFill/>
        </p:spPr>
        <p:txBody>
          <a:bodyPr wrap="square" lIns="0" rIns="0" tIns="0" bIns="0" anchor="t">
            <a:spAutoFit/>
          </a:bodyPr>
          <a:lstStyle/>
          <a:p>
            <a:pPr algn="l"/>
            <a:r>
              <a:rPr sz="1050" b="1">
                <a:solidFill>
                  <a:srgbClr val="062552"/>
                </a:solidFill>
                <a:latin typeface="Arial"/>
              </a:rPr>
              <a:t>What to bring. </a:t>
            </a:r>
            <a:r>
              <a:rPr sz="1050" b="0">
                <a:solidFill>
                  <a:srgbClr val="1F1F1F"/>
                </a:solidFill>
                <a:latin typeface="Arial"/>
              </a:rPr>
              <a:t>For each account above and in the sheet, the reason for the miss and whether it repeats. A one-off (billing timing, an outage) should not change the forecast; a lasting change should be entered as an adjustment for every month it applies.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The Forecast You Have Given Us</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Assigned portfolios go from 1,310.9 GWh in FY2026 to 1,344.0 in FY2027 and 1,356.7 in FY2028</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Live account forecast with September actuals and all adjustments on file. FY2026 is January to September actual plus forecast. Commercial assigned accounts only.</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4</a:t>
            </a:r>
          </a:p>
        </p:txBody>
      </p:sp>
      <p:graphicFrame>
        <p:nvGraphicFramePr>
          <p:cNvPr id="7" name="Table 6"/>
          <p:cNvGraphicFramePr>
            <a:graphicFrameLocks noGrp="1"/>
          </p:cNvGraphicFramePr>
          <p:nvPr/>
        </p:nvGraphicFramePr>
        <p:xfrm>
          <a:off x="274320" y="1950000"/>
          <a:ext cx="11649995" cy="3510000"/>
        </p:xfrm>
        <a:graphic>
          <a:graphicData uri="http://schemas.openxmlformats.org/drawingml/2006/table">
            <a:tbl>
              <a:tblPr firstRow="0" bandRow="0">
                <a:tableStyleId>{5940675A-B579-460E-94D1-54222C63F5DA}</a:tableStyleId>
              </a:tblPr>
              <a:tblGrid>
                <a:gridCol w="2512745"/>
                <a:gridCol w="1027941"/>
                <a:gridCol w="1142156"/>
                <a:gridCol w="1142156"/>
                <a:gridCol w="1142156"/>
                <a:gridCol w="1027941"/>
                <a:gridCol w="1142156"/>
                <a:gridCol w="1027941"/>
                <a:gridCol w="1484803"/>
              </a:tblGrid>
              <a:tr h="320000">
                <a:tc>
                  <a:txBody>
                    <a:bodyPr wrap="square"/>
                    <a:lstStyle/>
                    <a:p>
                      <a:pPr algn="l"/>
                      <a:r>
                        <a:rPr sz="900" b="1">
                          <a:solidFill>
                            <a:srgbClr val="FFFFFF"/>
                          </a:solidFill>
                          <a:latin typeface="Arial"/>
                        </a:rPr>
                        <a:t>KAM</a:t>
                      </a:r>
                    </a:p>
                  </a:txBody>
                  <a:tcPr marL="54000" marR="54000" marT="18000" marB="18000" anchor="ctr">
                    <a:solidFill>
                      <a:srgbClr val="062552"/>
                    </a:solidFill>
                  </a:tcPr>
                </a:tc>
                <a:tc>
                  <a:txBody>
                    <a:bodyPr wrap="square"/>
                    <a:lstStyle/>
                    <a:p>
                      <a:pPr algn="ctr"/>
                      <a:r>
                        <a:rPr sz="900" b="1">
                          <a:solidFill>
                            <a:srgbClr val="FFFFFF"/>
                          </a:solidFill>
                          <a:latin typeface="Arial"/>
                        </a:rPr>
                        <a:t>Customers</a:t>
                      </a:r>
                    </a:p>
                  </a:txBody>
                  <a:tcPr marL="54000" marR="54000" marT="18000" marB="18000" anchor="ctr">
                    <a:solidFill>
                      <a:srgbClr val="062552"/>
                    </a:solidFill>
                  </a:tcPr>
                </a:tc>
                <a:tc>
                  <a:txBody>
                    <a:bodyPr wrap="square"/>
                    <a:lstStyle/>
                    <a:p>
                      <a:pPr algn="ctr"/>
                      <a:r>
                        <a:rPr sz="900" b="1">
                          <a:solidFill>
                            <a:srgbClr val="FFFFFF"/>
                          </a:solidFill>
                          <a:latin typeface="Arial"/>
                        </a:rPr>
                        <a:t>FY2025</a:t>
                      </a:r>
                    </a:p>
                  </a:txBody>
                  <a:tcPr marL="54000" marR="54000" marT="18000" marB="18000" anchor="ctr">
                    <a:solidFill>
                      <a:srgbClr val="062552"/>
                    </a:solidFill>
                  </a:tcPr>
                </a:tc>
                <a:tc>
                  <a:txBody>
                    <a:bodyPr wrap="square"/>
                    <a:lstStyle/>
                    <a:p>
                      <a:pPr algn="ctr"/>
                      <a:r>
                        <a:rPr sz="900" b="1">
                          <a:solidFill>
                            <a:srgbClr val="FFFFFF"/>
                          </a:solidFill>
                          <a:latin typeface="Arial"/>
                        </a:rPr>
                        <a:t>FY2026</a:t>
                      </a:r>
                    </a:p>
                  </a:txBody>
                  <a:tcPr marL="54000" marR="54000" marT="18000" marB="18000" anchor="ctr">
                    <a:solidFill>
                      <a:srgbClr val="062552"/>
                    </a:solidFill>
                  </a:tcPr>
                </a:tc>
                <a:tc>
                  <a:txBody>
                    <a:bodyPr wrap="square"/>
                    <a:lstStyle/>
                    <a:p>
                      <a:pPr algn="ctr"/>
                      <a:r>
                        <a:rPr sz="900" b="1">
                          <a:solidFill>
                            <a:srgbClr val="FFFFFF"/>
                          </a:solidFill>
                          <a:latin typeface="Arial"/>
                        </a:rPr>
                        <a:t>FY2027</a:t>
                      </a:r>
                    </a:p>
                  </a:txBody>
                  <a:tcPr marL="54000" marR="54000" marT="18000" marB="18000" anchor="ctr">
                    <a:solidFill>
                      <a:srgbClr val="062552"/>
                    </a:solidFill>
                  </a:tcPr>
                </a:tc>
                <a:tc>
                  <a:txBody>
                    <a:bodyPr wrap="square"/>
                    <a:lstStyle/>
                    <a:p>
                      <a:pPr algn="ctr"/>
                      <a:r>
                        <a:rPr sz="900" b="1">
                          <a:solidFill>
                            <a:srgbClr val="FFFFFF"/>
                          </a:solidFill>
                          <a:latin typeface="Arial"/>
                        </a:rPr>
                        <a:t>YoY</a:t>
                      </a:r>
                    </a:p>
                  </a:txBody>
                  <a:tcPr marL="54000" marR="54000" marT="18000" marB="18000" anchor="ctr">
                    <a:solidFill>
                      <a:srgbClr val="062552"/>
                    </a:solidFill>
                  </a:tcPr>
                </a:tc>
                <a:tc>
                  <a:txBody>
                    <a:bodyPr wrap="square"/>
                    <a:lstStyle/>
                    <a:p>
                      <a:pPr algn="ctr"/>
                      <a:r>
                        <a:rPr sz="900" b="1">
                          <a:solidFill>
                            <a:srgbClr val="FFFFFF"/>
                          </a:solidFill>
                          <a:latin typeface="Arial"/>
                        </a:rPr>
                        <a:t>FY2028</a:t>
                      </a:r>
                    </a:p>
                  </a:txBody>
                  <a:tcPr marL="54000" marR="54000" marT="18000" marB="18000" anchor="ctr">
                    <a:solidFill>
                      <a:srgbClr val="062552"/>
                    </a:solidFill>
                  </a:tcPr>
                </a:tc>
                <a:tc>
                  <a:txBody>
                    <a:bodyPr wrap="square"/>
                    <a:lstStyle/>
                    <a:p>
                      <a:pPr algn="ctr"/>
                      <a:r>
                        <a:rPr sz="900" b="1">
                          <a:solidFill>
                            <a:srgbClr val="FFFFFF"/>
                          </a:solidFill>
                          <a:latin typeface="Arial"/>
                        </a:rPr>
                        <a:t>YoY</a:t>
                      </a:r>
                    </a:p>
                  </a:txBody>
                  <a:tcPr marL="54000" marR="54000" marT="18000" marB="18000" anchor="ctr">
                    <a:solidFill>
                      <a:srgbClr val="062552"/>
                    </a:solidFill>
                  </a:tcPr>
                </a:tc>
                <a:tc>
                  <a:txBody>
                    <a:bodyPr wrap="square"/>
                    <a:lstStyle/>
                    <a:p>
                      <a:pPr algn="ctr"/>
                      <a:r>
                        <a:rPr sz="900" b="1">
                          <a:solidFill>
                            <a:srgbClr val="FFFFFF"/>
                          </a:solidFill>
                          <a:latin typeface="Arial"/>
                        </a:rPr>
                        <a:t>FY2027 vs last round</a:t>
                      </a:r>
                    </a:p>
                  </a:txBody>
                  <a:tcPr marL="54000" marR="54000" marT="18000" marB="18000" anchor="ctr">
                    <a:solidFill>
                      <a:srgbClr val="062552"/>
                    </a:solidFill>
                  </a:tcPr>
                </a:tc>
              </a:tr>
              <a:tr h="290000">
                <a:tc>
                  <a:txBody>
                    <a:bodyPr wrap="square"/>
                    <a:lstStyle/>
                    <a:p>
                      <a:pPr algn="l"/>
                      <a:r>
                        <a:rPr sz="900" b="1">
                          <a:solidFill>
                            <a:srgbClr val="062552"/>
                          </a:solidFill>
                          <a:latin typeface="Arial"/>
                        </a:rPr>
                        <a:t>Simone Chisholm</a:t>
                      </a:r>
                    </a:p>
                  </a:txBody>
                  <a:tcPr marL="54000" marR="54000" marT="18000" marB="18000" anchor="ctr">
                    <a:noFill/>
                  </a:tcPr>
                </a:tc>
                <a:tc>
                  <a:txBody>
                    <a:bodyPr wrap="square"/>
                    <a:lstStyle/>
                    <a:p>
                      <a:pPr algn="ctr"/>
                      <a:r>
                        <a:rPr sz="900" b="0">
                          <a:solidFill>
                            <a:srgbClr val="1F1F1F"/>
                          </a:solidFill>
                          <a:latin typeface="Arial"/>
                        </a:rPr>
                        <a:t>53</a:t>
                      </a:r>
                    </a:p>
                  </a:txBody>
                  <a:tcPr marL="54000" marR="54000" marT="18000" marB="18000" anchor="ctr">
                    <a:noFill/>
                  </a:tcPr>
                </a:tc>
                <a:tc>
                  <a:txBody>
                    <a:bodyPr wrap="square"/>
                    <a:lstStyle/>
                    <a:p>
                      <a:pPr algn="ctr"/>
                      <a:r>
                        <a:rPr sz="900" b="0">
                          <a:solidFill>
                            <a:srgbClr val="1F1F1F"/>
                          </a:solidFill>
                          <a:latin typeface="Arial"/>
                        </a:rPr>
                        <a:t>323.8</a:t>
                      </a:r>
                    </a:p>
                  </a:txBody>
                  <a:tcPr marL="54000" marR="54000" marT="18000" marB="18000" anchor="ctr">
                    <a:noFill/>
                  </a:tcPr>
                </a:tc>
                <a:tc>
                  <a:txBody>
                    <a:bodyPr wrap="square"/>
                    <a:lstStyle/>
                    <a:p>
                      <a:pPr algn="ctr"/>
                      <a:r>
                        <a:rPr sz="900" b="0">
                          <a:solidFill>
                            <a:srgbClr val="1F1F1F"/>
                          </a:solidFill>
                          <a:latin typeface="Arial"/>
                        </a:rPr>
                        <a:t>320.5</a:t>
                      </a:r>
                    </a:p>
                  </a:txBody>
                  <a:tcPr marL="54000" marR="54000" marT="18000" marB="18000" anchor="ctr">
                    <a:noFill/>
                  </a:tcPr>
                </a:tc>
                <a:tc>
                  <a:txBody>
                    <a:bodyPr wrap="square"/>
                    <a:lstStyle/>
                    <a:p>
                      <a:pPr algn="ctr"/>
                      <a:r>
                        <a:rPr sz="900" b="0">
                          <a:solidFill>
                            <a:srgbClr val="1F1F1F"/>
                          </a:solidFill>
                          <a:latin typeface="Arial"/>
                        </a:rPr>
                        <a:t>341.3</a:t>
                      </a:r>
                    </a:p>
                  </a:txBody>
                  <a:tcPr marL="54000" marR="54000" marT="18000" marB="18000" anchor="ctr">
                    <a:noFill/>
                  </a:tcPr>
                </a:tc>
                <a:tc>
                  <a:txBody>
                    <a:bodyPr wrap="square"/>
                    <a:lstStyle/>
                    <a:p>
                      <a:pPr algn="ctr"/>
                      <a:r>
                        <a:rPr sz="900" b="0">
                          <a:solidFill>
                            <a:srgbClr val="0E4E95"/>
                          </a:solidFill>
                          <a:latin typeface="Arial"/>
                        </a:rPr>
                        <a:t>+6.5%</a:t>
                      </a:r>
                    </a:p>
                  </a:txBody>
                  <a:tcPr marL="54000" marR="54000" marT="18000" marB="18000" anchor="ctr">
                    <a:noFill/>
                  </a:tcPr>
                </a:tc>
                <a:tc>
                  <a:txBody>
                    <a:bodyPr wrap="square"/>
                    <a:lstStyle/>
                    <a:p>
                      <a:pPr algn="ctr"/>
                      <a:r>
                        <a:rPr sz="900" b="0">
                          <a:solidFill>
                            <a:srgbClr val="1F1F1F"/>
                          </a:solidFill>
                          <a:latin typeface="Arial"/>
                        </a:rPr>
                        <a:t>339.7</a:t>
                      </a:r>
                    </a:p>
                  </a:txBody>
                  <a:tcPr marL="54000" marR="54000" marT="18000" marB="18000" anchor="ctr">
                    <a:noFill/>
                  </a:tcPr>
                </a:tc>
                <a:tc>
                  <a:txBody>
                    <a:bodyPr wrap="square"/>
                    <a:lstStyle/>
                    <a:p>
                      <a:pPr algn="ctr"/>
                      <a:r>
                        <a:rPr sz="900" b="0">
                          <a:solidFill>
                            <a:srgbClr val="C00000"/>
                          </a:solidFill>
                          <a:latin typeface="Arial"/>
                        </a:rPr>
                        <a:t>−0.5%</a:t>
                      </a:r>
                    </a:p>
                  </a:txBody>
                  <a:tcPr marL="54000" marR="54000" marT="18000" marB="18000" anchor="ctr">
                    <a:noFill/>
                  </a:tcPr>
                </a:tc>
                <a:tc>
                  <a:txBody>
                    <a:bodyPr wrap="square"/>
                    <a:lstStyle/>
                    <a:p>
                      <a:pPr algn="ctr"/>
                      <a:r>
                        <a:rPr sz="900" b="0">
                          <a:solidFill>
                            <a:srgbClr val="0E4E95"/>
                          </a:solidFill>
                          <a:latin typeface="Arial"/>
                        </a:rPr>
                        <a:t>+8.6</a:t>
                      </a:r>
                    </a:p>
                  </a:txBody>
                  <a:tcPr marL="54000" marR="54000" marT="18000" marB="18000" anchor="ctr">
                    <a:noFill/>
                  </a:tcPr>
                </a:tc>
              </a:tr>
              <a:tr h="290000">
                <a:tc>
                  <a:txBody>
                    <a:bodyPr wrap="square"/>
                    <a:lstStyle/>
                    <a:p>
                      <a:pPr algn="l"/>
                      <a:r>
                        <a:rPr sz="900" b="1">
                          <a:solidFill>
                            <a:srgbClr val="062552"/>
                          </a:solidFill>
                          <a:latin typeface="Arial"/>
                        </a:rPr>
                        <a:t>Nicole Watson</a:t>
                      </a:r>
                    </a:p>
                  </a:txBody>
                  <a:tcPr marL="54000" marR="54000" marT="18000" marB="18000" anchor="ctr">
                    <a:solidFill>
                      <a:srgbClr val="F3F6FB"/>
                    </a:solidFill>
                  </a:tcPr>
                </a:tc>
                <a:tc>
                  <a:txBody>
                    <a:bodyPr wrap="square"/>
                    <a:lstStyle/>
                    <a:p>
                      <a:pPr algn="ctr"/>
                      <a:r>
                        <a:rPr sz="900" b="0">
                          <a:solidFill>
                            <a:srgbClr val="1F1F1F"/>
                          </a:solidFill>
                          <a:latin typeface="Arial"/>
                        </a:rPr>
                        <a:t>37</a:t>
                      </a:r>
                    </a:p>
                  </a:txBody>
                  <a:tcPr marL="54000" marR="54000" marT="18000" marB="18000" anchor="ctr">
                    <a:solidFill>
                      <a:srgbClr val="F3F6FB"/>
                    </a:solidFill>
                  </a:tcPr>
                </a:tc>
                <a:tc>
                  <a:txBody>
                    <a:bodyPr wrap="square"/>
                    <a:lstStyle/>
                    <a:p>
                      <a:pPr algn="ctr"/>
                      <a:r>
                        <a:rPr sz="900" b="0">
                          <a:solidFill>
                            <a:srgbClr val="1F1F1F"/>
                          </a:solidFill>
                          <a:latin typeface="Arial"/>
                        </a:rPr>
                        <a:t>189.3</a:t>
                      </a:r>
                    </a:p>
                  </a:txBody>
                  <a:tcPr marL="54000" marR="54000" marT="18000" marB="18000" anchor="ctr">
                    <a:solidFill>
                      <a:srgbClr val="F3F6FB"/>
                    </a:solidFill>
                  </a:tcPr>
                </a:tc>
                <a:tc>
                  <a:txBody>
                    <a:bodyPr wrap="square"/>
                    <a:lstStyle/>
                    <a:p>
                      <a:pPr algn="ctr"/>
                      <a:r>
                        <a:rPr sz="900" b="0">
                          <a:solidFill>
                            <a:srgbClr val="1F1F1F"/>
                          </a:solidFill>
                          <a:latin typeface="Arial"/>
                        </a:rPr>
                        <a:t>212.5</a:t>
                      </a:r>
                    </a:p>
                  </a:txBody>
                  <a:tcPr marL="54000" marR="54000" marT="18000" marB="18000" anchor="ctr">
                    <a:solidFill>
                      <a:srgbClr val="F3F6FB"/>
                    </a:solidFill>
                  </a:tcPr>
                </a:tc>
                <a:tc>
                  <a:txBody>
                    <a:bodyPr wrap="square"/>
                    <a:lstStyle/>
                    <a:p>
                      <a:pPr algn="ctr"/>
                      <a:r>
                        <a:rPr sz="900" b="0">
                          <a:solidFill>
                            <a:srgbClr val="1F1F1F"/>
                          </a:solidFill>
                          <a:latin typeface="Arial"/>
                        </a:rPr>
                        <a:t>221.4</a:t>
                      </a:r>
                    </a:p>
                  </a:txBody>
                  <a:tcPr marL="54000" marR="54000" marT="18000" marB="18000" anchor="ctr">
                    <a:solidFill>
                      <a:srgbClr val="F3F6FB"/>
                    </a:solidFill>
                  </a:tcPr>
                </a:tc>
                <a:tc>
                  <a:txBody>
                    <a:bodyPr wrap="square"/>
                    <a:lstStyle/>
                    <a:p>
                      <a:pPr algn="ctr"/>
                      <a:r>
                        <a:rPr sz="900" b="0">
                          <a:solidFill>
                            <a:srgbClr val="0E4E95"/>
                          </a:solidFill>
                          <a:latin typeface="Arial"/>
                        </a:rPr>
                        <a:t>+4.2%</a:t>
                      </a:r>
                    </a:p>
                  </a:txBody>
                  <a:tcPr marL="54000" marR="54000" marT="18000" marB="18000" anchor="ctr">
                    <a:solidFill>
                      <a:srgbClr val="F3F6FB"/>
                    </a:solidFill>
                  </a:tcPr>
                </a:tc>
                <a:tc>
                  <a:txBody>
                    <a:bodyPr wrap="square"/>
                    <a:lstStyle/>
                    <a:p>
                      <a:pPr algn="ctr"/>
                      <a:r>
                        <a:rPr sz="900" b="0">
                          <a:solidFill>
                            <a:srgbClr val="1F1F1F"/>
                          </a:solidFill>
                          <a:latin typeface="Arial"/>
                        </a:rPr>
                        <a:t>233.2</a:t>
                      </a:r>
                    </a:p>
                  </a:txBody>
                  <a:tcPr marL="54000" marR="54000" marT="18000" marB="18000" anchor="ctr">
                    <a:solidFill>
                      <a:srgbClr val="F3F6FB"/>
                    </a:solidFill>
                  </a:tcPr>
                </a:tc>
                <a:tc>
                  <a:txBody>
                    <a:bodyPr wrap="square"/>
                    <a:lstStyle/>
                    <a:p>
                      <a:pPr algn="ctr"/>
                      <a:r>
                        <a:rPr sz="900" b="0">
                          <a:solidFill>
                            <a:srgbClr val="0E4E95"/>
                          </a:solidFill>
                          <a:latin typeface="Arial"/>
                        </a:rPr>
                        <a:t>+5.3%</a:t>
                      </a:r>
                    </a:p>
                  </a:txBody>
                  <a:tcPr marL="54000" marR="54000" marT="18000" marB="18000" anchor="ctr">
                    <a:solidFill>
                      <a:srgbClr val="F3F6FB"/>
                    </a:solidFill>
                  </a:tcPr>
                </a:tc>
                <a:tc>
                  <a:txBody>
                    <a:bodyPr wrap="square"/>
                    <a:lstStyle/>
                    <a:p>
                      <a:pPr algn="ctr"/>
                      <a:r>
                        <a:rPr sz="900" b="0">
                          <a:solidFill>
                            <a:srgbClr val="C00000"/>
                          </a:solidFill>
                          <a:latin typeface="Arial"/>
                        </a:rPr>
                        <a:t>−10.6</a:t>
                      </a:r>
                    </a:p>
                  </a:txBody>
                  <a:tcPr marL="54000" marR="54000" marT="18000" marB="18000" anchor="ctr">
                    <a:solidFill>
                      <a:srgbClr val="F3F6FB"/>
                    </a:solidFill>
                  </a:tcPr>
                </a:tc>
              </a:tr>
              <a:tr h="290000">
                <a:tc>
                  <a:txBody>
                    <a:bodyPr wrap="square"/>
                    <a:lstStyle/>
                    <a:p>
                      <a:pPr algn="l"/>
                      <a:r>
                        <a:rPr sz="900" b="1">
                          <a:solidFill>
                            <a:srgbClr val="062552"/>
                          </a:solidFill>
                          <a:latin typeface="Arial"/>
                        </a:rPr>
                        <a:t>Tanya Williams</a:t>
                      </a:r>
                    </a:p>
                  </a:txBody>
                  <a:tcPr marL="54000" marR="54000" marT="18000" marB="18000" anchor="ctr">
                    <a:noFill/>
                  </a:tcPr>
                </a:tc>
                <a:tc>
                  <a:txBody>
                    <a:bodyPr wrap="square"/>
                    <a:lstStyle/>
                    <a:p>
                      <a:pPr algn="ctr"/>
                      <a:r>
                        <a:rPr sz="900" b="0">
                          <a:solidFill>
                            <a:srgbClr val="1F1F1F"/>
                          </a:solidFill>
                          <a:latin typeface="Arial"/>
                        </a:rPr>
                        <a:t>47</a:t>
                      </a:r>
                    </a:p>
                  </a:txBody>
                  <a:tcPr marL="54000" marR="54000" marT="18000" marB="18000" anchor="ctr">
                    <a:noFill/>
                  </a:tcPr>
                </a:tc>
                <a:tc>
                  <a:txBody>
                    <a:bodyPr wrap="square"/>
                    <a:lstStyle/>
                    <a:p>
                      <a:pPr algn="ctr"/>
                      <a:r>
                        <a:rPr sz="900" b="0">
                          <a:solidFill>
                            <a:srgbClr val="1F1F1F"/>
                          </a:solidFill>
                          <a:latin typeface="Arial"/>
                        </a:rPr>
                        <a:t>195.9</a:t>
                      </a:r>
                    </a:p>
                  </a:txBody>
                  <a:tcPr marL="54000" marR="54000" marT="18000" marB="18000" anchor="ctr">
                    <a:noFill/>
                  </a:tcPr>
                </a:tc>
                <a:tc>
                  <a:txBody>
                    <a:bodyPr wrap="square"/>
                    <a:lstStyle/>
                    <a:p>
                      <a:pPr algn="ctr"/>
                      <a:r>
                        <a:rPr sz="900" b="0">
                          <a:solidFill>
                            <a:srgbClr val="1F1F1F"/>
                          </a:solidFill>
                          <a:latin typeface="Arial"/>
                        </a:rPr>
                        <a:t>192.4</a:t>
                      </a:r>
                    </a:p>
                  </a:txBody>
                  <a:tcPr marL="54000" marR="54000" marT="18000" marB="18000" anchor="ctr">
                    <a:noFill/>
                  </a:tcPr>
                </a:tc>
                <a:tc>
                  <a:txBody>
                    <a:bodyPr wrap="square"/>
                    <a:lstStyle/>
                    <a:p>
                      <a:pPr algn="ctr"/>
                      <a:r>
                        <a:rPr sz="900" b="0">
                          <a:solidFill>
                            <a:srgbClr val="1F1F1F"/>
                          </a:solidFill>
                          <a:latin typeface="Arial"/>
                        </a:rPr>
                        <a:t>209.0</a:t>
                      </a:r>
                    </a:p>
                  </a:txBody>
                  <a:tcPr marL="54000" marR="54000" marT="18000" marB="18000" anchor="ctr">
                    <a:noFill/>
                  </a:tcPr>
                </a:tc>
                <a:tc>
                  <a:txBody>
                    <a:bodyPr wrap="square"/>
                    <a:lstStyle/>
                    <a:p>
                      <a:pPr algn="ctr"/>
                      <a:r>
                        <a:rPr sz="900" b="0">
                          <a:solidFill>
                            <a:srgbClr val="0E4E95"/>
                          </a:solidFill>
                          <a:latin typeface="Arial"/>
                        </a:rPr>
                        <a:t>+8.6%</a:t>
                      </a:r>
                    </a:p>
                  </a:txBody>
                  <a:tcPr marL="54000" marR="54000" marT="18000" marB="18000" anchor="ctr">
                    <a:noFill/>
                  </a:tcPr>
                </a:tc>
                <a:tc>
                  <a:txBody>
                    <a:bodyPr wrap="square"/>
                    <a:lstStyle/>
                    <a:p>
                      <a:pPr algn="ctr"/>
                      <a:r>
                        <a:rPr sz="900" b="0">
                          <a:solidFill>
                            <a:srgbClr val="1F1F1F"/>
                          </a:solidFill>
                          <a:latin typeface="Arial"/>
                        </a:rPr>
                        <a:t>211.6</a:t>
                      </a:r>
                    </a:p>
                  </a:txBody>
                  <a:tcPr marL="54000" marR="54000" marT="18000" marB="18000" anchor="ctr">
                    <a:noFill/>
                  </a:tcPr>
                </a:tc>
                <a:tc>
                  <a:txBody>
                    <a:bodyPr wrap="square"/>
                    <a:lstStyle/>
                    <a:p>
                      <a:pPr algn="ctr"/>
                      <a:r>
                        <a:rPr sz="900" b="0">
                          <a:solidFill>
                            <a:srgbClr val="0E4E95"/>
                          </a:solidFill>
                          <a:latin typeface="Arial"/>
                        </a:rPr>
                        <a:t>+1.3%</a:t>
                      </a:r>
                    </a:p>
                  </a:txBody>
                  <a:tcPr marL="54000" marR="54000" marT="18000" marB="18000" anchor="ctr">
                    <a:noFill/>
                  </a:tcPr>
                </a:tc>
                <a:tc>
                  <a:txBody>
                    <a:bodyPr wrap="square"/>
                    <a:lstStyle/>
                    <a:p>
                      <a:pPr algn="ctr"/>
                      <a:r>
                        <a:rPr sz="900" b="0">
                          <a:solidFill>
                            <a:srgbClr val="0E4E95"/>
                          </a:solidFill>
                          <a:latin typeface="Arial"/>
                        </a:rPr>
                        <a:t>+4.8</a:t>
                      </a:r>
                    </a:p>
                  </a:txBody>
                  <a:tcPr marL="54000" marR="54000" marT="18000" marB="18000" anchor="ctr">
                    <a:noFill/>
                  </a:tcPr>
                </a:tc>
              </a:tr>
              <a:tr h="290000">
                <a:tc>
                  <a:txBody>
                    <a:bodyPr wrap="square"/>
                    <a:lstStyle/>
                    <a:p>
                      <a:pPr algn="l"/>
                      <a:r>
                        <a:rPr sz="900" b="1">
                          <a:solidFill>
                            <a:srgbClr val="062552"/>
                          </a:solidFill>
                          <a:latin typeface="Arial"/>
                        </a:rPr>
                        <a:t>Anna-Kay Toyloy</a:t>
                      </a:r>
                    </a:p>
                  </a:txBody>
                  <a:tcPr marL="54000" marR="54000" marT="18000" marB="18000" anchor="ctr">
                    <a:solidFill>
                      <a:srgbClr val="F3F6FB"/>
                    </a:solidFill>
                  </a:tcPr>
                </a:tc>
                <a:tc>
                  <a:txBody>
                    <a:bodyPr wrap="square"/>
                    <a:lstStyle/>
                    <a:p>
                      <a:pPr algn="ctr"/>
                      <a:r>
                        <a:rPr sz="900" b="0">
                          <a:solidFill>
                            <a:srgbClr val="1F1F1F"/>
                          </a:solidFill>
                          <a:latin typeface="Arial"/>
                        </a:rPr>
                        <a:t>32</a:t>
                      </a:r>
                    </a:p>
                  </a:txBody>
                  <a:tcPr marL="54000" marR="54000" marT="18000" marB="18000" anchor="ctr">
                    <a:solidFill>
                      <a:srgbClr val="F3F6FB"/>
                    </a:solidFill>
                  </a:tcPr>
                </a:tc>
                <a:tc>
                  <a:txBody>
                    <a:bodyPr wrap="square"/>
                    <a:lstStyle/>
                    <a:p>
                      <a:pPr algn="ctr"/>
                      <a:r>
                        <a:rPr sz="900" b="0">
                          <a:solidFill>
                            <a:srgbClr val="1F1F1F"/>
                          </a:solidFill>
                          <a:latin typeface="Arial"/>
                        </a:rPr>
                        <a:t>137.4</a:t>
                      </a:r>
                    </a:p>
                  </a:txBody>
                  <a:tcPr marL="54000" marR="54000" marT="18000" marB="18000" anchor="ctr">
                    <a:solidFill>
                      <a:srgbClr val="F3F6FB"/>
                    </a:solidFill>
                  </a:tcPr>
                </a:tc>
                <a:tc>
                  <a:txBody>
                    <a:bodyPr wrap="square"/>
                    <a:lstStyle/>
                    <a:p>
                      <a:pPr algn="ctr"/>
                      <a:r>
                        <a:rPr sz="900" b="0">
                          <a:solidFill>
                            <a:srgbClr val="1F1F1F"/>
                          </a:solidFill>
                          <a:latin typeface="Arial"/>
                        </a:rPr>
                        <a:t>119.1</a:t>
                      </a:r>
                    </a:p>
                  </a:txBody>
                  <a:tcPr marL="54000" marR="54000" marT="18000" marB="18000" anchor="ctr">
                    <a:solidFill>
                      <a:srgbClr val="F3F6FB"/>
                    </a:solidFill>
                  </a:tcPr>
                </a:tc>
                <a:tc>
                  <a:txBody>
                    <a:bodyPr wrap="square"/>
                    <a:lstStyle/>
                    <a:p>
                      <a:pPr algn="ctr"/>
                      <a:r>
                        <a:rPr sz="900" b="0">
                          <a:solidFill>
                            <a:srgbClr val="1F1F1F"/>
                          </a:solidFill>
                          <a:latin typeface="Arial"/>
                        </a:rPr>
                        <a:t>138.3</a:t>
                      </a:r>
                    </a:p>
                  </a:txBody>
                  <a:tcPr marL="54000" marR="54000" marT="18000" marB="18000" anchor="ctr">
                    <a:solidFill>
                      <a:srgbClr val="F3F6FB"/>
                    </a:solidFill>
                  </a:tcPr>
                </a:tc>
                <a:tc>
                  <a:txBody>
                    <a:bodyPr wrap="square"/>
                    <a:lstStyle/>
                    <a:p>
                      <a:pPr algn="ctr"/>
                      <a:r>
                        <a:rPr sz="900" b="0">
                          <a:solidFill>
                            <a:srgbClr val="0E4E95"/>
                          </a:solidFill>
                          <a:latin typeface="Arial"/>
                        </a:rPr>
                        <a:t>+16.2%</a:t>
                      </a:r>
                    </a:p>
                  </a:txBody>
                  <a:tcPr marL="54000" marR="54000" marT="18000" marB="18000" anchor="ctr">
                    <a:solidFill>
                      <a:srgbClr val="F3F6FB"/>
                    </a:solidFill>
                  </a:tcPr>
                </a:tc>
                <a:tc>
                  <a:txBody>
                    <a:bodyPr wrap="square"/>
                    <a:lstStyle/>
                    <a:p>
                      <a:pPr algn="ctr"/>
                      <a:r>
                        <a:rPr sz="900" b="0">
                          <a:solidFill>
                            <a:srgbClr val="1F1F1F"/>
                          </a:solidFill>
                          <a:latin typeface="Arial"/>
                        </a:rPr>
                        <a:t>136.7</a:t>
                      </a:r>
                    </a:p>
                  </a:txBody>
                  <a:tcPr marL="54000" marR="54000" marT="18000" marB="18000" anchor="ctr">
                    <a:solidFill>
                      <a:srgbClr val="F3F6FB"/>
                    </a:solidFill>
                  </a:tcPr>
                </a:tc>
                <a:tc>
                  <a:txBody>
                    <a:bodyPr wrap="square"/>
                    <a:lstStyle/>
                    <a:p>
                      <a:pPr algn="ctr"/>
                      <a:r>
                        <a:rPr sz="900" b="0">
                          <a:solidFill>
                            <a:srgbClr val="C00000"/>
                          </a:solidFill>
                          <a:latin typeface="Arial"/>
                        </a:rPr>
                        <a:t>−1.2%</a:t>
                      </a:r>
                    </a:p>
                  </a:txBody>
                  <a:tcPr marL="54000" marR="54000" marT="18000" marB="18000" anchor="ctr">
                    <a:solidFill>
                      <a:srgbClr val="F3F6FB"/>
                    </a:solidFill>
                  </a:tcPr>
                </a:tc>
                <a:tc>
                  <a:txBody>
                    <a:bodyPr wrap="square"/>
                    <a:lstStyle/>
                    <a:p>
                      <a:pPr algn="ctr"/>
                      <a:r>
                        <a:rPr sz="900" b="0">
                          <a:solidFill>
                            <a:srgbClr val="C00000"/>
                          </a:solidFill>
                          <a:latin typeface="Arial"/>
                        </a:rPr>
                        <a:t>−0.2</a:t>
                      </a:r>
                    </a:p>
                  </a:txBody>
                  <a:tcPr marL="54000" marR="54000" marT="18000" marB="18000" anchor="ctr">
                    <a:solidFill>
                      <a:srgbClr val="F3F6FB"/>
                    </a:solidFill>
                  </a:tcPr>
                </a:tc>
              </a:tr>
              <a:tr h="290000">
                <a:tc>
                  <a:txBody>
                    <a:bodyPr wrap="square"/>
                    <a:lstStyle/>
                    <a:p>
                      <a:pPr algn="l"/>
                      <a:r>
                        <a:rPr sz="900" b="1">
                          <a:solidFill>
                            <a:srgbClr val="062552"/>
                          </a:solidFill>
                          <a:latin typeface="Arial"/>
                        </a:rPr>
                        <a:t>Sheryl Davis</a:t>
                      </a:r>
                    </a:p>
                  </a:txBody>
                  <a:tcPr marL="54000" marR="54000" marT="18000" marB="18000" anchor="ctr">
                    <a:noFill/>
                  </a:tcPr>
                </a:tc>
                <a:tc>
                  <a:txBody>
                    <a:bodyPr wrap="square"/>
                    <a:lstStyle/>
                    <a:p>
                      <a:pPr algn="ctr"/>
                      <a:r>
                        <a:rPr sz="900" b="0">
                          <a:solidFill>
                            <a:srgbClr val="1F1F1F"/>
                          </a:solidFill>
                          <a:latin typeface="Arial"/>
                        </a:rPr>
                        <a:t>39</a:t>
                      </a:r>
                    </a:p>
                  </a:txBody>
                  <a:tcPr marL="54000" marR="54000" marT="18000" marB="18000" anchor="ctr">
                    <a:noFill/>
                  </a:tcPr>
                </a:tc>
                <a:tc>
                  <a:txBody>
                    <a:bodyPr wrap="square"/>
                    <a:lstStyle/>
                    <a:p>
                      <a:pPr algn="ctr"/>
                      <a:r>
                        <a:rPr sz="900" b="0">
                          <a:solidFill>
                            <a:srgbClr val="1F1F1F"/>
                          </a:solidFill>
                          <a:latin typeface="Arial"/>
                        </a:rPr>
                        <a:t>125.7</a:t>
                      </a:r>
                    </a:p>
                  </a:txBody>
                  <a:tcPr marL="54000" marR="54000" marT="18000" marB="18000" anchor="ctr">
                    <a:noFill/>
                  </a:tcPr>
                </a:tc>
                <a:tc>
                  <a:txBody>
                    <a:bodyPr wrap="square"/>
                    <a:lstStyle/>
                    <a:p>
                      <a:pPr algn="ctr"/>
                      <a:r>
                        <a:rPr sz="900" b="0">
                          <a:solidFill>
                            <a:srgbClr val="1F1F1F"/>
                          </a:solidFill>
                          <a:latin typeface="Arial"/>
                        </a:rPr>
                        <a:t>123.6</a:t>
                      </a:r>
                    </a:p>
                  </a:txBody>
                  <a:tcPr marL="54000" marR="54000" marT="18000" marB="18000" anchor="ctr">
                    <a:noFill/>
                  </a:tcPr>
                </a:tc>
                <a:tc>
                  <a:txBody>
                    <a:bodyPr wrap="square"/>
                    <a:lstStyle/>
                    <a:p>
                      <a:pPr algn="ctr"/>
                      <a:r>
                        <a:rPr sz="900" b="0">
                          <a:solidFill>
                            <a:srgbClr val="1F1F1F"/>
                          </a:solidFill>
                          <a:latin typeface="Arial"/>
                        </a:rPr>
                        <a:t>134.6</a:t>
                      </a:r>
                    </a:p>
                  </a:txBody>
                  <a:tcPr marL="54000" marR="54000" marT="18000" marB="18000" anchor="ctr">
                    <a:noFill/>
                  </a:tcPr>
                </a:tc>
                <a:tc>
                  <a:txBody>
                    <a:bodyPr wrap="square"/>
                    <a:lstStyle/>
                    <a:p>
                      <a:pPr algn="ctr"/>
                      <a:r>
                        <a:rPr sz="900" b="0">
                          <a:solidFill>
                            <a:srgbClr val="0E4E95"/>
                          </a:solidFill>
                          <a:latin typeface="Arial"/>
                        </a:rPr>
                        <a:t>+8.9%</a:t>
                      </a:r>
                    </a:p>
                  </a:txBody>
                  <a:tcPr marL="54000" marR="54000" marT="18000" marB="18000" anchor="ctr">
                    <a:noFill/>
                  </a:tcPr>
                </a:tc>
                <a:tc>
                  <a:txBody>
                    <a:bodyPr wrap="square"/>
                    <a:lstStyle/>
                    <a:p>
                      <a:pPr algn="ctr"/>
                      <a:r>
                        <a:rPr sz="900" b="0">
                          <a:solidFill>
                            <a:srgbClr val="1F1F1F"/>
                          </a:solidFill>
                          <a:latin typeface="Arial"/>
                        </a:rPr>
                        <a:t>137.7</a:t>
                      </a:r>
                    </a:p>
                  </a:txBody>
                  <a:tcPr marL="54000" marR="54000" marT="18000" marB="18000" anchor="ctr">
                    <a:noFill/>
                  </a:tcPr>
                </a:tc>
                <a:tc>
                  <a:txBody>
                    <a:bodyPr wrap="square"/>
                    <a:lstStyle/>
                    <a:p>
                      <a:pPr algn="ctr"/>
                      <a:r>
                        <a:rPr sz="900" b="0">
                          <a:solidFill>
                            <a:srgbClr val="0E4E95"/>
                          </a:solidFill>
                          <a:latin typeface="Arial"/>
                        </a:rPr>
                        <a:t>+2.4%</a:t>
                      </a:r>
                    </a:p>
                  </a:txBody>
                  <a:tcPr marL="54000" marR="54000" marT="18000" marB="18000" anchor="ctr">
                    <a:noFill/>
                  </a:tcPr>
                </a:tc>
                <a:tc>
                  <a:txBody>
                    <a:bodyPr wrap="square"/>
                    <a:lstStyle/>
                    <a:p>
                      <a:pPr algn="ctr"/>
                      <a:r>
                        <a:rPr sz="900" b="0">
                          <a:solidFill>
                            <a:srgbClr val="0E4E95"/>
                          </a:solidFill>
                          <a:latin typeface="Arial"/>
                        </a:rPr>
                        <a:t>+0.8</a:t>
                      </a:r>
                    </a:p>
                  </a:txBody>
                  <a:tcPr marL="54000" marR="54000" marT="18000" marB="18000" anchor="ctr">
                    <a:noFill/>
                  </a:tcPr>
                </a:tc>
              </a:tr>
              <a:tr h="290000">
                <a:tc>
                  <a:txBody>
                    <a:bodyPr wrap="square"/>
                    <a:lstStyle/>
                    <a:p>
                      <a:pPr algn="l"/>
                      <a:r>
                        <a:rPr sz="900" b="1">
                          <a:solidFill>
                            <a:srgbClr val="062552"/>
                          </a:solidFill>
                          <a:latin typeface="Arial"/>
                        </a:rPr>
                        <a:t>Ewan Pitter</a:t>
                      </a:r>
                    </a:p>
                  </a:txBody>
                  <a:tcPr marL="54000" marR="54000" marT="18000" marB="18000" anchor="ctr">
                    <a:solidFill>
                      <a:srgbClr val="F3F6FB"/>
                    </a:solidFill>
                  </a:tcPr>
                </a:tc>
                <a:tc>
                  <a:txBody>
                    <a:bodyPr wrap="square"/>
                    <a:lstStyle/>
                    <a:p>
                      <a:pPr algn="ctr"/>
                      <a:r>
                        <a:rPr sz="900" b="0">
                          <a:solidFill>
                            <a:srgbClr val="1F1F1F"/>
                          </a:solidFill>
                          <a:latin typeface="Arial"/>
                        </a:rPr>
                        <a:t>29</a:t>
                      </a:r>
                    </a:p>
                  </a:txBody>
                  <a:tcPr marL="54000" marR="54000" marT="18000" marB="18000" anchor="ctr">
                    <a:solidFill>
                      <a:srgbClr val="F3F6FB"/>
                    </a:solidFill>
                  </a:tcPr>
                </a:tc>
                <a:tc>
                  <a:txBody>
                    <a:bodyPr wrap="square"/>
                    <a:lstStyle/>
                    <a:p>
                      <a:pPr algn="ctr"/>
                      <a:r>
                        <a:rPr sz="900" b="0">
                          <a:solidFill>
                            <a:srgbClr val="1F1F1F"/>
                          </a:solidFill>
                          <a:latin typeface="Arial"/>
                        </a:rPr>
                        <a:t>94.8</a:t>
                      </a:r>
                    </a:p>
                  </a:txBody>
                  <a:tcPr marL="54000" marR="54000" marT="18000" marB="18000" anchor="ctr">
                    <a:solidFill>
                      <a:srgbClr val="F3F6FB"/>
                    </a:solidFill>
                  </a:tcPr>
                </a:tc>
                <a:tc>
                  <a:txBody>
                    <a:bodyPr wrap="square"/>
                    <a:lstStyle/>
                    <a:p>
                      <a:pPr algn="ctr"/>
                      <a:r>
                        <a:rPr sz="900" b="0">
                          <a:solidFill>
                            <a:srgbClr val="1F1F1F"/>
                          </a:solidFill>
                          <a:latin typeface="Arial"/>
                        </a:rPr>
                        <a:t>97.5</a:t>
                      </a:r>
                    </a:p>
                  </a:txBody>
                  <a:tcPr marL="54000" marR="54000" marT="18000" marB="18000" anchor="ctr">
                    <a:solidFill>
                      <a:srgbClr val="F3F6FB"/>
                    </a:solidFill>
                  </a:tcPr>
                </a:tc>
                <a:tc>
                  <a:txBody>
                    <a:bodyPr wrap="square"/>
                    <a:lstStyle/>
                    <a:p>
                      <a:pPr algn="ctr"/>
                      <a:r>
                        <a:rPr sz="900" b="0">
                          <a:solidFill>
                            <a:srgbClr val="1F1F1F"/>
                          </a:solidFill>
                          <a:latin typeface="Arial"/>
                        </a:rPr>
                        <a:t>108.2</a:t>
                      </a:r>
                    </a:p>
                  </a:txBody>
                  <a:tcPr marL="54000" marR="54000" marT="18000" marB="18000" anchor="ctr">
                    <a:solidFill>
                      <a:srgbClr val="F3F6FB"/>
                    </a:solidFill>
                  </a:tcPr>
                </a:tc>
                <a:tc>
                  <a:txBody>
                    <a:bodyPr wrap="square"/>
                    <a:lstStyle/>
                    <a:p>
                      <a:pPr algn="ctr"/>
                      <a:r>
                        <a:rPr sz="900" b="0">
                          <a:solidFill>
                            <a:srgbClr val="0E4E95"/>
                          </a:solidFill>
                          <a:latin typeface="Arial"/>
                        </a:rPr>
                        <a:t>+11.0%</a:t>
                      </a:r>
                    </a:p>
                  </a:txBody>
                  <a:tcPr marL="54000" marR="54000" marT="18000" marB="18000" anchor="ctr">
                    <a:solidFill>
                      <a:srgbClr val="F3F6FB"/>
                    </a:solidFill>
                  </a:tcPr>
                </a:tc>
                <a:tc>
                  <a:txBody>
                    <a:bodyPr wrap="square"/>
                    <a:lstStyle/>
                    <a:p>
                      <a:pPr algn="ctr"/>
                      <a:r>
                        <a:rPr sz="900" b="0">
                          <a:solidFill>
                            <a:srgbClr val="1F1F1F"/>
                          </a:solidFill>
                          <a:latin typeface="Arial"/>
                        </a:rPr>
                        <a:t>109.5</a:t>
                      </a:r>
                    </a:p>
                  </a:txBody>
                  <a:tcPr marL="54000" marR="54000" marT="18000" marB="18000" anchor="ctr">
                    <a:solidFill>
                      <a:srgbClr val="F3F6FB"/>
                    </a:solidFill>
                  </a:tcPr>
                </a:tc>
                <a:tc>
                  <a:txBody>
                    <a:bodyPr wrap="square"/>
                    <a:lstStyle/>
                    <a:p>
                      <a:pPr algn="ctr"/>
                      <a:r>
                        <a:rPr sz="900" b="0">
                          <a:solidFill>
                            <a:srgbClr val="0E4E95"/>
                          </a:solidFill>
                          <a:latin typeface="Arial"/>
                        </a:rPr>
                        <a:t>+1.2%</a:t>
                      </a:r>
                    </a:p>
                  </a:txBody>
                  <a:tcPr marL="54000" marR="54000" marT="18000" marB="18000" anchor="ctr">
                    <a:solidFill>
                      <a:srgbClr val="F3F6FB"/>
                    </a:solidFill>
                  </a:tcPr>
                </a:tc>
                <a:tc>
                  <a:txBody>
                    <a:bodyPr wrap="square"/>
                    <a:lstStyle/>
                    <a:p>
                      <a:pPr algn="ctr"/>
                      <a:r>
                        <a:rPr sz="900" b="0">
                          <a:solidFill>
                            <a:srgbClr val="C00000"/>
                          </a:solidFill>
                          <a:latin typeface="Arial"/>
                        </a:rPr>
                        <a:t>−0.1</a:t>
                      </a:r>
                    </a:p>
                  </a:txBody>
                  <a:tcPr marL="54000" marR="54000" marT="18000" marB="18000" anchor="ctr">
                    <a:solidFill>
                      <a:srgbClr val="F3F6FB"/>
                    </a:solidFill>
                  </a:tcPr>
                </a:tc>
              </a:tr>
              <a:tr h="290000">
                <a:tc>
                  <a:txBody>
                    <a:bodyPr wrap="square"/>
                    <a:lstStyle/>
                    <a:p>
                      <a:pPr algn="l"/>
                      <a:r>
                        <a:rPr sz="900" b="1">
                          <a:solidFill>
                            <a:srgbClr val="062552"/>
                          </a:solidFill>
                          <a:latin typeface="Arial"/>
                        </a:rPr>
                        <a:t>Sharmica Holness</a:t>
                      </a:r>
                    </a:p>
                  </a:txBody>
                  <a:tcPr marL="54000" marR="54000" marT="18000" marB="18000" anchor="ctr">
                    <a:noFill/>
                  </a:tcPr>
                </a:tc>
                <a:tc>
                  <a:txBody>
                    <a:bodyPr wrap="square"/>
                    <a:lstStyle/>
                    <a:p>
                      <a:pPr algn="ctr"/>
                      <a:r>
                        <a:rPr sz="900" b="0">
                          <a:solidFill>
                            <a:srgbClr val="1F1F1F"/>
                          </a:solidFill>
                          <a:latin typeface="Arial"/>
                        </a:rPr>
                        <a:t>23</a:t>
                      </a:r>
                    </a:p>
                  </a:txBody>
                  <a:tcPr marL="54000" marR="54000" marT="18000" marB="18000" anchor="ctr">
                    <a:noFill/>
                  </a:tcPr>
                </a:tc>
                <a:tc>
                  <a:txBody>
                    <a:bodyPr wrap="square"/>
                    <a:lstStyle/>
                    <a:p>
                      <a:pPr algn="ctr"/>
                      <a:r>
                        <a:rPr sz="900" b="0">
                          <a:solidFill>
                            <a:srgbClr val="1F1F1F"/>
                          </a:solidFill>
                          <a:latin typeface="Arial"/>
                        </a:rPr>
                        <a:t>145.9</a:t>
                      </a:r>
                    </a:p>
                  </a:txBody>
                  <a:tcPr marL="54000" marR="54000" marT="18000" marB="18000" anchor="ctr">
                    <a:noFill/>
                  </a:tcPr>
                </a:tc>
                <a:tc>
                  <a:txBody>
                    <a:bodyPr wrap="square"/>
                    <a:lstStyle/>
                    <a:p>
                      <a:pPr algn="ctr"/>
                      <a:r>
                        <a:rPr sz="900" b="0">
                          <a:solidFill>
                            <a:srgbClr val="1F1F1F"/>
                          </a:solidFill>
                          <a:latin typeface="Arial"/>
                        </a:rPr>
                        <a:t>132.7</a:t>
                      </a:r>
                    </a:p>
                  </a:txBody>
                  <a:tcPr marL="54000" marR="54000" marT="18000" marB="18000" anchor="ctr">
                    <a:noFill/>
                  </a:tcPr>
                </a:tc>
                <a:tc>
                  <a:txBody>
                    <a:bodyPr wrap="square"/>
                    <a:lstStyle/>
                    <a:p>
                      <a:pPr algn="ctr"/>
                      <a:r>
                        <a:rPr sz="900" b="0">
                          <a:solidFill>
                            <a:srgbClr val="1F1F1F"/>
                          </a:solidFill>
                          <a:latin typeface="Arial"/>
                        </a:rPr>
                        <a:t>66.5</a:t>
                      </a:r>
                    </a:p>
                  </a:txBody>
                  <a:tcPr marL="54000" marR="54000" marT="18000" marB="18000" anchor="ctr">
                    <a:noFill/>
                  </a:tcPr>
                </a:tc>
                <a:tc>
                  <a:txBody>
                    <a:bodyPr wrap="square"/>
                    <a:lstStyle/>
                    <a:p>
                      <a:pPr algn="ctr"/>
                      <a:r>
                        <a:rPr sz="900" b="0">
                          <a:solidFill>
                            <a:srgbClr val="C00000"/>
                          </a:solidFill>
                          <a:latin typeface="Arial"/>
                        </a:rPr>
                        <a:t>−49.9%</a:t>
                      </a:r>
                    </a:p>
                  </a:txBody>
                  <a:tcPr marL="54000" marR="54000" marT="18000" marB="18000" anchor="ctr">
                    <a:noFill/>
                  </a:tcPr>
                </a:tc>
                <a:tc>
                  <a:txBody>
                    <a:bodyPr wrap="square"/>
                    <a:lstStyle/>
                    <a:p>
                      <a:pPr algn="ctr"/>
                      <a:r>
                        <a:rPr sz="900" b="0">
                          <a:solidFill>
                            <a:srgbClr val="1F1F1F"/>
                          </a:solidFill>
                          <a:latin typeface="Arial"/>
                        </a:rPr>
                        <a:t>67.5</a:t>
                      </a:r>
                    </a:p>
                  </a:txBody>
                  <a:tcPr marL="54000" marR="54000" marT="18000" marB="18000" anchor="ctr">
                    <a:noFill/>
                  </a:tcPr>
                </a:tc>
                <a:tc>
                  <a:txBody>
                    <a:bodyPr wrap="square"/>
                    <a:lstStyle/>
                    <a:p>
                      <a:pPr algn="ctr"/>
                      <a:r>
                        <a:rPr sz="900" b="0">
                          <a:solidFill>
                            <a:srgbClr val="0E4E95"/>
                          </a:solidFill>
                          <a:latin typeface="Arial"/>
                        </a:rPr>
                        <a:t>+1.5%</a:t>
                      </a:r>
                    </a:p>
                  </a:txBody>
                  <a:tcPr marL="54000" marR="54000" marT="18000" marB="18000" anchor="ctr">
                    <a:noFill/>
                  </a:tcPr>
                </a:tc>
                <a:tc>
                  <a:txBody>
                    <a:bodyPr wrap="square"/>
                    <a:lstStyle/>
                    <a:p>
                      <a:pPr algn="ctr"/>
                      <a:r>
                        <a:rPr sz="900" b="0">
                          <a:solidFill>
                            <a:srgbClr val="0E4E95"/>
                          </a:solidFill>
                          <a:latin typeface="Arial"/>
                        </a:rPr>
                        <a:t>+6.6</a:t>
                      </a:r>
                    </a:p>
                  </a:txBody>
                  <a:tcPr marL="54000" marR="54000" marT="18000" marB="18000" anchor="ctr">
                    <a:noFill/>
                  </a:tcPr>
                </a:tc>
              </a:tr>
              <a:tr h="290000">
                <a:tc>
                  <a:txBody>
                    <a:bodyPr wrap="square"/>
                    <a:lstStyle/>
                    <a:p>
                      <a:pPr algn="l"/>
                      <a:r>
                        <a:rPr sz="900" b="1">
                          <a:solidFill>
                            <a:srgbClr val="062552"/>
                          </a:solidFill>
                          <a:latin typeface="Arial"/>
                        </a:rPr>
                        <a:t>Ruel Barnett</a:t>
                      </a:r>
                    </a:p>
                  </a:txBody>
                  <a:tcPr marL="54000" marR="54000" marT="18000" marB="18000" anchor="ctr">
                    <a:solidFill>
                      <a:srgbClr val="F3F6FB"/>
                    </a:solidFill>
                  </a:tcPr>
                </a:tc>
                <a:tc>
                  <a:txBody>
                    <a:bodyPr wrap="square"/>
                    <a:lstStyle/>
                    <a:p>
                      <a:pPr algn="ctr"/>
                      <a:r>
                        <a:rPr sz="900" b="0">
                          <a:solidFill>
                            <a:srgbClr val="1F1F1F"/>
                          </a:solidFill>
                          <a:latin typeface="Arial"/>
                        </a:rPr>
                        <a:t>41</a:t>
                      </a:r>
                    </a:p>
                  </a:txBody>
                  <a:tcPr marL="54000" marR="54000" marT="18000" marB="18000" anchor="ctr">
                    <a:solidFill>
                      <a:srgbClr val="F3F6FB"/>
                    </a:solidFill>
                  </a:tcPr>
                </a:tc>
                <a:tc>
                  <a:txBody>
                    <a:bodyPr wrap="square"/>
                    <a:lstStyle/>
                    <a:p>
                      <a:pPr algn="ctr"/>
                      <a:r>
                        <a:rPr sz="900" b="0">
                          <a:solidFill>
                            <a:srgbClr val="1F1F1F"/>
                          </a:solidFill>
                          <a:latin typeface="Arial"/>
                        </a:rPr>
                        <a:t>60.4</a:t>
                      </a:r>
                    </a:p>
                  </a:txBody>
                  <a:tcPr marL="54000" marR="54000" marT="18000" marB="18000" anchor="ctr">
                    <a:solidFill>
                      <a:srgbClr val="F3F6FB"/>
                    </a:solidFill>
                  </a:tcPr>
                </a:tc>
                <a:tc>
                  <a:txBody>
                    <a:bodyPr wrap="square"/>
                    <a:lstStyle/>
                    <a:p>
                      <a:pPr algn="ctr"/>
                      <a:r>
                        <a:rPr sz="900" b="0">
                          <a:solidFill>
                            <a:srgbClr val="1F1F1F"/>
                          </a:solidFill>
                          <a:latin typeface="Arial"/>
                        </a:rPr>
                        <a:t>44.3</a:t>
                      </a:r>
                    </a:p>
                  </a:txBody>
                  <a:tcPr marL="54000" marR="54000" marT="18000" marB="18000" anchor="ctr">
                    <a:solidFill>
                      <a:srgbClr val="F3F6FB"/>
                    </a:solidFill>
                  </a:tcPr>
                </a:tc>
                <a:tc>
                  <a:txBody>
                    <a:bodyPr wrap="square"/>
                    <a:lstStyle/>
                    <a:p>
                      <a:pPr algn="ctr"/>
                      <a:r>
                        <a:rPr sz="900" b="0">
                          <a:solidFill>
                            <a:srgbClr val="1F1F1F"/>
                          </a:solidFill>
                          <a:latin typeface="Arial"/>
                        </a:rPr>
                        <a:t>50.5</a:t>
                      </a:r>
                    </a:p>
                  </a:txBody>
                  <a:tcPr marL="54000" marR="54000" marT="18000" marB="18000" anchor="ctr">
                    <a:solidFill>
                      <a:srgbClr val="F3F6FB"/>
                    </a:solidFill>
                  </a:tcPr>
                </a:tc>
                <a:tc>
                  <a:txBody>
                    <a:bodyPr wrap="square"/>
                    <a:lstStyle/>
                    <a:p>
                      <a:pPr algn="ctr"/>
                      <a:r>
                        <a:rPr sz="900" b="0">
                          <a:solidFill>
                            <a:srgbClr val="0E4E95"/>
                          </a:solidFill>
                          <a:latin typeface="Arial"/>
                        </a:rPr>
                        <a:t>+14.1%</a:t>
                      </a:r>
                    </a:p>
                  </a:txBody>
                  <a:tcPr marL="54000" marR="54000" marT="18000" marB="18000" anchor="ctr">
                    <a:solidFill>
                      <a:srgbClr val="F3F6FB"/>
                    </a:solidFill>
                  </a:tcPr>
                </a:tc>
                <a:tc>
                  <a:txBody>
                    <a:bodyPr wrap="square"/>
                    <a:lstStyle/>
                    <a:p>
                      <a:pPr algn="ctr"/>
                      <a:r>
                        <a:rPr sz="900" b="0">
                          <a:solidFill>
                            <a:srgbClr val="1F1F1F"/>
                          </a:solidFill>
                          <a:latin typeface="Arial"/>
                        </a:rPr>
                        <a:t>50.7</a:t>
                      </a:r>
                    </a:p>
                  </a:txBody>
                  <a:tcPr marL="54000" marR="54000" marT="18000" marB="18000" anchor="ctr">
                    <a:solidFill>
                      <a:srgbClr val="F3F6FB"/>
                    </a:solidFill>
                  </a:tcPr>
                </a:tc>
                <a:tc>
                  <a:txBody>
                    <a:bodyPr wrap="square"/>
                    <a:lstStyle/>
                    <a:p>
                      <a:pPr algn="ctr"/>
                      <a:r>
                        <a:rPr sz="900" b="0">
                          <a:solidFill>
                            <a:srgbClr val="0E4E95"/>
                          </a:solidFill>
                          <a:latin typeface="Arial"/>
                        </a:rPr>
                        <a:t>+0.4%</a:t>
                      </a:r>
                    </a:p>
                  </a:txBody>
                  <a:tcPr marL="54000" marR="54000" marT="18000" marB="18000" anchor="ctr">
                    <a:solidFill>
                      <a:srgbClr val="F3F6FB"/>
                    </a:solidFill>
                  </a:tcPr>
                </a:tc>
                <a:tc>
                  <a:txBody>
                    <a:bodyPr wrap="square"/>
                    <a:lstStyle/>
                    <a:p>
                      <a:pPr algn="ctr"/>
                      <a:r>
                        <a:rPr sz="900" b="0">
                          <a:solidFill>
                            <a:srgbClr val="C00000"/>
                          </a:solidFill>
                          <a:latin typeface="Arial"/>
                        </a:rPr>
                        <a:t>−0.7</a:t>
                      </a:r>
                    </a:p>
                  </a:txBody>
                  <a:tcPr marL="54000" marR="54000" marT="18000" marB="18000" anchor="ctr">
                    <a:solidFill>
                      <a:srgbClr val="F3F6FB"/>
                    </a:solidFill>
                  </a:tcPr>
                </a:tc>
              </a:tr>
              <a:tr h="290000">
                <a:tc>
                  <a:txBody>
                    <a:bodyPr wrap="square"/>
                    <a:lstStyle/>
                    <a:p>
                      <a:pPr algn="l"/>
                      <a:r>
                        <a:rPr sz="900" b="1">
                          <a:solidFill>
                            <a:srgbClr val="062552"/>
                          </a:solidFill>
                          <a:latin typeface="Arial"/>
                        </a:rPr>
                        <a:t>Kenroy Williams</a:t>
                      </a:r>
                    </a:p>
                  </a:txBody>
                  <a:tcPr marL="54000" marR="54000" marT="18000" marB="18000" anchor="ctr">
                    <a:noFill/>
                  </a:tcPr>
                </a:tc>
                <a:tc>
                  <a:txBody>
                    <a:bodyPr wrap="square"/>
                    <a:lstStyle/>
                    <a:p>
                      <a:pPr algn="ctr"/>
                      <a:r>
                        <a:rPr sz="900" b="0">
                          <a:solidFill>
                            <a:srgbClr val="1F1F1F"/>
                          </a:solidFill>
                          <a:latin typeface="Arial"/>
                        </a:rPr>
                        <a:t>28</a:t>
                      </a:r>
                    </a:p>
                  </a:txBody>
                  <a:tcPr marL="54000" marR="54000" marT="18000" marB="18000" anchor="ctr">
                    <a:noFill/>
                  </a:tcPr>
                </a:tc>
                <a:tc>
                  <a:txBody>
                    <a:bodyPr wrap="square"/>
                    <a:lstStyle/>
                    <a:p>
                      <a:pPr algn="ctr"/>
                      <a:r>
                        <a:rPr sz="900" b="0">
                          <a:solidFill>
                            <a:srgbClr val="1F1F1F"/>
                          </a:solidFill>
                          <a:latin typeface="Arial"/>
                        </a:rPr>
                        <a:t>41.6</a:t>
                      </a:r>
                    </a:p>
                  </a:txBody>
                  <a:tcPr marL="54000" marR="54000" marT="18000" marB="18000" anchor="ctr">
                    <a:noFill/>
                  </a:tcPr>
                </a:tc>
                <a:tc>
                  <a:txBody>
                    <a:bodyPr wrap="square"/>
                    <a:lstStyle/>
                    <a:p>
                      <a:pPr algn="ctr"/>
                      <a:r>
                        <a:rPr sz="900" b="0">
                          <a:solidFill>
                            <a:srgbClr val="1F1F1F"/>
                          </a:solidFill>
                          <a:latin typeface="Arial"/>
                        </a:rPr>
                        <a:t>38.8</a:t>
                      </a:r>
                    </a:p>
                  </a:txBody>
                  <a:tcPr marL="54000" marR="54000" marT="18000" marB="18000" anchor="ctr">
                    <a:noFill/>
                  </a:tcPr>
                </a:tc>
                <a:tc>
                  <a:txBody>
                    <a:bodyPr wrap="square"/>
                    <a:lstStyle/>
                    <a:p>
                      <a:pPr algn="ctr"/>
                      <a:r>
                        <a:rPr sz="900" b="0">
                          <a:solidFill>
                            <a:srgbClr val="1F1F1F"/>
                          </a:solidFill>
                          <a:latin typeface="Arial"/>
                        </a:rPr>
                        <a:t>44.1</a:t>
                      </a:r>
                    </a:p>
                  </a:txBody>
                  <a:tcPr marL="54000" marR="54000" marT="18000" marB="18000" anchor="ctr">
                    <a:noFill/>
                  </a:tcPr>
                </a:tc>
                <a:tc>
                  <a:txBody>
                    <a:bodyPr wrap="square"/>
                    <a:lstStyle/>
                    <a:p>
                      <a:pPr algn="ctr"/>
                      <a:r>
                        <a:rPr sz="900" b="0">
                          <a:solidFill>
                            <a:srgbClr val="0E4E95"/>
                          </a:solidFill>
                          <a:latin typeface="Arial"/>
                        </a:rPr>
                        <a:t>+13.6%</a:t>
                      </a:r>
                    </a:p>
                  </a:txBody>
                  <a:tcPr marL="54000" marR="54000" marT="18000" marB="18000" anchor="ctr">
                    <a:noFill/>
                  </a:tcPr>
                </a:tc>
                <a:tc>
                  <a:txBody>
                    <a:bodyPr wrap="square"/>
                    <a:lstStyle/>
                    <a:p>
                      <a:pPr algn="ctr"/>
                      <a:r>
                        <a:rPr sz="900" b="0">
                          <a:solidFill>
                            <a:srgbClr val="1F1F1F"/>
                          </a:solidFill>
                          <a:latin typeface="Arial"/>
                        </a:rPr>
                        <a:t>44.4</a:t>
                      </a:r>
                    </a:p>
                  </a:txBody>
                  <a:tcPr marL="54000" marR="54000" marT="18000" marB="18000" anchor="ctr">
                    <a:noFill/>
                  </a:tcPr>
                </a:tc>
                <a:tc>
                  <a:txBody>
                    <a:bodyPr wrap="square"/>
                    <a:lstStyle/>
                    <a:p>
                      <a:pPr algn="ctr"/>
                      <a:r>
                        <a:rPr sz="900" b="0">
                          <a:solidFill>
                            <a:srgbClr val="0E4E95"/>
                          </a:solidFill>
                          <a:latin typeface="Arial"/>
                        </a:rPr>
                        <a:t>+0.7%</a:t>
                      </a:r>
                    </a:p>
                  </a:txBody>
                  <a:tcPr marL="54000" marR="54000" marT="18000" marB="18000" anchor="ctr">
                    <a:noFill/>
                  </a:tcPr>
                </a:tc>
                <a:tc>
                  <a:txBody>
                    <a:bodyPr wrap="square"/>
                    <a:lstStyle/>
                    <a:p>
                      <a:pPr algn="ctr"/>
                      <a:r>
                        <a:rPr sz="900" b="0">
                          <a:solidFill>
                            <a:srgbClr val="0E4E95"/>
                          </a:solidFill>
                          <a:latin typeface="Arial"/>
                        </a:rPr>
                        <a:t>+2.6</a:t>
                      </a:r>
                    </a:p>
                  </a:txBody>
                  <a:tcPr marL="54000" marR="54000" marT="18000" marB="18000" anchor="ctr">
                    <a:noFill/>
                  </a:tcPr>
                </a:tc>
              </a:tr>
              <a:tr h="290000">
                <a:tc>
                  <a:txBody>
                    <a:bodyPr wrap="square"/>
                    <a:lstStyle/>
                    <a:p>
                      <a:pPr algn="l"/>
                      <a:r>
                        <a:rPr sz="900" b="1">
                          <a:solidFill>
                            <a:srgbClr val="062552"/>
                          </a:solidFill>
                          <a:latin typeface="Arial"/>
                        </a:rPr>
                        <a:t>Jean Waugh-Evans</a:t>
                      </a:r>
                    </a:p>
                  </a:txBody>
                  <a:tcPr marL="54000" marR="54000" marT="18000" marB="18000" anchor="ctr">
                    <a:solidFill>
                      <a:srgbClr val="F3F6FB"/>
                    </a:solidFill>
                  </a:tcPr>
                </a:tc>
                <a:tc>
                  <a:txBody>
                    <a:bodyPr wrap="square"/>
                    <a:lstStyle/>
                    <a:p>
                      <a:pPr algn="ctr"/>
                      <a:r>
                        <a:rPr sz="900" b="0">
                          <a:solidFill>
                            <a:srgbClr val="1F1F1F"/>
                          </a:solidFill>
                          <a:latin typeface="Arial"/>
                        </a:rPr>
                        <a:t>2</a:t>
                      </a:r>
                    </a:p>
                  </a:txBody>
                  <a:tcPr marL="54000" marR="54000" marT="18000" marB="18000" anchor="ctr">
                    <a:solidFill>
                      <a:srgbClr val="F3F6FB"/>
                    </a:solidFill>
                  </a:tcPr>
                </a:tc>
                <a:tc>
                  <a:txBody>
                    <a:bodyPr wrap="square"/>
                    <a:lstStyle/>
                    <a:p>
                      <a:pPr algn="ctr"/>
                      <a:r>
                        <a:rPr sz="900" b="0">
                          <a:solidFill>
                            <a:srgbClr val="1F1F1F"/>
                          </a:solidFill>
                          <a:latin typeface="Arial"/>
                        </a:rPr>
                        <a:t>30.8</a:t>
                      </a:r>
                    </a:p>
                  </a:txBody>
                  <a:tcPr marL="54000" marR="54000" marT="18000" marB="18000" anchor="ctr">
                    <a:solidFill>
                      <a:srgbClr val="F3F6FB"/>
                    </a:solidFill>
                  </a:tcPr>
                </a:tc>
                <a:tc>
                  <a:txBody>
                    <a:bodyPr wrap="square"/>
                    <a:lstStyle/>
                    <a:p>
                      <a:pPr algn="ctr"/>
                      <a:r>
                        <a:rPr sz="900" b="0">
                          <a:solidFill>
                            <a:srgbClr val="1F1F1F"/>
                          </a:solidFill>
                          <a:latin typeface="Arial"/>
                        </a:rPr>
                        <a:t>29.7</a:t>
                      </a:r>
                    </a:p>
                  </a:txBody>
                  <a:tcPr marL="54000" marR="54000" marT="18000" marB="18000" anchor="ctr">
                    <a:solidFill>
                      <a:srgbClr val="F3F6FB"/>
                    </a:solidFill>
                  </a:tcPr>
                </a:tc>
                <a:tc>
                  <a:txBody>
                    <a:bodyPr wrap="square"/>
                    <a:lstStyle/>
                    <a:p>
                      <a:pPr algn="ctr"/>
                      <a:r>
                        <a:rPr sz="900" b="0">
                          <a:solidFill>
                            <a:srgbClr val="1F1F1F"/>
                          </a:solidFill>
                          <a:latin typeface="Arial"/>
                        </a:rPr>
                        <a:t>30.2</a:t>
                      </a:r>
                    </a:p>
                  </a:txBody>
                  <a:tcPr marL="54000" marR="54000" marT="18000" marB="18000" anchor="ctr">
                    <a:solidFill>
                      <a:srgbClr val="F3F6FB"/>
                    </a:solidFill>
                  </a:tcPr>
                </a:tc>
                <a:tc>
                  <a:txBody>
                    <a:bodyPr wrap="square"/>
                    <a:lstStyle/>
                    <a:p>
                      <a:pPr algn="ctr"/>
                      <a:r>
                        <a:rPr sz="900" b="0">
                          <a:solidFill>
                            <a:srgbClr val="0E4E95"/>
                          </a:solidFill>
                          <a:latin typeface="Arial"/>
                        </a:rPr>
                        <a:t>+1.9%</a:t>
                      </a:r>
                    </a:p>
                  </a:txBody>
                  <a:tcPr marL="54000" marR="54000" marT="18000" marB="18000" anchor="ctr">
                    <a:solidFill>
                      <a:srgbClr val="F3F6FB"/>
                    </a:solidFill>
                  </a:tcPr>
                </a:tc>
                <a:tc>
                  <a:txBody>
                    <a:bodyPr wrap="square"/>
                    <a:lstStyle/>
                    <a:p>
                      <a:pPr algn="ctr"/>
                      <a:r>
                        <a:rPr sz="900" b="0">
                          <a:solidFill>
                            <a:srgbClr val="1F1F1F"/>
                          </a:solidFill>
                          <a:latin typeface="Arial"/>
                        </a:rPr>
                        <a:t>25.6</a:t>
                      </a:r>
                    </a:p>
                  </a:txBody>
                  <a:tcPr marL="54000" marR="54000" marT="18000" marB="18000" anchor="ctr">
                    <a:solidFill>
                      <a:srgbClr val="F3F6FB"/>
                    </a:solidFill>
                  </a:tcPr>
                </a:tc>
                <a:tc>
                  <a:txBody>
                    <a:bodyPr wrap="square"/>
                    <a:lstStyle/>
                    <a:p>
                      <a:pPr algn="ctr"/>
                      <a:r>
                        <a:rPr sz="900" b="0">
                          <a:solidFill>
                            <a:srgbClr val="C00000"/>
                          </a:solidFill>
                          <a:latin typeface="Arial"/>
                        </a:rPr>
                        <a:t>−15.2%</a:t>
                      </a:r>
                    </a:p>
                  </a:txBody>
                  <a:tcPr marL="54000" marR="54000" marT="18000" marB="18000" anchor="ctr">
                    <a:solidFill>
                      <a:srgbClr val="F3F6FB"/>
                    </a:solidFill>
                  </a:tcPr>
                </a:tc>
                <a:tc>
                  <a:txBody>
                    <a:bodyPr wrap="square"/>
                    <a:lstStyle/>
                    <a:p>
                      <a:pPr algn="ctr"/>
                      <a:r>
                        <a:rPr sz="900" b="0">
                          <a:solidFill>
                            <a:srgbClr val="0E4E95"/>
                          </a:solidFill>
                          <a:latin typeface="Arial"/>
                        </a:rPr>
                        <a:t>+0.9</a:t>
                      </a:r>
                    </a:p>
                  </a:txBody>
                  <a:tcPr marL="54000" marR="54000" marT="18000" marB="18000" anchor="ctr">
                    <a:solidFill>
                      <a:srgbClr val="F3F6FB"/>
                    </a:solidFill>
                  </a:tcPr>
                </a:tc>
              </a:tr>
              <a:tr h="290000">
                <a:tc>
                  <a:txBody>
                    <a:bodyPr wrap="square"/>
                    <a:lstStyle/>
                    <a:p>
                      <a:pPr algn="l"/>
                      <a:r>
                        <a:rPr sz="900" b="1">
                          <a:solidFill>
                            <a:srgbClr val="FFFFFF"/>
                          </a:solidFill>
                          <a:latin typeface="Arial"/>
                        </a:rPr>
                        <a:t>Total assigned</a:t>
                      </a:r>
                    </a:p>
                  </a:txBody>
                  <a:tcPr marL="54000" marR="54000" marT="18000" marB="18000" anchor="ctr">
                    <a:solidFill>
                      <a:srgbClr val="062552"/>
                    </a:solidFill>
                  </a:tcPr>
                </a:tc>
                <a:tc>
                  <a:txBody>
                    <a:bodyPr wrap="square"/>
                    <a:lstStyle/>
                    <a:p>
                      <a:pPr algn="ctr"/>
                      <a:r>
                        <a:rPr sz="900" b="1">
                          <a:solidFill>
                            <a:srgbClr val="FFFFFF"/>
                          </a:solidFill>
                          <a:latin typeface="Arial"/>
                        </a:rPr>
                        <a:t>331</a:t>
                      </a:r>
                    </a:p>
                  </a:txBody>
                  <a:tcPr marL="54000" marR="54000" marT="18000" marB="18000" anchor="ctr">
                    <a:solidFill>
                      <a:srgbClr val="062552"/>
                    </a:solidFill>
                  </a:tcPr>
                </a:tc>
                <a:tc>
                  <a:txBody>
                    <a:bodyPr wrap="square"/>
                    <a:lstStyle/>
                    <a:p>
                      <a:pPr algn="ctr"/>
                      <a:r>
                        <a:rPr sz="900" b="1">
                          <a:solidFill>
                            <a:srgbClr val="FFFFFF"/>
                          </a:solidFill>
                          <a:latin typeface="Arial"/>
                        </a:rPr>
                        <a:t>1,345.6</a:t>
                      </a:r>
                    </a:p>
                  </a:txBody>
                  <a:tcPr marL="54000" marR="54000" marT="18000" marB="18000" anchor="ctr">
                    <a:solidFill>
                      <a:srgbClr val="062552"/>
                    </a:solidFill>
                  </a:tcPr>
                </a:tc>
                <a:tc>
                  <a:txBody>
                    <a:bodyPr wrap="square"/>
                    <a:lstStyle/>
                    <a:p>
                      <a:pPr algn="ctr"/>
                      <a:r>
                        <a:rPr sz="900" b="1">
                          <a:solidFill>
                            <a:srgbClr val="FFFFFF"/>
                          </a:solidFill>
                          <a:latin typeface="Arial"/>
                        </a:rPr>
                        <a:t>1,310.9</a:t>
                      </a:r>
                    </a:p>
                  </a:txBody>
                  <a:tcPr marL="54000" marR="54000" marT="18000" marB="18000" anchor="ctr">
                    <a:solidFill>
                      <a:srgbClr val="062552"/>
                    </a:solidFill>
                  </a:tcPr>
                </a:tc>
                <a:tc>
                  <a:txBody>
                    <a:bodyPr wrap="square"/>
                    <a:lstStyle/>
                    <a:p>
                      <a:pPr algn="ctr"/>
                      <a:r>
                        <a:rPr sz="900" b="1">
                          <a:solidFill>
                            <a:srgbClr val="FFFFFF"/>
                          </a:solidFill>
                          <a:latin typeface="Arial"/>
                        </a:rPr>
                        <a:t>1,344.0</a:t>
                      </a:r>
                    </a:p>
                  </a:txBody>
                  <a:tcPr marL="54000" marR="54000" marT="18000" marB="18000" anchor="ctr">
                    <a:solidFill>
                      <a:srgbClr val="062552"/>
                    </a:solidFill>
                  </a:tcPr>
                </a:tc>
                <a:tc>
                  <a:txBody>
                    <a:bodyPr wrap="square"/>
                    <a:lstStyle/>
                    <a:p>
                      <a:pPr algn="ctr"/>
                      <a:r>
                        <a:rPr sz="900" b="1">
                          <a:solidFill>
                            <a:srgbClr val="FFFFFF"/>
                          </a:solidFill>
                          <a:latin typeface="Arial"/>
                        </a:rPr>
                        <a:t>+2.5%</a:t>
                      </a:r>
                    </a:p>
                  </a:txBody>
                  <a:tcPr marL="54000" marR="54000" marT="18000" marB="18000" anchor="ctr">
                    <a:solidFill>
                      <a:srgbClr val="062552"/>
                    </a:solidFill>
                  </a:tcPr>
                </a:tc>
                <a:tc>
                  <a:txBody>
                    <a:bodyPr wrap="square"/>
                    <a:lstStyle/>
                    <a:p>
                      <a:pPr algn="ctr"/>
                      <a:r>
                        <a:rPr sz="900" b="1">
                          <a:solidFill>
                            <a:srgbClr val="FFFFFF"/>
                          </a:solidFill>
                          <a:latin typeface="Arial"/>
                        </a:rPr>
                        <a:t>1,356.7</a:t>
                      </a:r>
                    </a:p>
                  </a:txBody>
                  <a:tcPr marL="54000" marR="54000" marT="18000" marB="18000" anchor="ctr">
                    <a:solidFill>
                      <a:srgbClr val="062552"/>
                    </a:solidFill>
                  </a:tcPr>
                </a:tc>
                <a:tc>
                  <a:txBody>
                    <a:bodyPr wrap="square"/>
                    <a:lstStyle/>
                    <a:p>
                      <a:pPr algn="ctr"/>
                      <a:r>
                        <a:rPr sz="900" b="1">
                          <a:solidFill>
                            <a:srgbClr val="FFFFFF"/>
                          </a:solidFill>
                          <a:latin typeface="Arial"/>
                        </a:rPr>
                        <a:t>+0.9%</a:t>
                      </a:r>
                    </a:p>
                  </a:txBody>
                  <a:tcPr marL="54000" marR="54000" marT="18000" marB="18000" anchor="ctr">
                    <a:solidFill>
                      <a:srgbClr val="062552"/>
                    </a:solidFill>
                  </a:tcPr>
                </a:tc>
                <a:tc>
                  <a:txBody>
                    <a:bodyPr wrap="square"/>
                    <a:lstStyle/>
                    <a:p>
                      <a:pPr algn="ctr"/>
                      <a:r>
                        <a:rPr sz="900" b="1">
                          <a:solidFill>
                            <a:srgbClr val="FFFFFF"/>
                          </a:solidFill>
                          <a:latin typeface="Arial"/>
                        </a:rPr>
                        <a:t>+12.6</a:t>
                      </a:r>
                    </a:p>
                  </a:txBody>
                  <a:tcPr marL="54000" marR="54000" marT="18000" marB="18000" anchor="ctr">
                    <a:solidFill>
                      <a:srgbClr val="062552"/>
                    </a:solidFill>
                  </a:tcPr>
                </a:tc>
              </a:tr>
            </a:tbl>
          </a:graphicData>
        </a:graphic>
      </p:graphicFrame>
      <p:sp>
        <p:nvSpPr>
          <p:cNvPr id="8" name="Rectangle 7"/>
          <p:cNvSpPr/>
          <p:nvPr/>
        </p:nvSpPr>
        <p:spPr>
          <a:xfrm>
            <a:off x="274320" y="5700000"/>
            <a:ext cx="11650000" cy="65000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5700000"/>
            <a:ext cx="54000" cy="650000"/>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20" y="5780000"/>
            <a:ext cx="11390000" cy="530000"/>
          </a:xfrm>
          <a:prstGeom prst="rect">
            <a:avLst/>
          </a:prstGeom>
          <a:noFill/>
        </p:spPr>
        <p:txBody>
          <a:bodyPr wrap="square" lIns="0" rIns="0" tIns="0" bIns="0" anchor="t">
            <a:spAutoFit/>
          </a:bodyPr>
          <a:lstStyle/>
          <a:p>
            <a:pPr algn="l"/>
            <a:r>
              <a:rPr sz="1000" b="1">
                <a:solidFill>
                  <a:srgbClr val="062552"/>
                </a:solidFill>
                <a:latin typeface="Arial"/>
              </a:rPr>
              <a:t>Note. </a:t>
            </a:r>
            <a:r>
              <a:rPr sz="1000" b="0">
                <a:solidFill>
                  <a:srgbClr val="1F1F1F"/>
                </a:solidFill>
                <a:latin typeface="Arial"/>
              </a:rPr>
              <a:t>Portfolios cover assigned commercial accounts only, so they do not add to company sales, which also include residential and unassigned accounts. Last round is the forecast after the August close, before adjustments rolled forward, so the change includes that. Sharmica Holness falls because of Alcoa and MBJ Airports.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Biggest Movements Ahead</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The largest changes between FY2026 and FY2027, and whether an adjustment explains them</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GWh, live forecast. Customers with no adjustment on file are moving on the base forecast, so ask whether the movement is right.</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5</a:t>
            </a:r>
          </a:p>
        </p:txBody>
      </p:sp>
      <p:sp>
        <p:nvSpPr>
          <p:cNvPr id="7" name="TextBox 6"/>
          <p:cNvSpPr txBox="1"/>
          <p:nvPr/>
        </p:nvSpPr>
        <p:spPr>
          <a:xfrm>
            <a:off x="274320" y="1900000"/>
            <a:ext cx="5700000" cy="200000"/>
          </a:xfrm>
          <a:prstGeom prst="rect">
            <a:avLst/>
          </a:prstGeom>
          <a:noFill/>
        </p:spPr>
        <p:txBody>
          <a:bodyPr wrap="square" lIns="0" rIns="0" tIns="0" bIns="0" anchor="t">
            <a:spAutoFit/>
          </a:bodyPr>
          <a:lstStyle/>
          <a:p>
            <a:pPr algn="l"/>
            <a:r>
              <a:rPr sz="1000" b="1">
                <a:solidFill>
                  <a:srgbClr val="66788A"/>
                </a:solidFill>
                <a:latin typeface="Arial"/>
              </a:rPr>
              <a:t>LARGEST INCREASES</a:t>
            </a:r>
          </a:p>
        </p:txBody>
      </p:sp>
      <p:graphicFrame>
        <p:nvGraphicFramePr>
          <p:cNvPr id="8" name="Table 7"/>
          <p:cNvGraphicFramePr>
            <a:graphicFrameLocks noGrp="1"/>
          </p:cNvGraphicFramePr>
          <p:nvPr/>
        </p:nvGraphicFramePr>
        <p:xfrm>
          <a:off x="274320" y="2150000"/>
          <a:ext cx="5749998" cy="2960000"/>
        </p:xfrm>
        <a:graphic>
          <a:graphicData uri="http://schemas.openxmlformats.org/drawingml/2006/table">
            <a:tbl>
              <a:tblPr firstRow="0" bandRow="0">
                <a:tableStyleId>{5940675A-B579-460E-94D1-54222C63F5DA}</a:tableStyleId>
              </a:tblPr>
              <a:tblGrid>
                <a:gridCol w="1774691"/>
                <a:gridCol w="709876"/>
                <a:gridCol w="567901"/>
                <a:gridCol w="567901"/>
                <a:gridCol w="567901"/>
                <a:gridCol w="1561728"/>
              </a:tblGrid>
              <a:tr h="320000">
                <a:tc>
                  <a:txBody>
                    <a:bodyPr wrap="square"/>
                    <a:lstStyle/>
                    <a:p>
                      <a:pPr algn="l"/>
                      <a:r>
                        <a:rPr sz="850" b="1">
                          <a:solidFill>
                            <a:srgbClr val="FFFFFF"/>
                          </a:solidFill>
                          <a:latin typeface="Arial"/>
                        </a:rPr>
                        <a:t>Customer</a:t>
                      </a:r>
                    </a:p>
                  </a:txBody>
                  <a:tcPr marL="54000" marR="54000" marT="18000" marB="18000" anchor="ctr">
                    <a:solidFill>
                      <a:srgbClr val="062552"/>
                    </a:solidFill>
                  </a:tcPr>
                </a:tc>
                <a:tc>
                  <a:txBody>
                    <a:bodyPr wrap="square"/>
                    <a:lstStyle/>
                    <a:p>
                      <a:pPr algn="l"/>
                      <a:r>
                        <a:rPr sz="850" b="1">
                          <a:solidFill>
                            <a:srgbClr val="FFFFFF"/>
                          </a:solidFill>
                          <a:latin typeface="Arial"/>
                        </a:rPr>
                        <a:t>KAM</a:t>
                      </a:r>
                    </a:p>
                  </a:txBody>
                  <a:tcPr marL="54000" marR="54000" marT="18000" marB="18000" anchor="ctr">
                    <a:solidFill>
                      <a:srgbClr val="062552"/>
                    </a:solidFill>
                  </a:tcPr>
                </a:tc>
                <a:tc>
                  <a:txBody>
                    <a:bodyPr wrap="square"/>
                    <a:lstStyle/>
                    <a:p>
                      <a:pPr algn="ctr"/>
                      <a:r>
                        <a:rPr sz="850" b="1">
                          <a:solidFill>
                            <a:srgbClr val="FFFFFF"/>
                          </a:solidFill>
                          <a:latin typeface="Arial"/>
                        </a:rPr>
                        <a:t>FY26</a:t>
                      </a:r>
                    </a:p>
                  </a:txBody>
                  <a:tcPr marL="54000" marR="54000" marT="18000" marB="18000" anchor="ctr">
                    <a:solidFill>
                      <a:srgbClr val="062552"/>
                    </a:solidFill>
                  </a:tcPr>
                </a:tc>
                <a:tc>
                  <a:txBody>
                    <a:bodyPr wrap="square"/>
                    <a:lstStyle/>
                    <a:p>
                      <a:pPr algn="ctr"/>
                      <a:r>
                        <a:rPr sz="850" b="1">
                          <a:solidFill>
                            <a:srgbClr val="FFFFFF"/>
                          </a:solidFill>
                          <a:latin typeface="Arial"/>
                        </a:rPr>
                        <a:t>FY27</a:t>
                      </a:r>
                    </a:p>
                  </a:txBody>
                  <a:tcPr marL="54000" marR="54000" marT="18000" marB="18000" anchor="ctr">
                    <a:solidFill>
                      <a:srgbClr val="062552"/>
                    </a:solidFill>
                  </a:tcPr>
                </a:tc>
                <a:tc>
                  <a:txBody>
                    <a:bodyPr wrap="square"/>
                    <a:lstStyle/>
                    <a:p>
                      <a:pPr algn="ctr"/>
                      <a:r>
                        <a:rPr sz="850" b="1">
                          <a:solidFill>
                            <a:srgbClr val="FFFFFF"/>
                          </a:solidFill>
                          <a:latin typeface="Arial"/>
                        </a:rPr>
                        <a:t>Change</a:t>
                      </a:r>
                    </a:p>
                  </a:txBody>
                  <a:tcPr marL="54000" marR="54000" marT="18000" marB="18000" anchor="ctr">
                    <a:solidFill>
                      <a:srgbClr val="062552"/>
                    </a:solidFill>
                  </a:tcPr>
                </a:tc>
                <a:tc>
                  <a:txBody>
                    <a:bodyPr wrap="square"/>
                    <a:lstStyle/>
                    <a:p>
                      <a:pPr algn="l"/>
                      <a:r>
                        <a:rPr sz="850" b="1">
                          <a:solidFill>
                            <a:srgbClr val="FFFFFF"/>
                          </a:solidFill>
                          <a:latin typeface="Arial"/>
                        </a:rPr>
                        <a:t>Adjustment</a:t>
                      </a:r>
                    </a:p>
                  </a:txBody>
                  <a:tcPr marL="54000" marR="54000" marT="18000" marB="18000" anchor="ctr">
                    <a:solidFill>
                      <a:srgbClr val="062552"/>
                    </a:solidFill>
                  </a:tcPr>
                </a:tc>
              </a:tr>
              <a:tr h="330000">
                <a:tc>
                  <a:txBody>
                    <a:bodyPr wrap="square"/>
                    <a:lstStyle/>
                    <a:p>
                      <a:pPr algn="l"/>
                      <a:r>
                        <a:rPr sz="850" b="1">
                          <a:solidFill>
                            <a:srgbClr val="062552"/>
                          </a:solidFill>
                          <a:latin typeface="Arial"/>
                        </a:rPr>
                        <a:t>National Water Commission</a:t>
                      </a:r>
                    </a:p>
                  </a:txBody>
                  <a:tcPr marL="54000" marR="54000" marT="18000" marB="18000" anchor="ctr">
                    <a:noFill/>
                  </a:tcPr>
                </a:tc>
                <a:tc>
                  <a:txBody>
                    <a:bodyPr wrap="square"/>
                    <a:lstStyle/>
                    <a:p>
                      <a:pPr algn="l"/>
                      <a:r>
                        <a:rPr sz="850" b="0">
                          <a:solidFill>
                            <a:srgbClr val="1F1F1F"/>
                          </a:solidFill>
                          <a:latin typeface="Arial"/>
                        </a:rPr>
                        <a:t>Simone</a:t>
                      </a:r>
                    </a:p>
                  </a:txBody>
                  <a:tcPr marL="54000" marR="54000" marT="18000" marB="18000" anchor="ctr">
                    <a:noFill/>
                  </a:tcPr>
                </a:tc>
                <a:tc>
                  <a:txBody>
                    <a:bodyPr wrap="square"/>
                    <a:lstStyle/>
                    <a:p>
                      <a:pPr algn="ctr"/>
                      <a:r>
                        <a:rPr sz="850" b="0">
                          <a:solidFill>
                            <a:srgbClr val="1F1F1F"/>
                          </a:solidFill>
                          <a:latin typeface="Arial"/>
                        </a:rPr>
                        <a:t>195.6</a:t>
                      </a:r>
                    </a:p>
                  </a:txBody>
                  <a:tcPr marL="54000" marR="54000" marT="18000" marB="18000" anchor="ctr">
                    <a:noFill/>
                  </a:tcPr>
                </a:tc>
                <a:tc>
                  <a:txBody>
                    <a:bodyPr wrap="square"/>
                    <a:lstStyle/>
                    <a:p>
                      <a:pPr algn="ctr"/>
                      <a:r>
                        <a:rPr sz="850" b="0">
                          <a:solidFill>
                            <a:srgbClr val="1F1F1F"/>
                          </a:solidFill>
                          <a:latin typeface="Arial"/>
                        </a:rPr>
                        <a:t>212.7</a:t>
                      </a:r>
                    </a:p>
                  </a:txBody>
                  <a:tcPr marL="54000" marR="54000" marT="18000" marB="18000" anchor="ctr">
                    <a:noFill/>
                  </a:tcPr>
                </a:tc>
                <a:tc>
                  <a:txBody>
                    <a:bodyPr wrap="square"/>
                    <a:lstStyle/>
                    <a:p>
                      <a:pPr algn="ctr"/>
                      <a:r>
                        <a:rPr sz="850" b="0">
                          <a:solidFill>
                            <a:srgbClr val="0E4E95"/>
                          </a:solidFill>
                          <a:latin typeface="Arial"/>
                        </a:rPr>
                        <a:t>+17.1</a:t>
                      </a:r>
                    </a:p>
                  </a:txBody>
                  <a:tcPr marL="54000" marR="54000" marT="18000" marB="18000" anchor="ctr">
                    <a:noFill/>
                  </a:tcPr>
                </a:tc>
                <a:tc>
                  <a:txBody>
                    <a:bodyPr wrap="square"/>
                    <a:lstStyle/>
                    <a:p>
                      <a:pPr algn="l"/>
                      <a:r>
                        <a:rPr sz="850" b="0">
                          <a:solidFill>
                            <a:srgbClr val="1F1F1F"/>
                          </a:solidFill>
                          <a:latin typeface="Arial"/>
                        </a:rPr>
                        <a:t>Expansion</a:t>
                      </a:r>
                    </a:p>
                  </a:txBody>
                  <a:tcPr marL="54000" marR="54000" marT="18000" marB="18000" anchor="ctr">
                    <a:noFill/>
                  </a:tcPr>
                </a:tc>
              </a:tr>
              <a:tr h="330000">
                <a:tc>
                  <a:txBody>
                    <a:bodyPr wrap="square"/>
                    <a:lstStyle/>
                    <a:p>
                      <a:pPr algn="l"/>
                      <a:r>
                        <a:rPr sz="850" b="1">
                          <a:solidFill>
                            <a:srgbClr val="062552"/>
                          </a:solidFill>
                          <a:latin typeface="Arial"/>
                        </a:rPr>
                        <a:t>Riu Jamaicotel Limited</a:t>
                      </a:r>
                    </a:p>
                  </a:txBody>
                  <a:tcPr marL="54000" marR="54000" marT="18000" marB="18000" anchor="ctr">
                    <a:solidFill>
                      <a:srgbClr val="F3F6FB"/>
                    </a:solidFill>
                  </a:tcPr>
                </a:tc>
                <a:tc>
                  <a:txBody>
                    <a:bodyPr wrap="square"/>
                    <a:lstStyle/>
                    <a:p>
                      <a:pPr algn="l"/>
                      <a:r>
                        <a:rPr sz="850" b="0">
                          <a:solidFill>
                            <a:srgbClr val="1F1F1F"/>
                          </a:solidFill>
                          <a:latin typeface="Arial"/>
                        </a:rPr>
                        <a:t>Anna-Kay</a:t>
                      </a:r>
                    </a:p>
                  </a:txBody>
                  <a:tcPr marL="54000" marR="54000" marT="18000" marB="18000" anchor="ctr">
                    <a:solidFill>
                      <a:srgbClr val="F3F6FB"/>
                    </a:solidFill>
                  </a:tcPr>
                </a:tc>
                <a:tc>
                  <a:txBody>
                    <a:bodyPr wrap="square"/>
                    <a:lstStyle/>
                    <a:p>
                      <a:pPr algn="ctr"/>
                      <a:r>
                        <a:rPr sz="850" b="0">
                          <a:solidFill>
                            <a:srgbClr val="1F1F1F"/>
                          </a:solidFill>
                          <a:latin typeface="Arial"/>
                        </a:rPr>
                        <a:t>26.1</a:t>
                      </a:r>
                    </a:p>
                  </a:txBody>
                  <a:tcPr marL="54000" marR="54000" marT="18000" marB="18000" anchor="ctr">
                    <a:solidFill>
                      <a:srgbClr val="F3F6FB"/>
                    </a:solidFill>
                  </a:tcPr>
                </a:tc>
                <a:tc>
                  <a:txBody>
                    <a:bodyPr wrap="square"/>
                    <a:lstStyle/>
                    <a:p>
                      <a:pPr algn="ctr"/>
                      <a:r>
                        <a:rPr sz="850" b="0">
                          <a:solidFill>
                            <a:srgbClr val="1F1F1F"/>
                          </a:solidFill>
                          <a:latin typeface="Arial"/>
                        </a:rPr>
                        <a:t>29.5</a:t>
                      </a:r>
                    </a:p>
                  </a:txBody>
                  <a:tcPr marL="54000" marR="54000" marT="18000" marB="18000" anchor="ctr">
                    <a:solidFill>
                      <a:srgbClr val="F3F6FB"/>
                    </a:solidFill>
                  </a:tcPr>
                </a:tc>
                <a:tc>
                  <a:txBody>
                    <a:bodyPr wrap="square"/>
                    <a:lstStyle/>
                    <a:p>
                      <a:pPr algn="ctr"/>
                      <a:r>
                        <a:rPr sz="850" b="0">
                          <a:solidFill>
                            <a:srgbClr val="0E4E95"/>
                          </a:solidFill>
                          <a:latin typeface="Arial"/>
                        </a:rPr>
                        <a:t>+3.4</a:t>
                      </a:r>
                    </a:p>
                  </a:txBody>
                  <a:tcPr marL="54000" marR="54000" marT="18000" marB="18000" anchor="ctr">
                    <a:solidFill>
                      <a:srgbClr val="F3F6FB"/>
                    </a:solidFill>
                  </a:tcPr>
                </a:tc>
                <a:tc>
                  <a:txBody>
                    <a:bodyPr wrap="square"/>
                    <a:lstStyle/>
                    <a:p>
                      <a:pPr algn="l"/>
                      <a:r>
                        <a:rPr sz="850" b="0">
                          <a:solidFill>
                            <a:srgbClr val="1F1F1F"/>
                          </a:solidFill>
                          <a:latin typeface="Arial"/>
                        </a:rPr>
                        <a:t>Operational disruption</a:t>
                      </a:r>
                    </a:p>
                  </a:txBody>
                  <a:tcPr marL="54000" marR="54000" marT="18000" marB="18000" anchor="ctr">
                    <a:solidFill>
                      <a:srgbClr val="F3F6FB"/>
                    </a:solidFill>
                  </a:tcPr>
                </a:tc>
              </a:tr>
              <a:tr h="330000">
                <a:tc>
                  <a:txBody>
                    <a:bodyPr wrap="square"/>
                    <a:lstStyle/>
                    <a:p>
                      <a:pPr algn="l"/>
                      <a:r>
                        <a:rPr sz="850" b="1">
                          <a:solidFill>
                            <a:srgbClr val="062552"/>
                          </a:solidFill>
                          <a:latin typeface="Arial"/>
                        </a:rPr>
                        <a:t>Jamaica Defence Force</a:t>
                      </a:r>
                    </a:p>
                  </a:txBody>
                  <a:tcPr marL="54000" marR="54000" marT="18000" marB="18000" anchor="ctr">
                    <a:noFill/>
                  </a:tcPr>
                </a:tc>
                <a:tc>
                  <a:txBody>
                    <a:bodyPr wrap="square"/>
                    <a:lstStyle/>
                    <a:p>
                      <a:pPr algn="l"/>
                      <a:r>
                        <a:rPr sz="850" b="0">
                          <a:solidFill>
                            <a:srgbClr val="1F1F1F"/>
                          </a:solidFill>
                          <a:latin typeface="Arial"/>
                        </a:rPr>
                        <a:t>Ewan</a:t>
                      </a:r>
                    </a:p>
                  </a:txBody>
                  <a:tcPr marL="54000" marR="54000" marT="18000" marB="18000" anchor="ctr">
                    <a:noFill/>
                  </a:tcPr>
                </a:tc>
                <a:tc>
                  <a:txBody>
                    <a:bodyPr wrap="square"/>
                    <a:lstStyle/>
                    <a:p>
                      <a:pPr algn="ctr"/>
                      <a:r>
                        <a:rPr sz="850" b="0">
                          <a:solidFill>
                            <a:srgbClr val="1F1F1F"/>
                          </a:solidFill>
                          <a:latin typeface="Arial"/>
                        </a:rPr>
                        <a:t>11.9</a:t>
                      </a:r>
                    </a:p>
                  </a:txBody>
                  <a:tcPr marL="54000" marR="54000" marT="18000" marB="18000" anchor="ctr">
                    <a:noFill/>
                  </a:tcPr>
                </a:tc>
                <a:tc>
                  <a:txBody>
                    <a:bodyPr wrap="square"/>
                    <a:lstStyle/>
                    <a:p>
                      <a:pPr algn="ctr"/>
                      <a:r>
                        <a:rPr sz="850" b="0">
                          <a:solidFill>
                            <a:srgbClr val="1F1F1F"/>
                          </a:solidFill>
                          <a:latin typeface="Arial"/>
                        </a:rPr>
                        <a:t>15.1</a:t>
                      </a:r>
                    </a:p>
                  </a:txBody>
                  <a:tcPr marL="54000" marR="54000" marT="18000" marB="18000" anchor="ctr">
                    <a:noFill/>
                  </a:tcPr>
                </a:tc>
                <a:tc>
                  <a:txBody>
                    <a:bodyPr wrap="square"/>
                    <a:lstStyle/>
                    <a:p>
                      <a:pPr algn="ctr"/>
                      <a:r>
                        <a:rPr sz="850" b="0">
                          <a:solidFill>
                            <a:srgbClr val="0E4E95"/>
                          </a:solidFill>
                          <a:latin typeface="Arial"/>
                        </a:rPr>
                        <a:t>+3.2</a:t>
                      </a:r>
                    </a:p>
                  </a:txBody>
                  <a:tcPr marL="54000" marR="54000" marT="18000" marB="18000" anchor="ctr">
                    <a:noFill/>
                  </a:tcPr>
                </a:tc>
                <a:tc>
                  <a:txBody>
                    <a:bodyPr wrap="square"/>
                    <a:lstStyle/>
                    <a:p>
                      <a:pPr algn="l"/>
                      <a:r>
                        <a:rPr sz="850" b="0">
                          <a:solidFill>
                            <a:srgbClr val="1F1F1F"/>
                          </a:solidFill>
                          <a:latin typeface="Arial"/>
                        </a:rPr>
                        <a:t>No adjustment on file</a:t>
                      </a:r>
                    </a:p>
                  </a:txBody>
                  <a:tcPr marL="54000" marR="54000" marT="18000" marB="18000" anchor="ctr">
                    <a:noFill/>
                  </a:tcPr>
                </a:tc>
              </a:tr>
              <a:tr h="330000">
                <a:tc>
                  <a:txBody>
                    <a:bodyPr wrap="square"/>
                    <a:lstStyle/>
                    <a:p>
                      <a:pPr algn="l"/>
                      <a:r>
                        <a:rPr sz="850" b="1">
                          <a:solidFill>
                            <a:srgbClr val="062552"/>
                          </a:solidFill>
                          <a:latin typeface="Arial"/>
                        </a:rPr>
                        <a:t>National Irrigation Commis</a:t>
                      </a:r>
                    </a:p>
                  </a:txBody>
                  <a:tcPr marL="54000" marR="54000" marT="18000" marB="18000" anchor="ctr">
                    <a:solidFill>
                      <a:srgbClr val="F3F6FB"/>
                    </a:solidFill>
                  </a:tcPr>
                </a:tc>
                <a:tc>
                  <a:txBody>
                    <a:bodyPr wrap="square"/>
                    <a:lstStyle/>
                    <a:p>
                      <a:pPr algn="l"/>
                      <a:r>
                        <a:rPr sz="850" b="0">
                          <a:solidFill>
                            <a:srgbClr val="1F1F1F"/>
                          </a:solidFill>
                          <a:latin typeface="Arial"/>
                        </a:rPr>
                        <a:t>Tanya</a:t>
                      </a:r>
                    </a:p>
                  </a:txBody>
                  <a:tcPr marL="54000" marR="54000" marT="18000" marB="18000" anchor="ctr">
                    <a:solidFill>
                      <a:srgbClr val="F3F6FB"/>
                    </a:solidFill>
                  </a:tcPr>
                </a:tc>
                <a:tc>
                  <a:txBody>
                    <a:bodyPr wrap="square"/>
                    <a:lstStyle/>
                    <a:p>
                      <a:pPr algn="ctr"/>
                      <a:r>
                        <a:rPr sz="850" b="0">
                          <a:solidFill>
                            <a:srgbClr val="1F1F1F"/>
                          </a:solidFill>
                          <a:latin typeface="Arial"/>
                        </a:rPr>
                        <a:t>15.7</a:t>
                      </a:r>
                    </a:p>
                  </a:txBody>
                  <a:tcPr marL="54000" marR="54000" marT="18000" marB="18000" anchor="ctr">
                    <a:solidFill>
                      <a:srgbClr val="F3F6FB"/>
                    </a:solidFill>
                  </a:tcPr>
                </a:tc>
                <a:tc>
                  <a:txBody>
                    <a:bodyPr wrap="square"/>
                    <a:lstStyle/>
                    <a:p>
                      <a:pPr algn="ctr"/>
                      <a:r>
                        <a:rPr sz="850" b="0">
                          <a:solidFill>
                            <a:srgbClr val="1F1F1F"/>
                          </a:solidFill>
                          <a:latin typeface="Arial"/>
                        </a:rPr>
                        <a:t>18.9</a:t>
                      </a:r>
                    </a:p>
                  </a:txBody>
                  <a:tcPr marL="54000" marR="54000" marT="18000" marB="18000" anchor="ctr">
                    <a:solidFill>
                      <a:srgbClr val="F3F6FB"/>
                    </a:solidFill>
                  </a:tcPr>
                </a:tc>
                <a:tc>
                  <a:txBody>
                    <a:bodyPr wrap="square"/>
                    <a:lstStyle/>
                    <a:p>
                      <a:pPr algn="ctr"/>
                      <a:r>
                        <a:rPr sz="850" b="0">
                          <a:solidFill>
                            <a:srgbClr val="0E4E95"/>
                          </a:solidFill>
                          <a:latin typeface="Arial"/>
                        </a:rPr>
                        <a:t>+3.2</a:t>
                      </a:r>
                    </a:p>
                  </a:txBody>
                  <a:tcPr marL="54000" marR="54000" marT="18000" marB="18000" anchor="ctr">
                    <a:solidFill>
                      <a:srgbClr val="F3F6FB"/>
                    </a:solidFill>
                  </a:tcPr>
                </a:tc>
                <a:tc>
                  <a:txBody>
                    <a:bodyPr wrap="square"/>
                    <a:lstStyle/>
                    <a:p>
                      <a:pPr algn="l"/>
                      <a:r>
                        <a:rPr sz="850" b="0">
                          <a:solidFill>
                            <a:srgbClr val="1F1F1F"/>
                          </a:solidFill>
                          <a:latin typeface="Arial"/>
                        </a:rPr>
                        <a:t>No adjustment on file</a:t>
                      </a:r>
                    </a:p>
                  </a:txBody>
                  <a:tcPr marL="54000" marR="54000" marT="18000" marB="18000" anchor="ctr">
                    <a:solidFill>
                      <a:srgbClr val="F3F6FB"/>
                    </a:solidFill>
                  </a:tcPr>
                </a:tc>
              </a:tr>
              <a:tr h="330000">
                <a:tc>
                  <a:txBody>
                    <a:bodyPr wrap="square"/>
                    <a:lstStyle/>
                    <a:p>
                      <a:pPr algn="l"/>
                      <a:r>
                        <a:rPr sz="850" b="1">
                          <a:solidFill>
                            <a:srgbClr val="062552"/>
                          </a:solidFill>
                          <a:latin typeface="Arial"/>
                        </a:rPr>
                        <a:t>Juici Beef Limited</a:t>
                      </a:r>
                    </a:p>
                  </a:txBody>
                  <a:tcPr marL="54000" marR="54000" marT="18000" marB="18000" anchor="ctr">
                    <a:noFill/>
                  </a:tcPr>
                </a:tc>
                <a:tc>
                  <a:txBody>
                    <a:bodyPr wrap="square"/>
                    <a:lstStyle/>
                    <a:p>
                      <a:pPr algn="l"/>
                      <a:r>
                        <a:rPr sz="850" b="0">
                          <a:solidFill>
                            <a:srgbClr val="1F1F1F"/>
                          </a:solidFill>
                          <a:latin typeface="Arial"/>
                        </a:rPr>
                        <a:t>Sharmica</a:t>
                      </a:r>
                    </a:p>
                  </a:txBody>
                  <a:tcPr marL="54000" marR="54000" marT="18000" marB="18000" anchor="ctr">
                    <a:noFill/>
                  </a:tcPr>
                </a:tc>
                <a:tc>
                  <a:txBody>
                    <a:bodyPr wrap="square"/>
                    <a:lstStyle/>
                    <a:p>
                      <a:pPr algn="ctr"/>
                      <a:r>
                        <a:rPr sz="850" b="0">
                          <a:solidFill>
                            <a:srgbClr val="1F1F1F"/>
                          </a:solidFill>
                          <a:latin typeface="Arial"/>
                        </a:rPr>
                        <a:t>8.4</a:t>
                      </a:r>
                    </a:p>
                  </a:txBody>
                  <a:tcPr marL="54000" marR="54000" marT="18000" marB="18000" anchor="ctr">
                    <a:noFill/>
                  </a:tcPr>
                </a:tc>
                <a:tc>
                  <a:txBody>
                    <a:bodyPr wrap="square"/>
                    <a:lstStyle/>
                    <a:p>
                      <a:pPr algn="ctr"/>
                      <a:r>
                        <a:rPr sz="850" b="0">
                          <a:solidFill>
                            <a:srgbClr val="1F1F1F"/>
                          </a:solidFill>
                          <a:latin typeface="Arial"/>
                        </a:rPr>
                        <a:t>11.5</a:t>
                      </a:r>
                    </a:p>
                  </a:txBody>
                  <a:tcPr marL="54000" marR="54000" marT="18000" marB="18000" anchor="ctr">
                    <a:noFill/>
                  </a:tcPr>
                </a:tc>
                <a:tc>
                  <a:txBody>
                    <a:bodyPr wrap="square"/>
                    <a:lstStyle/>
                    <a:p>
                      <a:pPr algn="ctr"/>
                      <a:r>
                        <a:rPr sz="850" b="0">
                          <a:solidFill>
                            <a:srgbClr val="0E4E95"/>
                          </a:solidFill>
                          <a:latin typeface="Arial"/>
                        </a:rPr>
                        <a:t>+3.1</a:t>
                      </a:r>
                    </a:p>
                  </a:txBody>
                  <a:tcPr marL="54000" marR="54000" marT="18000" marB="18000" anchor="ctr">
                    <a:noFill/>
                  </a:tcPr>
                </a:tc>
                <a:tc>
                  <a:txBody>
                    <a:bodyPr wrap="square"/>
                    <a:lstStyle/>
                    <a:p>
                      <a:pPr algn="l"/>
                      <a:r>
                        <a:rPr sz="850" b="0">
                          <a:solidFill>
                            <a:srgbClr val="1F1F1F"/>
                          </a:solidFill>
                          <a:latin typeface="Arial"/>
                        </a:rPr>
                        <a:t>Expansion</a:t>
                      </a:r>
                    </a:p>
                  </a:txBody>
                  <a:tcPr marL="54000" marR="54000" marT="18000" marB="18000" anchor="ctr">
                    <a:noFill/>
                  </a:tcPr>
                </a:tc>
              </a:tr>
              <a:tr h="330000">
                <a:tc>
                  <a:txBody>
                    <a:bodyPr wrap="square"/>
                    <a:lstStyle/>
                    <a:p>
                      <a:pPr algn="l"/>
                      <a:r>
                        <a:rPr sz="850" b="1">
                          <a:solidFill>
                            <a:srgbClr val="062552"/>
                          </a:solidFill>
                          <a:latin typeface="Arial"/>
                        </a:rPr>
                        <a:t>Caribbean Broilers Ja Ltd</a:t>
                      </a:r>
                    </a:p>
                  </a:txBody>
                  <a:tcPr marL="54000" marR="54000" marT="18000" marB="18000" anchor="ctr">
                    <a:solidFill>
                      <a:srgbClr val="F3F6FB"/>
                    </a:solidFill>
                  </a:tcPr>
                </a:tc>
                <a:tc>
                  <a:txBody>
                    <a:bodyPr wrap="square"/>
                    <a:lstStyle/>
                    <a:p>
                      <a:pPr algn="l"/>
                      <a:r>
                        <a:rPr sz="850" b="0">
                          <a:solidFill>
                            <a:srgbClr val="1F1F1F"/>
                          </a:solidFill>
                          <a:latin typeface="Arial"/>
                        </a:rPr>
                        <a:t>Nicole</a:t>
                      </a:r>
                    </a:p>
                  </a:txBody>
                  <a:tcPr marL="54000" marR="54000" marT="18000" marB="18000" anchor="ctr">
                    <a:solidFill>
                      <a:srgbClr val="F3F6FB"/>
                    </a:solidFill>
                  </a:tcPr>
                </a:tc>
                <a:tc>
                  <a:txBody>
                    <a:bodyPr wrap="square"/>
                    <a:lstStyle/>
                    <a:p>
                      <a:pPr algn="ctr"/>
                      <a:r>
                        <a:rPr sz="850" b="0">
                          <a:solidFill>
                            <a:srgbClr val="1F1F1F"/>
                          </a:solidFill>
                          <a:latin typeface="Arial"/>
                        </a:rPr>
                        <a:t>27.8</a:t>
                      </a:r>
                    </a:p>
                  </a:txBody>
                  <a:tcPr marL="54000" marR="54000" marT="18000" marB="18000" anchor="ctr">
                    <a:solidFill>
                      <a:srgbClr val="F3F6FB"/>
                    </a:solidFill>
                  </a:tcPr>
                </a:tc>
                <a:tc>
                  <a:txBody>
                    <a:bodyPr wrap="square"/>
                    <a:lstStyle/>
                    <a:p>
                      <a:pPr algn="ctr"/>
                      <a:r>
                        <a:rPr sz="850" b="0">
                          <a:solidFill>
                            <a:srgbClr val="1F1F1F"/>
                          </a:solidFill>
                          <a:latin typeface="Arial"/>
                        </a:rPr>
                        <a:t>30.9</a:t>
                      </a:r>
                    </a:p>
                  </a:txBody>
                  <a:tcPr marL="54000" marR="54000" marT="18000" marB="18000" anchor="ctr">
                    <a:solidFill>
                      <a:srgbClr val="F3F6FB"/>
                    </a:solidFill>
                  </a:tcPr>
                </a:tc>
                <a:tc>
                  <a:txBody>
                    <a:bodyPr wrap="square"/>
                    <a:lstStyle/>
                    <a:p>
                      <a:pPr algn="ctr"/>
                      <a:r>
                        <a:rPr sz="850" b="0">
                          <a:solidFill>
                            <a:srgbClr val="0E4E95"/>
                          </a:solidFill>
                          <a:latin typeface="Arial"/>
                        </a:rPr>
                        <a:t>+3.1</a:t>
                      </a:r>
                    </a:p>
                  </a:txBody>
                  <a:tcPr marL="54000" marR="54000" marT="18000" marB="18000" anchor="ctr">
                    <a:solidFill>
                      <a:srgbClr val="F3F6FB"/>
                    </a:solidFill>
                  </a:tcPr>
                </a:tc>
                <a:tc>
                  <a:txBody>
                    <a:bodyPr wrap="square"/>
                    <a:lstStyle/>
                    <a:p>
                      <a:pPr algn="l"/>
                      <a:r>
                        <a:rPr sz="850" b="0">
                          <a:solidFill>
                            <a:srgbClr val="1F1F1F"/>
                          </a:solidFill>
                          <a:latin typeface="Arial"/>
                        </a:rPr>
                        <a:t>Operational disruption</a:t>
                      </a:r>
                    </a:p>
                  </a:txBody>
                  <a:tcPr marL="54000" marR="54000" marT="18000" marB="18000" anchor="ctr">
                    <a:solidFill>
                      <a:srgbClr val="F3F6FB"/>
                    </a:solidFill>
                  </a:tcPr>
                </a:tc>
              </a:tr>
              <a:tr h="330000">
                <a:tc>
                  <a:txBody>
                    <a:bodyPr wrap="square"/>
                    <a:lstStyle/>
                    <a:p>
                      <a:pPr algn="l"/>
                      <a:r>
                        <a:rPr sz="850" b="1">
                          <a:solidFill>
                            <a:srgbClr val="062552"/>
                          </a:solidFill>
                          <a:latin typeface="Arial"/>
                        </a:rPr>
                        <a:t>Port Marly Limited</a:t>
                      </a:r>
                    </a:p>
                  </a:txBody>
                  <a:tcPr marL="54000" marR="54000" marT="18000" marB="18000" anchor="ctr">
                    <a:noFill/>
                  </a:tcPr>
                </a:tc>
                <a:tc>
                  <a:txBody>
                    <a:bodyPr wrap="square"/>
                    <a:lstStyle/>
                    <a:p>
                      <a:pPr algn="l"/>
                      <a:r>
                        <a:rPr sz="850" b="0">
                          <a:solidFill>
                            <a:srgbClr val="1F1F1F"/>
                          </a:solidFill>
                          <a:latin typeface="Arial"/>
                        </a:rPr>
                        <a:t>Anna-Kay</a:t>
                      </a:r>
                    </a:p>
                  </a:txBody>
                  <a:tcPr marL="54000" marR="54000" marT="18000" marB="18000" anchor="ctr">
                    <a:noFill/>
                  </a:tcPr>
                </a:tc>
                <a:tc>
                  <a:txBody>
                    <a:bodyPr wrap="square"/>
                    <a:lstStyle/>
                    <a:p>
                      <a:pPr algn="ctr"/>
                      <a:r>
                        <a:rPr sz="850" b="0">
                          <a:solidFill>
                            <a:srgbClr val="1F1F1F"/>
                          </a:solidFill>
                          <a:latin typeface="Arial"/>
                        </a:rPr>
                        <a:t>19.7</a:t>
                      </a:r>
                    </a:p>
                  </a:txBody>
                  <a:tcPr marL="54000" marR="54000" marT="18000" marB="18000" anchor="ctr">
                    <a:noFill/>
                  </a:tcPr>
                </a:tc>
                <a:tc>
                  <a:txBody>
                    <a:bodyPr wrap="square"/>
                    <a:lstStyle/>
                    <a:p>
                      <a:pPr algn="ctr"/>
                      <a:r>
                        <a:rPr sz="850" b="0">
                          <a:solidFill>
                            <a:srgbClr val="1F1F1F"/>
                          </a:solidFill>
                          <a:latin typeface="Arial"/>
                        </a:rPr>
                        <a:t>22.7</a:t>
                      </a:r>
                    </a:p>
                  </a:txBody>
                  <a:tcPr marL="54000" marR="54000" marT="18000" marB="18000" anchor="ctr">
                    <a:noFill/>
                  </a:tcPr>
                </a:tc>
                <a:tc>
                  <a:txBody>
                    <a:bodyPr wrap="square"/>
                    <a:lstStyle/>
                    <a:p>
                      <a:pPr algn="ctr"/>
                      <a:r>
                        <a:rPr sz="850" b="0">
                          <a:solidFill>
                            <a:srgbClr val="0E4E95"/>
                          </a:solidFill>
                          <a:latin typeface="Arial"/>
                        </a:rPr>
                        <a:t>+3.0</a:t>
                      </a:r>
                    </a:p>
                  </a:txBody>
                  <a:tcPr marL="54000" marR="54000" marT="18000" marB="18000" anchor="ctr">
                    <a:noFill/>
                  </a:tcPr>
                </a:tc>
                <a:tc>
                  <a:txBody>
                    <a:bodyPr wrap="square"/>
                    <a:lstStyle/>
                    <a:p>
                      <a:pPr algn="l"/>
                      <a:r>
                        <a:rPr sz="850" b="0">
                          <a:solidFill>
                            <a:srgbClr val="1F1F1F"/>
                          </a:solidFill>
                          <a:latin typeface="Arial"/>
                        </a:rPr>
                        <a:t>Operational disruption</a:t>
                      </a:r>
                    </a:p>
                  </a:txBody>
                  <a:tcPr marL="54000" marR="54000" marT="18000" marB="18000" anchor="ctr">
                    <a:noFill/>
                  </a:tcPr>
                </a:tc>
              </a:tr>
              <a:tr h="330000">
                <a:tc>
                  <a:txBody>
                    <a:bodyPr wrap="square"/>
                    <a:lstStyle/>
                    <a:p>
                      <a:pPr algn="l"/>
                      <a:r>
                        <a:rPr sz="850" b="1">
                          <a:solidFill>
                            <a:srgbClr val="062552"/>
                          </a:solidFill>
                          <a:latin typeface="Arial"/>
                        </a:rPr>
                        <a:t>Bush Cay West Ltd</a:t>
                      </a:r>
                    </a:p>
                  </a:txBody>
                  <a:tcPr marL="54000" marR="54000" marT="18000" marB="18000" anchor="ctr">
                    <a:solidFill>
                      <a:srgbClr val="F3F6FB"/>
                    </a:solidFill>
                  </a:tcPr>
                </a:tc>
                <a:tc>
                  <a:txBody>
                    <a:bodyPr wrap="square"/>
                    <a:lstStyle/>
                    <a:p>
                      <a:pPr algn="l"/>
                      <a:r>
                        <a:rPr sz="850" b="0">
                          <a:solidFill>
                            <a:srgbClr val="1F1F1F"/>
                          </a:solidFill>
                          <a:latin typeface="Arial"/>
                        </a:rPr>
                        <a:t>Kenroy</a:t>
                      </a:r>
                    </a:p>
                  </a:txBody>
                  <a:tcPr marL="54000" marR="54000" marT="18000" marB="18000" anchor="ctr">
                    <a:solidFill>
                      <a:srgbClr val="F3F6FB"/>
                    </a:solidFill>
                  </a:tcPr>
                </a:tc>
                <a:tc>
                  <a:txBody>
                    <a:bodyPr wrap="square"/>
                    <a:lstStyle/>
                    <a:p>
                      <a:pPr algn="ctr"/>
                      <a:r>
                        <a:rPr sz="850" b="0">
                          <a:solidFill>
                            <a:srgbClr val="1F1F1F"/>
                          </a:solidFill>
                          <a:latin typeface="Arial"/>
                        </a:rPr>
                        <a:t>10.6</a:t>
                      </a:r>
                    </a:p>
                  </a:txBody>
                  <a:tcPr marL="54000" marR="54000" marT="18000" marB="18000" anchor="ctr">
                    <a:solidFill>
                      <a:srgbClr val="F3F6FB"/>
                    </a:solidFill>
                  </a:tcPr>
                </a:tc>
                <a:tc>
                  <a:txBody>
                    <a:bodyPr wrap="square"/>
                    <a:lstStyle/>
                    <a:p>
                      <a:pPr algn="ctr"/>
                      <a:r>
                        <a:rPr sz="850" b="0">
                          <a:solidFill>
                            <a:srgbClr val="1F1F1F"/>
                          </a:solidFill>
                          <a:latin typeface="Arial"/>
                        </a:rPr>
                        <a:t>13.4</a:t>
                      </a:r>
                    </a:p>
                  </a:txBody>
                  <a:tcPr marL="54000" marR="54000" marT="18000" marB="18000" anchor="ctr">
                    <a:solidFill>
                      <a:srgbClr val="F3F6FB"/>
                    </a:solidFill>
                  </a:tcPr>
                </a:tc>
                <a:tc>
                  <a:txBody>
                    <a:bodyPr wrap="square"/>
                    <a:lstStyle/>
                    <a:p>
                      <a:pPr algn="ctr"/>
                      <a:r>
                        <a:rPr sz="850" b="0">
                          <a:solidFill>
                            <a:srgbClr val="0E4E95"/>
                          </a:solidFill>
                          <a:latin typeface="Arial"/>
                        </a:rPr>
                        <a:t>+2.8</a:t>
                      </a:r>
                    </a:p>
                  </a:txBody>
                  <a:tcPr marL="54000" marR="54000" marT="18000" marB="18000" anchor="ctr">
                    <a:solidFill>
                      <a:srgbClr val="F3F6FB"/>
                    </a:solidFill>
                  </a:tcPr>
                </a:tc>
                <a:tc>
                  <a:txBody>
                    <a:bodyPr wrap="square"/>
                    <a:lstStyle/>
                    <a:p>
                      <a:pPr algn="l"/>
                      <a:r>
                        <a:rPr sz="850" b="0">
                          <a:solidFill>
                            <a:srgbClr val="1F1F1F"/>
                          </a:solidFill>
                          <a:latin typeface="Arial"/>
                        </a:rPr>
                        <a:t>No adjustment on file</a:t>
                      </a:r>
                    </a:p>
                  </a:txBody>
                  <a:tcPr marL="54000" marR="54000" marT="18000" marB="18000" anchor="ctr">
                    <a:solidFill>
                      <a:srgbClr val="F3F6FB"/>
                    </a:solidFill>
                  </a:tcPr>
                </a:tc>
              </a:tr>
            </a:tbl>
          </a:graphicData>
        </a:graphic>
      </p:graphicFrame>
      <p:sp>
        <p:nvSpPr>
          <p:cNvPr id="9" name="TextBox 8"/>
          <p:cNvSpPr txBox="1"/>
          <p:nvPr/>
        </p:nvSpPr>
        <p:spPr>
          <a:xfrm>
            <a:off x="6174320" y="1900000"/>
            <a:ext cx="5700000" cy="200000"/>
          </a:xfrm>
          <a:prstGeom prst="rect">
            <a:avLst/>
          </a:prstGeom>
          <a:noFill/>
        </p:spPr>
        <p:txBody>
          <a:bodyPr wrap="square" lIns="0" rIns="0" tIns="0" bIns="0" anchor="t">
            <a:spAutoFit/>
          </a:bodyPr>
          <a:lstStyle/>
          <a:p>
            <a:pPr algn="l"/>
            <a:r>
              <a:rPr sz="1000" b="1">
                <a:solidFill>
                  <a:srgbClr val="66788A"/>
                </a:solidFill>
                <a:latin typeface="Arial"/>
              </a:rPr>
              <a:t>LARGEST DECREASES</a:t>
            </a:r>
          </a:p>
        </p:txBody>
      </p:sp>
      <p:graphicFrame>
        <p:nvGraphicFramePr>
          <p:cNvPr id="10" name="Table 9"/>
          <p:cNvGraphicFramePr>
            <a:graphicFrameLocks noGrp="1"/>
          </p:cNvGraphicFramePr>
          <p:nvPr/>
        </p:nvGraphicFramePr>
        <p:xfrm>
          <a:off x="6174320" y="2150000"/>
          <a:ext cx="5749998" cy="2960000"/>
        </p:xfrm>
        <a:graphic>
          <a:graphicData uri="http://schemas.openxmlformats.org/drawingml/2006/table">
            <a:tbl>
              <a:tblPr firstRow="0" bandRow="0">
                <a:tableStyleId>{5940675A-B579-460E-94D1-54222C63F5DA}</a:tableStyleId>
              </a:tblPr>
              <a:tblGrid>
                <a:gridCol w="1774691"/>
                <a:gridCol w="709876"/>
                <a:gridCol w="567901"/>
                <a:gridCol w="567901"/>
                <a:gridCol w="567901"/>
                <a:gridCol w="1561728"/>
              </a:tblGrid>
              <a:tr h="320000">
                <a:tc>
                  <a:txBody>
                    <a:bodyPr wrap="square"/>
                    <a:lstStyle/>
                    <a:p>
                      <a:pPr algn="l"/>
                      <a:r>
                        <a:rPr sz="850" b="1">
                          <a:solidFill>
                            <a:srgbClr val="FFFFFF"/>
                          </a:solidFill>
                          <a:latin typeface="Arial"/>
                        </a:rPr>
                        <a:t>Customer</a:t>
                      </a:r>
                    </a:p>
                  </a:txBody>
                  <a:tcPr marL="54000" marR="54000" marT="18000" marB="18000" anchor="ctr">
                    <a:solidFill>
                      <a:srgbClr val="062552"/>
                    </a:solidFill>
                  </a:tcPr>
                </a:tc>
                <a:tc>
                  <a:txBody>
                    <a:bodyPr wrap="square"/>
                    <a:lstStyle/>
                    <a:p>
                      <a:pPr algn="l"/>
                      <a:r>
                        <a:rPr sz="850" b="1">
                          <a:solidFill>
                            <a:srgbClr val="FFFFFF"/>
                          </a:solidFill>
                          <a:latin typeface="Arial"/>
                        </a:rPr>
                        <a:t>KAM</a:t>
                      </a:r>
                    </a:p>
                  </a:txBody>
                  <a:tcPr marL="54000" marR="54000" marT="18000" marB="18000" anchor="ctr">
                    <a:solidFill>
                      <a:srgbClr val="062552"/>
                    </a:solidFill>
                  </a:tcPr>
                </a:tc>
                <a:tc>
                  <a:txBody>
                    <a:bodyPr wrap="square"/>
                    <a:lstStyle/>
                    <a:p>
                      <a:pPr algn="ctr"/>
                      <a:r>
                        <a:rPr sz="850" b="1">
                          <a:solidFill>
                            <a:srgbClr val="FFFFFF"/>
                          </a:solidFill>
                          <a:latin typeface="Arial"/>
                        </a:rPr>
                        <a:t>FY26</a:t>
                      </a:r>
                    </a:p>
                  </a:txBody>
                  <a:tcPr marL="54000" marR="54000" marT="18000" marB="18000" anchor="ctr">
                    <a:solidFill>
                      <a:srgbClr val="062552"/>
                    </a:solidFill>
                  </a:tcPr>
                </a:tc>
                <a:tc>
                  <a:txBody>
                    <a:bodyPr wrap="square"/>
                    <a:lstStyle/>
                    <a:p>
                      <a:pPr algn="ctr"/>
                      <a:r>
                        <a:rPr sz="850" b="1">
                          <a:solidFill>
                            <a:srgbClr val="FFFFFF"/>
                          </a:solidFill>
                          <a:latin typeface="Arial"/>
                        </a:rPr>
                        <a:t>FY27</a:t>
                      </a:r>
                    </a:p>
                  </a:txBody>
                  <a:tcPr marL="54000" marR="54000" marT="18000" marB="18000" anchor="ctr">
                    <a:solidFill>
                      <a:srgbClr val="062552"/>
                    </a:solidFill>
                  </a:tcPr>
                </a:tc>
                <a:tc>
                  <a:txBody>
                    <a:bodyPr wrap="square"/>
                    <a:lstStyle/>
                    <a:p>
                      <a:pPr algn="ctr"/>
                      <a:r>
                        <a:rPr sz="850" b="1">
                          <a:solidFill>
                            <a:srgbClr val="FFFFFF"/>
                          </a:solidFill>
                          <a:latin typeface="Arial"/>
                        </a:rPr>
                        <a:t>Change</a:t>
                      </a:r>
                    </a:p>
                  </a:txBody>
                  <a:tcPr marL="54000" marR="54000" marT="18000" marB="18000" anchor="ctr">
                    <a:solidFill>
                      <a:srgbClr val="062552"/>
                    </a:solidFill>
                  </a:tcPr>
                </a:tc>
                <a:tc>
                  <a:txBody>
                    <a:bodyPr wrap="square"/>
                    <a:lstStyle/>
                    <a:p>
                      <a:pPr algn="l"/>
                      <a:r>
                        <a:rPr sz="850" b="1">
                          <a:solidFill>
                            <a:srgbClr val="FFFFFF"/>
                          </a:solidFill>
                          <a:latin typeface="Arial"/>
                        </a:rPr>
                        <a:t>Adjustment</a:t>
                      </a:r>
                    </a:p>
                  </a:txBody>
                  <a:tcPr marL="54000" marR="54000" marT="18000" marB="18000" anchor="ctr">
                    <a:solidFill>
                      <a:srgbClr val="062552"/>
                    </a:solidFill>
                  </a:tcPr>
                </a:tc>
              </a:tr>
              <a:tr h="330000">
                <a:tc>
                  <a:txBody>
                    <a:bodyPr wrap="square"/>
                    <a:lstStyle/>
                    <a:p>
                      <a:pPr algn="l"/>
                      <a:r>
                        <a:rPr sz="850" b="1">
                          <a:solidFill>
                            <a:srgbClr val="062552"/>
                          </a:solidFill>
                          <a:latin typeface="Arial"/>
                        </a:rPr>
                        <a:t>Alcoa Mins Of Ja Ltd</a:t>
                      </a:r>
                    </a:p>
                  </a:txBody>
                  <a:tcPr marL="54000" marR="54000" marT="18000" marB="18000" anchor="ctr">
                    <a:noFill/>
                  </a:tcPr>
                </a:tc>
                <a:tc>
                  <a:txBody>
                    <a:bodyPr wrap="square"/>
                    <a:lstStyle/>
                    <a:p>
                      <a:pPr algn="l"/>
                      <a:r>
                        <a:rPr sz="850" b="0">
                          <a:solidFill>
                            <a:srgbClr val="1F1F1F"/>
                          </a:solidFill>
                          <a:latin typeface="Arial"/>
                        </a:rPr>
                        <a:t>Sharmica</a:t>
                      </a:r>
                    </a:p>
                  </a:txBody>
                  <a:tcPr marL="54000" marR="54000" marT="18000" marB="18000" anchor="ctr">
                    <a:noFill/>
                  </a:tcPr>
                </a:tc>
                <a:tc>
                  <a:txBody>
                    <a:bodyPr wrap="square"/>
                    <a:lstStyle/>
                    <a:p>
                      <a:pPr algn="ctr"/>
                      <a:r>
                        <a:rPr sz="850" b="0">
                          <a:solidFill>
                            <a:srgbClr val="1F1F1F"/>
                          </a:solidFill>
                          <a:latin typeface="Arial"/>
                        </a:rPr>
                        <a:t>56.8</a:t>
                      </a:r>
                    </a:p>
                  </a:txBody>
                  <a:tcPr marL="54000" marR="54000" marT="18000" marB="18000" anchor="ctr">
                    <a:noFill/>
                  </a:tcPr>
                </a:tc>
                <a:tc>
                  <a:txBody>
                    <a:bodyPr wrap="square"/>
                    <a:lstStyle/>
                    <a:p>
                      <a:pPr algn="ctr"/>
                      <a:r>
                        <a:rPr sz="850" b="0">
                          <a:solidFill>
                            <a:srgbClr val="1F1F1F"/>
                          </a:solidFill>
                          <a:latin typeface="Arial"/>
                        </a:rPr>
                        <a:t>2.3</a:t>
                      </a:r>
                    </a:p>
                  </a:txBody>
                  <a:tcPr marL="54000" marR="54000" marT="18000" marB="18000" anchor="ctr">
                    <a:noFill/>
                  </a:tcPr>
                </a:tc>
                <a:tc>
                  <a:txBody>
                    <a:bodyPr wrap="square"/>
                    <a:lstStyle/>
                    <a:p>
                      <a:pPr algn="ctr"/>
                      <a:r>
                        <a:rPr sz="850" b="0">
                          <a:solidFill>
                            <a:srgbClr val="C00000"/>
                          </a:solidFill>
                          <a:latin typeface="Arial"/>
                        </a:rPr>
                        <a:t>−54.5</a:t>
                      </a:r>
                    </a:p>
                  </a:txBody>
                  <a:tcPr marL="54000" marR="54000" marT="18000" marB="18000" anchor="ctr">
                    <a:noFill/>
                  </a:tcPr>
                </a:tc>
                <a:tc>
                  <a:txBody>
                    <a:bodyPr wrap="square"/>
                    <a:lstStyle/>
                    <a:p>
                      <a:pPr algn="l"/>
                      <a:r>
                        <a:rPr sz="850" b="0">
                          <a:solidFill>
                            <a:srgbClr val="1F1F1F"/>
                          </a:solidFill>
                          <a:latin typeface="Arial"/>
                        </a:rPr>
                        <a:t>Confirmed defection</a:t>
                      </a:r>
                    </a:p>
                  </a:txBody>
                  <a:tcPr marL="54000" marR="54000" marT="18000" marB="18000" anchor="ctr">
                    <a:noFill/>
                  </a:tcPr>
                </a:tc>
              </a:tr>
              <a:tr h="330000">
                <a:tc>
                  <a:txBody>
                    <a:bodyPr wrap="square"/>
                    <a:lstStyle/>
                    <a:p>
                      <a:pPr algn="l"/>
                      <a:r>
                        <a:rPr sz="850" b="1">
                          <a:solidFill>
                            <a:srgbClr val="062552"/>
                          </a:solidFill>
                          <a:latin typeface="Arial"/>
                        </a:rPr>
                        <a:t>MBJ Airports Limited</a:t>
                      </a:r>
                    </a:p>
                  </a:txBody>
                  <a:tcPr marL="54000" marR="54000" marT="18000" marB="18000" anchor="ctr">
                    <a:solidFill>
                      <a:srgbClr val="F3F6FB"/>
                    </a:solidFill>
                  </a:tcPr>
                </a:tc>
                <a:tc>
                  <a:txBody>
                    <a:bodyPr wrap="square"/>
                    <a:lstStyle/>
                    <a:p>
                      <a:pPr algn="l"/>
                      <a:r>
                        <a:rPr sz="850" b="0">
                          <a:solidFill>
                            <a:srgbClr val="1F1F1F"/>
                          </a:solidFill>
                          <a:latin typeface="Arial"/>
                        </a:rPr>
                        <a:t>Sharmica</a:t>
                      </a:r>
                    </a:p>
                  </a:txBody>
                  <a:tcPr marL="54000" marR="54000" marT="18000" marB="18000" anchor="ctr">
                    <a:solidFill>
                      <a:srgbClr val="F3F6FB"/>
                    </a:solidFill>
                  </a:tcPr>
                </a:tc>
                <a:tc>
                  <a:txBody>
                    <a:bodyPr wrap="square"/>
                    <a:lstStyle/>
                    <a:p>
                      <a:pPr algn="ctr"/>
                      <a:r>
                        <a:rPr sz="850" b="0">
                          <a:solidFill>
                            <a:srgbClr val="1F1F1F"/>
                          </a:solidFill>
                          <a:latin typeface="Arial"/>
                        </a:rPr>
                        <a:t>17.4</a:t>
                      </a:r>
                    </a:p>
                  </a:txBody>
                  <a:tcPr marL="54000" marR="54000" marT="18000" marB="18000" anchor="ctr">
                    <a:solidFill>
                      <a:srgbClr val="F3F6FB"/>
                    </a:solidFill>
                  </a:tcPr>
                </a:tc>
                <a:tc>
                  <a:txBody>
                    <a:bodyPr wrap="square"/>
                    <a:lstStyle/>
                    <a:p>
                      <a:pPr algn="ctr"/>
                      <a:r>
                        <a:rPr sz="850" b="0">
                          <a:solidFill>
                            <a:srgbClr val="1F1F1F"/>
                          </a:solidFill>
                          <a:latin typeface="Arial"/>
                        </a:rPr>
                        <a:t>4.6</a:t>
                      </a:r>
                    </a:p>
                  </a:txBody>
                  <a:tcPr marL="54000" marR="54000" marT="18000" marB="18000" anchor="ctr">
                    <a:solidFill>
                      <a:srgbClr val="F3F6FB"/>
                    </a:solidFill>
                  </a:tcPr>
                </a:tc>
                <a:tc>
                  <a:txBody>
                    <a:bodyPr wrap="square"/>
                    <a:lstStyle/>
                    <a:p>
                      <a:pPr algn="ctr"/>
                      <a:r>
                        <a:rPr sz="850" b="0">
                          <a:solidFill>
                            <a:srgbClr val="C00000"/>
                          </a:solidFill>
                          <a:latin typeface="Arial"/>
                        </a:rPr>
                        <a:t>−12.7</a:t>
                      </a:r>
                    </a:p>
                  </a:txBody>
                  <a:tcPr marL="54000" marR="54000" marT="18000" marB="18000" anchor="ctr">
                    <a:solidFill>
                      <a:srgbClr val="F3F6FB"/>
                    </a:solidFill>
                  </a:tcPr>
                </a:tc>
                <a:tc>
                  <a:txBody>
                    <a:bodyPr wrap="square"/>
                    <a:lstStyle/>
                    <a:p>
                      <a:pPr algn="l"/>
                      <a:r>
                        <a:rPr sz="850" b="0">
                          <a:solidFill>
                            <a:srgbClr val="1F1F1F"/>
                          </a:solidFill>
                          <a:latin typeface="Arial"/>
                        </a:rPr>
                        <a:t>Confirmed defection</a:t>
                      </a:r>
                    </a:p>
                  </a:txBody>
                  <a:tcPr marL="54000" marR="54000" marT="18000" marB="18000" anchor="ctr">
                    <a:solidFill>
                      <a:srgbClr val="F3F6FB"/>
                    </a:solidFill>
                  </a:tcPr>
                </a:tc>
              </a:tr>
              <a:tr h="330000">
                <a:tc>
                  <a:txBody>
                    <a:bodyPr wrap="square"/>
                    <a:lstStyle/>
                    <a:p>
                      <a:pPr algn="l"/>
                      <a:r>
                        <a:rPr sz="850" b="1">
                          <a:solidFill>
                            <a:srgbClr val="062552"/>
                          </a:solidFill>
                          <a:latin typeface="Arial"/>
                        </a:rPr>
                        <a:t>PAC Kingston Airport Ltd.</a:t>
                      </a:r>
                    </a:p>
                  </a:txBody>
                  <a:tcPr marL="54000" marR="54000" marT="18000" marB="18000" anchor="ctr">
                    <a:noFill/>
                  </a:tcPr>
                </a:tc>
                <a:tc>
                  <a:txBody>
                    <a:bodyPr wrap="square"/>
                    <a:lstStyle/>
                    <a:p>
                      <a:pPr algn="l"/>
                      <a:r>
                        <a:rPr sz="850" b="0">
                          <a:solidFill>
                            <a:srgbClr val="1F1F1F"/>
                          </a:solidFill>
                          <a:latin typeface="Arial"/>
                        </a:rPr>
                        <a:t>Simone</a:t>
                      </a:r>
                    </a:p>
                  </a:txBody>
                  <a:tcPr marL="54000" marR="54000" marT="18000" marB="18000" anchor="ctr">
                    <a:noFill/>
                  </a:tcPr>
                </a:tc>
                <a:tc>
                  <a:txBody>
                    <a:bodyPr wrap="square"/>
                    <a:lstStyle/>
                    <a:p>
                      <a:pPr algn="ctr"/>
                      <a:r>
                        <a:rPr sz="850" b="0">
                          <a:solidFill>
                            <a:srgbClr val="1F1F1F"/>
                          </a:solidFill>
                          <a:latin typeface="Arial"/>
                        </a:rPr>
                        <a:t>7.9</a:t>
                      </a:r>
                    </a:p>
                  </a:txBody>
                  <a:tcPr marL="54000" marR="54000" marT="18000" marB="18000" anchor="ctr">
                    <a:noFill/>
                  </a:tcPr>
                </a:tc>
                <a:tc>
                  <a:txBody>
                    <a:bodyPr wrap="square"/>
                    <a:lstStyle/>
                    <a:p>
                      <a:pPr algn="ctr"/>
                      <a:r>
                        <a:rPr sz="850" b="0">
                          <a:solidFill>
                            <a:srgbClr val="1F1F1F"/>
                          </a:solidFill>
                          <a:latin typeface="Arial"/>
                        </a:rPr>
                        <a:t>2.2</a:t>
                      </a:r>
                    </a:p>
                  </a:txBody>
                  <a:tcPr marL="54000" marR="54000" marT="18000" marB="18000" anchor="ctr">
                    <a:noFill/>
                  </a:tcPr>
                </a:tc>
                <a:tc>
                  <a:txBody>
                    <a:bodyPr wrap="square"/>
                    <a:lstStyle/>
                    <a:p>
                      <a:pPr algn="ctr"/>
                      <a:r>
                        <a:rPr sz="850" b="0">
                          <a:solidFill>
                            <a:srgbClr val="C00000"/>
                          </a:solidFill>
                          <a:latin typeface="Arial"/>
                        </a:rPr>
                        <a:t>−5.8</a:t>
                      </a:r>
                    </a:p>
                  </a:txBody>
                  <a:tcPr marL="54000" marR="54000" marT="18000" marB="18000" anchor="ctr">
                    <a:noFill/>
                  </a:tcPr>
                </a:tc>
                <a:tc>
                  <a:txBody>
                    <a:bodyPr wrap="square"/>
                    <a:lstStyle/>
                    <a:p>
                      <a:pPr algn="l"/>
                      <a:r>
                        <a:rPr sz="850" b="0">
                          <a:solidFill>
                            <a:srgbClr val="1F1F1F"/>
                          </a:solidFill>
                          <a:latin typeface="Arial"/>
                        </a:rPr>
                        <a:t>Confirmed defection</a:t>
                      </a:r>
                    </a:p>
                  </a:txBody>
                  <a:tcPr marL="54000" marR="54000" marT="18000" marB="18000" anchor="ctr">
                    <a:noFill/>
                  </a:tcPr>
                </a:tc>
              </a:tr>
              <a:tr h="330000">
                <a:tc>
                  <a:txBody>
                    <a:bodyPr wrap="square"/>
                    <a:lstStyle/>
                    <a:p>
                      <a:pPr algn="l"/>
                      <a:r>
                        <a:rPr sz="850" b="1">
                          <a:solidFill>
                            <a:srgbClr val="062552"/>
                          </a:solidFill>
                          <a:latin typeface="Arial"/>
                        </a:rPr>
                        <a:t>Windalco</a:t>
                      </a:r>
                    </a:p>
                  </a:txBody>
                  <a:tcPr marL="54000" marR="54000" marT="18000" marB="18000" anchor="ctr">
                    <a:solidFill>
                      <a:srgbClr val="F3F6FB"/>
                    </a:solidFill>
                  </a:tcPr>
                </a:tc>
                <a:tc>
                  <a:txBody>
                    <a:bodyPr wrap="square"/>
                    <a:lstStyle/>
                    <a:p>
                      <a:pPr algn="l"/>
                      <a:r>
                        <a:rPr sz="850" b="0">
                          <a:solidFill>
                            <a:srgbClr val="1F1F1F"/>
                          </a:solidFill>
                          <a:latin typeface="Arial"/>
                        </a:rPr>
                        <a:t>Sharmica</a:t>
                      </a:r>
                    </a:p>
                  </a:txBody>
                  <a:tcPr marL="54000" marR="54000" marT="18000" marB="18000" anchor="ctr">
                    <a:solidFill>
                      <a:srgbClr val="F3F6FB"/>
                    </a:solidFill>
                  </a:tcPr>
                </a:tc>
                <a:tc>
                  <a:txBody>
                    <a:bodyPr wrap="square"/>
                    <a:lstStyle/>
                    <a:p>
                      <a:pPr algn="ctr"/>
                      <a:r>
                        <a:rPr sz="850" b="0">
                          <a:solidFill>
                            <a:srgbClr val="1F1F1F"/>
                          </a:solidFill>
                          <a:latin typeface="Arial"/>
                        </a:rPr>
                        <a:t>24.8</a:t>
                      </a:r>
                    </a:p>
                  </a:txBody>
                  <a:tcPr marL="54000" marR="54000" marT="18000" marB="18000" anchor="ctr">
                    <a:solidFill>
                      <a:srgbClr val="F3F6FB"/>
                    </a:solidFill>
                  </a:tcPr>
                </a:tc>
                <a:tc>
                  <a:txBody>
                    <a:bodyPr wrap="square"/>
                    <a:lstStyle/>
                    <a:p>
                      <a:pPr algn="ctr"/>
                      <a:r>
                        <a:rPr sz="850" b="0">
                          <a:solidFill>
                            <a:srgbClr val="1F1F1F"/>
                          </a:solidFill>
                          <a:latin typeface="Arial"/>
                        </a:rPr>
                        <a:t>21.5</a:t>
                      </a:r>
                    </a:p>
                  </a:txBody>
                  <a:tcPr marL="54000" marR="54000" marT="18000" marB="18000" anchor="ctr">
                    <a:solidFill>
                      <a:srgbClr val="F3F6FB"/>
                    </a:solidFill>
                  </a:tcPr>
                </a:tc>
                <a:tc>
                  <a:txBody>
                    <a:bodyPr wrap="square"/>
                    <a:lstStyle/>
                    <a:p>
                      <a:pPr algn="ctr"/>
                      <a:r>
                        <a:rPr sz="850" b="0">
                          <a:solidFill>
                            <a:srgbClr val="C00000"/>
                          </a:solidFill>
                          <a:latin typeface="Arial"/>
                        </a:rPr>
                        <a:t>−3.3</a:t>
                      </a:r>
                    </a:p>
                  </a:txBody>
                  <a:tcPr marL="54000" marR="54000" marT="18000" marB="18000" anchor="ctr">
                    <a:solidFill>
                      <a:srgbClr val="F3F6FB"/>
                    </a:solidFill>
                  </a:tcPr>
                </a:tc>
                <a:tc>
                  <a:txBody>
                    <a:bodyPr wrap="square"/>
                    <a:lstStyle/>
                    <a:p>
                      <a:pPr algn="l"/>
                      <a:r>
                        <a:rPr sz="850" b="0">
                          <a:solidFill>
                            <a:srgbClr val="1F1F1F"/>
                          </a:solidFill>
                          <a:latin typeface="Arial"/>
                        </a:rPr>
                        <a:t>Operational disruption</a:t>
                      </a:r>
                    </a:p>
                  </a:txBody>
                  <a:tcPr marL="54000" marR="54000" marT="18000" marB="18000" anchor="ctr">
                    <a:solidFill>
                      <a:srgbClr val="F3F6FB"/>
                    </a:solidFill>
                  </a:tcPr>
                </a:tc>
              </a:tr>
              <a:tr h="330000">
                <a:tc>
                  <a:txBody>
                    <a:bodyPr wrap="square"/>
                    <a:lstStyle/>
                    <a:p>
                      <a:pPr algn="l"/>
                      <a:r>
                        <a:rPr sz="850" b="1">
                          <a:solidFill>
                            <a:srgbClr val="062552"/>
                          </a:solidFill>
                          <a:latin typeface="Arial"/>
                        </a:rPr>
                        <a:t>West Meat Packers Ja Ltd</a:t>
                      </a:r>
                    </a:p>
                  </a:txBody>
                  <a:tcPr marL="54000" marR="54000" marT="18000" marB="18000" anchor="ctr">
                    <a:noFill/>
                  </a:tcPr>
                </a:tc>
                <a:tc>
                  <a:txBody>
                    <a:bodyPr wrap="square"/>
                    <a:lstStyle/>
                    <a:p>
                      <a:pPr algn="l"/>
                      <a:r>
                        <a:rPr sz="850" b="0">
                          <a:solidFill>
                            <a:srgbClr val="1F1F1F"/>
                          </a:solidFill>
                          <a:latin typeface="Arial"/>
                        </a:rPr>
                        <a:t>Nicole</a:t>
                      </a:r>
                    </a:p>
                  </a:txBody>
                  <a:tcPr marL="54000" marR="54000" marT="18000" marB="18000" anchor="ctr">
                    <a:noFill/>
                  </a:tcPr>
                </a:tc>
                <a:tc>
                  <a:txBody>
                    <a:bodyPr wrap="square"/>
                    <a:lstStyle/>
                    <a:p>
                      <a:pPr algn="ctr"/>
                      <a:r>
                        <a:rPr sz="850" b="0">
                          <a:solidFill>
                            <a:srgbClr val="1F1F1F"/>
                          </a:solidFill>
                          <a:latin typeface="Arial"/>
                        </a:rPr>
                        <a:t>3.5</a:t>
                      </a:r>
                    </a:p>
                  </a:txBody>
                  <a:tcPr marL="54000" marR="54000" marT="18000" marB="18000" anchor="ctr">
                    <a:noFill/>
                  </a:tcPr>
                </a:tc>
                <a:tc>
                  <a:txBody>
                    <a:bodyPr wrap="square"/>
                    <a:lstStyle/>
                    <a:p>
                      <a:pPr algn="ctr"/>
                      <a:r>
                        <a:rPr sz="850" b="0">
                          <a:solidFill>
                            <a:srgbClr val="1F1F1F"/>
                          </a:solidFill>
                          <a:latin typeface="Arial"/>
                        </a:rPr>
                        <a:t>1.5</a:t>
                      </a:r>
                    </a:p>
                  </a:txBody>
                  <a:tcPr marL="54000" marR="54000" marT="18000" marB="18000" anchor="ctr">
                    <a:noFill/>
                  </a:tcPr>
                </a:tc>
                <a:tc>
                  <a:txBody>
                    <a:bodyPr wrap="square"/>
                    <a:lstStyle/>
                    <a:p>
                      <a:pPr algn="ctr"/>
                      <a:r>
                        <a:rPr sz="850" b="0">
                          <a:solidFill>
                            <a:srgbClr val="C00000"/>
                          </a:solidFill>
                          <a:latin typeface="Arial"/>
                        </a:rPr>
                        <a:t>−2.0</a:t>
                      </a:r>
                    </a:p>
                  </a:txBody>
                  <a:tcPr marL="54000" marR="54000" marT="18000" marB="18000" anchor="ctr">
                    <a:noFill/>
                  </a:tcPr>
                </a:tc>
                <a:tc>
                  <a:txBody>
                    <a:bodyPr wrap="square"/>
                    <a:lstStyle/>
                    <a:p>
                      <a:pPr algn="l"/>
                      <a:r>
                        <a:rPr sz="850" b="0">
                          <a:solidFill>
                            <a:srgbClr val="1F1F1F"/>
                          </a:solidFill>
                          <a:latin typeface="Arial"/>
                        </a:rPr>
                        <a:t>Confirmed defection</a:t>
                      </a:r>
                    </a:p>
                  </a:txBody>
                  <a:tcPr marL="54000" marR="54000" marT="18000" marB="18000" anchor="ctr">
                    <a:noFill/>
                  </a:tcPr>
                </a:tc>
              </a:tr>
              <a:tr h="330000">
                <a:tc>
                  <a:txBody>
                    <a:bodyPr wrap="square"/>
                    <a:lstStyle/>
                    <a:p>
                      <a:pPr algn="l"/>
                      <a:r>
                        <a:rPr sz="850" b="1">
                          <a:solidFill>
                            <a:srgbClr val="062552"/>
                          </a:solidFill>
                          <a:latin typeface="Arial"/>
                        </a:rPr>
                        <a:t>Clarendon Distillers Ltd</a:t>
                      </a:r>
                    </a:p>
                  </a:txBody>
                  <a:tcPr marL="54000" marR="54000" marT="18000" marB="18000" anchor="ctr">
                    <a:solidFill>
                      <a:srgbClr val="F3F6FB"/>
                    </a:solidFill>
                  </a:tcPr>
                </a:tc>
                <a:tc>
                  <a:txBody>
                    <a:bodyPr wrap="square"/>
                    <a:lstStyle/>
                    <a:p>
                      <a:pPr algn="l"/>
                      <a:r>
                        <a:rPr sz="850" b="0">
                          <a:solidFill>
                            <a:srgbClr val="1F1F1F"/>
                          </a:solidFill>
                          <a:latin typeface="Arial"/>
                        </a:rPr>
                        <a:t>Sharmica</a:t>
                      </a:r>
                    </a:p>
                  </a:txBody>
                  <a:tcPr marL="54000" marR="54000" marT="18000" marB="18000" anchor="ctr">
                    <a:solidFill>
                      <a:srgbClr val="F3F6FB"/>
                    </a:solidFill>
                  </a:tcPr>
                </a:tc>
                <a:tc>
                  <a:txBody>
                    <a:bodyPr wrap="square"/>
                    <a:lstStyle/>
                    <a:p>
                      <a:pPr algn="ctr"/>
                      <a:r>
                        <a:rPr sz="850" b="0">
                          <a:solidFill>
                            <a:srgbClr val="1F1F1F"/>
                          </a:solidFill>
                          <a:latin typeface="Arial"/>
                        </a:rPr>
                        <a:t>2.5</a:t>
                      </a:r>
                    </a:p>
                  </a:txBody>
                  <a:tcPr marL="54000" marR="54000" marT="18000" marB="18000" anchor="ctr">
                    <a:solidFill>
                      <a:srgbClr val="F3F6FB"/>
                    </a:solidFill>
                  </a:tcPr>
                </a:tc>
                <a:tc>
                  <a:txBody>
                    <a:bodyPr wrap="square"/>
                    <a:lstStyle/>
                    <a:p>
                      <a:pPr algn="ctr"/>
                      <a:r>
                        <a:rPr sz="850" b="0">
                          <a:solidFill>
                            <a:srgbClr val="1F1F1F"/>
                          </a:solidFill>
                          <a:latin typeface="Arial"/>
                        </a:rPr>
                        <a:t>0.7</a:t>
                      </a:r>
                    </a:p>
                  </a:txBody>
                  <a:tcPr marL="54000" marR="54000" marT="18000" marB="18000" anchor="ctr">
                    <a:solidFill>
                      <a:srgbClr val="F3F6FB"/>
                    </a:solidFill>
                  </a:tcPr>
                </a:tc>
                <a:tc>
                  <a:txBody>
                    <a:bodyPr wrap="square"/>
                    <a:lstStyle/>
                    <a:p>
                      <a:pPr algn="ctr"/>
                      <a:r>
                        <a:rPr sz="850" b="0">
                          <a:solidFill>
                            <a:srgbClr val="C00000"/>
                          </a:solidFill>
                          <a:latin typeface="Arial"/>
                        </a:rPr>
                        <a:t>−1.7</a:t>
                      </a:r>
                    </a:p>
                  </a:txBody>
                  <a:tcPr marL="54000" marR="54000" marT="18000" marB="18000" anchor="ctr">
                    <a:solidFill>
                      <a:srgbClr val="F3F6FB"/>
                    </a:solidFill>
                  </a:tcPr>
                </a:tc>
                <a:tc>
                  <a:txBody>
                    <a:bodyPr wrap="square"/>
                    <a:lstStyle/>
                    <a:p>
                      <a:pPr algn="l"/>
                      <a:r>
                        <a:rPr sz="850" b="0">
                          <a:solidFill>
                            <a:srgbClr val="1F1F1F"/>
                          </a:solidFill>
                          <a:latin typeface="Arial"/>
                        </a:rPr>
                        <a:t>Operational disruption (+1)</a:t>
                      </a:r>
                    </a:p>
                  </a:txBody>
                  <a:tcPr marL="54000" marR="54000" marT="18000" marB="18000" anchor="ctr">
                    <a:solidFill>
                      <a:srgbClr val="F3F6FB"/>
                    </a:solidFill>
                  </a:tcPr>
                </a:tc>
              </a:tr>
              <a:tr h="330000">
                <a:tc>
                  <a:txBody>
                    <a:bodyPr wrap="square"/>
                    <a:lstStyle/>
                    <a:p>
                      <a:pPr algn="l"/>
                      <a:r>
                        <a:rPr sz="850" b="1">
                          <a:solidFill>
                            <a:srgbClr val="062552"/>
                          </a:solidFill>
                          <a:latin typeface="Arial"/>
                        </a:rPr>
                        <a:t>Sutherland Global Services</a:t>
                      </a:r>
                    </a:p>
                  </a:txBody>
                  <a:tcPr marL="54000" marR="54000" marT="18000" marB="18000" anchor="ctr">
                    <a:noFill/>
                  </a:tcPr>
                </a:tc>
                <a:tc>
                  <a:txBody>
                    <a:bodyPr wrap="square"/>
                    <a:lstStyle/>
                    <a:p>
                      <a:pPr algn="l"/>
                      <a:r>
                        <a:rPr sz="850" b="0">
                          <a:solidFill>
                            <a:srgbClr val="1F1F1F"/>
                          </a:solidFill>
                          <a:latin typeface="Arial"/>
                        </a:rPr>
                        <a:t>Sheryl</a:t>
                      </a:r>
                    </a:p>
                  </a:txBody>
                  <a:tcPr marL="54000" marR="54000" marT="18000" marB="18000" anchor="ctr">
                    <a:noFill/>
                  </a:tcPr>
                </a:tc>
                <a:tc>
                  <a:txBody>
                    <a:bodyPr wrap="square"/>
                    <a:lstStyle/>
                    <a:p>
                      <a:pPr algn="ctr"/>
                      <a:r>
                        <a:rPr sz="850" b="0">
                          <a:solidFill>
                            <a:srgbClr val="1F1F1F"/>
                          </a:solidFill>
                          <a:latin typeface="Arial"/>
                        </a:rPr>
                        <a:t>3.2</a:t>
                      </a:r>
                    </a:p>
                  </a:txBody>
                  <a:tcPr marL="54000" marR="54000" marT="18000" marB="18000" anchor="ctr">
                    <a:noFill/>
                  </a:tcPr>
                </a:tc>
                <a:tc>
                  <a:txBody>
                    <a:bodyPr wrap="square"/>
                    <a:lstStyle/>
                    <a:p>
                      <a:pPr algn="ctr"/>
                      <a:r>
                        <a:rPr sz="850" b="0">
                          <a:solidFill>
                            <a:srgbClr val="1F1F1F"/>
                          </a:solidFill>
                          <a:latin typeface="Arial"/>
                        </a:rPr>
                        <a:t>2.2</a:t>
                      </a:r>
                    </a:p>
                  </a:txBody>
                  <a:tcPr marL="54000" marR="54000" marT="18000" marB="18000" anchor="ctr">
                    <a:noFill/>
                  </a:tcPr>
                </a:tc>
                <a:tc>
                  <a:txBody>
                    <a:bodyPr wrap="square"/>
                    <a:lstStyle/>
                    <a:p>
                      <a:pPr algn="ctr"/>
                      <a:r>
                        <a:rPr sz="850" b="0">
                          <a:solidFill>
                            <a:srgbClr val="C00000"/>
                          </a:solidFill>
                          <a:latin typeface="Arial"/>
                        </a:rPr>
                        <a:t>−1.0</a:t>
                      </a:r>
                    </a:p>
                  </a:txBody>
                  <a:tcPr marL="54000" marR="54000" marT="18000" marB="18000" anchor="ctr">
                    <a:noFill/>
                  </a:tcPr>
                </a:tc>
                <a:tc>
                  <a:txBody>
                    <a:bodyPr wrap="square"/>
                    <a:lstStyle/>
                    <a:p>
                      <a:pPr algn="l"/>
                      <a:r>
                        <a:rPr sz="850" b="0">
                          <a:solidFill>
                            <a:srgbClr val="1F1F1F"/>
                          </a:solidFill>
                          <a:latin typeface="Arial"/>
                        </a:rPr>
                        <a:t>Confirmed defection</a:t>
                      </a:r>
                    </a:p>
                  </a:txBody>
                  <a:tcPr marL="54000" marR="54000" marT="18000" marB="18000" anchor="ctr">
                    <a:noFill/>
                  </a:tcPr>
                </a:tc>
              </a:tr>
              <a:tr h="330000">
                <a:tc>
                  <a:txBody>
                    <a:bodyPr wrap="square"/>
                    <a:lstStyle/>
                    <a:p>
                      <a:pPr algn="l"/>
                      <a:r>
                        <a:rPr sz="850" b="1">
                          <a:solidFill>
                            <a:srgbClr val="062552"/>
                          </a:solidFill>
                          <a:latin typeface="Arial"/>
                        </a:rPr>
                        <a:t>Ibex Global Jamaica</a:t>
                      </a:r>
                    </a:p>
                  </a:txBody>
                  <a:tcPr marL="54000" marR="54000" marT="18000" marB="18000" anchor="ctr">
                    <a:solidFill>
                      <a:srgbClr val="F3F6FB"/>
                    </a:solidFill>
                  </a:tcPr>
                </a:tc>
                <a:tc>
                  <a:txBody>
                    <a:bodyPr wrap="square"/>
                    <a:lstStyle/>
                    <a:p>
                      <a:pPr algn="l"/>
                      <a:r>
                        <a:rPr sz="850" b="0">
                          <a:solidFill>
                            <a:srgbClr val="1F1F1F"/>
                          </a:solidFill>
                          <a:latin typeface="Arial"/>
                        </a:rPr>
                        <a:t>Tanya</a:t>
                      </a:r>
                    </a:p>
                  </a:txBody>
                  <a:tcPr marL="54000" marR="54000" marT="18000" marB="18000" anchor="ctr">
                    <a:solidFill>
                      <a:srgbClr val="F3F6FB"/>
                    </a:solidFill>
                  </a:tcPr>
                </a:tc>
                <a:tc>
                  <a:txBody>
                    <a:bodyPr wrap="square"/>
                    <a:lstStyle/>
                    <a:p>
                      <a:pPr algn="ctr"/>
                      <a:r>
                        <a:rPr sz="850" b="0">
                          <a:solidFill>
                            <a:srgbClr val="1F1F1F"/>
                          </a:solidFill>
                          <a:latin typeface="Arial"/>
                        </a:rPr>
                        <a:t>5.8</a:t>
                      </a:r>
                    </a:p>
                  </a:txBody>
                  <a:tcPr marL="54000" marR="54000" marT="18000" marB="18000" anchor="ctr">
                    <a:solidFill>
                      <a:srgbClr val="F3F6FB"/>
                    </a:solidFill>
                  </a:tcPr>
                </a:tc>
                <a:tc>
                  <a:txBody>
                    <a:bodyPr wrap="square"/>
                    <a:lstStyle/>
                    <a:p>
                      <a:pPr algn="ctr"/>
                      <a:r>
                        <a:rPr sz="850" b="0">
                          <a:solidFill>
                            <a:srgbClr val="1F1F1F"/>
                          </a:solidFill>
                          <a:latin typeface="Arial"/>
                        </a:rPr>
                        <a:t>4.9</a:t>
                      </a:r>
                    </a:p>
                  </a:txBody>
                  <a:tcPr marL="54000" marR="54000" marT="18000" marB="18000" anchor="ctr">
                    <a:solidFill>
                      <a:srgbClr val="F3F6FB"/>
                    </a:solidFill>
                  </a:tcPr>
                </a:tc>
                <a:tc>
                  <a:txBody>
                    <a:bodyPr wrap="square"/>
                    <a:lstStyle/>
                    <a:p>
                      <a:pPr algn="ctr"/>
                      <a:r>
                        <a:rPr sz="850" b="0">
                          <a:solidFill>
                            <a:srgbClr val="C00000"/>
                          </a:solidFill>
                          <a:latin typeface="Arial"/>
                        </a:rPr>
                        <a:t>−0.9</a:t>
                      </a:r>
                    </a:p>
                  </a:txBody>
                  <a:tcPr marL="54000" marR="54000" marT="18000" marB="18000" anchor="ctr">
                    <a:solidFill>
                      <a:srgbClr val="F3F6FB"/>
                    </a:solidFill>
                  </a:tcPr>
                </a:tc>
                <a:tc>
                  <a:txBody>
                    <a:bodyPr wrap="square"/>
                    <a:lstStyle/>
                    <a:p>
                      <a:pPr algn="l"/>
                      <a:r>
                        <a:rPr sz="850" b="0">
                          <a:solidFill>
                            <a:srgbClr val="1F1F1F"/>
                          </a:solidFill>
                          <a:latin typeface="Arial"/>
                        </a:rPr>
                        <a:t>No adjustment on file</a:t>
                      </a:r>
                    </a:p>
                  </a:txBody>
                  <a:tcPr marL="54000" marR="54000" marT="18000" marB="18000" anchor="ctr">
                    <a:solidFill>
                      <a:srgbClr val="F3F6FB"/>
                    </a:solidFill>
                  </a:tcPr>
                </a:tc>
              </a:tr>
            </a:tbl>
          </a:graphicData>
        </a:graphic>
      </p:graphicFrame>
      <p:sp>
        <p:nvSpPr>
          <p:cNvPr id="11" name="Rectangle 10"/>
          <p:cNvSpPr/>
          <p:nvPr/>
        </p:nvSpPr>
        <p:spPr>
          <a:xfrm>
            <a:off x="274320" y="5500000"/>
            <a:ext cx="11650000" cy="70000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5500000"/>
            <a:ext cx="54000" cy="700000"/>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20" y="5580000"/>
            <a:ext cx="11390000" cy="580000"/>
          </a:xfrm>
          <a:prstGeom prst="rect">
            <a:avLst/>
          </a:prstGeom>
          <a:noFill/>
        </p:spPr>
        <p:txBody>
          <a:bodyPr wrap="square" lIns="0" rIns="0" tIns="0" bIns="0" anchor="t">
            <a:spAutoFit/>
          </a:bodyPr>
          <a:lstStyle/>
          <a:p>
            <a:pPr algn="l"/>
            <a:r>
              <a:rPr sz="1050" b="1">
                <a:solidFill>
                  <a:srgbClr val="062552"/>
                </a:solidFill>
                <a:latin typeface="Arial"/>
              </a:rPr>
              <a:t>To check. </a:t>
            </a:r>
            <a:r>
              <a:rPr sz="1050" b="0">
                <a:solidFill>
                  <a:srgbClr val="1F1F1F"/>
                </a:solidFill>
                <a:latin typeface="Arial"/>
              </a:rPr>
              <a:t>Any customer growing or falling by several GWh with no adjustment on file is a prompt for a conversation. Is it a rolling-average effect, or something you know about that we do 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What Is On File</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84 adjustments on 60 accounts take 47 GWh out of FY2027</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Adjustment register as at 26 October 2026: 187 monthly entries, grouped into 84 adjustments.</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6</a:t>
            </a:r>
          </a:p>
        </p:txBody>
      </p:sp>
      <p:sp>
        <p:nvSpPr>
          <p:cNvPr id="7" name="Rectangle 6"/>
          <p:cNvSpPr/>
          <p:nvPr/>
        </p:nvSpPr>
        <p:spPr>
          <a:xfrm>
            <a:off x="274320" y="1950000"/>
            <a:ext cx="2800000" cy="170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950000"/>
            <a:ext cx="2800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4320" y="2060000"/>
            <a:ext cx="2540000" cy="170000"/>
          </a:xfrm>
          <a:prstGeom prst="rect">
            <a:avLst/>
          </a:prstGeom>
          <a:noFill/>
        </p:spPr>
        <p:txBody>
          <a:bodyPr wrap="square" lIns="0" rIns="0" tIns="0" bIns="0" anchor="t">
            <a:spAutoFit/>
          </a:bodyPr>
          <a:lstStyle/>
          <a:p>
            <a:pPr algn="l"/>
            <a:r>
              <a:rPr sz="900" b="1">
                <a:solidFill>
                  <a:srgbClr val="66788A"/>
                </a:solidFill>
                <a:latin typeface="Arial"/>
              </a:rPr>
              <a:t>MONTHLY ENTRIES ON FILE</a:t>
            </a:r>
          </a:p>
        </p:txBody>
      </p:sp>
      <p:sp>
        <p:nvSpPr>
          <p:cNvPr id="10" name="TextBox 9"/>
          <p:cNvSpPr txBox="1"/>
          <p:nvPr/>
        </p:nvSpPr>
        <p:spPr>
          <a:xfrm>
            <a:off x="404320" y="2280000"/>
            <a:ext cx="2540000" cy="420000"/>
          </a:xfrm>
          <a:prstGeom prst="rect">
            <a:avLst/>
          </a:prstGeom>
          <a:noFill/>
        </p:spPr>
        <p:txBody>
          <a:bodyPr wrap="square" lIns="0" rIns="0" tIns="0" bIns="0" anchor="t">
            <a:spAutoFit/>
          </a:bodyPr>
          <a:lstStyle/>
          <a:p>
            <a:pPr algn="l"/>
            <a:r>
              <a:rPr sz="2200" b="1">
                <a:solidFill>
                  <a:srgbClr val="062552"/>
                </a:solidFill>
                <a:latin typeface="Arial"/>
              </a:rPr>
              <a:t>187</a:t>
            </a:r>
          </a:p>
        </p:txBody>
      </p:sp>
      <p:sp>
        <p:nvSpPr>
          <p:cNvPr id="11" name="TextBox 10"/>
          <p:cNvSpPr txBox="1"/>
          <p:nvPr/>
        </p:nvSpPr>
        <p:spPr>
          <a:xfrm>
            <a:off x="404320" y="2750000"/>
            <a:ext cx="2540000" cy="850000"/>
          </a:xfrm>
          <a:prstGeom prst="rect">
            <a:avLst/>
          </a:prstGeom>
          <a:noFill/>
        </p:spPr>
        <p:txBody>
          <a:bodyPr wrap="square" lIns="0" rIns="0" tIns="0" bIns="0" anchor="t">
            <a:spAutoFit/>
          </a:bodyPr>
          <a:lstStyle/>
          <a:p>
            <a:pPr algn="l"/>
            <a:r>
              <a:rPr sz="950" b="0">
                <a:solidFill>
                  <a:srgbClr val="1F1F1F"/>
                </a:solidFill>
                <a:latin typeface="Arial"/>
              </a:rPr>
              <a:t>84 adjustments, of which 75 run from October 2026 onward.</a:t>
            </a:r>
          </a:p>
        </p:txBody>
      </p:sp>
      <p:sp>
        <p:nvSpPr>
          <p:cNvPr id="12" name="Rectangle 11"/>
          <p:cNvSpPr/>
          <p:nvPr/>
        </p:nvSpPr>
        <p:spPr>
          <a:xfrm>
            <a:off x="3224320" y="1950000"/>
            <a:ext cx="2800000" cy="170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4320" y="1950000"/>
            <a:ext cx="2800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4320" y="2060000"/>
            <a:ext cx="2540000" cy="170000"/>
          </a:xfrm>
          <a:prstGeom prst="rect">
            <a:avLst/>
          </a:prstGeom>
          <a:noFill/>
        </p:spPr>
        <p:txBody>
          <a:bodyPr wrap="square" lIns="0" rIns="0" tIns="0" bIns="0" anchor="t">
            <a:spAutoFit/>
          </a:bodyPr>
          <a:lstStyle/>
          <a:p>
            <a:pPr algn="l"/>
            <a:r>
              <a:rPr sz="900" b="1">
                <a:solidFill>
                  <a:srgbClr val="66788A"/>
                </a:solidFill>
                <a:latin typeface="Arial"/>
              </a:rPr>
              <a:t>ENTERED BY KAMS</a:t>
            </a:r>
          </a:p>
        </p:txBody>
      </p:sp>
      <p:sp>
        <p:nvSpPr>
          <p:cNvPr id="15" name="TextBox 14"/>
          <p:cNvSpPr txBox="1"/>
          <p:nvPr/>
        </p:nvSpPr>
        <p:spPr>
          <a:xfrm>
            <a:off x="3354320" y="2280000"/>
            <a:ext cx="2540000" cy="420000"/>
          </a:xfrm>
          <a:prstGeom prst="rect">
            <a:avLst/>
          </a:prstGeom>
          <a:noFill/>
        </p:spPr>
        <p:txBody>
          <a:bodyPr wrap="square" lIns="0" rIns="0" tIns="0" bIns="0" anchor="t">
            <a:spAutoFit/>
          </a:bodyPr>
          <a:lstStyle/>
          <a:p>
            <a:pPr algn="l"/>
            <a:r>
              <a:rPr sz="2200" b="1">
                <a:solidFill>
                  <a:srgbClr val="062552"/>
                </a:solidFill>
                <a:latin typeface="Arial"/>
              </a:rPr>
              <a:t>54</a:t>
            </a:r>
          </a:p>
        </p:txBody>
      </p:sp>
      <p:sp>
        <p:nvSpPr>
          <p:cNvPr id="16" name="TextBox 15"/>
          <p:cNvSpPr txBox="1"/>
          <p:nvPr/>
        </p:nvSpPr>
        <p:spPr>
          <a:xfrm>
            <a:off x="3354320" y="2750000"/>
            <a:ext cx="2540000" cy="850000"/>
          </a:xfrm>
          <a:prstGeom prst="rect">
            <a:avLst/>
          </a:prstGeom>
          <a:noFill/>
        </p:spPr>
        <p:txBody>
          <a:bodyPr wrap="square" lIns="0" rIns="0" tIns="0" bIns="0" anchor="t">
            <a:spAutoFit/>
          </a:bodyPr>
          <a:lstStyle/>
          <a:p>
            <a:pPr algn="l"/>
            <a:r>
              <a:rPr sz="950" b="0">
                <a:solidFill>
                  <a:srgbClr val="1F1F1F"/>
                </a:solidFill>
                <a:latin typeface="Arial"/>
              </a:rPr>
              <a:t>Monthly entries. The other 133 were entered by Sales Forecasting.</a:t>
            </a:r>
          </a:p>
        </p:txBody>
      </p:sp>
      <p:sp>
        <p:nvSpPr>
          <p:cNvPr id="17" name="Rectangle 16"/>
          <p:cNvSpPr/>
          <p:nvPr/>
        </p:nvSpPr>
        <p:spPr>
          <a:xfrm>
            <a:off x="6174320" y="1950000"/>
            <a:ext cx="2800000" cy="170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4320" y="1950000"/>
            <a:ext cx="2800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4320" y="2060000"/>
            <a:ext cx="2540000" cy="170000"/>
          </a:xfrm>
          <a:prstGeom prst="rect">
            <a:avLst/>
          </a:prstGeom>
          <a:noFill/>
        </p:spPr>
        <p:txBody>
          <a:bodyPr wrap="square" lIns="0" rIns="0" tIns="0" bIns="0" anchor="t">
            <a:spAutoFit/>
          </a:bodyPr>
          <a:lstStyle/>
          <a:p>
            <a:pPr algn="l"/>
            <a:r>
              <a:rPr sz="900" b="1">
                <a:solidFill>
                  <a:srgbClr val="66788A"/>
                </a:solidFill>
                <a:latin typeface="Arial"/>
              </a:rPr>
              <a:t>ENTRIES WITH NO VALUE</a:t>
            </a:r>
          </a:p>
        </p:txBody>
      </p:sp>
      <p:sp>
        <p:nvSpPr>
          <p:cNvPr id="20" name="TextBox 19"/>
          <p:cNvSpPr txBox="1"/>
          <p:nvPr/>
        </p:nvSpPr>
        <p:spPr>
          <a:xfrm>
            <a:off x="6304320" y="2280000"/>
            <a:ext cx="2540000" cy="420000"/>
          </a:xfrm>
          <a:prstGeom prst="rect">
            <a:avLst/>
          </a:prstGeom>
          <a:noFill/>
        </p:spPr>
        <p:txBody>
          <a:bodyPr wrap="square" lIns="0" rIns="0" tIns="0" bIns="0" anchor="t">
            <a:spAutoFit/>
          </a:bodyPr>
          <a:lstStyle/>
          <a:p>
            <a:pPr algn="l"/>
            <a:r>
              <a:rPr sz="2200" b="1">
                <a:solidFill>
                  <a:srgbClr val="062552"/>
                </a:solidFill>
                <a:latin typeface="Arial"/>
              </a:rPr>
              <a:t>7</a:t>
            </a:r>
          </a:p>
        </p:txBody>
      </p:sp>
      <p:sp>
        <p:nvSpPr>
          <p:cNvPr id="21" name="TextBox 20"/>
          <p:cNvSpPr txBox="1"/>
          <p:nvPr/>
        </p:nvSpPr>
        <p:spPr>
          <a:xfrm>
            <a:off x="6304320" y="2750000"/>
            <a:ext cx="2540000" cy="850000"/>
          </a:xfrm>
          <a:prstGeom prst="rect">
            <a:avLst/>
          </a:prstGeom>
          <a:noFill/>
        </p:spPr>
        <p:txBody>
          <a:bodyPr wrap="square" lIns="0" rIns="0" tIns="0" bIns="0" anchor="t">
            <a:spAutoFit/>
          </a:bodyPr>
          <a:lstStyle/>
          <a:p>
            <a:pPr algn="l"/>
            <a:r>
              <a:rPr sz="950" b="0">
                <a:solidFill>
                  <a:srgbClr val="1F1F1F"/>
                </a:solidFill>
                <a:latin typeface="Arial"/>
              </a:rPr>
              <a:t>On 6 accounts every entry is 0% and 0 kWh, so nothing changes. Three are possible defections on accounts with no KAM.</a:t>
            </a:r>
          </a:p>
        </p:txBody>
      </p:sp>
      <p:sp>
        <p:nvSpPr>
          <p:cNvPr id="22" name="Rectangle 21"/>
          <p:cNvSpPr/>
          <p:nvPr/>
        </p:nvSpPr>
        <p:spPr>
          <a:xfrm>
            <a:off x="9124320" y="1950000"/>
            <a:ext cx="2800000" cy="170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24320" y="1950000"/>
            <a:ext cx="2800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54320" y="2060000"/>
            <a:ext cx="2540000" cy="170000"/>
          </a:xfrm>
          <a:prstGeom prst="rect">
            <a:avLst/>
          </a:prstGeom>
          <a:noFill/>
        </p:spPr>
        <p:txBody>
          <a:bodyPr wrap="square" lIns="0" rIns="0" tIns="0" bIns="0" anchor="t">
            <a:spAutoFit/>
          </a:bodyPr>
          <a:lstStyle/>
          <a:p>
            <a:pPr algn="l"/>
            <a:r>
              <a:rPr sz="900" b="1">
                <a:solidFill>
                  <a:srgbClr val="66788A"/>
                </a:solidFill>
                <a:latin typeface="Arial"/>
              </a:rPr>
              <a:t>EFFECT ON FY2027</a:t>
            </a:r>
          </a:p>
        </p:txBody>
      </p:sp>
      <p:sp>
        <p:nvSpPr>
          <p:cNvPr id="25" name="TextBox 24"/>
          <p:cNvSpPr txBox="1"/>
          <p:nvPr/>
        </p:nvSpPr>
        <p:spPr>
          <a:xfrm>
            <a:off x="9254320" y="2280000"/>
            <a:ext cx="2540000" cy="420000"/>
          </a:xfrm>
          <a:prstGeom prst="rect">
            <a:avLst/>
          </a:prstGeom>
          <a:noFill/>
        </p:spPr>
        <p:txBody>
          <a:bodyPr wrap="square" lIns="0" rIns="0" tIns="0" bIns="0" anchor="t">
            <a:spAutoFit/>
          </a:bodyPr>
          <a:lstStyle/>
          <a:p>
            <a:pPr algn="l"/>
            <a:r>
              <a:rPr sz="2200" b="1">
                <a:solidFill>
                  <a:srgbClr val="062552"/>
                </a:solidFill>
                <a:latin typeface="Arial"/>
              </a:rPr>
              <a:t>−47 GWh</a:t>
            </a:r>
          </a:p>
        </p:txBody>
      </p:sp>
      <p:sp>
        <p:nvSpPr>
          <p:cNvPr id="26" name="TextBox 25"/>
          <p:cNvSpPr txBox="1"/>
          <p:nvPr/>
        </p:nvSpPr>
        <p:spPr>
          <a:xfrm>
            <a:off x="9254320" y="2750000"/>
            <a:ext cx="2540000" cy="850000"/>
          </a:xfrm>
          <a:prstGeom prst="rect">
            <a:avLst/>
          </a:prstGeom>
          <a:noFill/>
        </p:spPr>
        <p:txBody>
          <a:bodyPr wrap="square" lIns="0" rIns="0" tIns="0" bIns="0" anchor="t">
            <a:spAutoFit/>
          </a:bodyPr>
          <a:lstStyle/>
          <a:p>
            <a:pPr algn="l"/>
            <a:r>
              <a:rPr sz="950" b="0">
                <a:solidFill>
                  <a:srgbClr val="1F1F1F"/>
                </a:solidFill>
                <a:latin typeface="Arial"/>
              </a:rPr>
              <a:t>Across the assigned accounts, against the forecast with no adjustments.</a:t>
            </a:r>
          </a:p>
        </p:txBody>
      </p:sp>
      <p:graphicFrame>
        <p:nvGraphicFramePr>
          <p:cNvPr id="27" name="Table 26"/>
          <p:cNvGraphicFramePr>
            <a:graphicFrameLocks noGrp="1"/>
          </p:cNvGraphicFramePr>
          <p:nvPr/>
        </p:nvGraphicFramePr>
        <p:xfrm>
          <a:off x="274320" y="3850000"/>
          <a:ext cx="5199998" cy="2060000"/>
        </p:xfrm>
        <a:graphic>
          <a:graphicData uri="http://schemas.openxmlformats.org/drawingml/2006/table">
            <a:tbl>
              <a:tblPr firstRow="0" bandRow="0">
                <a:tableStyleId>{5940675A-B579-460E-94D1-54222C63F5DA}</a:tableStyleId>
              </a:tblPr>
              <a:tblGrid>
                <a:gridCol w="2311111"/>
                <a:gridCol w="962962"/>
                <a:gridCol w="1155555"/>
                <a:gridCol w="770370"/>
              </a:tblGrid>
              <a:tr h="320000">
                <a:tc>
                  <a:txBody>
                    <a:bodyPr wrap="square"/>
                    <a:lstStyle/>
                    <a:p>
                      <a:pPr algn="l"/>
                      <a:r>
                        <a:rPr sz="900" b="1">
                          <a:solidFill>
                            <a:srgbClr val="FFFFFF"/>
                          </a:solidFill>
                          <a:latin typeface="Arial"/>
                        </a:rPr>
                        <a:t>Reason</a:t>
                      </a:r>
                    </a:p>
                  </a:txBody>
                  <a:tcPr marL="54000" marR="54000" marT="18000" marB="18000" anchor="ctr">
                    <a:solidFill>
                      <a:srgbClr val="062552"/>
                    </a:solidFill>
                  </a:tcPr>
                </a:tc>
                <a:tc>
                  <a:txBody>
                    <a:bodyPr wrap="square"/>
                    <a:lstStyle/>
                    <a:p>
                      <a:pPr algn="ctr"/>
                      <a:r>
                        <a:rPr sz="900" b="1">
                          <a:solidFill>
                            <a:srgbClr val="FFFFFF"/>
                          </a:solidFill>
                          <a:latin typeface="Arial"/>
                        </a:rPr>
                        <a:t>By KAM</a:t>
                      </a:r>
                    </a:p>
                  </a:txBody>
                  <a:tcPr marL="54000" marR="54000" marT="18000" marB="18000" anchor="ctr">
                    <a:solidFill>
                      <a:srgbClr val="062552"/>
                    </a:solidFill>
                  </a:tcPr>
                </a:tc>
                <a:tc>
                  <a:txBody>
                    <a:bodyPr wrap="square"/>
                    <a:lstStyle/>
                    <a:p>
                      <a:pPr algn="ctr"/>
                      <a:r>
                        <a:rPr sz="900" b="1">
                          <a:solidFill>
                            <a:srgbClr val="FFFFFF"/>
                          </a:solidFill>
                          <a:latin typeface="Arial"/>
                        </a:rPr>
                        <a:t>By Sales Forecasting</a:t>
                      </a:r>
                    </a:p>
                  </a:txBody>
                  <a:tcPr marL="54000" marR="54000" marT="18000" marB="18000" anchor="ctr">
                    <a:solidFill>
                      <a:srgbClr val="062552"/>
                    </a:solidFill>
                  </a:tcPr>
                </a:tc>
                <a:tc>
                  <a:txBody>
                    <a:bodyPr wrap="square"/>
                    <a:lstStyle/>
                    <a:p>
                      <a:pPr algn="ctr"/>
                      <a:r>
                        <a:rPr sz="900" b="1">
                          <a:solidFill>
                            <a:srgbClr val="FFFFFF"/>
                          </a:solidFill>
                          <a:latin typeface="Arial"/>
                        </a:rPr>
                        <a:t>Total</a:t>
                      </a:r>
                    </a:p>
                  </a:txBody>
                  <a:tcPr marL="54000" marR="54000" marT="18000" marB="18000" anchor="ctr">
                    <a:solidFill>
                      <a:srgbClr val="062552"/>
                    </a:solidFill>
                  </a:tcPr>
                </a:tc>
              </a:tr>
              <a:tr h="290000">
                <a:tc>
                  <a:txBody>
                    <a:bodyPr wrap="square"/>
                    <a:lstStyle/>
                    <a:p>
                      <a:pPr algn="l"/>
                      <a:r>
                        <a:rPr sz="900" b="1">
                          <a:solidFill>
                            <a:srgbClr val="062552"/>
                          </a:solidFill>
                          <a:latin typeface="Arial"/>
                        </a:rPr>
                        <a:t>Operational disruption</a:t>
                      </a:r>
                    </a:p>
                  </a:txBody>
                  <a:tcPr marL="54000" marR="54000" marT="18000" marB="18000" anchor="ctr">
                    <a:noFill/>
                  </a:tcPr>
                </a:tc>
                <a:tc>
                  <a:txBody>
                    <a:bodyPr wrap="square"/>
                    <a:lstStyle/>
                    <a:p>
                      <a:pPr algn="ctr"/>
                      <a:r>
                        <a:rPr sz="900" b="0">
                          <a:solidFill>
                            <a:srgbClr val="1F1F1F"/>
                          </a:solidFill>
                          <a:latin typeface="Arial"/>
                        </a:rPr>
                        <a:t>4</a:t>
                      </a:r>
                    </a:p>
                  </a:txBody>
                  <a:tcPr marL="54000" marR="54000" marT="18000" marB="18000" anchor="ctr">
                    <a:noFill/>
                  </a:tcPr>
                </a:tc>
                <a:tc>
                  <a:txBody>
                    <a:bodyPr wrap="square"/>
                    <a:lstStyle/>
                    <a:p>
                      <a:pPr algn="ctr"/>
                      <a:r>
                        <a:rPr sz="900" b="0">
                          <a:solidFill>
                            <a:srgbClr val="1F1F1F"/>
                          </a:solidFill>
                          <a:latin typeface="Arial"/>
                        </a:rPr>
                        <a:t>98</a:t>
                      </a:r>
                    </a:p>
                  </a:txBody>
                  <a:tcPr marL="54000" marR="54000" marT="18000" marB="18000" anchor="ctr">
                    <a:noFill/>
                  </a:tcPr>
                </a:tc>
                <a:tc>
                  <a:txBody>
                    <a:bodyPr wrap="square"/>
                    <a:lstStyle/>
                    <a:p>
                      <a:pPr algn="ctr"/>
                      <a:r>
                        <a:rPr sz="900" b="0">
                          <a:solidFill>
                            <a:srgbClr val="1F1F1F"/>
                          </a:solidFill>
                          <a:latin typeface="Arial"/>
                        </a:rPr>
                        <a:t>102</a:t>
                      </a:r>
                    </a:p>
                  </a:txBody>
                  <a:tcPr marL="54000" marR="54000" marT="18000" marB="18000" anchor="ctr">
                    <a:noFill/>
                  </a:tcPr>
                </a:tc>
              </a:tr>
              <a:tr h="290000">
                <a:tc>
                  <a:txBody>
                    <a:bodyPr wrap="square"/>
                    <a:lstStyle/>
                    <a:p>
                      <a:pPr algn="l"/>
                      <a:r>
                        <a:rPr sz="900" b="1">
                          <a:solidFill>
                            <a:srgbClr val="062552"/>
                          </a:solidFill>
                          <a:latin typeface="Arial"/>
                        </a:rPr>
                        <a:t>Confirmed defection</a:t>
                      </a:r>
                    </a:p>
                  </a:txBody>
                  <a:tcPr marL="54000" marR="54000" marT="18000" marB="18000" anchor="ctr">
                    <a:solidFill>
                      <a:srgbClr val="F3F6FB"/>
                    </a:solidFill>
                  </a:tcPr>
                </a:tc>
                <a:tc>
                  <a:txBody>
                    <a:bodyPr wrap="square"/>
                    <a:lstStyle/>
                    <a:p>
                      <a:pPr algn="ctr"/>
                      <a:r>
                        <a:rPr sz="900" b="0">
                          <a:solidFill>
                            <a:srgbClr val="1F1F1F"/>
                          </a:solidFill>
                          <a:latin typeface="Arial"/>
                        </a:rPr>
                        <a:t>2</a:t>
                      </a:r>
                    </a:p>
                  </a:txBody>
                  <a:tcPr marL="54000" marR="54000" marT="18000" marB="18000" anchor="ctr">
                    <a:solidFill>
                      <a:srgbClr val="F3F6FB"/>
                    </a:solidFill>
                  </a:tcPr>
                </a:tc>
                <a:tc>
                  <a:txBody>
                    <a:bodyPr wrap="square"/>
                    <a:lstStyle/>
                    <a:p>
                      <a:pPr algn="ctr"/>
                      <a:r>
                        <a:rPr sz="900" b="0">
                          <a:solidFill>
                            <a:srgbClr val="1F1F1F"/>
                          </a:solidFill>
                          <a:latin typeface="Arial"/>
                        </a:rPr>
                        <a:t>31</a:t>
                      </a:r>
                    </a:p>
                  </a:txBody>
                  <a:tcPr marL="54000" marR="54000" marT="18000" marB="18000" anchor="ctr">
                    <a:solidFill>
                      <a:srgbClr val="F3F6FB"/>
                    </a:solidFill>
                  </a:tcPr>
                </a:tc>
                <a:tc>
                  <a:txBody>
                    <a:bodyPr wrap="square"/>
                    <a:lstStyle/>
                    <a:p>
                      <a:pPr algn="ctr"/>
                      <a:r>
                        <a:rPr sz="900" b="0">
                          <a:solidFill>
                            <a:srgbClr val="1F1F1F"/>
                          </a:solidFill>
                          <a:latin typeface="Arial"/>
                        </a:rPr>
                        <a:t>33</a:t>
                      </a:r>
                    </a:p>
                  </a:txBody>
                  <a:tcPr marL="54000" marR="54000" marT="18000" marB="18000" anchor="ctr">
                    <a:solidFill>
                      <a:srgbClr val="F3F6FB"/>
                    </a:solidFill>
                  </a:tcPr>
                </a:tc>
              </a:tr>
              <a:tr h="290000">
                <a:tc>
                  <a:txBody>
                    <a:bodyPr wrap="square"/>
                    <a:lstStyle/>
                    <a:p>
                      <a:pPr algn="l"/>
                      <a:r>
                        <a:rPr sz="900" b="1">
                          <a:solidFill>
                            <a:srgbClr val="062552"/>
                          </a:solidFill>
                          <a:latin typeface="Arial"/>
                        </a:rPr>
                        <a:t>Expansion</a:t>
                      </a:r>
                    </a:p>
                  </a:txBody>
                  <a:tcPr marL="54000" marR="54000" marT="18000" marB="18000" anchor="ctr">
                    <a:noFill/>
                  </a:tcPr>
                </a:tc>
                <a:tc>
                  <a:txBody>
                    <a:bodyPr wrap="square"/>
                    <a:lstStyle/>
                    <a:p>
                      <a:pPr algn="ctr"/>
                      <a:r>
                        <a:rPr sz="900" b="0">
                          <a:solidFill>
                            <a:srgbClr val="1F1F1F"/>
                          </a:solidFill>
                          <a:latin typeface="Arial"/>
                        </a:rPr>
                        <a:t>24</a:t>
                      </a:r>
                    </a:p>
                  </a:txBody>
                  <a:tcPr marL="54000" marR="54000" marT="18000" marB="18000" anchor="ctr">
                    <a:noFill/>
                  </a:tcPr>
                </a:tc>
                <a:tc>
                  <a:txBody>
                    <a:bodyPr wrap="square"/>
                    <a:lstStyle/>
                    <a:p>
                      <a:pPr algn="ctr"/>
                      <a:r>
                        <a:rPr sz="900" b="0">
                          <a:solidFill>
                            <a:srgbClr val="1F1F1F"/>
                          </a:solidFill>
                          <a:latin typeface="Arial"/>
                        </a:rPr>
                        <a:t>1</a:t>
                      </a:r>
                    </a:p>
                  </a:txBody>
                  <a:tcPr marL="54000" marR="54000" marT="18000" marB="18000" anchor="ctr">
                    <a:noFill/>
                  </a:tcPr>
                </a:tc>
                <a:tc>
                  <a:txBody>
                    <a:bodyPr wrap="square"/>
                    <a:lstStyle/>
                    <a:p>
                      <a:pPr algn="ctr"/>
                      <a:r>
                        <a:rPr sz="900" b="0">
                          <a:solidFill>
                            <a:srgbClr val="1F1F1F"/>
                          </a:solidFill>
                          <a:latin typeface="Arial"/>
                        </a:rPr>
                        <a:t>25</a:t>
                      </a:r>
                    </a:p>
                  </a:txBody>
                  <a:tcPr marL="54000" marR="54000" marT="18000" marB="18000" anchor="ctr">
                    <a:noFill/>
                  </a:tcPr>
                </a:tc>
              </a:tr>
              <a:tr h="290000">
                <a:tc>
                  <a:txBody>
                    <a:bodyPr wrap="square"/>
                    <a:lstStyle/>
                    <a:p>
                      <a:pPr algn="l"/>
                      <a:r>
                        <a:rPr sz="900" b="1">
                          <a:solidFill>
                            <a:srgbClr val="062552"/>
                          </a:solidFill>
                          <a:latin typeface="Arial"/>
                        </a:rPr>
                        <a:t>Possible defection</a:t>
                      </a:r>
                    </a:p>
                  </a:txBody>
                  <a:tcPr marL="54000" marR="54000" marT="18000" marB="18000" anchor="ctr">
                    <a:solidFill>
                      <a:srgbClr val="F3F6FB"/>
                    </a:solidFill>
                  </a:tcPr>
                </a:tc>
                <a:tc>
                  <a:txBody>
                    <a:bodyPr wrap="square"/>
                    <a:lstStyle/>
                    <a:p>
                      <a:pPr algn="ctr"/>
                      <a:r>
                        <a:rPr sz="900" b="0">
                          <a:solidFill>
                            <a:srgbClr val="1F1F1F"/>
                          </a:solidFill>
                          <a:latin typeface="Arial"/>
                        </a:rPr>
                        <a:t>15</a:t>
                      </a:r>
                    </a:p>
                  </a:txBody>
                  <a:tcPr marL="54000" marR="54000" marT="18000" marB="18000" anchor="ctr">
                    <a:solidFill>
                      <a:srgbClr val="F3F6FB"/>
                    </a:solidFill>
                  </a:tcPr>
                </a:tc>
                <a:tc>
                  <a:txBody>
                    <a:bodyPr wrap="square"/>
                    <a:lstStyle/>
                    <a:p>
                      <a:pPr algn="ctr"/>
                      <a:r>
                        <a:rPr sz="900" b="0">
                          <a:solidFill>
                            <a:srgbClr val="1F1F1F"/>
                          </a:solidFill>
                          <a:latin typeface="Arial"/>
                        </a:rPr>
                        <a:t>3</a:t>
                      </a:r>
                    </a:p>
                  </a:txBody>
                  <a:tcPr marL="54000" marR="54000" marT="18000" marB="18000" anchor="ctr">
                    <a:solidFill>
                      <a:srgbClr val="F3F6FB"/>
                    </a:solidFill>
                  </a:tcPr>
                </a:tc>
                <a:tc>
                  <a:txBody>
                    <a:bodyPr wrap="square"/>
                    <a:lstStyle/>
                    <a:p>
                      <a:pPr algn="ctr"/>
                      <a:r>
                        <a:rPr sz="900" b="0">
                          <a:solidFill>
                            <a:srgbClr val="1F1F1F"/>
                          </a:solidFill>
                          <a:latin typeface="Arial"/>
                        </a:rPr>
                        <a:t>18</a:t>
                      </a:r>
                    </a:p>
                  </a:txBody>
                  <a:tcPr marL="54000" marR="54000" marT="18000" marB="18000" anchor="ctr">
                    <a:solidFill>
                      <a:srgbClr val="F3F6FB"/>
                    </a:solidFill>
                  </a:tcPr>
                </a:tc>
              </a:tr>
              <a:tr h="290000">
                <a:tc>
                  <a:txBody>
                    <a:bodyPr wrap="square"/>
                    <a:lstStyle/>
                    <a:p>
                      <a:pPr algn="l"/>
                      <a:r>
                        <a:rPr sz="900" b="1">
                          <a:solidFill>
                            <a:srgbClr val="062552"/>
                          </a:solidFill>
                          <a:latin typeface="Arial"/>
                        </a:rPr>
                        <a:t>Not stated</a:t>
                      </a:r>
                    </a:p>
                  </a:txBody>
                  <a:tcPr marL="54000" marR="54000" marT="18000" marB="18000" anchor="ctr">
                    <a:noFill/>
                  </a:tcPr>
                </a:tc>
                <a:tc>
                  <a:txBody>
                    <a:bodyPr wrap="square"/>
                    <a:lstStyle/>
                    <a:p>
                      <a:pPr algn="ctr"/>
                      <a:r>
                        <a:rPr sz="900" b="0">
                          <a:solidFill>
                            <a:srgbClr val="1F1F1F"/>
                          </a:solidFill>
                          <a:latin typeface="Arial"/>
                        </a:rPr>
                        <a:t>7</a:t>
                      </a:r>
                    </a:p>
                  </a:txBody>
                  <a:tcPr marL="54000" marR="54000" marT="18000" marB="18000" anchor="ctr">
                    <a:noFill/>
                  </a:tcPr>
                </a:tc>
                <a:tc>
                  <a:txBody>
                    <a:bodyPr wrap="square"/>
                    <a:lstStyle/>
                    <a:p>
                      <a:pPr algn="ctr"/>
                      <a:r>
                        <a:rPr sz="900" b="0">
                          <a:solidFill>
                            <a:srgbClr val="1F1F1F"/>
                          </a:solidFill>
                          <a:latin typeface="Arial"/>
                        </a:rPr>
                        <a:t>0</a:t>
                      </a:r>
                    </a:p>
                  </a:txBody>
                  <a:tcPr marL="54000" marR="54000" marT="18000" marB="18000" anchor="ctr">
                    <a:noFill/>
                  </a:tcPr>
                </a:tc>
                <a:tc>
                  <a:txBody>
                    <a:bodyPr wrap="square"/>
                    <a:lstStyle/>
                    <a:p>
                      <a:pPr algn="ctr"/>
                      <a:r>
                        <a:rPr sz="900" b="0">
                          <a:solidFill>
                            <a:srgbClr val="1F1F1F"/>
                          </a:solidFill>
                          <a:latin typeface="Arial"/>
                        </a:rPr>
                        <a:t>7</a:t>
                      </a:r>
                    </a:p>
                  </a:txBody>
                  <a:tcPr marL="54000" marR="54000" marT="18000" marB="18000" anchor="ctr">
                    <a:noFill/>
                  </a:tcPr>
                </a:tc>
              </a:tr>
              <a:tr h="290000">
                <a:tc>
                  <a:txBody>
                    <a:bodyPr wrap="square"/>
                    <a:lstStyle/>
                    <a:p>
                      <a:pPr algn="l"/>
                      <a:r>
                        <a:rPr sz="900" b="1">
                          <a:solidFill>
                            <a:srgbClr val="062552"/>
                          </a:solidFill>
                          <a:latin typeface="Arial"/>
                        </a:rPr>
                        <a:t>Renewal</a:t>
                      </a:r>
                    </a:p>
                  </a:txBody>
                  <a:tcPr marL="54000" marR="54000" marT="18000" marB="18000" anchor="ctr">
                    <a:solidFill>
                      <a:srgbClr val="F3F6FB"/>
                    </a:solidFill>
                  </a:tcPr>
                </a:tc>
                <a:tc>
                  <a:txBody>
                    <a:bodyPr wrap="square"/>
                    <a:lstStyle/>
                    <a:p>
                      <a:pPr algn="ctr"/>
                      <a:r>
                        <a:rPr sz="900" b="0">
                          <a:solidFill>
                            <a:srgbClr val="1F1F1F"/>
                          </a:solidFill>
                          <a:latin typeface="Arial"/>
                        </a:rPr>
                        <a:t>2</a:t>
                      </a:r>
                    </a:p>
                  </a:txBody>
                  <a:tcPr marL="54000" marR="54000" marT="18000" marB="18000" anchor="ctr">
                    <a:solidFill>
                      <a:srgbClr val="F3F6FB"/>
                    </a:solidFill>
                  </a:tcPr>
                </a:tc>
                <a:tc>
                  <a:txBody>
                    <a:bodyPr wrap="square"/>
                    <a:lstStyle/>
                    <a:p>
                      <a:pPr algn="ctr"/>
                      <a:r>
                        <a:rPr sz="900" b="0">
                          <a:solidFill>
                            <a:srgbClr val="1F1F1F"/>
                          </a:solidFill>
                          <a:latin typeface="Arial"/>
                        </a:rPr>
                        <a:t>0</a:t>
                      </a:r>
                    </a:p>
                  </a:txBody>
                  <a:tcPr marL="54000" marR="54000" marT="18000" marB="18000" anchor="ctr">
                    <a:solidFill>
                      <a:srgbClr val="F3F6FB"/>
                    </a:solidFill>
                  </a:tcPr>
                </a:tc>
                <a:tc>
                  <a:txBody>
                    <a:bodyPr wrap="square"/>
                    <a:lstStyle/>
                    <a:p>
                      <a:pPr algn="ctr"/>
                      <a:r>
                        <a:rPr sz="900" b="0">
                          <a:solidFill>
                            <a:srgbClr val="1F1F1F"/>
                          </a:solidFill>
                          <a:latin typeface="Arial"/>
                        </a:rPr>
                        <a:t>2</a:t>
                      </a:r>
                    </a:p>
                  </a:txBody>
                  <a:tcPr marL="54000" marR="54000" marT="18000" marB="18000" anchor="ctr">
                    <a:solidFill>
                      <a:srgbClr val="F3F6FB"/>
                    </a:solidFill>
                  </a:tcPr>
                </a:tc>
              </a:tr>
            </a:tbl>
          </a:graphicData>
        </a:graphic>
      </p:graphicFrame>
      <p:sp>
        <p:nvSpPr>
          <p:cNvPr id="28" name="Rectangle 27"/>
          <p:cNvSpPr/>
          <p:nvPr/>
        </p:nvSpPr>
        <p:spPr>
          <a:xfrm>
            <a:off x="5750000" y="3850000"/>
            <a:ext cx="6175000" cy="2000000"/>
          </a:xfrm>
          <a:prstGeom prst="rect">
            <a:avLst/>
          </a:prstGeom>
          <a:noFill/>
          <a:ln w="11430">
            <a:solidFill>
              <a:srgbClr val="D9E1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50000" y="3850000"/>
            <a:ext cx="6175000" cy="45719"/>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80000" y="3950000"/>
            <a:ext cx="5915000" cy="190000"/>
          </a:xfrm>
          <a:prstGeom prst="rect">
            <a:avLst/>
          </a:prstGeom>
          <a:noFill/>
        </p:spPr>
        <p:txBody>
          <a:bodyPr wrap="square" lIns="0" rIns="0" tIns="0" bIns="0" anchor="t">
            <a:spAutoFit/>
          </a:bodyPr>
          <a:lstStyle/>
          <a:p>
            <a:pPr algn="l"/>
            <a:r>
              <a:rPr sz="1000" b="1">
                <a:solidFill>
                  <a:srgbClr val="66788A"/>
                </a:solidFill>
                <a:latin typeface="Arial"/>
              </a:rPr>
              <a:t>HOW AN ENTRY WORKS</a:t>
            </a:r>
          </a:p>
        </p:txBody>
      </p:sp>
      <p:sp>
        <p:nvSpPr>
          <p:cNvPr id="31" name="TextBox 30"/>
          <p:cNvSpPr txBox="1"/>
          <p:nvPr/>
        </p:nvSpPr>
        <p:spPr>
          <a:xfrm>
            <a:off x="5880000" y="4190000"/>
            <a:ext cx="5915000" cy="1620000"/>
          </a:xfrm>
          <a:prstGeom prst="rect">
            <a:avLst/>
          </a:prstGeom>
          <a:noFill/>
        </p:spPr>
        <p:txBody>
          <a:bodyPr wrap="square" lIns="0" rIns="0" tIns="0" bIns="0" anchor="t">
            <a:spAutoFit/>
          </a:bodyPr>
          <a:lstStyle/>
          <a:p>
            <a:pPr algn="l"/>
            <a:r>
              <a:rPr sz="1050" b="1">
                <a:solidFill>
                  <a:srgbClr val="062552"/>
                </a:solidFill>
                <a:latin typeface="Arial"/>
              </a:rPr>
              <a:t>Defection, expansion, renewal and win-back entries carry forward. </a:t>
            </a:r>
            <a:r>
              <a:rPr sz="1050" b="0">
                <a:solidFill>
                  <a:srgbClr val="1F1F1F"/>
                </a:solidFill>
                <a:latin typeface="Arial"/>
              </a:rPr>
              <a:t>They stay in force from the month entered until the next entry for the account. Enter 0% to end one.</a:t>
            </a:r>
          </a:p>
          <a:p>
            <a:pPr algn="l"/>
            <a:r>
              <a:rPr sz="1050" b="0">
                <a:solidFill>
                  <a:srgbClr val="1F1F1F"/>
                </a:solidFill>
                <a:latin typeface="Arial"/>
              </a:rPr>
              <a:t>Operational disruption and Other apply only to the months entered, so an outage that runs longer needs the extra months entered. 42 accounts carry a rolling entry and 13 have month-only entries.</a:t>
            </a:r>
          </a:p>
          <a:p>
            <a:pPr algn="l"/>
            <a:r>
              <a:rPr sz="1050" b="1">
                <a:solidFill>
                  <a:srgbClr val="062552"/>
                </a:solidFill>
                <a:latin typeface="Arial"/>
              </a:rPr>
              <a:t>Check that each rolling entry is meant to last to December 2028.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Entries That Now Run Forward</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26 customers carry an entry to December 2028; together they take 51 GWh from FY2028</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Effect on the forecast, GWh, for the whole customer. Each stays in force until the next entry for the account. Confirm it is permanent, or tell us when it ends.</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7</a:t>
            </a:r>
          </a:p>
        </p:txBody>
      </p:sp>
      <p:graphicFrame>
        <p:nvGraphicFramePr>
          <p:cNvPr id="7" name="Table 6"/>
          <p:cNvGraphicFramePr>
            <a:graphicFrameLocks noGrp="1"/>
          </p:cNvGraphicFramePr>
          <p:nvPr/>
        </p:nvGraphicFramePr>
        <p:xfrm>
          <a:off x="274320" y="1950000"/>
          <a:ext cx="11649997" cy="3434000"/>
        </p:xfrm>
        <a:graphic>
          <a:graphicData uri="http://schemas.openxmlformats.org/drawingml/2006/table">
            <a:tbl>
              <a:tblPr firstRow="0" bandRow="0">
                <a:tableStyleId>{5940675A-B579-460E-94D1-54222C63F5DA}</a:tableStyleId>
              </a:tblPr>
              <a:tblGrid>
                <a:gridCol w="2992660"/>
                <a:gridCol w="1175688"/>
                <a:gridCol w="2030733"/>
                <a:gridCol w="961926"/>
                <a:gridCol w="2351376"/>
                <a:gridCol w="1068807"/>
                <a:gridCol w="1068807"/>
              </a:tblGrid>
              <a:tr h="290000">
                <a:tc>
                  <a:txBody>
                    <a:bodyPr wrap="square"/>
                    <a:lstStyle/>
                    <a:p>
                      <a:pPr algn="l"/>
                      <a:r>
                        <a:rPr sz="850" b="1">
                          <a:solidFill>
                            <a:srgbClr val="FFFFFF"/>
                          </a:solidFill>
                          <a:latin typeface="Arial"/>
                        </a:rPr>
                        <a:t>Customer</a:t>
                      </a:r>
                    </a:p>
                  </a:txBody>
                  <a:tcPr marL="54000" marR="54000" marT="18000" marB="18000" anchor="ctr">
                    <a:solidFill>
                      <a:srgbClr val="062552"/>
                    </a:solidFill>
                  </a:tcPr>
                </a:tc>
                <a:tc>
                  <a:txBody>
                    <a:bodyPr wrap="square"/>
                    <a:lstStyle/>
                    <a:p>
                      <a:pPr algn="l"/>
                      <a:r>
                        <a:rPr sz="850" b="1">
                          <a:solidFill>
                            <a:srgbClr val="FFFFFF"/>
                          </a:solidFill>
                          <a:latin typeface="Arial"/>
                        </a:rPr>
                        <a:t>KAM</a:t>
                      </a:r>
                    </a:p>
                  </a:txBody>
                  <a:tcPr marL="54000" marR="54000" marT="18000" marB="18000" anchor="ctr">
                    <a:solidFill>
                      <a:srgbClr val="062552"/>
                    </a:solidFill>
                  </a:tcPr>
                </a:tc>
                <a:tc>
                  <a:txBody>
                    <a:bodyPr wrap="square"/>
                    <a:lstStyle/>
                    <a:p>
                      <a:pPr algn="l"/>
                      <a:r>
                        <a:rPr sz="850" b="1">
                          <a:solidFill>
                            <a:srgbClr val="FFFFFF"/>
                          </a:solidFill>
                          <a:latin typeface="Arial"/>
                        </a:rPr>
                        <a:t>Reason</a:t>
                      </a:r>
                    </a:p>
                  </a:txBody>
                  <a:tcPr marL="54000" marR="54000" marT="18000" marB="18000" anchor="ctr">
                    <a:solidFill>
                      <a:srgbClr val="062552"/>
                    </a:solidFill>
                  </a:tcPr>
                </a:tc>
                <a:tc>
                  <a:txBody>
                    <a:bodyPr wrap="square"/>
                    <a:lstStyle/>
                    <a:p>
                      <a:pPr algn="ctr"/>
                      <a:r>
                        <a:rPr sz="850" b="1">
                          <a:solidFill>
                            <a:srgbClr val="FFFFFF"/>
                          </a:solidFill>
                          <a:latin typeface="Arial"/>
                        </a:rPr>
                        <a:t>From</a:t>
                      </a:r>
                    </a:p>
                  </a:txBody>
                  <a:tcPr marL="54000" marR="54000" marT="18000" marB="18000" anchor="ctr">
                    <a:solidFill>
                      <a:srgbClr val="062552"/>
                    </a:solidFill>
                  </a:tcPr>
                </a:tc>
                <a:tc>
                  <a:txBody>
                    <a:bodyPr wrap="square"/>
                    <a:lstStyle/>
                    <a:p>
                      <a:pPr algn="l"/>
                      <a:r>
                        <a:rPr sz="850" b="1">
                          <a:solidFill>
                            <a:srgbClr val="FFFFFF"/>
                          </a:solidFill>
                          <a:latin typeface="Arial"/>
                        </a:rPr>
                        <a:t>Adjustment</a:t>
                      </a:r>
                    </a:p>
                  </a:txBody>
                  <a:tcPr marL="54000" marR="54000" marT="18000" marB="18000" anchor="ctr">
                    <a:solidFill>
                      <a:srgbClr val="062552"/>
                    </a:solidFill>
                  </a:tcPr>
                </a:tc>
                <a:tc>
                  <a:txBody>
                    <a:bodyPr wrap="square"/>
                    <a:lstStyle/>
                    <a:p>
                      <a:pPr algn="ctr"/>
                      <a:r>
                        <a:rPr sz="850" b="1">
                          <a:solidFill>
                            <a:srgbClr val="FFFFFF"/>
                          </a:solidFill>
                          <a:latin typeface="Arial"/>
                        </a:rPr>
                        <a:t>FY2027</a:t>
                      </a:r>
                    </a:p>
                  </a:txBody>
                  <a:tcPr marL="54000" marR="54000" marT="18000" marB="18000" anchor="ctr">
                    <a:solidFill>
                      <a:srgbClr val="062552"/>
                    </a:solidFill>
                  </a:tcPr>
                </a:tc>
                <a:tc>
                  <a:txBody>
                    <a:bodyPr wrap="square"/>
                    <a:lstStyle/>
                    <a:p>
                      <a:pPr algn="ctr"/>
                      <a:r>
                        <a:rPr sz="850" b="1">
                          <a:solidFill>
                            <a:srgbClr val="FFFFFF"/>
                          </a:solidFill>
                          <a:latin typeface="Arial"/>
                        </a:rPr>
                        <a:t>FY2028</a:t>
                      </a:r>
                    </a:p>
                  </a:txBody>
                  <a:tcPr marL="54000" marR="54000" marT="18000" marB="18000" anchor="ctr">
                    <a:solidFill>
                      <a:srgbClr val="062552"/>
                    </a:solidFill>
                  </a:tcPr>
                </a:tc>
              </a:tr>
              <a:tr h="262000">
                <a:tc>
                  <a:txBody>
                    <a:bodyPr wrap="square"/>
                    <a:lstStyle/>
                    <a:p>
                      <a:pPr algn="l"/>
                      <a:r>
                        <a:rPr sz="850" b="1">
                          <a:solidFill>
                            <a:srgbClr val="062552"/>
                          </a:solidFill>
                          <a:latin typeface="Arial"/>
                        </a:rPr>
                        <a:t>Alcoa Mins Of Ja Ltd</a:t>
                      </a:r>
                    </a:p>
                  </a:txBody>
                  <a:tcPr marL="54000" marR="54000" marT="18000" marB="18000" anchor="ctr">
                    <a:noFill/>
                  </a:tcPr>
                </a:tc>
                <a:tc>
                  <a:txBody>
                    <a:bodyPr wrap="square"/>
                    <a:lstStyle/>
                    <a:p>
                      <a:pPr algn="l"/>
                      <a:r>
                        <a:rPr sz="850" b="0">
                          <a:solidFill>
                            <a:srgbClr val="1F1F1F"/>
                          </a:solidFill>
                          <a:latin typeface="Arial"/>
                        </a:rPr>
                        <a:t>Sharmica</a:t>
                      </a:r>
                    </a:p>
                  </a:txBody>
                  <a:tcPr marL="54000" marR="54000" marT="18000" marB="18000" anchor="ctr">
                    <a:noFill/>
                  </a:tcPr>
                </a:tc>
                <a:tc>
                  <a:txBody>
                    <a:bodyPr wrap="square"/>
                    <a:lstStyle/>
                    <a:p>
                      <a:pPr algn="l"/>
                      <a:r>
                        <a:rPr sz="850" b="0">
                          <a:solidFill>
                            <a:srgbClr val="1F1F1F"/>
                          </a:solidFill>
                          <a:latin typeface="Arial"/>
                        </a:rPr>
                        <a:t>Confirmed defection</a:t>
                      </a:r>
                    </a:p>
                  </a:txBody>
                  <a:tcPr marL="54000" marR="54000" marT="18000" marB="18000" anchor="ctr">
                    <a:noFill/>
                  </a:tcPr>
                </a:tc>
                <a:tc>
                  <a:txBody>
                    <a:bodyPr wrap="square"/>
                    <a:lstStyle/>
                    <a:p>
                      <a:pPr algn="ctr"/>
                      <a:r>
                        <a:rPr sz="850" b="0">
                          <a:solidFill>
                            <a:srgbClr val="1F1F1F"/>
                          </a:solidFill>
                          <a:latin typeface="Arial"/>
                        </a:rPr>
                        <a:t>Aug 26</a:t>
                      </a:r>
                    </a:p>
                  </a:txBody>
                  <a:tcPr marL="54000" marR="54000" marT="18000" marB="18000" anchor="ctr">
                    <a:noFill/>
                  </a:tcPr>
                </a:tc>
                <a:tc>
                  <a:txBody>
                    <a:bodyPr wrap="square"/>
                    <a:lstStyle/>
                    <a:p>
                      <a:pPr algn="l"/>
                      <a:r>
                        <a:rPr sz="850" b="0">
                          <a:solidFill>
                            <a:srgbClr val="1F1F1F"/>
                          </a:solidFill>
                          <a:latin typeface="Arial"/>
                        </a:rPr>
                        <a:t>−100%, from Aug 26</a:t>
                      </a:r>
                    </a:p>
                  </a:txBody>
                  <a:tcPr marL="54000" marR="54000" marT="18000" marB="18000" anchor="ctr">
                    <a:noFill/>
                  </a:tcPr>
                </a:tc>
                <a:tc>
                  <a:txBody>
                    <a:bodyPr wrap="square"/>
                    <a:lstStyle/>
                    <a:p>
                      <a:pPr algn="ctr"/>
                      <a:r>
                        <a:rPr sz="850" b="0">
                          <a:solidFill>
                            <a:srgbClr val="C00000"/>
                          </a:solidFill>
                          <a:latin typeface="Arial"/>
                        </a:rPr>
                        <a:t>−25.4</a:t>
                      </a:r>
                    </a:p>
                  </a:txBody>
                  <a:tcPr marL="54000" marR="54000" marT="18000" marB="18000" anchor="ctr">
                    <a:noFill/>
                  </a:tcPr>
                </a:tc>
                <a:tc>
                  <a:txBody>
                    <a:bodyPr wrap="square"/>
                    <a:lstStyle/>
                    <a:p>
                      <a:pPr algn="ctr"/>
                      <a:r>
                        <a:rPr sz="850" b="0">
                          <a:solidFill>
                            <a:srgbClr val="C00000"/>
                          </a:solidFill>
                          <a:latin typeface="Arial"/>
                        </a:rPr>
                        <a:t>−24.2</a:t>
                      </a:r>
                    </a:p>
                  </a:txBody>
                  <a:tcPr marL="54000" marR="54000" marT="18000" marB="18000" anchor="ctr">
                    <a:noFill/>
                  </a:tcPr>
                </a:tc>
              </a:tr>
              <a:tr h="262000">
                <a:tc>
                  <a:txBody>
                    <a:bodyPr wrap="square"/>
                    <a:lstStyle/>
                    <a:p>
                      <a:pPr algn="l"/>
                      <a:r>
                        <a:rPr sz="850" b="1">
                          <a:solidFill>
                            <a:srgbClr val="062552"/>
                          </a:solidFill>
                          <a:latin typeface="Arial"/>
                        </a:rPr>
                        <a:t>MBJ Airports Limited</a:t>
                      </a:r>
                    </a:p>
                  </a:txBody>
                  <a:tcPr marL="54000" marR="54000" marT="18000" marB="18000" anchor="ctr">
                    <a:solidFill>
                      <a:srgbClr val="F3F6FB"/>
                    </a:solidFill>
                  </a:tcPr>
                </a:tc>
                <a:tc>
                  <a:txBody>
                    <a:bodyPr wrap="square"/>
                    <a:lstStyle/>
                    <a:p>
                      <a:pPr algn="l"/>
                      <a:r>
                        <a:rPr sz="850" b="0">
                          <a:solidFill>
                            <a:srgbClr val="1F1F1F"/>
                          </a:solidFill>
                          <a:latin typeface="Arial"/>
                        </a:rPr>
                        <a:t>Sharmica</a:t>
                      </a:r>
                    </a:p>
                  </a:txBody>
                  <a:tcPr marL="54000" marR="54000" marT="18000" marB="18000" anchor="ctr">
                    <a:solidFill>
                      <a:srgbClr val="F3F6FB"/>
                    </a:solidFill>
                  </a:tcPr>
                </a:tc>
                <a:tc>
                  <a:txBody>
                    <a:bodyPr wrap="square"/>
                    <a:lstStyle/>
                    <a:p>
                      <a:pPr algn="l"/>
                      <a:r>
                        <a:rPr sz="850" b="0">
                          <a:solidFill>
                            <a:srgbClr val="1F1F1F"/>
                          </a:solidFill>
                          <a:latin typeface="Arial"/>
                        </a:rPr>
                        <a:t>Confirmed defection</a:t>
                      </a:r>
                    </a:p>
                  </a:txBody>
                  <a:tcPr marL="54000" marR="54000" marT="18000" marB="18000" anchor="ctr">
                    <a:solidFill>
                      <a:srgbClr val="F3F6FB"/>
                    </a:solidFill>
                  </a:tcPr>
                </a:tc>
                <a:tc>
                  <a:txBody>
                    <a:bodyPr wrap="square"/>
                    <a:lstStyle/>
                    <a:p>
                      <a:pPr algn="ctr"/>
                      <a:r>
                        <a:rPr sz="850" b="0">
                          <a:solidFill>
                            <a:srgbClr val="1F1F1F"/>
                          </a:solidFill>
                          <a:latin typeface="Arial"/>
                        </a:rPr>
                        <a:t>Jan 27</a:t>
                      </a:r>
                    </a:p>
                  </a:txBody>
                  <a:tcPr marL="54000" marR="54000" marT="18000" marB="18000" anchor="ctr">
                    <a:solidFill>
                      <a:srgbClr val="F3F6FB"/>
                    </a:solidFill>
                  </a:tcPr>
                </a:tc>
                <a:tc>
                  <a:txBody>
                    <a:bodyPr wrap="square"/>
                    <a:lstStyle/>
                    <a:p>
                      <a:pPr algn="l"/>
                      <a:r>
                        <a:rPr sz="850" b="0">
                          <a:solidFill>
                            <a:srgbClr val="1F1F1F"/>
                          </a:solidFill>
                          <a:latin typeface="Arial"/>
                        </a:rPr>
                        <a:t>−77%, from Jan 27</a:t>
                      </a:r>
                    </a:p>
                  </a:txBody>
                  <a:tcPr marL="54000" marR="54000" marT="18000" marB="18000" anchor="ctr">
                    <a:solidFill>
                      <a:srgbClr val="F3F6FB"/>
                    </a:solidFill>
                  </a:tcPr>
                </a:tc>
                <a:tc>
                  <a:txBody>
                    <a:bodyPr wrap="square"/>
                    <a:lstStyle/>
                    <a:p>
                      <a:pPr algn="ctr"/>
                      <a:r>
                        <a:rPr sz="850" b="0">
                          <a:solidFill>
                            <a:srgbClr val="C00000"/>
                          </a:solidFill>
                          <a:latin typeface="Arial"/>
                        </a:rPr>
                        <a:t>−14.6</a:t>
                      </a:r>
                    </a:p>
                  </a:txBody>
                  <a:tcPr marL="54000" marR="54000" marT="18000" marB="18000" anchor="ctr">
                    <a:solidFill>
                      <a:srgbClr val="F3F6FB"/>
                    </a:solidFill>
                  </a:tcPr>
                </a:tc>
                <a:tc>
                  <a:txBody>
                    <a:bodyPr wrap="square"/>
                    <a:lstStyle/>
                    <a:p>
                      <a:pPr algn="ctr"/>
                      <a:r>
                        <a:rPr sz="850" b="0">
                          <a:solidFill>
                            <a:srgbClr val="C00000"/>
                          </a:solidFill>
                          <a:latin typeface="Arial"/>
                        </a:rPr>
                        <a:t>−14.3</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PAC Kingston Airport Ltd.</a:t>
                      </a:r>
                    </a:p>
                  </a:txBody>
                  <a:tcPr marL="54000" marR="54000" marT="18000" marB="18000" anchor="ctr">
                    <a:noFill/>
                  </a:tcPr>
                </a:tc>
                <a:tc>
                  <a:txBody>
                    <a:bodyPr wrap="square"/>
                    <a:lstStyle/>
                    <a:p>
                      <a:pPr algn="l"/>
                      <a:r>
                        <a:rPr sz="850" b="0">
                          <a:solidFill>
                            <a:srgbClr val="1F1F1F"/>
                          </a:solidFill>
                          <a:latin typeface="Arial"/>
                        </a:rPr>
                        <a:t>Simone</a:t>
                      </a:r>
                    </a:p>
                  </a:txBody>
                  <a:tcPr marL="54000" marR="54000" marT="18000" marB="18000" anchor="ctr">
                    <a:noFill/>
                  </a:tcPr>
                </a:tc>
                <a:tc>
                  <a:txBody>
                    <a:bodyPr wrap="square"/>
                    <a:lstStyle/>
                    <a:p>
                      <a:pPr algn="l"/>
                      <a:r>
                        <a:rPr sz="850" b="0">
                          <a:solidFill>
                            <a:srgbClr val="1F1F1F"/>
                          </a:solidFill>
                          <a:latin typeface="Arial"/>
                        </a:rPr>
                        <a:t>Confirmed defection</a:t>
                      </a:r>
                    </a:p>
                  </a:txBody>
                  <a:tcPr marL="54000" marR="54000" marT="18000" marB="18000" anchor="ctr">
                    <a:noFill/>
                  </a:tcPr>
                </a:tc>
                <a:tc>
                  <a:txBody>
                    <a:bodyPr wrap="square"/>
                    <a:lstStyle/>
                    <a:p>
                      <a:pPr algn="ctr"/>
                      <a:r>
                        <a:rPr sz="850" b="0">
                          <a:solidFill>
                            <a:srgbClr val="1F1F1F"/>
                          </a:solidFill>
                          <a:latin typeface="Arial"/>
                        </a:rPr>
                        <a:t>Oct 26</a:t>
                      </a:r>
                    </a:p>
                  </a:txBody>
                  <a:tcPr marL="54000" marR="54000" marT="18000" marB="18000" anchor="ctr">
                    <a:noFill/>
                  </a:tcPr>
                </a:tc>
                <a:tc>
                  <a:txBody>
                    <a:bodyPr wrap="square"/>
                    <a:lstStyle/>
                    <a:p>
                      <a:pPr algn="l"/>
                      <a:r>
                        <a:rPr sz="850" b="0">
                          <a:solidFill>
                            <a:srgbClr val="1F1F1F"/>
                          </a:solidFill>
                          <a:latin typeface="Arial"/>
                        </a:rPr>
                        <a:t>−80%, from Oct 26</a:t>
                      </a:r>
                    </a:p>
                  </a:txBody>
                  <a:tcPr marL="54000" marR="54000" marT="18000" marB="18000" anchor="ctr">
                    <a:noFill/>
                  </a:tcPr>
                </a:tc>
                <a:tc>
                  <a:txBody>
                    <a:bodyPr wrap="square"/>
                    <a:lstStyle/>
                    <a:p>
                      <a:pPr algn="ctr"/>
                      <a:r>
                        <a:rPr sz="850" b="0">
                          <a:solidFill>
                            <a:srgbClr val="C00000"/>
                          </a:solidFill>
                          <a:latin typeface="Arial"/>
                        </a:rPr>
                        <a:t>−7.8</a:t>
                      </a:r>
                    </a:p>
                  </a:txBody>
                  <a:tcPr marL="54000" marR="54000" marT="18000" marB="18000" anchor="ctr">
                    <a:noFill/>
                  </a:tcPr>
                </a:tc>
                <a:tc>
                  <a:txBody>
                    <a:bodyPr wrap="square"/>
                    <a:lstStyle/>
                    <a:p>
                      <a:pPr algn="ctr"/>
                      <a:r>
                        <a:rPr sz="850" b="0">
                          <a:solidFill>
                            <a:srgbClr val="C00000"/>
                          </a:solidFill>
                          <a:latin typeface="Arial"/>
                        </a:rPr>
                        <a:t>−7.6</a:t>
                      </a:r>
                    </a:p>
                  </a:txBody>
                  <a:tcPr marL="54000" marR="54000" marT="18000" marB="18000" anchor="ctr">
                    <a:noFill/>
                  </a:tcPr>
                </a:tc>
              </a:tr>
              <a:tr h="262000">
                <a:tc>
                  <a:txBody>
                    <a:bodyPr wrap="square"/>
                    <a:lstStyle/>
                    <a:p>
                      <a:pPr algn="l"/>
                      <a:r>
                        <a:rPr sz="850" b="1">
                          <a:solidFill>
                            <a:srgbClr val="062552"/>
                          </a:solidFill>
                          <a:latin typeface="Arial"/>
                        </a:rPr>
                        <a:t>National Water Commission</a:t>
                      </a:r>
                    </a:p>
                  </a:txBody>
                  <a:tcPr marL="54000" marR="54000" marT="18000" marB="18000" anchor="ctr">
                    <a:solidFill>
                      <a:srgbClr val="F3F6FB"/>
                    </a:solidFill>
                  </a:tcPr>
                </a:tc>
                <a:tc>
                  <a:txBody>
                    <a:bodyPr wrap="square"/>
                    <a:lstStyle/>
                    <a:p>
                      <a:pPr algn="l"/>
                      <a:r>
                        <a:rPr sz="850" b="0">
                          <a:solidFill>
                            <a:srgbClr val="1F1F1F"/>
                          </a:solidFill>
                          <a:latin typeface="Arial"/>
                        </a:rPr>
                        <a:t>Simone</a:t>
                      </a:r>
                    </a:p>
                  </a:txBody>
                  <a:tcPr marL="54000" marR="54000" marT="18000" marB="18000" anchor="ctr">
                    <a:solidFill>
                      <a:srgbClr val="F3F6FB"/>
                    </a:solidFill>
                  </a:tcPr>
                </a:tc>
                <a:tc>
                  <a:txBody>
                    <a:bodyPr wrap="square"/>
                    <a:lstStyle/>
                    <a:p>
                      <a:pPr algn="l"/>
                      <a:r>
                        <a:rPr sz="850" b="0">
                          <a:solidFill>
                            <a:srgbClr val="1F1F1F"/>
                          </a:solidFill>
                          <a:latin typeface="Arial"/>
                        </a:rPr>
                        <a:t>Expansion</a:t>
                      </a:r>
                    </a:p>
                  </a:txBody>
                  <a:tcPr marL="54000" marR="54000" marT="18000" marB="18000" anchor="ctr">
                    <a:solidFill>
                      <a:srgbClr val="F3F6FB"/>
                    </a:solidFill>
                  </a:tcPr>
                </a:tc>
                <a:tc>
                  <a:txBody>
                    <a:bodyPr wrap="square"/>
                    <a:lstStyle/>
                    <a:p>
                      <a:pPr algn="ctr"/>
                      <a:r>
                        <a:rPr sz="850" b="0">
                          <a:solidFill>
                            <a:srgbClr val="1F1F1F"/>
                          </a:solidFill>
                          <a:latin typeface="Arial"/>
                        </a:rPr>
                        <a:t>Feb 27</a:t>
                      </a:r>
                    </a:p>
                  </a:txBody>
                  <a:tcPr marL="54000" marR="54000" marT="18000" marB="18000" anchor="ctr">
                    <a:solidFill>
                      <a:srgbClr val="F3F6FB"/>
                    </a:solidFill>
                  </a:tcPr>
                </a:tc>
                <a:tc>
                  <a:txBody>
                    <a:bodyPr wrap="square"/>
                    <a:lstStyle/>
                    <a:p>
                      <a:pPr algn="l"/>
                      <a:r>
                        <a:rPr sz="850" b="0">
                          <a:solidFill>
                            <a:srgbClr val="1F1F1F"/>
                          </a:solidFill>
                          <a:latin typeface="Arial"/>
                        </a:rPr>
                        <a:t>+50%, from Feb 27</a:t>
                      </a:r>
                    </a:p>
                  </a:txBody>
                  <a:tcPr marL="54000" marR="54000" marT="18000" marB="18000" anchor="ctr">
                    <a:solidFill>
                      <a:srgbClr val="F3F6FB"/>
                    </a:solidFill>
                  </a:tcPr>
                </a:tc>
                <a:tc>
                  <a:txBody>
                    <a:bodyPr wrap="square"/>
                    <a:lstStyle/>
                    <a:p>
                      <a:pPr algn="ctr"/>
                      <a:r>
                        <a:rPr sz="850" b="0">
                          <a:solidFill>
                            <a:srgbClr val="0E4E95"/>
                          </a:solidFill>
                          <a:latin typeface="Arial"/>
                        </a:rPr>
                        <a:t>+6.9</a:t>
                      </a:r>
                    </a:p>
                  </a:txBody>
                  <a:tcPr marL="54000" marR="54000" marT="18000" marB="18000" anchor="ctr">
                    <a:solidFill>
                      <a:srgbClr val="F3F6FB"/>
                    </a:solidFill>
                  </a:tcPr>
                </a:tc>
                <a:tc>
                  <a:txBody>
                    <a:bodyPr wrap="square"/>
                    <a:lstStyle/>
                    <a:p>
                      <a:pPr algn="ctr"/>
                      <a:r>
                        <a:rPr sz="850" b="0">
                          <a:solidFill>
                            <a:srgbClr val="0E4E95"/>
                          </a:solidFill>
                          <a:latin typeface="Arial"/>
                        </a:rPr>
                        <a:t>+7.4</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University Of Technology</a:t>
                      </a:r>
                    </a:p>
                  </a:txBody>
                  <a:tcPr marL="54000" marR="54000" marT="18000" marB="18000" anchor="ctr">
                    <a:noFill/>
                  </a:tcPr>
                </a:tc>
                <a:tc>
                  <a:txBody>
                    <a:bodyPr wrap="square"/>
                    <a:lstStyle/>
                    <a:p>
                      <a:pPr algn="l"/>
                      <a:r>
                        <a:rPr sz="850" b="0">
                          <a:solidFill>
                            <a:srgbClr val="1F1F1F"/>
                          </a:solidFill>
                          <a:latin typeface="Arial"/>
                        </a:rPr>
                        <a:t>Jean</a:t>
                      </a:r>
                    </a:p>
                  </a:txBody>
                  <a:tcPr marL="54000" marR="54000" marT="18000" marB="18000" anchor="ctr">
                    <a:noFill/>
                  </a:tcPr>
                </a:tc>
                <a:tc>
                  <a:txBody>
                    <a:bodyPr wrap="square"/>
                    <a:lstStyle/>
                    <a:p>
                      <a:pPr algn="l"/>
                      <a:r>
                        <a:rPr sz="850" b="0">
                          <a:solidFill>
                            <a:srgbClr val="1F1F1F"/>
                          </a:solidFill>
                          <a:latin typeface="Arial"/>
                        </a:rPr>
                        <a:t>Confirmed defection, Pos</a:t>
                      </a:r>
                    </a:p>
                  </a:txBody>
                  <a:tcPr marL="54000" marR="54000" marT="18000" marB="18000" anchor="ctr">
                    <a:noFill/>
                  </a:tcPr>
                </a:tc>
                <a:tc>
                  <a:txBody>
                    <a:bodyPr wrap="square"/>
                    <a:lstStyle/>
                    <a:p>
                      <a:pPr algn="ctr"/>
                      <a:r>
                        <a:rPr sz="850" b="0">
                          <a:solidFill>
                            <a:srgbClr val="1F1F1F"/>
                          </a:solidFill>
                          <a:latin typeface="Arial"/>
                        </a:rPr>
                        <a:t>Jul 27</a:t>
                      </a:r>
                    </a:p>
                  </a:txBody>
                  <a:tcPr marL="54000" marR="54000" marT="18000" marB="18000" anchor="ctr">
                    <a:noFill/>
                  </a:tcPr>
                </a:tc>
                <a:tc>
                  <a:txBody>
                    <a:bodyPr wrap="square"/>
                    <a:lstStyle/>
                    <a:p>
                      <a:pPr algn="l"/>
                      <a:r>
                        <a:rPr sz="850" b="0">
                          <a:solidFill>
                            <a:srgbClr val="1F1F1F"/>
                          </a:solidFill>
                          <a:latin typeface="Arial"/>
                        </a:rPr>
                        <a:t>−95%, from Jan 28</a:t>
                      </a:r>
                    </a:p>
                  </a:txBody>
                  <a:tcPr marL="54000" marR="54000" marT="18000" marB="18000" anchor="ctr">
                    <a:noFill/>
                  </a:tcPr>
                </a:tc>
                <a:tc>
                  <a:txBody>
                    <a:bodyPr wrap="square"/>
                    <a:lstStyle/>
                    <a:p>
                      <a:pPr algn="ctr"/>
                      <a:r>
                        <a:rPr sz="850" b="0">
                          <a:solidFill>
                            <a:srgbClr val="C00000"/>
                          </a:solidFill>
                          <a:latin typeface="Arial"/>
                        </a:rPr>
                        <a:t>−1.5</a:t>
                      </a:r>
                    </a:p>
                  </a:txBody>
                  <a:tcPr marL="54000" marR="54000" marT="18000" marB="18000" anchor="ctr">
                    <a:noFill/>
                  </a:tcPr>
                </a:tc>
                <a:tc>
                  <a:txBody>
                    <a:bodyPr wrap="square"/>
                    <a:lstStyle/>
                    <a:p>
                      <a:pPr algn="ctr"/>
                      <a:r>
                        <a:rPr sz="850" b="0">
                          <a:solidFill>
                            <a:srgbClr val="C00000"/>
                          </a:solidFill>
                          <a:latin typeface="Arial"/>
                        </a:rPr>
                        <a:t>−6.6</a:t>
                      </a:r>
                    </a:p>
                  </a:txBody>
                  <a:tcPr marL="54000" marR="54000" marT="18000" marB="18000" anchor="ctr">
                    <a:noFill/>
                  </a:tcPr>
                </a:tc>
              </a:tr>
              <a:tr h="262000">
                <a:tc>
                  <a:txBody>
                    <a:bodyPr wrap="square"/>
                    <a:lstStyle/>
                    <a:p>
                      <a:pPr algn="l"/>
                      <a:r>
                        <a:rPr sz="850" b="1">
                          <a:solidFill>
                            <a:srgbClr val="062552"/>
                          </a:solidFill>
                          <a:latin typeface="Arial"/>
                        </a:rPr>
                        <a:t>West Meat Packers Ja Ltd</a:t>
                      </a:r>
                    </a:p>
                  </a:txBody>
                  <a:tcPr marL="54000" marR="54000" marT="18000" marB="18000" anchor="ctr">
                    <a:solidFill>
                      <a:srgbClr val="F3F6FB"/>
                    </a:solidFill>
                  </a:tcPr>
                </a:tc>
                <a:tc>
                  <a:txBody>
                    <a:bodyPr wrap="square"/>
                    <a:lstStyle/>
                    <a:p>
                      <a:pPr algn="l"/>
                      <a:r>
                        <a:rPr sz="850" b="0">
                          <a:solidFill>
                            <a:srgbClr val="1F1F1F"/>
                          </a:solidFill>
                          <a:latin typeface="Arial"/>
                        </a:rPr>
                        <a:t>Nicole</a:t>
                      </a:r>
                    </a:p>
                  </a:txBody>
                  <a:tcPr marL="54000" marR="54000" marT="18000" marB="18000" anchor="ctr">
                    <a:solidFill>
                      <a:srgbClr val="F3F6FB"/>
                    </a:solidFill>
                  </a:tcPr>
                </a:tc>
                <a:tc>
                  <a:txBody>
                    <a:bodyPr wrap="square"/>
                    <a:lstStyle/>
                    <a:p>
                      <a:pPr algn="l"/>
                      <a:r>
                        <a:rPr sz="850" b="0">
                          <a:solidFill>
                            <a:srgbClr val="1F1F1F"/>
                          </a:solidFill>
                          <a:latin typeface="Arial"/>
                        </a:rPr>
                        <a:t>Confirmed defection</a:t>
                      </a:r>
                    </a:p>
                  </a:txBody>
                  <a:tcPr marL="54000" marR="54000" marT="18000" marB="18000" anchor="ctr">
                    <a:solidFill>
                      <a:srgbClr val="F3F6FB"/>
                    </a:solidFill>
                  </a:tcPr>
                </a:tc>
                <a:tc>
                  <a:txBody>
                    <a:bodyPr wrap="square"/>
                    <a:lstStyle/>
                    <a:p>
                      <a:pPr algn="ctr"/>
                      <a:r>
                        <a:rPr sz="850" b="0">
                          <a:solidFill>
                            <a:srgbClr val="1F1F1F"/>
                          </a:solidFill>
                          <a:latin typeface="Arial"/>
                        </a:rPr>
                        <a:t>Jan 27</a:t>
                      </a:r>
                    </a:p>
                  </a:txBody>
                  <a:tcPr marL="54000" marR="54000" marT="18000" marB="18000" anchor="ctr">
                    <a:solidFill>
                      <a:srgbClr val="F3F6FB"/>
                    </a:solidFill>
                  </a:tcPr>
                </a:tc>
                <a:tc>
                  <a:txBody>
                    <a:bodyPr wrap="square"/>
                    <a:lstStyle/>
                    <a:p>
                      <a:pPr algn="l"/>
                      <a:r>
                        <a:rPr sz="850" b="0">
                          <a:solidFill>
                            <a:srgbClr val="1F1F1F"/>
                          </a:solidFill>
                          <a:latin typeface="Arial"/>
                        </a:rPr>
                        <a:t>−70%, from Jan 27</a:t>
                      </a:r>
                    </a:p>
                  </a:txBody>
                  <a:tcPr marL="54000" marR="54000" marT="18000" marB="18000" anchor="ctr">
                    <a:solidFill>
                      <a:srgbClr val="F3F6FB"/>
                    </a:solidFill>
                  </a:tcPr>
                </a:tc>
                <a:tc>
                  <a:txBody>
                    <a:bodyPr wrap="square"/>
                    <a:lstStyle/>
                    <a:p>
                      <a:pPr algn="ctr"/>
                      <a:r>
                        <a:rPr sz="850" b="0">
                          <a:solidFill>
                            <a:srgbClr val="C00000"/>
                          </a:solidFill>
                          <a:latin typeface="Arial"/>
                        </a:rPr>
                        <a:t>−3.1</a:t>
                      </a:r>
                    </a:p>
                  </a:txBody>
                  <a:tcPr marL="54000" marR="54000" marT="18000" marB="18000" anchor="ctr">
                    <a:solidFill>
                      <a:srgbClr val="F3F6FB"/>
                    </a:solidFill>
                  </a:tcPr>
                </a:tc>
                <a:tc>
                  <a:txBody>
                    <a:bodyPr wrap="square"/>
                    <a:lstStyle/>
                    <a:p>
                      <a:pPr algn="ctr"/>
                      <a:r>
                        <a:rPr sz="850" b="0">
                          <a:solidFill>
                            <a:srgbClr val="C00000"/>
                          </a:solidFill>
                          <a:latin typeface="Arial"/>
                        </a:rPr>
                        <a:t>−3.6</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Rainforest Seafood Limited</a:t>
                      </a:r>
                    </a:p>
                  </a:txBody>
                  <a:tcPr marL="54000" marR="54000" marT="18000" marB="18000" anchor="ctr">
                    <a:noFill/>
                  </a:tcPr>
                </a:tc>
                <a:tc>
                  <a:txBody>
                    <a:bodyPr wrap="square"/>
                    <a:lstStyle/>
                    <a:p>
                      <a:pPr algn="l"/>
                      <a:r>
                        <a:rPr sz="850" b="0">
                          <a:solidFill>
                            <a:srgbClr val="1F1F1F"/>
                          </a:solidFill>
                          <a:latin typeface="Arial"/>
                        </a:rPr>
                        <a:t>Nicole</a:t>
                      </a:r>
                    </a:p>
                  </a:txBody>
                  <a:tcPr marL="54000" marR="54000" marT="18000" marB="18000" anchor="ctr">
                    <a:noFill/>
                  </a:tcPr>
                </a:tc>
                <a:tc>
                  <a:txBody>
                    <a:bodyPr wrap="square"/>
                    <a:lstStyle/>
                    <a:p>
                      <a:pPr algn="l"/>
                      <a:r>
                        <a:rPr sz="850" b="0">
                          <a:solidFill>
                            <a:srgbClr val="1F1F1F"/>
                          </a:solidFill>
                          <a:latin typeface="Arial"/>
                        </a:rPr>
                        <a:t>Confirmed defection</a:t>
                      </a:r>
                    </a:p>
                  </a:txBody>
                  <a:tcPr marL="54000" marR="54000" marT="18000" marB="18000" anchor="ctr">
                    <a:noFill/>
                  </a:tcPr>
                </a:tc>
                <a:tc>
                  <a:txBody>
                    <a:bodyPr wrap="square"/>
                    <a:lstStyle/>
                    <a:p>
                      <a:pPr algn="ctr"/>
                      <a:r>
                        <a:rPr sz="850" b="0">
                          <a:solidFill>
                            <a:srgbClr val="1F1F1F"/>
                          </a:solidFill>
                          <a:latin typeface="Arial"/>
                        </a:rPr>
                        <a:t>Jan 27</a:t>
                      </a:r>
                    </a:p>
                  </a:txBody>
                  <a:tcPr marL="54000" marR="54000" marT="18000" marB="18000" anchor="ctr">
                    <a:noFill/>
                  </a:tcPr>
                </a:tc>
                <a:tc>
                  <a:txBody>
                    <a:bodyPr wrap="square"/>
                    <a:lstStyle/>
                    <a:p>
                      <a:pPr algn="l"/>
                      <a:r>
                        <a:rPr sz="850" b="0">
                          <a:solidFill>
                            <a:srgbClr val="1F1F1F"/>
                          </a:solidFill>
                          <a:latin typeface="Arial"/>
                        </a:rPr>
                        <a:t>−35%, from Jan 27</a:t>
                      </a:r>
                    </a:p>
                  </a:txBody>
                  <a:tcPr marL="54000" marR="54000" marT="18000" marB="18000" anchor="ctr">
                    <a:noFill/>
                  </a:tcPr>
                </a:tc>
                <a:tc>
                  <a:txBody>
                    <a:bodyPr wrap="square"/>
                    <a:lstStyle/>
                    <a:p>
                      <a:pPr algn="ctr"/>
                      <a:r>
                        <a:rPr sz="850" b="0">
                          <a:solidFill>
                            <a:srgbClr val="C00000"/>
                          </a:solidFill>
                          <a:latin typeface="Arial"/>
                        </a:rPr>
                        <a:t>−1.7</a:t>
                      </a:r>
                    </a:p>
                  </a:txBody>
                  <a:tcPr marL="54000" marR="54000" marT="18000" marB="18000" anchor="ctr">
                    <a:noFill/>
                  </a:tcPr>
                </a:tc>
                <a:tc>
                  <a:txBody>
                    <a:bodyPr wrap="square"/>
                    <a:lstStyle/>
                    <a:p>
                      <a:pPr algn="ctr"/>
                      <a:r>
                        <a:rPr sz="850" b="0">
                          <a:solidFill>
                            <a:srgbClr val="C00000"/>
                          </a:solidFill>
                          <a:latin typeface="Arial"/>
                        </a:rPr>
                        <a:t>−2.0</a:t>
                      </a:r>
                    </a:p>
                  </a:txBody>
                  <a:tcPr marL="54000" marR="54000" marT="18000" marB="18000" anchor="ctr">
                    <a:noFill/>
                  </a:tcPr>
                </a:tc>
              </a:tr>
              <a:tr h="262000">
                <a:tc>
                  <a:txBody>
                    <a:bodyPr wrap="square"/>
                    <a:lstStyle/>
                    <a:p>
                      <a:pPr algn="l"/>
                      <a:r>
                        <a:rPr sz="850" b="1">
                          <a:solidFill>
                            <a:srgbClr val="062552"/>
                          </a:solidFill>
                          <a:latin typeface="Arial"/>
                        </a:rPr>
                        <a:t>Clarendon Distillers Ltd</a:t>
                      </a:r>
                    </a:p>
                  </a:txBody>
                  <a:tcPr marL="54000" marR="54000" marT="18000" marB="18000" anchor="ctr">
                    <a:solidFill>
                      <a:srgbClr val="F3F6FB"/>
                    </a:solidFill>
                  </a:tcPr>
                </a:tc>
                <a:tc>
                  <a:txBody>
                    <a:bodyPr wrap="square"/>
                    <a:lstStyle/>
                    <a:p>
                      <a:pPr algn="l"/>
                      <a:r>
                        <a:rPr sz="850" b="0">
                          <a:solidFill>
                            <a:srgbClr val="1F1F1F"/>
                          </a:solidFill>
                          <a:latin typeface="Arial"/>
                        </a:rPr>
                        <a:t>Sharmica</a:t>
                      </a:r>
                    </a:p>
                  </a:txBody>
                  <a:tcPr marL="54000" marR="54000" marT="18000" marB="18000" anchor="ctr">
                    <a:solidFill>
                      <a:srgbClr val="F3F6FB"/>
                    </a:solidFill>
                  </a:tcPr>
                </a:tc>
                <a:tc>
                  <a:txBody>
                    <a:bodyPr wrap="square"/>
                    <a:lstStyle/>
                    <a:p>
                      <a:pPr algn="l"/>
                      <a:r>
                        <a:rPr sz="850" b="0">
                          <a:solidFill>
                            <a:srgbClr val="1F1F1F"/>
                          </a:solidFill>
                          <a:latin typeface="Arial"/>
                        </a:rPr>
                        <a:t>Possible defection</a:t>
                      </a:r>
                    </a:p>
                  </a:txBody>
                  <a:tcPr marL="54000" marR="54000" marT="18000" marB="18000" anchor="ctr">
                    <a:solidFill>
                      <a:srgbClr val="F3F6FB"/>
                    </a:solidFill>
                  </a:tcPr>
                </a:tc>
                <a:tc>
                  <a:txBody>
                    <a:bodyPr wrap="square"/>
                    <a:lstStyle/>
                    <a:p>
                      <a:pPr algn="ctr"/>
                      <a:r>
                        <a:rPr sz="850" b="0">
                          <a:solidFill>
                            <a:srgbClr val="1F1F1F"/>
                          </a:solidFill>
                          <a:latin typeface="Arial"/>
                        </a:rPr>
                        <a:t>Dec 26</a:t>
                      </a:r>
                    </a:p>
                  </a:txBody>
                  <a:tcPr marL="54000" marR="54000" marT="18000" marB="18000" anchor="ctr">
                    <a:solidFill>
                      <a:srgbClr val="F3F6FB"/>
                    </a:solidFill>
                  </a:tcPr>
                </a:tc>
                <a:tc>
                  <a:txBody>
                    <a:bodyPr wrap="square"/>
                    <a:lstStyle/>
                    <a:p>
                      <a:pPr algn="l"/>
                      <a:r>
                        <a:rPr sz="850" b="0">
                          <a:solidFill>
                            <a:srgbClr val="1F1F1F"/>
                          </a:solidFill>
                          <a:latin typeface="Arial"/>
                        </a:rPr>
                        <a:t>−85%, from Mar 27</a:t>
                      </a:r>
                    </a:p>
                  </a:txBody>
                  <a:tcPr marL="54000" marR="54000" marT="18000" marB="18000" anchor="ctr">
                    <a:solidFill>
                      <a:srgbClr val="F3F6FB"/>
                    </a:solidFill>
                  </a:tcPr>
                </a:tc>
                <a:tc>
                  <a:txBody>
                    <a:bodyPr wrap="square"/>
                    <a:lstStyle/>
                    <a:p>
                      <a:pPr algn="ctr"/>
                      <a:r>
                        <a:rPr sz="850" b="0">
                          <a:solidFill>
                            <a:srgbClr val="C00000"/>
                          </a:solidFill>
                          <a:latin typeface="Arial"/>
                        </a:rPr>
                        <a:t>−1.8</a:t>
                      </a:r>
                    </a:p>
                  </a:txBody>
                  <a:tcPr marL="54000" marR="54000" marT="18000" marB="18000" anchor="ctr">
                    <a:solidFill>
                      <a:srgbClr val="F3F6FB"/>
                    </a:solidFill>
                  </a:tcPr>
                </a:tc>
                <a:tc>
                  <a:txBody>
                    <a:bodyPr wrap="square"/>
                    <a:lstStyle/>
                    <a:p>
                      <a:pPr algn="ctr"/>
                      <a:r>
                        <a:rPr sz="850" b="0">
                          <a:solidFill>
                            <a:srgbClr val="C00000"/>
                          </a:solidFill>
                          <a:latin typeface="Arial"/>
                        </a:rPr>
                        <a:t>−1.7</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Juici Beef Limited</a:t>
                      </a:r>
                    </a:p>
                  </a:txBody>
                  <a:tcPr marL="54000" marR="54000" marT="18000" marB="18000" anchor="ctr">
                    <a:noFill/>
                  </a:tcPr>
                </a:tc>
                <a:tc>
                  <a:txBody>
                    <a:bodyPr wrap="square"/>
                    <a:lstStyle/>
                    <a:p>
                      <a:pPr algn="l"/>
                      <a:r>
                        <a:rPr sz="850" b="0">
                          <a:solidFill>
                            <a:srgbClr val="1F1F1F"/>
                          </a:solidFill>
                          <a:latin typeface="Arial"/>
                        </a:rPr>
                        <a:t>Sharmica</a:t>
                      </a:r>
                    </a:p>
                  </a:txBody>
                  <a:tcPr marL="54000" marR="54000" marT="18000" marB="18000" anchor="ctr">
                    <a:noFill/>
                  </a:tcPr>
                </a:tc>
                <a:tc>
                  <a:txBody>
                    <a:bodyPr wrap="square"/>
                    <a:lstStyle/>
                    <a:p>
                      <a:pPr algn="l"/>
                      <a:r>
                        <a:rPr sz="850" b="0">
                          <a:solidFill>
                            <a:srgbClr val="1F1F1F"/>
                          </a:solidFill>
                          <a:latin typeface="Arial"/>
                        </a:rPr>
                        <a:t>Expansion</a:t>
                      </a:r>
                    </a:p>
                  </a:txBody>
                  <a:tcPr marL="54000" marR="54000" marT="18000" marB="18000" anchor="ctr">
                    <a:noFill/>
                  </a:tcPr>
                </a:tc>
                <a:tc>
                  <a:txBody>
                    <a:bodyPr wrap="square"/>
                    <a:lstStyle/>
                    <a:p>
                      <a:pPr algn="ctr"/>
                      <a:r>
                        <a:rPr sz="850" b="0">
                          <a:solidFill>
                            <a:srgbClr val="1F1F1F"/>
                          </a:solidFill>
                          <a:latin typeface="Arial"/>
                        </a:rPr>
                        <a:t>Feb 27</a:t>
                      </a:r>
                    </a:p>
                  </a:txBody>
                  <a:tcPr marL="54000" marR="54000" marT="18000" marB="18000" anchor="ctr">
                    <a:noFill/>
                  </a:tcPr>
                </a:tc>
                <a:tc>
                  <a:txBody>
                    <a:bodyPr wrap="square"/>
                    <a:lstStyle/>
                    <a:p>
                      <a:pPr algn="l"/>
                      <a:r>
                        <a:rPr sz="850" b="0">
                          <a:solidFill>
                            <a:srgbClr val="1F1F1F"/>
                          </a:solidFill>
                          <a:latin typeface="Arial"/>
                        </a:rPr>
                        <a:t>+20%, from Feb 27</a:t>
                      </a:r>
                    </a:p>
                  </a:txBody>
                  <a:tcPr marL="54000" marR="54000" marT="18000" marB="18000" anchor="ctr">
                    <a:noFill/>
                  </a:tcPr>
                </a:tc>
                <a:tc>
                  <a:txBody>
                    <a:bodyPr wrap="square"/>
                    <a:lstStyle/>
                    <a:p>
                      <a:pPr algn="ctr"/>
                      <a:r>
                        <a:rPr sz="850" b="0">
                          <a:solidFill>
                            <a:srgbClr val="0E4E95"/>
                          </a:solidFill>
                          <a:latin typeface="Arial"/>
                        </a:rPr>
                        <a:t>+1.2</a:t>
                      </a:r>
                    </a:p>
                  </a:txBody>
                  <a:tcPr marL="54000" marR="54000" marT="18000" marB="18000" anchor="ctr">
                    <a:noFill/>
                  </a:tcPr>
                </a:tc>
                <a:tc>
                  <a:txBody>
                    <a:bodyPr wrap="square"/>
                    <a:lstStyle/>
                    <a:p>
                      <a:pPr algn="ctr"/>
                      <a:r>
                        <a:rPr sz="850" b="0">
                          <a:solidFill>
                            <a:srgbClr val="0E4E95"/>
                          </a:solidFill>
                          <a:latin typeface="Arial"/>
                        </a:rPr>
                        <a:t>+1.5</a:t>
                      </a:r>
                    </a:p>
                  </a:txBody>
                  <a:tcPr marL="54000" marR="54000" marT="18000" marB="18000" anchor="ctr">
                    <a:noFill/>
                  </a:tcPr>
                </a:tc>
              </a:tr>
              <a:tr h="262000">
                <a:tc>
                  <a:txBody>
                    <a:bodyPr wrap="square"/>
                    <a:lstStyle/>
                    <a:p>
                      <a:pPr algn="l"/>
                      <a:r>
                        <a:rPr sz="850" b="1">
                          <a:solidFill>
                            <a:srgbClr val="062552"/>
                          </a:solidFill>
                          <a:latin typeface="Arial"/>
                        </a:rPr>
                        <a:t>Ministry of Health</a:t>
                      </a:r>
                    </a:p>
                  </a:txBody>
                  <a:tcPr marL="54000" marR="54000" marT="18000" marB="18000" anchor="ctr">
                    <a:solidFill>
                      <a:srgbClr val="F3F6FB"/>
                    </a:solidFill>
                  </a:tcPr>
                </a:tc>
                <a:tc>
                  <a:txBody>
                    <a:bodyPr wrap="square"/>
                    <a:lstStyle/>
                    <a:p>
                      <a:pPr algn="l"/>
                      <a:r>
                        <a:rPr sz="850" b="0">
                          <a:solidFill>
                            <a:srgbClr val="1F1F1F"/>
                          </a:solidFill>
                          <a:latin typeface="Arial"/>
                        </a:rPr>
                        <a:t>Simone</a:t>
                      </a:r>
                    </a:p>
                  </a:txBody>
                  <a:tcPr marL="54000" marR="54000" marT="18000" marB="18000" anchor="ctr">
                    <a:solidFill>
                      <a:srgbClr val="F3F6FB"/>
                    </a:solidFill>
                  </a:tcPr>
                </a:tc>
                <a:tc>
                  <a:txBody>
                    <a:bodyPr wrap="square"/>
                    <a:lstStyle/>
                    <a:p>
                      <a:pPr algn="l"/>
                      <a:r>
                        <a:rPr sz="850" b="0">
                          <a:solidFill>
                            <a:srgbClr val="1F1F1F"/>
                          </a:solidFill>
                          <a:latin typeface="Arial"/>
                        </a:rPr>
                        <a:t>Expansion</a:t>
                      </a:r>
                    </a:p>
                  </a:txBody>
                  <a:tcPr marL="54000" marR="54000" marT="18000" marB="18000" anchor="ctr">
                    <a:solidFill>
                      <a:srgbClr val="F3F6FB"/>
                    </a:solidFill>
                  </a:tcPr>
                </a:tc>
                <a:tc>
                  <a:txBody>
                    <a:bodyPr wrap="square"/>
                    <a:lstStyle/>
                    <a:p>
                      <a:pPr algn="ctr"/>
                      <a:r>
                        <a:rPr sz="850" b="0">
                          <a:solidFill>
                            <a:srgbClr val="1F1F1F"/>
                          </a:solidFill>
                          <a:latin typeface="Arial"/>
                        </a:rPr>
                        <a:t>Oct 27</a:t>
                      </a:r>
                    </a:p>
                  </a:txBody>
                  <a:tcPr marL="54000" marR="54000" marT="18000" marB="18000" anchor="ctr">
                    <a:solidFill>
                      <a:srgbClr val="F3F6FB"/>
                    </a:solidFill>
                  </a:tcPr>
                </a:tc>
                <a:tc>
                  <a:txBody>
                    <a:bodyPr wrap="square"/>
                    <a:lstStyle/>
                    <a:p>
                      <a:pPr algn="l"/>
                      <a:r>
                        <a:rPr sz="850" b="0">
                          <a:solidFill>
                            <a:srgbClr val="1F1F1F"/>
                          </a:solidFill>
                          <a:latin typeface="Arial"/>
                        </a:rPr>
                        <a:t>+20%, from Oct 27</a:t>
                      </a:r>
                    </a:p>
                  </a:txBody>
                  <a:tcPr marL="54000" marR="54000" marT="18000" marB="18000" anchor="ctr">
                    <a:solidFill>
                      <a:srgbClr val="F3F6FB"/>
                    </a:solidFill>
                  </a:tcPr>
                </a:tc>
                <a:tc>
                  <a:txBody>
                    <a:bodyPr wrap="square"/>
                    <a:lstStyle/>
                    <a:p>
                      <a:pPr algn="ctr"/>
                      <a:r>
                        <a:rPr sz="850" b="0">
                          <a:solidFill>
                            <a:srgbClr val="0E4E95"/>
                          </a:solidFill>
                          <a:latin typeface="Arial"/>
                        </a:rPr>
                        <a:t>+0.1</a:t>
                      </a:r>
                    </a:p>
                  </a:txBody>
                  <a:tcPr marL="54000" marR="54000" marT="18000" marB="18000" anchor="ctr">
                    <a:solidFill>
                      <a:srgbClr val="F3F6FB"/>
                    </a:solidFill>
                  </a:tcPr>
                </a:tc>
                <a:tc>
                  <a:txBody>
                    <a:bodyPr wrap="square"/>
                    <a:lstStyle/>
                    <a:p>
                      <a:pPr algn="ctr"/>
                      <a:r>
                        <a:rPr sz="850" b="0">
                          <a:solidFill>
                            <a:srgbClr val="0E4E95"/>
                          </a:solidFill>
                          <a:latin typeface="Arial"/>
                        </a:rPr>
                        <a:t>+1.5</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Sagicor Life Jamaica Limited</a:t>
                      </a:r>
                    </a:p>
                  </a:txBody>
                  <a:tcPr marL="54000" marR="54000" marT="18000" marB="18000" anchor="ctr">
                    <a:noFill/>
                  </a:tcPr>
                </a:tc>
                <a:tc>
                  <a:txBody>
                    <a:bodyPr wrap="square"/>
                    <a:lstStyle/>
                    <a:p>
                      <a:pPr algn="l"/>
                      <a:r>
                        <a:rPr sz="850" b="0">
                          <a:solidFill>
                            <a:srgbClr val="1F1F1F"/>
                          </a:solidFill>
                          <a:latin typeface="Arial"/>
                        </a:rPr>
                        <a:t>Sheryl</a:t>
                      </a:r>
                    </a:p>
                  </a:txBody>
                  <a:tcPr marL="54000" marR="54000" marT="18000" marB="18000" anchor="ctr">
                    <a:noFill/>
                  </a:tcPr>
                </a:tc>
                <a:tc>
                  <a:txBody>
                    <a:bodyPr wrap="square"/>
                    <a:lstStyle/>
                    <a:p>
                      <a:pPr algn="l"/>
                      <a:r>
                        <a:rPr sz="850" b="0">
                          <a:solidFill>
                            <a:srgbClr val="1F1F1F"/>
                          </a:solidFill>
                          <a:latin typeface="Arial"/>
                        </a:rPr>
                        <a:t>Possible defection</a:t>
                      </a:r>
                    </a:p>
                  </a:txBody>
                  <a:tcPr marL="54000" marR="54000" marT="18000" marB="18000" anchor="ctr">
                    <a:noFill/>
                  </a:tcPr>
                </a:tc>
                <a:tc>
                  <a:txBody>
                    <a:bodyPr wrap="square"/>
                    <a:lstStyle/>
                    <a:p>
                      <a:pPr algn="ctr"/>
                      <a:r>
                        <a:rPr sz="850" b="0">
                          <a:solidFill>
                            <a:srgbClr val="1F1F1F"/>
                          </a:solidFill>
                          <a:latin typeface="Arial"/>
                        </a:rPr>
                        <a:t>Jul 27</a:t>
                      </a:r>
                    </a:p>
                  </a:txBody>
                  <a:tcPr marL="54000" marR="54000" marT="18000" marB="18000" anchor="ctr">
                    <a:noFill/>
                  </a:tcPr>
                </a:tc>
                <a:tc>
                  <a:txBody>
                    <a:bodyPr wrap="square"/>
                    <a:lstStyle/>
                    <a:p>
                      <a:pPr algn="l"/>
                      <a:r>
                        <a:rPr sz="850" b="0">
                          <a:solidFill>
                            <a:srgbClr val="1F1F1F"/>
                          </a:solidFill>
                          <a:latin typeface="Arial"/>
                        </a:rPr>
                        <a:t>−25%, from Aug 27</a:t>
                      </a:r>
                    </a:p>
                  </a:txBody>
                  <a:tcPr marL="54000" marR="54000" marT="18000" marB="18000" anchor="ctr">
                    <a:noFill/>
                  </a:tcPr>
                </a:tc>
                <a:tc>
                  <a:txBody>
                    <a:bodyPr wrap="square"/>
                    <a:lstStyle/>
                    <a:p>
                      <a:pPr algn="ctr"/>
                      <a:r>
                        <a:rPr sz="850" b="0">
                          <a:solidFill>
                            <a:srgbClr val="C00000"/>
                          </a:solidFill>
                          <a:latin typeface="Arial"/>
                        </a:rPr>
                        <a:t>−0.5</a:t>
                      </a:r>
                    </a:p>
                  </a:txBody>
                  <a:tcPr marL="54000" marR="54000" marT="18000" marB="18000" anchor="ctr">
                    <a:noFill/>
                  </a:tcPr>
                </a:tc>
                <a:tc>
                  <a:txBody>
                    <a:bodyPr wrap="square"/>
                    <a:lstStyle/>
                    <a:p>
                      <a:pPr algn="ctr"/>
                      <a:r>
                        <a:rPr sz="850" b="0">
                          <a:solidFill>
                            <a:srgbClr val="C00000"/>
                          </a:solidFill>
                          <a:latin typeface="Arial"/>
                        </a:rPr>
                        <a:t>−1.1</a:t>
                      </a:r>
                    </a:p>
                  </a:txBody>
                  <a:tcPr marL="54000" marR="54000" marT="18000" marB="18000" anchor="ctr">
                    <a:noFill/>
                  </a:tcPr>
                </a:tc>
              </a:tr>
              <a:tr h="262000">
                <a:tc>
                  <a:txBody>
                    <a:bodyPr wrap="square"/>
                    <a:lstStyle/>
                    <a:p>
                      <a:pPr algn="l"/>
                      <a:r>
                        <a:rPr sz="850" b="1">
                          <a:solidFill>
                            <a:srgbClr val="062552"/>
                          </a:solidFill>
                          <a:latin typeface="Arial"/>
                        </a:rPr>
                        <a:t>Grace Food Processors (Canning) </a:t>
                      </a:r>
                    </a:p>
                  </a:txBody>
                  <a:tcPr marL="54000" marR="54000" marT="18000" marB="18000" anchor="ctr">
                    <a:solidFill>
                      <a:srgbClr val="F3F6FB"/>
                    </a:solidFill>
                  </a:tcPr>
                </a:tc>
                <a:tc>
                  <a:txBody>
                    <a:bodyPr wrap="square"/>
                    <a:lstStyle/>
                    <a:p>
                      <a:pPr algn="l"/>
                      <a:r>
                        <a:rPr sz="850" b="0">
                          <a:solidFill>
                            <a:srgbClr val="1F1F1F"/>
                          </a:solidFill>
                          <a:latin typeface="Arial"/>
                        </a:rPr>
                        <a:t>Nicole</a:t>
                      </a:r>
                    </a:p>
                  </a:txBody>
                  <a:tcPr marL="54000" marR="54000" marT="18000" marB="18000" anchor="ctr">
                    <a:solidFill>
                      <a:srgbClr val="F3F6FB"/>
                    </a:solidFill>
                  </a:tcPr>
                </a:tc>
                <a:tc>
                  <a:txBody>
                    <a:bodyPr wrap="square"/>
                    <a:lstStyle/>
                    <a:p>
                      <a:pPr algn="l"/>
                      <a:r>
                        <a:rPr sz="850" b="0">
                          <a:solidFill>
                            <a:srgbClr val="1F1F1F"/>
                          </a:solidFill>
                          <a:latin typeface="Arial"/>
                        </a:rPr>
                        <a:t>Possible defection</a:t>
                      </a:r>
                    </a:p>
                  </a:txBody>
                  <a:tcPr marL="54000" marR="54000" marT="18000" marB="18000" anchor="ctr">
                    <a:solidFill>
                      <a:srgbClr val="F3F6FB"/>
                    </a:solidFill>
                  </a:tcPr>
                </a:tc>
                <a:tc>
                  <a:txBody>
                    <a:bodyPr wrap="square"/>
                    <a:lstStyle/>
                    <a:p>
                      <a:pPr algn="ctr"/>
                      <a:r>
                        <a:rPr sz="850" b="0">
                          <a:solidFill>
                            <a:srgbClr val="1F1F1F"/>
                          </a:solidFill>
                          <a:latin typeface="Arial"/>
                        </a:rPr>
                        <a:t>Jul 27</a:t>
                      </a:r>
                    </a:p>
                  </a:txBody>
                  <a:tcPr marL="54000" marR="54000" marT="18000" marB="18000" anchor="ctr">
                    <a:solidFill>
                      <a:srgbClr val="F3F6FB"/>
                    </a:solidFill>
                  </a:tcPr>
                </a:tc>
                <a:tc>
                  <a:txBody>
                    <a:bodyPr wrap="square"/>
                    <a:lstStyle/>
                    <a:p>
                      <a:pPr algn="l"/>
                      <a:r>
                        <a:rPr sz="850" b="0">
                          <a:solidFill>
                            <a:srgbClr val="1F1F1F"/>
                          </a:solidFill>
                          <a:latin typeface="Arial"/>
                        </a:rPr>
                        <a:t>−35%, from Jul 27</a:t>
                      </a:r>
                    </a:p>
                  </a:txBody>
                  <a:tcPr marL="54000" marR="54000" marT="18000" marB="18000" anchor="ctr">
                    <a:solidFill>
                      <a:srgbClr val="F3F6FB"/>
                    </a:solidFill>
                  </a:tcPr>
                </a:tc>
                <a:tc>
                  <a:txBody>
                    <a:bodyPr wrap="square"/>
                    <a:lstStyle/>
                    <a:p>
                      <a:pPr algn="ctr"/>
                      <a:r>
                        <a:rPr sz="850" b="0">
                          <a:solidFill>
                            <a:srgbClr val="C00000"/>
                          </a:solidFill>
                          <a:latin typeface="Arial"/>
                        </a:rPr>
                        <a:t>−0.6</a:t>
                      </a:r>
                    </a:p>
                  </a:txBody>
                  <a:tcPr marL="54000" marR="54000" marT="18000" marB="18000" anchor="ctr">
                    <a:solidFill>
                      <a:srgbClr val="F3F6FB"/>
                    </a:solidFill>
                  </a:tcPr>
                </a:tc>
                <a:tc>
                  <a:txBody>
                    <a:bodyPr wrap="square"/>
                    <a:lstStyle/>
                    <a:p>
                      <a:pPr algn="ctr"/>
                      <a:r>
                        <a:rPr sz="850" b="0">
                          <a:solidFill>
                            <a:srgbClr val="C00000"/>
                          </a:solidFill>
                          <a:latin typeface="Arial"/>
                        </a:rPr>
                        <a:t>−1.1</a:t>
                      </a:r>
                    </a:p>
                  </a:txBody>
                  <a:tcPr marL="54000" marR="54000" marT="18000" marB="18000" anchor="ctr">
                    <a:solidFill>
                      <a:srgbClr val="F3F6FB"/>
                    </a:solidFill>
                  </a:tcPr>
                </a:tc>
              </a:tr>
            </a:tbl>
          </a:graphicData>
        </a:graphic>
      </p:graphicFrame>
      <p:sp>
        <p:nvSpPr>
          <p:cNvPr id="8" name="Rectangle 7"/>
          <p:cNvSpPr/>
          <p:nvPr/>
        </p:nvSpPr>
        <p:spPr>
          <a:xfrm>
            <a:off x="274320" y="5500000"/>
            <a:ext cx="11650000" cy="76000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5500000"/>
            <a:ext cx="54000" cy="760000"/>
          </a:xfrm>
          <a:prstGeom prst="rect">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20" y="5580000"/>
            <a:ext cx="11390000" cy="640000"/>
          </a:xfrm>
          <a:prstGeom prst="rect">
            <a:avLst/>
          </a:prstGeom>
          <a:noFill/>
        </p:spPr>
        <p:txBody>
          <a:bodyPr wrap="square" lIns="0" rIns="0" tIns="0" bIns="0" anchor="t">
            <a:spAutoFit/>
          </a:bodyPr>
          <a:lstStyle/>
          <a:p>
            <a:pPr algn="l"/>
            <a:r>
              <a:rPr sz="1050" b="1">
                <a:solidFill>
                  <a:srgbClr val="062552"/>
                </a:solidFill>
                <a:latin typeface="Arial"/>
              </a:rPr>
              <a:t>Month-only entries. </a:t>
            </a:r>
            <a:r>
              <a:rPr sz="1050" b="0">
                <a:solidFill>
                  <a:srgbClr val="1F1F1F"/>
                </a:solidFill>
                <a:latin typeface="Arial"/>
              </a:rPr>
              <a:t>Operational disruption entries apply only to the months entered, so the forecast returns to normal afterwards. Windalco's turbine outage is entered for November and December 2026 only; if it runs longer, the extra months need entering. 12 customers have month-only entries.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Possible Defections</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Confirm each possible defection, or take it out of the forecast</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Customers with a possible defection adjustment on file. A possible defection removes volume from the forecast, so it should be confirmed, dated or removed.</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8</a:t>
            </a:r>
          </a:p>
        </p:txBody>
      </p:sp>
      <p:graphicFrame>
        <p:nvGraphicFramePr>
          <p:cNvPr id="7" name="Table 6"/>
          <p:cNvGraphicFramePr>
            <a:graphicFrameLocks noGrp="1"/>
          </p:cNvGraphicFramePr>
          <p:nvPr/>
        </p:nvGraphicFramePr>
        <p:xfrm>
          <a:off x="274320" y="1950000"/>
          <a:ext cx="11649997" cy="2840000"/>
        </p:xfrm>
        <a:graphic>
          <a:graphicData uri="http://schemas.openxmlformats.org/drawingml/2006/table">
            <a:tbl>
              <a:tblPr firstRow="0" bandRow="0">
                <a:tableStyleId>{5940675A-B579-460E-94D1-54222C63F5DA}</a:tableStyleId>
              </a:tblPr>
              <a:tblGrid>
                <a:gridCol w="2969607"/>
                <a:gridCol w="1142156"/>
                <a:gridCol w="4568627"/>
                <a:gridCol w="1599019"/>
                <a:gridCol w="1370588"/>
              </a:tblGrid>
              <a:tr h="320000">
                <a:tc>
                  <a:txBody>
                    <a:bodyPr wrap="square"/>
                    <a:lstStyle/>
                    <a:p>
                      <a:pPr algn="l"/>
                      <a:r>
                        <a:rPr sz="900" b="1">
                          <a:solidFill>
                            <a:srgbClr val="FFFFFF"/>
                          </a:solidFill>
                          <a:latin typeface="Arial"/>
                        </a:rPr>
                        <a:t>Customer</a:t>
                      </a:r>
                    </a:p>
                  </a:txBody>
                  <a:tcPr marL="54000" marR="54000" marT="18000" marB="18000" anchor="ctr">
                    <a:solidFill>
                      <a:srgbClr val="062552"/>
                    </a:solidFill>
                  </a:tcPr>
                </a:tc>
                <a:tc>
                  <a:txBody>
                    <a:bodyPr wrap="square"/>
                    <a:lstStyle/>
                    <a:p>
                      <a:pPr algn="l"/>
                      <a:r>
                        <a:rPr sz="900" b="1">
                          <a:solidFill>
                            <a:srgbClr val="FFFFFF"/>
                          </a:solidFill>
                          <a:latin typeface="Arial"/>
                        </a:rPr>
                        <a:t>KAM</a:t>
                      </a:r>
                    </a:p>
                  </a:txBody>
                  <a:tcPr marL="54000" marR="54000" marT="18000" marB="18000" anchor="ctr">
                    <a:solidFill>
                      <a:srgbClr val="062552"/>
                    </a:solidFill>
                  </a:tcPr>
                </a:tc>
                <a:tc>
                  <a:txBody>
                    <a:bodyPr wrap="square"/>
                    <a:lstStyle/>
                    <a:p>
                      <a:pPr algn="l"/>
                      <a:r>
                        <a:rPr sz="900" b="1">
                          <a:solidFill>
                            <a:srgbClr val="FFFFFF"/>
                          </a:solidFill>
                          <a:latin typeface="Arial"/>
                        </a:rPr>
                        <a:t>Adjustment and months</a:t>
                      </a:r>
                    </a:p>
                  </a:txBody>
                  <a:tcPr marL="54000" marR="54000" marT="18000" marB="18000" anchor="ctr">
                    <a:solidFill>
                      <a:srgbClr val="062552"/>
                    </a:solidFill>
                  </a:tcPr>
                </a:tc>
                <a:tc>
                  <a:txBody>
                    <a:bodyPr wrap="square"/>
                    <a:lstStyle/>
                    <a:p>
                      <a:pPr algn="ctr"/>
                      <a:r>
                        <a:rPr sz="900" b="1">
                          <a:solidFill>
                            <a:srgbClr val="FFFFFF"/>
                          </a:solidFill>
                          <a:latin typeface="Arial"/>
                        </a:rPr>
                        <a:t>Entered by</a:t>
                      </a:r>
                    </a:p>
                  </a:txBody>
                  <a:tcPr marL="54000" marR="54000" marT="18000" marB="18000" anchor="ctr">
                    <a:solidFill>
                      <a:srgbClr val="062552"/>
                    </a:solidFill>
                  </a:tcPr>
                </a:tc>
                <a:tc>
                  <a:txBody>
                    <a:bodyPr wrap="square"/>
                    <a:lstStyle/>
                    <a:p>
                      <a:pPr algn="ctr"/>
                      <a:r>
                        <a:rPr sz="900" b="1">
                          <a:solidFill>
                            <a:srgbClr val="FFFFFF"/>
                          </a:solidFill>
                          <a:latin typeface="Arial"/>
                        </a:rPr>
                        <a:t>FY2027 effect</a:t>
                      </a:r>
                    </a:p>
                  </a:txBody>
                  <a:tcPr marL="54000" marR="54000" marT="18000" marB="18000" anchor="ctr">
                    <a:solidFill>
                      <a:srgbClr val="062552"/>
                    </a:solidFill>
                  </a:tcPr>
                </a:tc>
              </a:tr>
              <a:tr h="315000">
                <a:tc>
                  <a:txBody>
                    <a:bodyPr wrap="square"/>
                    <a:lstStyle/>
                    <a:p>
                      <a:pPr algn="l"/>
                      <a:r>
                        <a:rPr sz="900" b="1">
                          <a:solidFill>
                            <a:srgbClr val="062552"/>
                          </a:solidFill>
                          <a:latin typeface="Arial"/>
                        </a:rPr>
                        <a:t>Clarendon Distillers Ltd</a:t>
                      </a:r>
                    </a:p>
                  </a:txBody>
                  <a:tcPr marL="54000" marR="54000" marT="18000" marB="18000" anchor="ctr">
                    <a:noFill/>
                  </a:tcPr>
                </a:tc>
                <a:tc>
                  <a:txBody>
                    <a:bodyPr wrap="square"/>
                    <a:lstStyle/>
                    <a:p>
                      <a:pPr algn="l"/>
                      <a:r>
                        <a:rPr sz="900" b="0">
                          <a:solidFill>
                            <a:srgbClr val="1F1F1F"/>
                          </a:solidFill>
                          <a:latin typeface="Arial"/>
                        </a:rPr>
                        <a:t>Sharmica</a:t>
                      </a:r>
                    </a:p>
                  </a:txBody>
                  <a:tcPr marL="54000" marR="54000" marT="18000" marB="18000" anchor="ctr">
                    <a:noFill/>
                  </a:tcPr>
                </a:tc>
                <a:tc>
                  <a:txBody>
                    <a:bodyPr wrap="square"/>
                    <a:lstStyle/>
                    <a:p>
                      <a:pPr algn="l"/>
                      <a:r>
                        <a:rPr sz="900" b="0">
                          <a:solidFill>
                            <a:srgbClr val="1F1F1F"/>
                          </a:solidFill>
                          <a:latin typeface="Arial"/>
                        </a:rPr>
                        <a:t>−85%, from Mar 27; −85%, from Apr 27...</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1F1F1F"/>
                          </a:solidFill>
                          <a:latin typeface="Arial"/>
                        </a:rPr>
                        <a:t>−1.80</a:t>
                      </a:r>
                    </a:p>
                  </a:txBody>
                  <a:tcPr marL="54000" marR="54000" marT="18000" marB="18000" anchor="ctr">
                    <a:noFill/>
                  </a:tcPr>
                </a:tc>
              </a:tr>
              <a:tr h="315000">
                <a:tc>
                  <a:txBody>
                    <a:bodyPr wrap="square"/>
                    <a:lstStyle/>
                    <a:p>
                      <a:pPr algn="l"/>
                      <a:r>
                        <a:rPr sz="900" b="1">
                          <a:solidFill>
                            <a:srgbClr val="062552"/>
                          </a:solidFill>
                          <a:latin typeface="Arial"/>
                        </a:rPr>
                        <a:t>University Of Technology</a:t>
                      </a:r>
                    </a:p>
                  </a:txBody>
                  <a:tcPr marL="54000" marR="54000" marT="18000" marB="18000" anchor="ctr">
                    <a:solidFill>
                      <a:srgbClr val="F3F6FB"/>
                    </a:solidFill>
                  </a:tcPr>
                </a:tc>
                <a:tc>
                  <a:txBody>
                    <a:bodyPr wrap="square"/>
                    <a:lstStyle/>
                    <a:p>
                      <a:pPr algn="l"/>
                      <a:r>
                        <a:rPr sz="900" b="0">
                          <a:solidFill>
                            <a:srgbClr val="1F1F1F"/>
                          </a:solidFill>
                          <a:latin typeface="Arial"/>
                        </a:rPr>
                        <a:t>Jean</a:t>
                      </a:r>
                    </a:p>
                  </a:txBody>
                  <a:tcPr marL="54000" marR="54000" marT="18000" marB="18000" anchor="ctr">
                    <a:solidFill>
                      <a:srgbClr val="F3F6FB"/>
                    </a:solidFill>
                  </a:tcPr>
                </a:tc>
                <a:tc>
                  <a:txBody>
                    <a:bodyPr wrap="square"/>
                    <a:lstStyle/>
                    <a:p>
                      <a:pPr algn="l"/>
                      <a:r>
                        <a:rPr sz="900" b="0">
                          <a:solidFill>
                            <a:srgbClr val="1F1F1F"/>
                          </a:solidFill>
                          <a:latin typeface="Arial"/>
                        </a:rPr>
                        <a:t>−50%, from Jul 27; −50%, from Aug 27...</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1F1F1F"/>
                          </a:solidFill>
                          <a:latin typeface="Arial"/>
                        </a:rPr>
                        <a:t>−1.53</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Grace Food Processors (Canning</a:t>
                      </a:r>
                    </a:p>
                  </a:txBody>
                  <a:tcPr marL="54000" marR="54000" marT="18000" marB="18000" anchor="ctr">
                    <a:noFill/>
                  </a:tcPr>
                </a:tc>
                <a:tc>
                  <a:txBody>
                    <a:bodyPr wrap="square"/>
                    <a:lstStyle/>
                    <a:p>
                      <a:pPr algn="l"/>
                      <a:r>
                        <a:rPr sz="900" b="0">
                          <a:solidFill>
                            <a:srgbClr val="1F1F1F"/>
                          </a:solidFill>
                          <a:latin typeface="Arial"/>
                        </a:rPr>
                        <a:t>Nicole</a:t>
                      </a:r>
                    </a:p>
                  </a:txBody>
                  <a:tcPr marL="54000" marR="54000" marT="18000" marB="18000" anchor="ctr">
                    <a:noFill/>
                  </a:tcPr>
                </a:tc>
                <a:tc>
                  <a:txBody>
                    <a:bodyPr wrap="square"/>
                    <a:lstStyle/>
                    <a:p>
                      <a:pPr algn="l"/>
                      <a:r>
                        <a:rPr sz="900" b="0">
                          <a:solidFill>
                            <a:srgbClr val="1F1F1F"/>
                          </a:solidFill>
                          <a:latin typeface="Arial"/>
                        </a:rPr>
                        <a:t>−35%, from Jul 27</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1F1F1F"/>
                          </a:solidFill>
                          <a:latin typeface="Arial"/>
                        </a:rPr>
                        <a:t>−0.56</a:t>
                      </a:r>
                    </a:p>
                  </a:txBody>
                  <a:tcPr marL="54000" marR="54000" marT="18000" marB="18000" anchor="ctr">
                    <a:noFill/>
                  </a:tcPr>
                </a:tc>
              </a:tr>
              <a:tr h="315000">
                <a:tc>
                  <a:txBody>
                    <a:bodyPr wrap="square"/>
                    <a:lstStyle/>
                    <a:p>
                      <a:pPr algn="l"/>
                      <a:r>
                        <a:rPr sz="900" b="1">
                          <a:solidFill>
                            <a:srgbClr val="062552"/>
                          </a:solidFill>
                          <a:latin typeface="Arial"/>
                        </a:rPr>
                        <a:t>Sagicor Life Jamaica Limited</a:t>
                      </a:r>
                    </a:p>
                  </a:txBody>
                  <a:tcPr marL="54000" marR="54000" marT="18000" marB="18000" anchor="ctr">
                    <a:solidFill>
                      <a:srgbClr val="F3F6FB"/>
                    </a:solidFill>
                  </a:tcPr>
                </a:tc>
                <a:tc>
                  <a:txBody>
                    <a:bodyPr wrap="square"/>
                    <a:lstStyle/>
                    <a:p>
                      <a:pPr algn="l"/>
                      <a:r>
                        <a:rPr sz="900" b="0">
                          <a:solidFill>
                            <a:srgbClr val="1F1F1F"/>
                          </a:solidFill>
                          <a:latin typeface="Arial"/>
                        </a:rPr>
                        <a:t>Sheryl</a:t>
                      </a:r>
                    </a:p>
                  </a:txBody>
                  <a:tcPr marL="54000" marR="54000" marT="18000" marB="18000" anchor="ctr">
                    <a:solidFill>
                      <a:srgbClr val="F3F6FB"/>
                    </a:solidFill>
                  </a:tcPr>
                </a:tc>
                <a:tc>
                  <a:txBody>
                    <a:bodyPr wrap="square"/>
                    <a:lstStyle/>
                    <a:p>
                      <a:pPr algn="l"/>
                      <a:r>
                        <a:rPr sz="900" b="0">
                          <a:solidFill>
                            <a:srgbClr val="1F1F1F"/>
                          </a:solidFill>
                          <a:latin typeface="Arial"/>
                        </a:rPr>
                        <a:t>−25%, from Aug 27; −30%, from Jul 27</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1F1F1F"/>
                          </a:solidFill>
                          <a:latin typeface="Arial"/>
                        </a:rPr>
                        <a:t>−0.50</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Sagicor Bank Jamaica Ltd</a:t>
                      </a:r>
                    </a:p>
                  </a:txBody>
                  <a:tcPr marL="54000" marR="54000" marT="18000" marB="18000" anchor="ctr">
                    <a:noFill/>
                  </a:tcPr>
                </a:tc>
                <a:tc>
                  <a:txBody>
                    <a:bodyPr wrap="square"/>
                    <a:lstStyle/>
                    <a:p>
                      <a:pPr algn="l"/>
                      <a:r>
                        <a:rPr sz="900" b="0">
                          <a:solidFill>
                            <a:srgbClr val="1F1F1F"/>
                          </a:solidFill>
                          <a:latin typeface="Arial"/>
                        </a:rPr>
                        <a:t>Sheryl</a:t>
                      </a:r>
                    </a:p>
                  </a:txBody>
                  <a:tcPr marL="54000" marR="54000" marT="18000" marB="18000" anchor="ctr">
                    <a:noFill/>
                  </a:tcPr>
                </a:tc>
                <a:tc>
                  <a:txBody>
                    <a:bodyPr wrap="square"/>
                    <a:lstStyle/>
                    <a:p>
                      <a:pPr algn="l"/>
                      <a:r>
                        <a:rPr sz="900" b="0">
                          <a:solidFill>
                            <a:srgbClr val="1F1F1F"/>
                          </a:solidFill>
                          <a:latin typeface="Arial"/>
                        </a:rPr>
                        <a:t>−25%, from Aug 27</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1F1F1F"/>
                          </a:solidFill>
                          <a:latin typeface="Arial"/>
                        </a:rPr>
                        <a:t>−0.22</a:t>
                      </a:r>
                    </a:p>
                  </a:txBody>
                  <a:tcPr marL="54000" marR="54000" marT="18000" marB="18000" anchor="ctr">
                    <a:noFill/>
                  </a:tcPr>
                </a:tc>
              </a:tr>
              <a:tr h="315000">
                <a:tc>
                  <a:txBody>
                    <a:bodyPr wrap="square"/>
                    <a:lstStyle/>
                    <a:p>
                      <a:pPr algn="l"/>
                      <a:r>
                        <a:rPr sz="900" b="1">
                          <a:solidFill>
                            <a:srgbClr val="062552"/>
                          </a:solidFill>
                          <a:latin typeface="Arial"/>
                        </a:rPr>
                        <a:t>Contax360 BPO Solutions Inc.</a:t>
                      </a:r>
                    </a:p>
                  </a:txBody>
                  <a:tcPr marL="54000" marR="54000" marT="18000" marB="18000" anchor="ctr">
                    <a:solidFill>
                      <a:srgbClr val="F3F6FB"/>
                    </a:solidFill>
                  </a:tcPr>
                </a:tc>
                <a:tc>
                  <a:txBody>
                    <a:bodyPr wrap="square"/>
                    <a:lstStyle/>
                    <a:p>
                      <a:pPr algn="l"/>
                      <a:r>
                        <a:rPr sz="900" b="0">
                          <a:solidFill>
                            <a:srgbClr val="1F1F1F"/>
                          </a:solidFill>
                          <a:latin typeface="Arial"/>
                        </a:rPr>
                        <a:t>None</a:t>
                      </a:r>
                    </a:p>
                  </a:txBody>
                  <a:tcPr marL="54000" marR="54000" marT="18000" marB="18000" anchor="ctr">
                    <a:solidFill>
                      <a:srgbClr val="F3F6FB"/>
                    </a:solidFill>
                  </a:tcPr>
                </a:tc>
                <a:tc>
                  <a:txBody>
                    <a:bodyPr wrap="square"/>
                    <a:lstStyle/>
                    <a:p>
                      <a:pPr algn="l"/>
                      <a:r>
                        <a:rPr sz="900" b="0">
                          <a:solidFill>
                            <a:srgbClr val="1F1F1F"/>
                          </a:solidFill>
                          <a:latin typeface="Arial"/>
                        </a:rPr>
                        <a:t>, Jan 27</a:t>
                      </a:r>
                    </a:p>
                  </a:txBody>
                  <a:tcPr marL="54000" marR="54000" marT="18000" marB="18000" anchor="ctr">
                    <a:solidFill>
                      <a:srgbClr val="F3F6FB"/>
                    </a:solidFill>
                  </a:tcPr>
                </a:tc>
                <a:tc>
                  <a:txBody>
                    <a:bodyPr wrap="square"/>
                    <a:lstStyle/>
                    <a:p>
                      <a:pPr algn="ctr"/>
                      <a:r>
                        <a:rPr sz="900" b="0">
                          <a:solidFill>
                            <a:srgbClr val="1F1F1F"/>
                          </a:solidFill>
                          <a:latin typeface="Arial"/>
                        </a:rPr>
                        <a:t>Sales Forecasting</a:t>
                      </a:r>
                    </a:p>
                  </a:txBody>
                  <a:tcPr marL="54000" marR="54000" marT="18000" marB="18000" anchor="ctr">
                    <a:solidFill>
                      <a:srgbClr val="F3F6FB"/>
                    </a:solidFill>
                  </a:tcPr>
                </a:tc>
                <a:tc>
                  <a:txBody>
                    <a:bodyPr wrap="square"/>
                    <a:lstStyle/>
                    <a:p>
                      <a:pPr algn="ctr"/>
                      <a:r>
                        <a:rPr sz="900" b="0">
                          <a:solidFill>
                            <a:srgbClr val="1F1F1F"/>
                          </a:solidFill>
                          <a:latin typeface="Arial"/>
                        </a:rPr>
                        <a:t>0.00</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F W Woolworth &amp; Co Ltd</a:t>
                      </a:r>
                    </a:p>
                  </a:txBody>
                  <a:tcPr marL="54000" marR="54000" marT="18000" marB="18000" anchor="ctr">
                    <a:noFill/>
                  </a:tcPr>
                </a:tc>
                <a:tc>
                  <a:txBody>
                    <a:bodyPr wrap="square"/>
                    <a:lstStyle/>
                    <a:p>
                      <a:pPr algn="l"/>
                      <a:r>
                        <a:rPr sz="900" b="0">
                          <a:solidFill>
                            <a:srgbClr val="1F1F1F"/>
                          </a:solidFill>
                          <a:latin typeface="Arial"/>
                        </a:rPr>
                        <a:t>None</a:t>
                      </a:r>
                    </a:p>
                  </a:txBody>
                  <a:tcPr marL="54000" marR="54000" marT="18000" marB="18000" anchor="ctr">
                    <a:noFill/>
                  </a:tcPr>
                </a:tc>
                <a:tc>
                  <a:txBody>
                    <a:bodyPr wrap="square"/>
                    <a:lstStyle/>
                    <a:p>
                      <a:pPr algn="l"/>
                      <a:r>
                        <a:rPr sz="900" b="0">
                          <a:solidFill>
                            <a:srgbClr val="1F1F1F"/>
                          </a:solidFill>
                          <a:latin typeface="Arial"/>
                        </a:rPr>
                        <a:t>, Jan 27</a:t>
                      </a:r>
                    </a:p>
                  </a:txBody>
                  <a:tcPr marL="54000" marR="54000" marT="18000" marB="18000" anchor="ctr">
                    <a:noFill/>
                  </a:tcPr>
                </a:tc>
                <a:tc>
                  <a:txBody>
                    <a:bodyPr wrap="square"/>
                    <a:lstStyle/>
                    <a:p>
                      <a:pPr algn="ctr"/>
                      <a:r>
                        <a:rPr sz="900" b="0">
                          <a:solidFill>
                            <a:srgbClr val="1F1F1F"/>
                          </a:solidFill>
                          <a:latin typeface="Arial"/>
                        </a:rPr>
                        <a:t>Sales Forecasting</a:t>
                      </a:r>
                    </a:p>
                  </a:txBody>
                  <a:tcPr marL="54000" marR="54000" marT="18000" marB="18000" anchor="ctr">
                    <a:noFill/>
                  </a:tcPr>
                </a:tc>
                <a:tc>
                  <a:txBody>
                    <a:bodyPr wrap="square"/>
                    <a:lstStyle/>
                    <a:p>
                      <a:pPr algn="ctr"/>
                      <a:r>
                        <a:rPr sz="900" b="0">
                          <a:solidFill>
                            <a:srgbClr val="1F1F1F"/>
                          </a:solidFill>
                          <a:latin typeface="Arial"/>
                        </a:rPr>
                        <a:t>0.00</a:t>
                      </a:r>
                    </a:p>
                  </a:txBody>
                  <a:tcPr marL="54000" marR="54000" marT="18000" marB="18000" anchor="ctr">
                    <a:noFill/>
                  </a:tcPr>
                </a:tc>
              </a:tr>
              <a:tr h="315000">
                <a:tc>
                  <a:txBody>
                    <a:bodyPr wrap="square"/>
                    <a:lstStyle/>
                    <a:p>
                      <a:pPr algn="l"/>
                      <a:r>
                        <a:rPr sz="900" b="1">
                          <a:solidFill>
                            <a:srgbClr val="062552"/>
                          </a:solidFill>
                          <a:latin typeface="Arial"/>
                        </a:rPr>
                        <a:t>Rock Solid Plastics Limited</a:t>
                      </a:r>
                    </a:p>
                  </a:txBody>
                  <a:tcPr marL="54000" marR="54000" marT="18000" marB="18000" anchor="ctr">
                    <a:solidFill>
                      <a:srgbClr val="F3F6FB"/>
                    </a:solidFill>
                  </a:tcPr>
                </a:tc>
                <a:tc>
                  <a:txBody>
                    <a:bodyPr wrap="square"/>
                    <a:lstStyle/>
                    <a:p>
                      <a:pPr algn="l"/>
                      <a:r>
                        <a:rPr sz="900" b="0">
                          <a:solidFill>
                            <a:srgbClr val="1F1F1F"/>
                          </a:solidFill>
                          <a:latin typeface="Arial"/>
                        </a:rPr>
                        <a:t>None</a:t>
                      </a:r>
                    </a:p>
                  </a:txBody>
                  <a:tcPr marL="54000" marR="54000" marT="18000" marB="18000" anchor="ctr">
                    <a:solidFill>
                      <a:srgbClr val="F3F6FB"/>
                    </a:solidFill>
                  </a:tcPr>
                </a:tc>
                <a:tc>
                  <a:txBody>
                    <a:bodyPr wrap="square"/>
                    <a:lstStyle/>
                    <a:p>
                      <a:pPr algn="l"/>
                      <a:r>
                        <a:rPr sz="900" b="0">
                          <a:solidFill>
                            <a:srgbClr val="1F1F1F"/>
                          </a:solidFill>
                          <a:latin typeface="Arial"/>
                        </a:rPr>
                        <a:t>, Jan 27</a:t>
                      </a:r>
                    </a:p>
                  </a:txBody>
                  <a:tcPr marL="54000" marR="54000" marT="18000" marB="18000" anchor="ctr">
                    <a:solidFill>
                      <a:srgbClr val="F3F6FB"/>
                    </a:solidFill>
                  </a:tcPr>
                </a:tc>
                <a:tc>
                  <a:txBody>
                    <a:bodyPr wrap="square"/>
                    <a:lstStyle/>
                    <a:p>
                      <a:pPr algn="ctr"/>
                      <a:r>
                        <a:rPr sz="900" b="0">
                          <a:solidFill>
                            <a:srgbClr val="1F1F1F"/>
                          </a:solidFill>
                          <a:latin typeface="Arial"/>
                        </a:rPr>
                        <a:t>Sales Forecasting</a:t>
                      </a:r>
                    </a:p>
                  </a:txBody>
                  <a:tcPr marL="54000" marR="54000" marT="18000" marB="18000" anchor="ctr">
                    <a:solidFill>
                      <a:srgbClr val="F3F6FB"/>
                    </a:solidFill>
                  </a:tcPr>
                </a:tc>
                <a:tc>
                  <a:txBody>
                    <a:bodyPr wrap="square"/>
                    <a:lstStyle/>
                    <a:p>
                      <a:pPr algn="ctr"/>
                      <a:r>
                        <a:rPr sz="900" b="0">
                          <a:solidFill>
                            <a:srgbClr val="1F1F1F"/>
                          </a:solidFill>
                          <a:latin typeface="Arial"/>
                        </a:rPr>
                        <a:t>0.00</a:t>
                      </a:r>
                    </a:p>
                  </a:txBody>
                  <a:tcPr marL="54000" marR="54000" marT="18000" marB="18000" anchor="ctr">
                    <a:solidFill>
                      <a:srgbClr val="F3F6F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Expansions</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Confirm each expansion, and the volume and timing behind it</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Customers with an expansion adjustment on file. Each adds volume to the forecast.</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9</a:t>
            </a:r>
          </a:p>
        </p:txBody>
      </p:sp>
      <p:graphicFrame>
        <p:nvGraphicFramePr>
          <p:cNvPr id="7" name="Table 6"/>
          <p:cNvGraphicFramePr>
            <a:graphicFrameLocks noGrp="1"/>
          </p:cNvGraphicFramePr>
          <p:nvPr/>
        </p:nvGraphicFramePr>
        <p:xfrm>
          <a:off x="274320" y="1950000"/>
          <a:ext cx="11649997" cy="4100000"/>
        </p:xfrm>
        <a:graphic>
          <a:graphicData uri="http://schemas.openxmlformats.org/drawingml/2006/table">
            <a:tbl>
              <a:tblPr firstRow="0" bandRow="0">
                <a:tableStyleId>{5940675A-B579-460E-94D1-54222C63F5DA}</a:tableStyleId>
              </a:tblPr>
              <a:tblGrid>
                <a:gridCol w="2969607"/>
                <a:gridCol w="1142156"/>
                <a:gridCol w="4568627"/>
                <a:gridCol w="1599019"/>
                <a:gridCol w="1370588"/>
              </a:tblGrid>
              <a:tr h="320000">
                <a:tc>
                  <a:txBody>
                    <a:bodyPr wrap="square"/>
                    <a:lstStyle/>
                    <a:p>
                      <a:pPr algn="l"/>
                      <a:r>
                        <a:rPr sz="900" b="1">
                          <a:solidFill>
                            <a:srgbClr val="FFFFFF"/>
                          </a:solidFill>
                          <a:latin typeface="Arial"/>
                        </a:rPr>
                        <a:t>Customer</a:t>
                      </a:r>
                    </a:p>
                  </a:txBody>
                  <a:tcPr marL="54000" marR="54000" marT="18000" marB="18000" anchor="ctr">
                    <a:solidFill>
                      <a:srgbClr val="062552"/>
                    </a:solidFill>
                  </a:tcPr>
                </a:tc>
                <a:tc>
                  <a:txBody>
                    <a:bodyPr wrap="square"/>
                    <a:lstStyle/>
                    <a:p>
                      <a:pPr algn="l"/>
                      <a:r>
                        <a:rPr sz="900" b="1">
                          <a:solidFill>
                            <a:srgbClr val="FFFFFF"/>
                          </a:solidFill>
                          <a:latin typeface="Arial"/>
                        </a:rPr>
                        <a:t>KAM</a:t>
                      </a:r>
                    </a:p>
                  </a:txBody>
                  <a:tcPr marL="54000" marR="54000" marT="18000" marB="18000" anchor="ctr">
                    <a:solidFill>
                      <a:srgbClr val="062552"/>
                    </a:solidFill>
                  </a:tcPr>
                </a:tc>
                <a:tc>
                  <a:txBody>
                    <a:bodyPr wrap="square"/>
                    <a:lstStyle/>
                    <a:p>
                      <a:pPr algn="l"/>
                      <a:r>
                        <a:rPr sz="900" b="1">
                          <a:solidFill>
                            <a:srgbClr val="FFFFFF"/>
                          </a:solidFill>
                          <a:latin typeface="Arial"/>
                        </a:rPr>
                        <a:t>Adjustment and months</a:t>
                      </a:r>
                    </a:p>
                  </a:txBody>
                  <a:tcPr marL="54000" marR="54000" marT="18000" marB="18000" anchor="ctr">
                    <a:solidFill>
                      <a:srgbClr val="062552"/>
                    </a:solidFill>
                  </a:tcPr>
                </a:tc>
                <a:tc>
                  <a:txBody>
                    <a:bodyPr wrap="square"/>
                    <a:lstStyle/>
                    <a:p>
                      <a:pPr algn="ctr"/>
                      <a:r>
                        <a:rPr sz="900" b="1">
                          <a:solidFill>
                            <a:srgbClr val="FFFFFF"/>
                          </a:solidFill>
                          <a:latin typeface="Arial"/>
                        </a:rPr>
                        <a:t>Entered by</a:t>
                      </a:r>
                    </a:p>
                  </a:txBody>
                  <a:tcPr marL="54000" marR="54000" marT="18000" marB="18000" anchor="ctr">
                    <a:solidFill>
                      <a:srgbClr val="062552"/>
                    </a:solidFill>
                  </a:tcPr>
                </a:tc>
                <a:tc>
                  <a:txBody>
                    <a:bodyPr wrap="square"/>
                    <a:lstStyle/>
                    <a:p>
                      <a:pPr algn="ctr"/>
                      <a:r>
                        <a:rPr sz="900" b="1">
                          <a:solidFill>
                            <a:srgbClr val="FFFFFF"/>
                          </a:solidFill>
                          <a:latin typeface="Arial"/>
                        </a:rPr>
                        <a:t>FY2027 effect</a:t>
                      </a:r>
                    </a:p>
                  </a:txBody>
                  <a:tcPr marL="54000" marR="54000" marT="18000" marB="18000" anchor="ctr">
                    <a:solidFill>
                      <a:srgbClr val="062552"/>
                    </a:solidFill>
                  </a:tcPr>
                </a:tc>
              </a:tr>
              <a:tr h="315000">
                <a:tc>
                  <a:txBody>
                    <a:bodyPr wrap="square"/>
                    <a:lstStyle/>
                    <a:p>
                      <a:pPr algn="l"/>
                      <a:r>
                        <a:rPr sz="900" b="1">
                          <a:solidFill>
                            <a:srgbClr val="062552"/>
                          </a:solidFill>
                          <a:latin typeface="Arial"/>
                        </a:rPr>
                        <a:t>National Water Commission</a:t>
                      </a:r>
                    </a:p>
                  </a:txBody>
                  <a:tcPr marL="54000" marR="54000" marT="18000" marB="18000" anchor="ctr">
                    <a:noFill/>
                  </a:tcPr>
                </a:tc>
                <a:tc>
                  <a:txBody>
                    <a:bodyPr wrap="square"/>
                    <a:lstStyle/>
                    <a:p>
                      <a:pPr algn="l"/>
                      <a:r>
                        <a:rPr sz="900" b="0">
                          <a:solidFill>
                            <a:srgbClr val="1F1F1F"/>
                          </a:solidFill>
                          <a:latin typeface="Arial"/>
                        </a:rPr>
                        <a:t>Simone</a:t>
                      </a:r>
                    </a:p>
                  </a:txBody>
                  <a:tcPr marL="54000" marR="54000" marT="18000" marB="18000" anchor="ctr">
                    <a:noFill/>
                  </a:tcPr>
                </a:tc>
                <a:tc>
                  <a:txBody>
                    <a:bodyPr wrap="square"/>
                    <a:lstStyle/>
                    <a:p>
                      <a:pPr algn="l"/>
                      <a:r>
                        <a:rPr sz="900" b="0">
                          <a:solidFill>
                            <a:srgbClr val="1F1F1F"/>
                          </a:solidFill>
                          <a:latin typeface="Arial"/>
                        </a:rPr>
                        <a:t>+50%, from Feb 27; +60%, from Feb 27</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1F1F1F"/>
                          </a:solidFill>
                          <a:latin typeface="Arial"/>
                        </a:rPr>
                        <a:t>+6.90</a:t>
                      </a:r>
                    </a:p>
                  </a:txBody>
                  <a:tcPr marL="54000" marR="54000" marT="18000" marB="18000" anchor="ctr">
                    <a:noFill/>
                  </a:tcPr>
                </a:tc>
              </a:tr>
              <a:tr h="315000">
                <a:tc>
                  <a:txBody>
                    <a:bodyPr wrap="square"/>
                    <a:lstStyle/>
                    <a:p>
                      <a:pPr algn="l"/>
                      <a:r>
                        <a:rPr sz="900" b="1">
                          <a:solidFill>
                            <a:srgbClr val="062552"/>
                          </a:solidFill>
                          <a:latin typeface="Arial"/>
                        </a:rPr>
                        <a:t>Juici Beef Limited</a:t>
                      </a:r>
                    </a:p>
                  </a:txBody>
                  <a:tcPr marL="54000" marR="54000" marT="18000" marB="18000" anchor="ctr">
                    <a:solidFill>
                      <a:srgbClr val="F3F6FB"/>
                    </a:solidFill>
                  </a:tcPr>
                </a:tc>
                <a:tc>
                  <a:txBody>
                    <a:bodyPr wrap="square"/>
                    <a:lstStyle/>
                    <a:p>
                      <a:pPr algn="l"/>
                      <a:r>
                        <a:rPr sz="900" b="0">
                          <a:solidFill>
                            <a:srgbClr val="1F1F1F"/>
                          </a:solidFill>
                          <a:latin typeface="Arial"/>
                        </a:rPr>
                        <a:t>Sharmica</a:t>
                      </a:r>
                    </a:p>
                  </a:txBody>
                  <a:tcPr marL="54000" marR="54000" marT="18000" marB="18000" anchor="ctr">
                    <a:solidFill>
                      <a:srgbClr val="F3F6FB"/>
                    </a:solidFill>
                  </a:tcPr>
                </a:tc>
                <a:tc>
                  <a:txBody>
                    <a:bodyPr wrap="square"/>
                    <a:lstStyle/>
                    <a:p>
                      <a:pPr algn="l"/>
                      <a:r>
                        <a:rPr sz="900" b="0">
                          <a:solidFill>
                            <a:srgbClr val="1F1F1F"/>
                          </a:solidFill>
                          <a:latin typeface="Arial"/>
                        </a:rPr>
                        <a:t>+20%, from Feb 27</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1F1F1F"/>
                          </a:solidFill>
                          <a:latin typeface="Arial"/>
                        </a:rPr>
                        <a:t>+1.16</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Poly Pet Company Limited</a:t>
                      </a:r>
                    </a:p>
                  </a:txBody>
                  <a:tcPr marL="54000" marR="54000" marT="18000" marB="18000" anchor="ctr">
                    <a:noFill/>
                  </a:tcPr>
                </a:tc>
                <a:tc>
                  <a:txBody>
                    <a:bodyPr wrap="square"/>
                    <a:lstStyle/>
                    <a:p>
                      <a:pPr algn="l"/>
                      <a:r>
                        <a:rPr sz="900" b="0">
                          <a:solidFill>
                            <a:srgbClr val="1F1F1F"/>
                          </a:solidFill>
                          <a:latin typeface="Arial"/>
                        </a:rPr>
                        <a:t>Sheryl</a:t>
                      </a:r>
                    </a:p>
                  </a:txBody>
                  <a:tcPr marL="54000" marR="54000" marT="18000" marB="18000" anchor="ctr">
                    <a:noFill/>
                  </a:tcPr>
                </a:tc>
                <a:tc>
                  <a:txBody>
                    <a:bodyPr wrap="square"/>
                    <a:lstStyle/>
                    <a:p>
                      <a:pPr algn="l"/>
                      <a:r>
                        <a:rPr sz="900" b="0">
                          <a:solidFill>
                            <a:srgbClr val="1F1F1F"/>
                          </a:solidFill>
                          <a:latin typeface="Arial"/>
                        </a:rPr>
                        <a:t>+15%, from Dec 26</a:t>
                      </a:r>
                    </a:p>
                  </a:txBody>
                  <a:tcPr marL="54000" marR="54000" marT="18000" marB="18000" anchor="ctr">
                    <a:noFill/>
                  </a:tcPr>
                </a:tc>
                <a:tc>
                  <a:txBody>
                    <a:bodyPr wrap="square"/>
                    <a:lstStyle/>
                    <a:p>
                      <a:pPr algn="ctr"/>
                      <a:r>
                        <a:rPr sz="900" b="0">
                          <a:solidFill>
                            <a:srgbClr val="1F1F1F"/>
                          </a:solidFill>
                          <a:latin typeface="Arial"/>
                        </a:rPr>
                        <a:t>Sales Forecasting</a:t>
                      </a:r>
                    </a:p>
                  </a:txBody>
                  <a:tcPr marL="54000" marR="54000" marT="18000" marB="18000" anchor="ctr">
                    <a:noFill/>
                  </a:tcPr>
                </a:tc>
                <a:tc>
                  <a:txBody>
                    <a:bodyPr wrap="square"/>
                    <a:lstStyle/>
                    <a:p>
                      <a:pPr algn="ctr"/>
                      <a:r>
                        <a:rPr sz="900" b="0">
                          <a:solidFill>
                            <a:srgbClr val="1F1F1F"/>
                          </a:solidFill>
                          <a:latin typeface="Arial"/>
                        </a:rPr>
                        <a:t>+0.66</a:t>
                      </a:r>
                    </a:p>
                  </a:txBody>
                  <a:tcPr marL="54000" marR="54000" marT="18000" marB="18000" anchor="ctr">
                    <a:noFill/>
                  </a:tcPr>
                </a:tc>
              </a:tr>
              <a:tr h="315000">
                <a:tc>
                  <a:txBody>
                    <a:bodyPr wrap="square"/>
                    <a:lstStyle/>
                    <a:p>
                      <a:pPr algn="l"/>
                      <a:r>
                        <a:rPr sz="900" b="1">
                          <a:solidFill>
                            <a:srgbClr val="062552"/>
                          </a:solidFill>
                          <a:latin typeface="Arial"/>
                        </a:rPr>
                        <a:t>Ministry of Health</a:t>
                      </a:r>
                    </a:p>
                  </a:txBody>
                  <a:tcPr marL="54000" marR="54000" marT="18000" marB="18000" anchor="ctr">
                    <a:solidFill>
                      <a:srgbClr val="F3F6FB"/>
                    </a:solidFill>
                  </a:tcPr>
                </a:tc>
                <a:tc>
                  <a:txBody>
                    <a:bodyPr wrap="square"/>
                    <a:lstStyle/>
                    <a:p>
                      <a:pPr algn="l"/>
                      <a:r>
                        <a:rPr sz="900" b="0">
                          <a:solidFill>
                            <a:srgbClr val="1F1F1F"/>
                          </a:solidFill>
                          <a:latin typeface="Arial"/>
                        </a:rPr>
                        <a:t>Sharmica</a:t>
                      </a:r>
                    </a:p>
                  </a:txBody>
                  <a:tcPr marL="54000" marR="54000" marT="18000" marB="18000" anchor="ctr">
                    <a:solidFill>
                      <a:srgbClr val="F3F6FB"/>
                    </a:solidFill>
                  </a:tcPr>
                </a:tc>
                <a:tc>
                  <a:txBody>
                    <a:bodyPr wrap="square"/>
                    <a:lstStyle/>
                    <a:p>
                      <a:pPr algn="l"/>
                      <a:r>
                        <a:rPr sz="900" b="0">
                          <a:solidFill>
                            <a:srgbClr val="1F1F1F"/>
                          </a:solidFill>
                          <a:latin typeface="Arial"/>
                        </a:rPr>
                        <a:t>+20%, from Jun 27; +40%, from Jun 27</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1F1F1F"/>
                          </a:solidFill>
                          <a:latin typeface="Arial"/>
                        </a:rPr>
                        <a:t>+0.57</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Progressive Grocers of Ja Ltd</a:t>
                      </a:r>
                    </a:p>
                  </a:txBody>
                  <a:tcPr marL="54000" marR="54000" marT="18000" marB="18000" anchor="ctr">
                    <a:noFill/>
                  </a:tcPr>
                </a:tc>
                <a:tc>
                  <a:txBody>
                    <a:bodyPr wrap="square"/>
                    <a:lstStyle/>
                    <a:p>
                      <a:pPr algn="l"/>
                      <a:r>
                        <a:rPr sz="900" b="0">
                          <a:solidFill>
                            <a:srgbClr val="1F1F1F"/>
                          </a:solidFill>
                          <a:latin typeface="Arial"/>
                        </a:rPr>
                        <a:t>Ewan</a:t>
                      </a:r>
                    </a:p>
                  </a:txBody>
                  <a:tcPr marL="54000" marR="54000" marT="18000" marB="18000" anchor="ctr">
                    <a:noFill/>
                  </a:tcPr>
                </a:tc>
                <a:tc>
                  <a:txBody>
                    <a:bodyPr wrap="square"/>
                    <a:lstStyle/>
                    <a:p>
                      <a:pPr algn="l"/>
                      <a:r>
                        <a:rPr sz="900" b="0">
                          <a:solidFill>
                            <a:srgbClr val="1F1F1F"/>
                          </a:solidFill>
                          <a:latin typeface="Arial"/>
                        </a:rPr>
                        <a:t>+40%, from Jan 27</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1F1F1F"/>
                          </a:solidFill>
                          <a:latin typeface="Arial"/>
                        </a:rPr>
                        <a:t>+0.14</a:t>
                      </a:r>
                    </a:p>
                  </a:txBody>
                  <a:tcPr marL="54000" marR="54000" marT="18000" marB="18000" anchor="ctr">
                    <a:noFill/>
                  </a:tcPr>
                </a:tc>
              </a:tr>
              <a:tr h="315000">
                <a:tc>
                  <a:txBody>
                    <a:bodyPr wrap="square"/>
                    <a:lstStyle/>
                    <a:p>
                      <a:pPr algn="l"/>
                      <a:r>
                        <a:rPr sz="900" b="1">
                          <a:solidFill>
                            <a:srgbClr val="062552"/>
                          </a:solidFill>
                          <a:latin typeface="Arial"/>
                        </a:rPr>
                        <a:t>Ministry of Health</a:t>
                      </a:r>
                    </a:p>
                  </a:txBody>
                  <a:tcPr marL="54000" marR="54000" marT="18000" marB="18000" anchor="ctr">
                    <a:solidFill>
                      <a:srgbClr val="F3F6FB"/>
                    </a:solidFill>
                  </a:tcPr>
                </a:tc>
                <a:tc>
                  <a:txBody>
                    <a:bodyPr wrap="square"/>
                    <a:lstStyle/>
                    <a:p>
                      <a:pPr algn="l"/>
                      <a:r>
                        <a:rPr sz="900" b="0">
                          <a:solidFill>
                            <a:srgbClr val="1F1F1F"/>
                          </a:solidFill>
                          <a:latin typeface="Arial"/>
                        </a:rPr>
                        <a:t>Simone</a:t>
                      </a:r>
                    </a:p>
                  </a:txBody>
                  <a:tcPr marL="54000" marR="54000" marT="18000" marB="18000" anchor="ctr">
                    <a:solidFill>
                      <a:srgbClr val="F3F6FB"/>
                    </a:solidFill>
                  </a:tcPr>
                </a:tc>
                <a:tc>
                  <a:txBody>
                    <a:bodyPr wrap="square"/>
                    <a:lstStyle/>
                    <a:p>
                      <a:pPr algn="l"/>
                      <a:r>
                        <a:rPr sz="900" b="0">
                          <a:solidFill>
                            <a:srgbClr val="1F1F1F"/>
                          </a:solidFill>
                          <a:latin typeface="Arial"/>
                        </a:rPr>
                        <a:t>+20%, from Oct 27; +100%, from Apr 28</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1F1F1F"/>
                          </a:solidFill>
                          <a:latin typeface="Arial"/>
                        </a:rPr>
                        <a:t>+0.10</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Port Authority Of Ja</a:t>
                      </a:r>
                    </a:p>
                  </a:txBody>
                  <a:tcPr marL="54000" marR="54000" marT="18000" marB="18000" anchor="ctr">
                    <a:noFill/>
                  </a:tcPr>
                </a:tc>
                <a:tc>
                  <a:txBody>
                    <a:bodyPr wrap="square"/>
                    <a:lstStyle/>
                    <a:p>
                      <a:pPr algn="l"/>
                      <a:r>
                        <a:rPr sz="900" b="0">
                          <a:solidFill>
                            <a:srgbClr val="1F1F1F"/>
                          </a:solidFill>
                          <a:latin typeface="Arial"/>
                        </a:rPr>
                        <a:t>Tanya</a:t>
                      </a:r>
                    </a:p>
                  </a:txBody>
                  <a:tcPr marL="54000" marR="54000" marT="18000" marB="18000" anchor="ctr">
                    <a:noFill/>
                  </a:tcPr>
                </a:tc>
                <a:tc>
                  <a:txBody>
                    <a:bodyPr wrap="square"/>
                    <a:lstStyle/>
                    <a:p>
                      <a:pPr algn="l"/>
                      <a:r>
                        <a:rPr sz="900" b="0">
                          <a:solidFill>
                            <a:srgbClr val="1F1F1F"/>
                          </a:solidFill>
                          <a:latin typeface="Arial"/>
                        </a:rPr>
                        <a:t>+33%, from Jun 27</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1F1F1F"/>
                          </a:solidFill>
                          <a:latin typeface="Arial"/>
                        </a:rPr>
                        <a:t>+0.06</a:t>
                      </a:r>
                    </a:p>
                  </a:txBody>
                  <a:tcPr marL="54000" marR="54000" marT="18000" marB="18000" anchor="ctr">
                    <a:noFill/>
                  </a:tcPr>
                </a:tc>
              </a:tr>
              <a:tr h="315000">
                <a:tc>
                  <a:txBody>
                    <a:bodyPr wrap="square"/>
                    <a:lstStyle/>
                    <a:p>
                      <a:pPr algn="l"/>
                      <a:r>
                        <a:rPr sz="900" b="1">
                          <a:solidFill>
                            <a:srgbClr val="062552"/>
                          </a:solidFill>
                          <a:latin typeface="Arial"/>
                        </a:rPr>
                        <a:t>Greater Ptmre Health Cnr</a:t>
                      </a:r>
                    </a:p>
                  </a:txBody>
                  <a:tcPr marL="54000" marR="54000" marT="18000" marB="18000" anchor="ctr">
                    <a:solidFill>
                      <a:srgbClr val="F3F6FB"/>
                    </a:solidFill>
                  </a:tcPr>
                </a:tc>
                <a:tc>
                  <a:txBody>
                    <a:bodyPr wrap="square"/>
                    <a:lstStyle/>
                    <a:p>
                      <a:pPr algn="l"/>
                      <a:r>
                        <a:rPr sz="900" b="0">
                          <a:solidFill>
                            <a:srgbClr val="1F1F1F"/>
                          </a:solidFill>
                          <a:latin typeface="Arial"/>
                        </a:rPr>
                        <a:t>Simone</a:t>
                      </a:r>
                    </a:p>
                  </a:txBody>
                  <a:tcPr marL="54000" marR="54000" marT="18000" marB="18000" anchor="ctr">
                    <a:solidFill>
                      <a:srgbClr val="F3F6FB"/>
                    </a:solidFill>
                  </a:tcPr>
                </a:tc>
                <a:tc>
                  <a:txBody>
                    <a:bodyPr wrap="square"/>
                    <a:lstStyle/>
                    <a:p>
                      <a:pPr algn="l"/>
                      <a:r>
                        <a:rPr sz="900" b="0">
                          <a:solidFill>
                            <a:srgbClr val="1F1F1F"/>
                          </a:solidFill>
                          <a:latin typeface="Arial"/>
                        </a:rPr>
                        <a:t>+50%, from Jan 27</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1F1F1F"/>
                          </a:solidFill>
                          <a:latin typeface="Arial"/>
                        </a:rPr>
                        <a:t>+0.04</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South East Regional Health Aut</a:t>
                      </a:r>
                    </a:p>
                  </a:txBody>
                  <a:tcPr marL="54000" marR="54000" marT="18000" marB="18000" anchor="ctr">
                    <a:noFill/>
                  </a:tcPr>
                </a:tc>
                <a:tc>
                  <a:txBody>
                    <a:bodyPr wrap="square"/>
                    <a:lstStyle/>
                    <a:p>
                      <a:pPr algn="l"/>
                      <a:r>
                        <a:rPr sz="900" b="0">
                          <a:solidFill>
                            <a:srgbClr val="1F1F1F"/>
                          </a:solidFill>
                          <a:latin typeface="Arial"/>
                        </a:rPr>
                        <a:t>Simone</a:t>
                      </a:r>
                    </a:p>
                  </a:txBody>
                  <a:tcPr marL="54000" marR="54000" marT="18000" marB="18000" anchor="ctr">
                    <a:noFill/>
                  </a:tcPr>
                </a:tc>
                <a:tc>
                  <a:txBody>
                    <a:bodyPr wrap="square"/>
                    <a:lstStyle/>
                    <a:p>
                      <a:pPr algn="l"/>
                      <a:r>
                        <a:rPr sz="900" b="0">
                          <a:solidFill>
                            <a:srgbClr val="1F1F1F"/>
                          </a:solidFill>
                          <a:latin typeface="Arial"/>
                        </a:rPr>
                        <a:t>+100%, from Dec 27</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1F1F1F"/>
                          </a:solidFill>
                          <a:latin typeface="Arial"/>
                        </a:rPr>
                        <a:t>+0.03</a:t>
                      </a:r>
                    </a:p>
                  </a:txBody>
                  <a:tcPr marL="54000" marR="54000" marT="18000" marB="18000" anchor="ctr">
                    <a:noFill/>
                  </a:tcPr>
                </a:tc>
              </a:tr>
              <a:tr h="315000">
                <a:tc>
                  <a:txBody>
                    <a:bodyPr wrap="square"/>
                    <a:lstStyle/>
                    <a:p>
                      <a:pPr algn="l"/>
                      <a:r>
                        <a:rPr sz="900" b="1">
                          <a:solidFill>
                            <a:srgbClr val="062552"/>
                          </a:solidFill>
                          <a:latin typeface="Arial"/>
                        </a:rPr>
                        <a:t>Grace Kennedy Co. Limited</a:t>
                      </a:r>
                    </a:p>
                  </a:txBody>
                  <a:tcPr marL="54000" marR="54000" marT="18000" marB="18000" anchor="ctr">
                    <a:solidFill>
                      <a:srgbClr val="F3F6FB"/>
                    </a:solidFill>
                  </a:tcPr>
                </a:tc>
                <a:tc>
                  <a:txBody>
                    <a:bodyPr wrap="square"/>
                    <a:lstStyle/>
                    <a:p>
                      <a:pPr algn="l"/>
                      <a:r>
                        <a:rPr sz="900" b="0">
                          <a:solidFill>
                            <a:srgbClr val="1F1F1F"/>
                          </a:solidFill>
                          <a:latin typeface="Arial"/>
                        </a:rPr>
                        <a:t>Nicole</a:t>
                      </a:r>
                    </a:p>
                  </a:txBody>
                  <a:tcPr marL="54000" marR="54000" marT="18000" marB="18000" anchor="ctr">
                    <a:solidFill>
                      <a:srgbClr val="F3F6FB"/>
                    </a:solidFill>
                  </a:tcPr>
                </a:tc>
                <a:tc>
                  <a:txBody>
                    <a:bodyPr wrap="square"/>
                    <a:lstStyle/>
                    <a:p>
                      <a:pPr algn="l"/>
                      <a:r>
                        <a:rPr sz="900" b="0">
                          <a:solidFill>
                            <a:srgbClr val="1F1F1F"/>
                          </a:solidFill>
                          <a:latin typeface="Arial"/>
                        </a:rPr>
                        <a:t>+5.0%, from Dec 27</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1F1F1F"/>
                          </a:solidFill>
                          <a:latin typeface="Arial"/>
                        </a:rPr>
                        <a:t>+0.03</a:t>
                      </a:r>
                    </a:p>
                  </a:txBody>
                  <a:tcPr marL="54000" marR="54000" marT="18000" marB="18000" anchor="ctr">
                    <a:solidFill>
                      <a:srgbClr val="F3F6FB"/>
                    </a:solidFill>
                  </a:tcPr>
                </a:tc>
              </a:tr>
              <a:tr h="315000">
                <a:tc>
                  <a:txBody>
                    <a:bodyPr wrap="square"/>
                    <a:lstStyle/>
                    <a:p>
                      <a:pPr algn="l"/>
                      <a:r>
                        <a:rPr sz="900" b="1">
                          <a:solidFill>
                            <a:srgbClr val="062552"/>
                          </a:solidFill>
                          <a:latin typeface="Arial"/>
                        </a:rPr>
                        <a:t>Hi-Lo Food Stores Ja Ltd</a:t>
                      </a:r>
                    </a:p>
                  </a:txBody>
                  <a:tcPr marL="54000" marR="54000" marT="18000" marB="18000" anchor="ctr">
                    <a:noFill/>
                  </a:tcPr>
                </a:tc>
                <a:tc>
                  <a:txBody>
                    <a:bodyPr wrap="square"/>
                    <a:lstStyle/>
                    <a:p>
                      <a:pPr algn="l"/>
                      <a:r>
                        <a:rPr sz="900" b="0">
                          <a:solidFill>
                            <a:srgbClr val="1F1F1F"/>
                          </a:solidFill>
                          <a:latin typeface="Arial"/>
                        </a:rPr>
                        <a:t>Nicole</a:t>
                      </a:r>
                    </a:p>
                  </a:txBody>
                  <a:tcPr marL="54000" marR="54000" marT="18000" marB="18000" anchor="ctr">
                    <a:noFill/>
                  </a:tcPr>
                </a:tc>
                <a:tc>
                  <a:txBody>
                    <a:bodyPr wrap="square"/>
                    <a:lstStyle/>
                    <a:p>
                      <a:pPr algn="l"/>
                      <a:r>
                        <a:rPr sz="900" b="0">
                          <a:solidFill>
                            <a:srgbClr val="1F1F1F"/>
                          </a:solidFill>
                          <a:latin typeface="Arial"/>
                        </a:rPr>
                        <a:t>+10%, from Sep 27</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1F1F1F"/>
                          </a:solidFill>
                          <a:latin typeface="Arial"/>
                        </a:rPr>
                        <a:t>+0.01</a:t>
                      </a:r>
                    </a:p>
                  </a:txBody>
                  <a:tcPr marL="54000" marR="54000" marT="18000" marB="18000" anchor="ctr">
                    <a:noFill/>
                  </a:tcPr>
                </a:tc>
              </a:tr>
              <a:tr h="315000">
                <a:tc>
                  <a:txBody>
                    <a:bodyPr wrap="square"/>
                    <a:lstStyle/>
                    <a:p>
                      <a:pPr algn="l"/>
                      <a:r>
                        <a:rPr sz="900" b="1">
                          <a:solidFill>
                            <a:srgbClr val="062552"/>
                          </a:solidFill>
                          <a:latin typeface="Arial"/>
                        </a:rPr>
                        <a:t>Plantation Inn Ltd</a:t>
                      </a:r>
                    </a:p>
                  </a:txBody>
                  <a:tcPr marL="54000" marR="54000" marT="18000" marB="18000" anchor="ctr">
                    <a:solidFill>
                      <a:srgbClr val="F3F6FB"/>
                    </a:solidFill>
                  </a:tcPr>
                </a:tc>
                <a:tc>
                  <a:txBody>
                    <a:bodyPr wrap="square"/>
                    <a:lstStyle/>
                    <a:p>
                      <a:pPr algn="l"/>
                      <a:r>
                        <a:rPr sz="900" b="0">
                          <a:solidFill>
                            <a:srgbClr val="1F1F1F"/>
                          </a:solidFill>
                          <a:latin typeface="Arial"/>
                        </a:rPr>
                        <a:t>Anna-Kay</a:t>
                      </a:r>
                    </a:p>
                  </a:txBody>
                  <a:tcPr marL="54000" marR="54000" marT="18000" marB="18000" anchor="ctr">
                    <a:solidFill>
                      <a:srgbClr val="F3F6FB"/>
                    </a:solidFill>
                  </a:tcPr>
                </a:tc>
                <a:tc>
                  <a:txBody>
                    <a:bodyPr wrap="square"/>
                    <a:lstStyle/>
                    <a:p>
                      <a:pPr algn="l"/>
                      <a:r>
                        <a:rPr sz="900" b="0">
                          <a:solidFill>
                            <a:srgbClr val="1F1F1F"/>
                          </a:solidFill>
                          <a:latin typeface="Arial"/>
                        </a:rPr>
                        <a:t>+5.0%, from Jan 27</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1F1F1F"/>
                          </a:solidFill>
                          <a:latin typeface="Arial"/>
                        </a:rPr>
                        <a:t>0.00</a:t>
                      </a:r>
                    </a:p>
                  </a:txBody>
                  <a:tcPr marL="54000" marR="54000" marT="18000" marB="18000" anchor="ctr">
                    <a:solidFill>
                      <a:srgbClr val="F3F6F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Upcoming Adjustments: Simone Chisholm</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6 customers with adjustments from October 2026 onward</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Effect is the change in the forecast for the whole customer, GWh. Keep, change or remove each one in the workbook.</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10</a:t>
            </a:r>
          </a:p>
        </p:txBody>
      </p:sp>
      <p:graphicFrame>
        <p:nvGraphicFramePr>
          <p:cNvPr id="7" name="Table 6"/>
          <p:cNvGraphicFramePr>
            <a:graphicFrameLocks noGrp="1"/>
          </p:cNvGraphicFramePr>
          <p:nvPr/>
        </p:nvGraphicFramePr>
        <p:xfrm>
          <a:off x="274320" y="1950000"/>
          <a:ext cx="11649996" cy="2600000"/>
        </p:xfrm>
        <a:graphic>
          <a:graphicData uri="http://schemas.openxmlformats.org/drawingml/2006/table">
            <a:tbl>
              <a:tblPr firstRow="0" bandRow="0">
                <a:tableStyleId>{5940675A-B579-460E-94D1-54222C63F5DA}</a:tableStyleId>
              </a:tblPr>
              <a:tblGrid>
                <a:gridCol w="2657017"/>
                <a:gridCol w="3678947"/>
                <a:gridCol w="1941666"/>
                <a:gridCol w="1328508"/>
                <a:gridCol w="1021929"/>
                <a:gridCol w="1021929"/>
              </a:tblGrid>
              <a:tr h="320000">
                <a:tc>
                  <a:txBody>
                    <a:bodyPr wrap="square"/>
                    <a:lstStyle/>
                    <a:p>
                      <a:pPr algn="l"/>
                      <a:r>
                        <a:rPr sz="900" b="1">
                          <a:solidFill>
                            <a:srgbClr val="FFFFFF"/>
                          </a:solidFill>
                          <a:latin typeface="Arial"/>
                        </a:rPr>
                        <a:t>Customer</a:t>
                      </a:r>
                    </a:p>
                  </a:txBody>
                  <a:tcPr marL="54000" marR="54000" marT="18000" marB="18000" anchor="ctr">
                    <a:solidFill>
                      <a:srgbClr val="062552"/>
                    </a:solidFill>
                  </a:tcPr>
                </a:tc>
                <a:tc>
                  <a:txBody>
                    <a:bodyPr wrap="square"/>
                    <a:lstStyle/>
                    <a:p>
                      <a:pPr algn="l"/>
                      <a:r>
                        <a:rPr sz="900" b="1">
                          <a:solidFill>
                            <a:srgbClr val="FFFFFF"/>
                          </a:solidFill>
                          <a:latin typeface="Arial"/>
                        </a:rPr>
                        <a:t>Adjustment and months</a:t>
                      </a:r>
                    </a:p>
                  </a:txBody>
                  <a:tcPr marL="54000" marR="54000" marT="18000" marB="18000" anchor="ctr">
                    <a:solidFill>
                      <a:srgbClr val="062552"/>
                    </a:solidFill>
                  </a:tcPr>
                </a:tc>
                <a:tc>
                  <a:txBody>
                    <a:bodyPr wrap="square"/>
                    <a:lstStyle/>
                    <a:p>
                      <a:pPr algn="l"/>
                      <a:r>
                        <a:rPr sz="900" b="1">
                          <a:solidFill>
                            <a:srgbClr val="FFFFFF"/>
                          </a:solidFill>
                          <a:latin typeface="Arial"/>
                        </a:rPr>
                        <a:t>Reason</a:t>
                      </a:r>
                    </a:p>
                  </a:txBody>
                  <a:tcPr marL="54000" marR="54000" marT="18000" marB="18000" anchor="ctr">
                    <a:solidFill>
                      <a:srgbClr val="062552"/>
                    </a:solidFill>
                  </a:tcPr>
                </a:tc>
                <a:tc>
                  <a:txBody>
                    <a:bodyPr wrap="square"/>
                    <a:lstStyle/>
                    <a:p>
                      <a:pPr algn="ctr"/>
                      <a:r>
                        <a:rPr sz="900" b="1">
                          <a:solidFill>
                            <a:srgbClr val="FFFFFF"/>
                          </a:solidFill>
                          <a:latin typeface="Arial"/>
                        </a:rPr>
                        <a:t>Entered by</a:t>
                      </a:r>
                    </a:p>
                  </a:txBody>
                  <a:tcPr marL="54000" marR="54000" marT="18000" marB="18000" anchor="ctr">
                    <a:solidFill>
                      <a:srgbClr val="062552"/>
                    </a:solidFill>
                  </a:tcPr>
                </a:tc>
                <a:tc>
                  <a:txBody>
                    <a:bodyPr wrap="square"/>
                    <a:lstStyle/>
                    <a:p>
                      <a:pPr algn="ctr"/>
                      <a:r>
                        <a:rPr sz="900" b="1">
                          <a:solidFill>
                            <a:srgbClr val="FFFFFF"/>
                          </a:solidFill>
                          <a:latin typeface="Arial"/>
                        </a:rPr>
                        <a:t>FY2027</a:t>
                      </a:r>
                    </a:p>
                  </a:txBody>
                  <a:tcPr marL="54000" marR="54000" marT="18000" marB="18000" anchor="ctr">
                    <a:solidFill>
                      <a:srgbClr val="062552"/>
                    </a:solidFill>
                  </a:tcPr>
                </a:tc>
                <a:tc>
                  <a:txBody>
                    <a:bodyPr wrap="square"/>
                    <a:lstStyle/>
                    <a:p>
                      <a:pPr algn="ctr"/>
                      <a:r>
                        <a:rPr sz="900" b="1">
                          <a:solidFill>
                            <a:srgbClr val="FFFFFF"/>
                          </a:solidFill>
                          <a:latin typeface="Arial"/>
                        </a:rPr>
                        <a:t>FY2028</a:t>
                      </a:r>
                    </a:p>
                  </a:txBody>
                  <a:tcPr marL="54000" marR="54000" marT="18000" marB="18000" anchor="ctr">
                    <a:solidFill>
                      <a:srgbClr val="062552"/>
                    </a:solidFill>
                  </a:tcPr>
                </a:tc>
              </a:tr>
              <a:tr h="380000">
                <a:tc>
                  <a:txBody>
                    <a:bodyPr wrap="square"/>
                    <a:lstStyle/>
                    <a:p>
                      <a:pPr algn="l"/>
                      <a:r>
                        <a:rPr sz="900" b="1">
                          <a:solidFill>
                            <a:srgbClr val="062552"/>
                          </a:solidFill>
                          <a:latin typeface="Arial"/>
                        </a:rPr>
                        <a:t>PAC Kingston Airport Ltd.</a:t>
                      </a:r>
                    </a:p>
                  </a:txBody>
                  <a:tcPr marL="54000" marR="54000" marT="18000" marB="18000" anchor="ctr">
                    <a:noFill/>
                  </a:tcPr>
                </a:tc>
                <a:tc>
                  <a:txBody>
                    <a:bodyPr wrap="square"/>
                    <a:lstStyle/>
                    <a:p>
                      <a:pPr algn="l"/>
                      <a:r>
                        <a:rPr sz="900" b="0">
                          <a:solidFill>
                            <a:srgbClr val="1F1F1F"/>
                          </a:solidFill>
                          <a:latin typeface="Arial"/>
                        </a:rPr>
                        <a:t>−80%, from Oct 26</a:t>
                      </a:r>
                    </a:p>
                  </a:txBody>
                  <a:tcPr marL="54000" marR="54000" marT="18000" marB="18000" anchor="ctr">
                    <a:noFill/>
                  </a:tcPr>
                </a:tc>
                <a:tc>
                  <a:txBody>
                    <a:bodyPr wrap="square"/>
                    <a:lstStyle/>
                    <a:p>
                      <a:pPr algn="l"/>
                      <a:r>
                        <a:rPr sz="900" b="0">
                          <a:solidFill>
                            <a:srgbClr val="1F1F1F"/>
                          </a:solidFill>
                          <a:latin typeface="Arial"/>
                        </a:rPr>
                        <a:t>Confirmed defection</a:t>
                      </a:r>
                    </a:p>
                  </a:txBody>
                  <a:tcPr marL="54000" marR="54000" marT="18000" marB="18000" anchor="ctr">
                    <a:noFill/>
                  </a:tcPr>
                </a:tc>
                <a:tc>
                  <a:txBody>
                    <a:bodyPr wrap="square"/>
                    <a:lstStyle/>
                    <a:p>
                      <a:pPr algn="ctr"/>
                      <a:r>
                        <a:rPr sz="900" b="0">
                          <a:solidFill>
                            <a:srgbClr val="1F1F1F"/>
                          </a:solidFill>
                          <a:latin typeface="Arial"/>
                        </a:rPr>
                        <a:t>Sales Forecasting</a:t>
                      </a:r>
                    </a:p>
                  </a:txBody>
                  <a:tcPr marL="54000" marR="54000" marT="18000" marB="18000" anchor="ctr">
                    <a:noFill/>
                  </a:tcPr>
                </a:tc>
                <a:tc>
                  <a:txBody>
                    <a:bodyPr wrap="square"/>
                    <a:lstStyle/>
                    <a:p>
                      <a:pPr algn="ctr"/>
                      <a:r>
                        <a:rPr sz="900" b="0">
                          <a:solidFill>
                            <a:srgbClr val="C00000"/>
                          </a:solidFill>
                          <a:latin typeface="Arial"/>
                        </a:rPr>
                        <a:t>−7.80</a:t>
                      </a:r>
                    </a:p>
                  </a:txBody>
                  <a:tcPr marL="54000" marR="54000" marT="18000" marB="18000" anchor="ctr">
                    <a:noFill/>
                  </a:tcPr>
                </a:tc>
                <a:tc>
                  <a:txBody>
                    <a:bodyPr wrap="square"/>
                    <a:lstStyle/>
                    <a:p>
                      <a:pPr algn="ctr"/>
                      <a:r>
                        <a:rPr sz="900" b="0">
                          <a:solidFill>
                            <a:srgbClr val="C00000"/>
                          </a:solidFill>
                          <a:latin typeface="Arial"/>
                        </a:rPr>
                        <a:t>−7.63</a:t>
                      </a:r>
                    </a:p>
                  </a:txBody>
                  <a:tcPr marL="54000" marR="54000" marT="18000" marB="18000" anchor="ctr">
                    <a:noFill/>
                  </a:tcPr>
                </a:tc>
              </a:tr>
              <a:tr h="380000">
                <a:tc>
                  <a:txBody>
                    <a:bodyPr wrap="square"/>
                    <a:lstStyle/>
                    <a:p>
                      <a:pPr algn="l"/>
                      <a:r>
                        <a:rPr sz="900" b="1">
                          <a:solidFill>
                            <a:srgbClr val="062552"/>
                          </a:solidFill>
                          <a:latin typeface="Arial"/>
                        </a:rPr>
                        <a:t>National Water Commission</a:t>
                      </a:r>
                    </a:p>
                  </a:txBody>
                  <a:tcPr marL="54000" marR="54000" marT="18000" marB="18000" anchor="ctr">
                    <a:solidFill>
                      <a:srgbClr val="F3F6FB"/>
                    </a:solidFill>
                  </a:tcPr>
                </a:tc>
                <a:tc>
                  <a:txBody>
                    <a:bodyPr wrap="square"/>
                    <a:lstStyle/>
                    <a:p>
                      <a:pPr algn="l"/>
                      <a:r>
                        <a:rPr sz="900" b="0">
                          <a:solidFill>
                            <a:srgbClr val="1F1F1F"/>
                          </a:solidFill>
                          <a:latin typeface="Arial"/>
                        </a:rPr>
                        <a:t>+50%, from Feb 27; +60%, from Feb 27</a:t>
                      </a:r>
                    </a:p>
                  </a:txBody>
                  <a:tcPr marL="54000" marR="54000" marT="18000" marB="18000" anchor="ctr">
                    <a:solidFill>
                      <a:srgbClr val="F3F6FB"/>
                    </a:solidFill>
                  </a:tcPr>
                </a:tc>
                <a:tc>
                  <a:txBody>
                    <a:bodyPr wrap="square"/>
                    <a:lstStyle/>
                    <a:p>
                      <a:pPr algn="l"/>
                      <a:r>
                        <a:rPr sz="900" b="0">
                          <a:solidFill>
                            <a:srgbClr val="1F1F1F"/>
                          </a:solidFill>
                          <a:latin typeface="Arial"/>
                        </a:rPr>
                        <a:t>Expansion</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0E4E95"/>
                          </a:solidFill>
                          <a:latin typeface="Arial"/>
                        </a:rPr>
                        <a:t>+6.90</a:t>
                      </a:r>
                    </a:p>
                  </a:txBody>
                  <a:tcPr marL="54000" marR="54000" marT="18000" marB="18000" anchor="ctr">
                    <a:solidFill>
                      <a:srgbClr val="F3F6FB"/>
                    </a:solidFill>
                  </a:tcPr>
                </a:tc>
                <a:tc>
                  <a:txBody>
                    <a:bodyPr wrap="square"/>
                    <a:lstStyle/>
                    <a:p>
                      <a:pPr algn="ctr"/>
                      <a:r>
                        <a:rPr sz="900" b="0">
                          <a:solidFill>
                            <a:srgbClr val="0E4E95"/>
                          </a:solidFill>
                          <a:latin typeface="Arial"/>
                        </a:rPr>
                        <a:t>+7.45</a:t>
                      </a:r>
                    </a:p>
                  </a:txBody>
                  <a:tcPr marL="54000" marR="54000" marT="18000" marB="18000" anchor="ctr">
                    <a:solidFill>
                      <a:srgbClr val="F3F6FB"/>
                    </a:solidFill>
                  </a:tcPr>
                </a:tc>
              </a:tr>
              <a:tr h="380000">
                <a:tc>
                  <a:txBody>
                    <a:bodyPr wrap="square"/>
                    <a:lstStyle/>
                    <a:p>
                      <a:pPr algn="l"/>
                      <a:r>
                        <a:rPr sz="900" b="1">
                          <a:solidFill>
                            <a:srgbClr val="062552"/>
                          </a:solidFill>
                          <a:latin typeface="Arial"/>
                        </a:rPr>
                        <a:t>Ministry of Health</a:t>
                      </a:r>
                    </a:p>
                  </a:txBody>
                  <a:tcPr marL="54000" marR="54000" marT="18000" marB="18000" anchor="ctr">
                    <a:noFill/>
                  </a:tcPr>
                </a:tc>
                <a:tc>
                  <a:txBody>
                    <a:bodyPr wrap="square"/>
                    <a:lstStyle/>
                    <a:p>
                      <a:pPr algn="l"/>
                      <a:r>
                        <a:rPr sz="900" b="0">
                          <a:solidFill>
                            <a:srgbClr val="1F1F1F"/>
                          </a:solidFill>
                          <a:latin typeface="Arial"/>
                        </a:rPr>
                        <a:t>+20%, from Oct 27; +100%, from Apr 28</a:t>
                      </a:r>
                    </a:p>
                  </a:txBody>
                  <a:tcPr marL="54000" marR="54000" marT="18000" marB="18000" anchor="ctr">
                    <a:noFill/>
                  </a:tcPr>
                </a:tc>
                <a:tc>
                  <a:txBody>
                    <a:bodyPr wrap="square"/>
                    <a:lstStyle/>
                    <a:p>
                      <a:pPr algn="l"/>
                      <a:r>
                        <a:rPr sz="900" b="0">
                          <a:solidFill>
                            <a:srgbClr val="1F1F1F"/>
                          </a:solidFill>
                          <a:latin typeface="Arial"/>
                        </a:rPr>
                        <a:t>Expansion</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0E4E95"/>
                          </a:solidFill>
                          <a:latin typeface="Arial"/>
                        </a:rPr>
                        <a:t>+0.10</a:t>
                      </a:r>
                    </a:p>
                  </a:txBody>
                  <a:tcPr marL="54000" marR="54000" marT="18000" marB="18000" anchor="ctr">
                    <a:noFill/>
                  </a:tcPr>
                </a:tc>
                <a:tc>
                  <a:txBody>
                    <a:bodyPr wrap="square"/>
                    <a:lstStyle/>
                    <a:p>
                      <a:pPr algn="ctr"/>
                      <a:r>
                        <a:rPr sz="900" b="0">
                          <a:solidFill>
                            <a:srgbClr val="0E4E95"/>
                          </a:solidFill>
                          <a:latin typeface="Arial"/>
                        </a:rPr>
                        <a:t>+1.50</a:t>
                      </a:r>
                    </a:p>
                  </a:txBody>
                  <a:tcPr marL="54000" marR="54000" marT="18000" marB="18000" anchor="ctr">
                    <a:noFill/>
                  </a:tcPr>
                </a:tc>
              </a:tr>
              <a:tr h="380000">
                <a:tc>
                  <a:txBody>
                    <a:bodyPr wrap="square"/>
                    <a:lstStyle/>
                    <a:p>
                      <a:pPr algn="l"/>
                      <a:r>
                        <a:rPr sz="900" b="1">
                          <a:solidFill>
                            <a:srgbClr val="062552"/>
                          </a:solidFill>
                          <a:latin typeface="Arial"/>
                        </a:rPr>
                        <a:t>Greater Ptmre Health Cnr</a:t>
                      </a:r>
                    </a:p>
                  </a:txBody>
                  <a:tcPr marL="54000" marR="54000" marT="18000" marB="18000" anchor="ctr">
                    <a:solidFill>
                      <a:srgbClr val="F3F6FB"/>
                    </a:solidFill>
                  </a:tcPr>
                </a:tc>
                <a:tc>
                  <a:txBody>
                    <a:bodyPr wrap="square"/>
                    <a:lstStyle/>
                    <a:p>
                      <a:pPr algn="l"/>
                      <a:r>
                        <a:rPr sz="900" b="0">
                          <a:solidFill>
                            <a:srgbClr val="1F1F1F"/>
                          </a:solidFill>
                          <a:latin typeface="Arial"/>
                        </a:rPr>
                        <a:t>+50%, from Jan 27</a:t>
                      </a:r>
                    </a:p>
                  </a:txBody>
                  <a:tcPr marL="54000" marR="54000" marT="18000" marB="18000" anchor="ctr">
                    <a:solidFill>
                      <a:srgbClr val="F3F6FB"/>
                    </a:solidFill>
                  </a:tcPr>
                </a:tc>
                <a:tc>
                  <a:txBody>
                    <a:bodyPr wrap="square"/>
                    <a:lstStyle/>
                    <a:p>
                      <a:pPr algn="l"/>
                      <a:r>
                        <a:rPr sz="900" b="0">
                          <a:solidFill>
                            <a:srgbClr val="1F1F1F"/>
                          </a:solidFill>
                          <a:latin typeface="Arial"/>
                        </a:rPr>
                        <a:t>Expansion</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0E4E95"/>
                          </a:solidFill>
                          <a:latin typeface="Arial"/>
                        </a:rPr>
                        <a:t>+0.04</a:t>
                      </a:r>
                    </a:p>
                  </a:txBody>
                  <a:tcPr marL="54000" marR="54000" marT="18000" marB="18000" anchor="ctr">
                    <a:solidFill>
                      <a:srgbClr val="F3F6FB"/>
                    </a:solidFill>
                  </a:tcPr>
                </a:tc>
                <a:tc>
                  <a:txBody>
                    <a:bodyPr wrap="square"/>
                    <a:lstStyle/>
                    <a:p>
                      <a:pPr algn="ctr"/>
                      <a:r>
                        <a:rPr sz="900" b="0">
                          <a:solidFill>
                            <a:srgbClr val="0E4E95"/>
                          </a:solidFill>
                          <a:latin typeface="Arial"/>
                        </a:rPr>
                        <a:t>+0.04</a:t>
                      </a:r>
                    </a:p>
                  </a:txBody>
                  <a:tcPr marL="54000" marR="54000" marT="18000" marB="18000" anchor="ctr">
                    <a:solidFill>
                      <a:srgbClr val="F3F6FB"/>
                    </a:solidFill>
                  </a:tcPr>
                </a:tc>
              </a:tr>
              <a:tr h="380000">
                <a:tc>
                  <a:txBody>
                    <a:bodyPr wrap="square"/>
                    <a:lstStyle/>
                    <a:p>
                      <a:pPr algn="l"/>
                      <a:r>
                        <a:rPr sz="900" b="1">
                          <a:solidFill>
                            <a:srgbClr val="062552"/>
                          </a:solidFill>
                          <a:latin typeface="Arial"/>
                        </a:rPr>
                        <a:t>South East Regional Health Aut</a:t>
                      </a:r>
                    </a:p>
                  </a:txBody>
                  <a:tcPr marL="54000" marR="54000" marT="18000" marB="18000" anchor="ctr">
                    <a:noFill/>
                  </a:tcPr>
                </a:tc>
                <a:tc>
                  <a:txBody>
                    <a:bodyPr wrap="square"/>
                    <a:lstStyle/>
                    <a:p>
                      <a:pPr algn="l"/>
                      <a:r>
                        <a:rPr sz="900" b="0">
                          <a:solidFill>
                            <a:srgbClr val="1F1F1F"/>
                          </a:solidFill>
                          <a:latin typeface="Arial"/>
                        </a:rPr>
                        <a:t>+100%, from Dec 27</a:t>
                      </a:r>
                    </a:p>
                  </a:txBody>
                  <a:tcPr marL="54000" marR="54000" marT="18000" marB="18000" anchor="ctr">
                    <a:noFill/>
                  </a:tcPr>
                </a:tc>
                <a:tc>
                  <a:txBody>
                    <a:bodyPr wrap="square"/>
                    <a:lstStyle/>
                    <a:p>
                      <a:pPr algn="l"/>
                      <a:r>
                        <a:rPr sz="900" b="0">
                          <a:solidFill>
                            <a:srgbClr val="1F1F1F"/>
                          </a:solidFill>
                          <a:latin typeface="Arial"/>
                        </a:rPr>
                        <a:t>Expansion</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0E4E95"/>
                          </a:solidFill>
                          <a:latin typeface="Arial"/>
                        </a:rPr>
                        <a:t>+0.03</a:t>
                      </a:r>
                    </a:p>
                  </a:txBody>
                  <a:tcPr marL="54000" marR="54000" marT="18000" marB="18000" anchor="ctr">
                    <a:noFill/>
                  </a:tcPr>
                </a:tc>
                <a:tc>
                  <a:txBody>
                    <a:bodyPr wrap="square"/>
                    <a:lstStyle/>
                    <a:p>
                      <a:pPr algn="ctr"/>
                      <a:r>
                        <a:rPr sz="900" b="0">
                          <a:solidFill>
                            <a:srgbClr val="0E4E95"/>
                          </a:solidFill>
                          <a:latin typeface="Arial"/>
                        </a:rPr>
                        <a:t>+0.34</a:t>
                      </a:r>
                    </a:p>
                  </a:txBody>
                  <a:tcPr marL="54000" marR="54000" marT="18000" marB="18000" anchor="ctr">
                    <a:noFill/>
                  </a:tcPr>
                </a:tc>
              </a:tr>
              <a:tr h="380000">
                <a:tc>
                  <a:txBody>
                    <a:bodyPr wrap="square"/>
                    <a:lstStyle/>
                    <a:p>
                      <a:pPr algn="l"/>
                      <a:r>
                        <a:rPr sz="900" b="1">
                          <a:solidFill>
                            <a:srgbClr val="062552"/>
                          </a:solidFill>
                          <a:latin typeface="Arial"/>
                        </a:rPr>
                        <a:t>Independence Park Ltd</a:t>
                      </a:r>
                    </a:p>
                  </a:txBody>
                  <a:tcPr marL="54000" marR="54000" marT="18000" marB="18000" anchor="ctr">
                    <a:solidFill>
                      <a:srgbClr val="F3F6FB"/>
                    </a:solidFill>
                  </a:tcPr>
                </a:tc>
                <a:tc>
                  <a:txBody>
                    <a:bodyPr wrap="square"/>
                    <a:lstStyle/>
                    <a:p>
                      <a:pPr algn="l"/>
                      <a:r>
                        <a:rPr sz="900" b="0">
                          <a:solidFill>
                            <a:srgbClr val="1F1F1F"/>
                          </a:solidFill>
                          <a:latin typeface="Arial"/>
                        </a:rPr>
                        <a:t>+250%, from Dec 29</a:t>
                      </a:r>
                    </a:p>
                  </a:txBody>
                  <a:tcPr marL="54000" marR="54000" marT="18000" marB="18000" anchor="ctr">
                    <a:solidFill>
                      <a:srgbClr val="F3F6FB"/>
                    </a:solidFill>
                  </a:tcPr>
                </a:tc>
                <a:tc>
                  <a:txBody>
                    <a:bodyPr wrap="square"/>
                    <a:lstStyle/>
                    <a:p>
                      <a:pPr algn="l"/>
                      <a:r>
                        <a:rPr sz="900" b="0">
                          <a:solidFill>
                            <a:srgbClr val="1F1F1F"/>
                          </a:solidFill>
                          <a:latin typeface="Arial"/>
                        </a:rPr>
                        <a:t>Expansion</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Upcoming Adjustments: Nicole Watson</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6 customers with adjustments from October 2026 onward</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Effect is the change in the forecast for the whole customer, GWh. Keep, change or remove each one in the workbook.</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11</a:t>
            </a:r>
          </a:p>
        </p:txBody>
      </p:sp>
      <p:graphicFrame>
        <p:nvGraphicFramePr>
          <p:cNvPr id="7" name="Table 6"/>
          <p:cNvGraphicFramePr>
            <a:graphicFrameLocks noGrp="1"/>
          </p:cNvGraphicFramePr>
          <p:nvPr/>
        </p:nvGraphicFramePr>
        <p:xfrm>
          <a:off x="274320" y="1950000"/>
          <a:ext cx="11649996" cy="2600000"/>
        </p:xfrm>
        <a:graphic>
          <a:graphicData uri="http://schemas.openxmlformats.org/drawingml/2006/table">
            <a:tbl>
              <a:tblPr firstRow="0" bandRow="0">
                <a:tableStyleId>{5940675A-B579-460E-94D1-54222C63F5DA}</a:tableStyleId>
              </a:tblPr>
              <a:tblGrid>
                <a:gridCol w="2657017"/>
                <a:gridCol w="3678947"/>
                <a:gridCol w="1941666"/>
                <a:gridCol w="1328508"/>
                <a:gridCol w="1021929"/>
                <a:gridCol w="1021929"/>
              </a:tblGrid>
              <a:tr h="320000">
                <a:tc>
                  <a:txBody>
                    <a:bodyPr wrap="square"/>
                    <a:lstStyle/>
                    <a:p>
                      <a:pPr algn="l"/>
                      <a:r>
                        <a:rPr sz="900" b="1">
                          <a:solidFill>
                            <a:srgbClr val="FFFFFF"/>
                          </a:solidFill>
                          <a:latin typeface="Arial"/>
                        </a:rPr>
                        <a:t>Customer</a:t>
                      </a:r>
                    </a:p>
                  </a:txBody>
                  <a:tcPr marL="54000" marR="54000" marT="18000" marB="18000" anchor="ctr">
                    <a:solidFill>
                      <a:srgbClr val="062552"/>
                    </a:solidFill>
                  </a:tcPr>
                </a:tc>
                <a:tc>
                  <a:txBody>
                    <a:bodyPr wrap="square"/>
                    <a:lstStyle/>
                    <a:p>
                      <a:pPr algn="l"/>
                      <a:r>
                        <a:rPr sz="900" b="1">
                          <a:solidFill>
                            <a:srgbClr val="FFFFFF"/>
                          </a:solidFill>
                          <a:latin typeface="Arial"/>
                        </a:rPr>
                        <a:t>Adjustment and months</a:t>
                      </a:r>
                    </a:p>
                  </a:txBody>
                  <a:tcPr marL="54000" marR="54000" marT="18000" marB="18000" anchor="ctr">
                    <a:solidFill>
                      <a:srgbClr val="062552"/>
                    </a:solidFill>
                  </a:tcPr>
                </a:tc>
                <a:tc>
                  <a:txBody>
                    <a:bodyPr wrap="square"/>
                    <a:lstStyle/>
                    <a:p>
                      <a:pPr algn="l"/>
                      <a:r>
                        <a:rPr sz="900" b="1">
                          <a:solidFill>
                            <a:srgbClr val="FFFFFF"/>
                          </a:solidFill>
                          <a:latin typeface="Arial"/>
                        </a:rPr>
                        <a:t>Reason</a:t>
                      </a:r>
                    </a:p>
                  </a:txBody>
                  <a:tcPr marL="54000" marR="54000" marT="18000" marB="18000" anchor="ctr">
                    <a:solidFill>
                      <a:srgbClr val="062552"/>
                    </a:solidFill>
                  </a:tcPr>
                </a:tc>
                <a:tc>
                  <a:txBody>
                    <a:bodyPr wrap="square"/>
                    <a:lstStyle/>
                    <a:p>
                      <a:pPr algn="ctr"/>
                      <a:r>
                        <a:rPr sz="900" b="1">
                          <a:solidFill>
                            <a:srgbClr val="FFFFFF"/>
                          </a:solidFill>
                          <a:latin typeface="Arial"/>
                        </a:rPr>
                        <a:t>Entered by</a:t>
                      </a:r>
                    </a:p>
                  </a:txBody>
                  <a:tcPr marL="54000" marR="54000" marT="18000" marB="18000" anchor="ctr">
                    <a:solidFill>
                      <a:srgbClr val="062552"/>
                    </a:solidFill>
                  </a:tcPr>
                </a:tc>
                <a:tc>
                  <a:txBody>
                    <a:bodyPr wrap="square"/>
                    <a:lstStyle/>
                    <a:p>
                      <a:pPr algn="ctr"/>
                      <a:r>
                        <a:rPr sz="900" b="1">
                          <a:solidFill>
                            <a:srgbClr val="FFFFFF"/>
                          </a:solidFill>
                          <a:latin typeface="Arial"/>
                        </a:rPr>
                        <a:t>FY2027</a:t>
                      </a:r>
                    </a:p>
                  </a:txBody>
                  <a:tcPr marL="54000" marR="54000" marT="18000" marB="18000" anchor="ctr">
                    <a:solidFill>
                      <a:srgbClr val="062552"/>
                    </a:solidFill>
                  </a:tcPr>
                </a:tc>
                <a:tc>
                  <a:txBody>
                    <a:bodyPr wrap="square"/>
                    <a:lstStyle/>
                    <a:p>
                      <a:pPr algn="ctr"/>
                      <a:r>
                        <a:rPr sz="900" b="1">
                          <a:solidFill>
                            <a:srgbClr val="FFFFFF"/>
                          </a:solidFill>
                          <a:latin typeface="Arial"/>
                        </a:rPr>
                        <a:t>FY2028</a:t>
                      </a:r>
                    </a:p>
                  </a:txBody>
                  <a:tcPr marL="54000" marR="54000" marT="18000" marB="18000" anchor="ctr">
                    <a:solidFill>
                      <a:srgbClr val="062552"/>
                    </a:solidFill>
                  </a:tcPr>
                </a:tc>
              </a:tr>
              <a:tr h="380000">
                <a:tc>
                  <a:txBody>
                    <a:bodyPr wrap="square"/>
                    <a:lstStyle/>
                    <a:p>
                      <a:pPr algn="l"/>
                      <a:r>
                        <a:rPr sz="900" b="1">
                          <a:solidFill>
                            <a:srgbClr val="062552"/>
                          </a:solidFill>
                          <a:latin typeface="Arial"/>
                        </a:rPr>
                        <a:t>West Meat Packers Ja Ltd</a:t>
                      </a:r>
                    </a:p>
                  </a:txBody>
                  <a:tcPr marL="54000" marR="54000" marT="18000" marB="18000" anchor="ctr">
                    <a:noFill/>
                  </a:tcPr>
                </a:tc>
                <a:tc>
                  <a:txBody>
                    <a:bodyPr wrap="square"/>
                    <a:lstStyle/>
                    <a:p>
                      <a:pPr algn="l"/>
                      <a:r>
                        <a:rPr sz="900" b="0">
                          <a:solidFill>
                            <a:srgbClr val="1F1F1F"/>
                          </a:solidFill>
                          <a:latin typeface="Arial"/>
                        </a:rPr>
                        <a:t>−70%, from Jan 27</a:t>
                      </a:r>
                    </a:p>
                  </a:txBody>
                  <a:tcPr marL="54000" marR="54000" marT="18000" marB="18000" anchor="ctr">
                    <a:noFill/>
                  </a:tcPr>
                </a:tc>
                <a:tc>
                  <a:txBody>
                    <a:bodyPr wrap="square"/>
                    <a:lstStyle/>
                    <a:p>
                      <a:pPr algn="l"/>
                      <a:r>
                        <a:rPr sz="900" b="0">
                          <a:solidFill>
                            <a:srgbClr val="1F1F1F"/>
                          </a:solidFill>
                          <a:latin typeface="Arial"/>
                        </a:rPr>
                        <a:t>Confirmed defection</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C00000"/>
                          </a:solidFill>
                          <a:latin typeface="Arial"/>
                        </a:rPr>
                        <a:t>−3.12</a:t>
                      </a:r>
                    </a:p>
                  </a:txBody>
                  <a:tcPr marL="54000" marR="54000" marT="18000" marB="18000" anchor="ctr">
                    <a:noFill/>
                  </a:tcPr>
                </a:tc>
                <a:tc>
                  <a:txBody>
                    <a:bodyPr wrap="square"/>
                    <a:lstStyle/>
                    <a:p>
                      <a:pPr algn="ctr"/>
                      <a:r>
                        <a:rPr sz="900" b="0">
                          <a:solidFill>
                            <a:srgbClr val="C00000"/>
                          </a:solidFill>
                          <a:latin typeface="Arial"/>
                        </a:rPr>
                        <a:t>−3.56</a:t>
                      </a:r>
                    </a:p>
                  </a:txBody>
                  <a:tcPr marL="54000" marR="54000" marT="18000" marB="18000" anchor="ctr">
                    <a:noFill/>
                  </a:tcPr>
                </a:tc>
              </a:tr>
              <a:tr h="380000">
                <a:tc>
                  <a:txBody>
                    <a:bodyPr wrap="square"/>
                    <a:lstStyle/>
                    <a:p>
                      <a:pPr algn="l"/>
                      <a:r>
                        <a:rPr sz="900" b="1">
                          <a:solidFill>
                            <a:srgbClr val="062552"/>
                          </a:solidFill>
                          <a:latin typeface="Arial"/>
                        </a:rPr>
                        <a:t>Rainforest Seafood Limited</a:t>
                      </a:r>
                    </a:p>
                  </a:txBody>
                  <a:tcPr marL="54000" marR="54000" marT="18000" marB="18000" anchor="ctr">
                    <a:solidFill>
                      <a:srgbClr val="F3F6FB"/>
                    </a:solidFill>
                  </a:tcPr>
                </a:tc>
                <a:tc>
                  <a:txBody>
                    <a:bodyPr wrap="square"/>
                    <a:lstStyle/>
                    <a:p>
                      <a:pPr algn="l"/>
                      <a:r>
                        <a:rPr sz="900" b="0">
                          <a:solidFill>
                            <a:srgbClr val="1F1F1F"/>
                          </a:solidFill>
                          <a:latin typeface="Arial"/>
                        </a:rPr>
                        <a:t>−35%, from Jan 27</a:t>
                      </a:r>
                    </a:p>
                  </a:txBody>
                  <a:tcPr marL="54000" marR="54000" marT="18000" marB="18000" anchor="ctr">
                    <a:solidFill>
                      <a:srgbClr val="F3F6FB"/>
                    </a:solidFill>
                  </a:tcPr>
                </a:tc>
                <a:tc>
                  <a:txBody>
                    <a:bodyPr wrap="square"/>
                    <a:lstStyle/>
                    <a:p>
                      <a:pPr algn="l"/>
                      <a:r>
                        <a:rPr sz="900" b="0">
                          <a:solidFill>
                            <a:srgbClr val="1F1F1F"/>
                          </a:solidFill>
                          <a:latin typeface="Arial"/>
                        </a:rPr>
                        <a:t>Confirmed defection</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C00000"/>
                          </a:solidFill>
                          <a:latin typeface="Arial"/>
                        </a:rPr>
                        <a:t>−1.72</a:t>
                      </a:r>
                    </a:p>
                  </a:txBody>
                  <a:tcPr marL="54000" marR="54000" marT="18000" marB="18000" anchor="ctr">
                    <a:solidFill>
                      <a:srgbClr val="F3F6FB"/>
                    </a:solidFill>
                  </a:tcPr>
                </a:tc>
                <a:tc>
                  <a:txBody>
                    <a:bodyPr wrap="square"/>
                    <a:lstStyle/>
                    <a:p>
                      <a:pPr algn="ctr"/>
                      <a:r>
                        <a:rPr sz="900" b="0">
                          <a:solidFill>
                            <a:srgbClr val="C00000"/>
                          </a:solidFill>
                          <a:latin typeface="Arial"/>
                        </a:rPr>
                        <a:t>−1.96</a:t>
                      </a:r>
                    </a:p>
                  </a:txBody>
                  <a:tcPr marL="54000" marR="54000" marT="18000" marB="18000" anchor="ctr">
                    <a:solidFill>
                      <a:srgbClr val="F3F6FB"/>
                    </a:solidFill>
                  </a:tcPr>
                </a:tc>
              </a:tr>
              <a:tr h="380000">
                <a:tc>
                  <a:txBody>
                    <a:bodyPr wrap="square"/>
                    <a:lstStyle/>
                    <a:p>
                      <a:pPr algn="l"/>
                      <a:r>
                        <a:rPr sz="900" b="1">
                          <a:solidFill>
                            <a:srgbClr val="062552"/>
                          </a:solidFill>
                          <a:latin typeface="Arial"/>
                        </a:rPr>
                        <a:t>Grace Food Processors (Canning</a:t>
                      </a:r>
                    </a:p>
                  </a:txBody>
                  <a:tcPr marL="54000" marR="54000" marT="18000" marB="18000" anchor="ctr">
                    <a:noFill/>
                  </a:tcPr>
                </a:tc>
                <a:tc>
                  <a:txBody>
                    <a:bodyPr wrap="square"/>
                    <a:lstStyle/>
                    <a:p>
                      <a:pPr algn="l"/>
                      <a:r>
                        <a:rPr sz="900" b="0">
                          <a:solidFill>
                            <a:srgbClr val="1F1F1F"/>
                          </a:solidFill>
                          <a:latin typeface="Arial"/>
                        </a:rPr>
                        <a:t>−35%, from Jul 27</a:t>
                      </a:r>
                    </a:p>
                  </a:txBody>
                  <a:tcPr marL="54000" marR="54000" marT="18000" marB="18000" anchor="ctr">
                    <a:noFill/>
                  </a:tcPr>
                </a:tc>
                <a:tc>
                  <a:txBody>
                    <a:bodyPr wrap="square"/>
                    <a:lstStyle/>
                    <a:p>
                      <a:pPr algn="l"/>
                      <a:r>
                        <a:rPr sz="900" b="0">
                          <a:solidFill>
                            <a:srgbClr val="1F1F1F"/>
                          </a:solidFill>
                          <a:latin typeface="Arial"/>
                        </a:rPr>
                        <a:t>Possible defection</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C00000"/>
                          </a:solidFill>
                          <a:latin typeface="Arial"/>
                        </a:rPr>
                        <a:t>−0.56</a:t>
                      </a:r>
                    </a:p>
                  </a:txBody>
                  <a:tcPr marL="54000" marR="54000" marT="18000" marB="18000" anchor="ctr">
                    <a:noFill/>
                  </a:tcPr>
                </a:tc>
                <a:tc>
                  <a:txBody>
                    <a:bodyPr wrap="square"/>
                    <a:lstStyle/>
                    <a:p>
                      <a:pPr algn="ctr"/>
                      <a:r>
                        <a:rPr sz="900" b="0">
                          <a:solidFill>
                            <a:srgbClr val="C00000"/>
                          </a:solidFill>
                          <a:latin typeface="Arial"/>
                        </a:rPr>
                        <a:t>−1.10</a:t>
                      </a:r>
                    </a:p>
                  </a:txBody>
                  <a:tcPr marL="54000" marR="54000" marT="18000" marB="18000" anchor="ctr">
                    <a:noFill/>
                  </a:tcPr>
                </a:tc>
              </a:tr>
              <a:tr h="380000">
                <a:tc>
                  <a:txBody>
                    <a:bodyPr wrap="square"/>
                    <a:lstStyle/>
                    <a:p>
                      <a:pPr algn="l"/>
                      <a:r>
                        <a:rPr sz="900" b="1">
                          <a:solidFill>
                            <a:srgbClr val="062552"/>
                          </a:solidFill>
                          <a:latin typeface="Arial"/>
                        </a:rPr>
                        <a:t>Caribbean Broilers Ja Ltd</a:t>
                      </a:r>
                    </a:p>
                  </a:txBody>
                  <a:tcPr marL="54000" marR="54000" marT="18000" marB="18000" anchor="ctr">
                    <a:solidFill>
                      <a:srgbClr val="F3F6FB"/>
                    </a:solidFill>
                  </a:tcPr>
                </a:tc>
                <a:tc>
                  <a:txBody>
                    <a:bodyPr wrap="square"/>
                    <a:lstStyle/>
                    <a:p>
                      <a:pPr algn="l"/>
                      <a:r>
                        <a:rPr sz="900" b="0">
                          <a:solidFill>
                            <a:srgbClr val="1F1F1F"/>
                          </a:solidFill>
                          <a:latin typeface="Arial"/>
                        </a:rPr>
                        <a:t>−100%, Dec 27</a:t>
                      </a:r>
                    </a:p>
                  </a:txBody>
                  <a:tcPr marL="54000" marR="54000" marT="18000" marB="18000" anchor="ctr">
                    <a:solidFill>
                      <a:srgbClr val="F3F6FB"/>
                    </a:solidFill>
                  </a:tcPr>
                </a:tc>
                <a:tc>
                  <a:txBody>
                    <a:bodyPr wrap="square"/>
                    <a:lstStyle/>
                    <a:p>
                      <a:pPr algn="l"/>
                      <a:r>
                        <a:rPr sz="900" b="0">
                          <a:solidFill>
                            <a:srgbClr val="1F1F1F"/>
                          </a:solidFill>
                          <a:latin typeface="Arial"/>
                        </a:rPr>
                        <a:t>Operational disruption</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C00000"/>
                          </a:solidFill>
                          <a:latin typeface="Arial"/>
                        </a:rPr>
                        <a:t>−0.28</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r>
              <a:tr h="380000">
                <a:tc>
                  <a:txBody>
                    <a:bodyPr wrap="square"/>
                    <a:lstStyle/>
                    <a:p>
                      <a:pPr algn="l"/>
                      <a:r>
                        <a:rPr sz="900" b="1">
                          <a:solidFill>
                            <a:srgbClr val="062552"/>
                          </a:solidFill>
                          <a:latin typeface="Arial"/>
                        </a:rPr>
                        <a:t>Grace Kennedy Co. Limited</a:t>
                      </a:r>
                    </a:p>
                  </a:txBody>
                  <a:tcPr marL="54000" marR="54000" marT="18000" marB="18000" anchor="ctr">
                    <a:noFill/>
                  </a:tcPr>
                </a:tc>
                <a:tc>
                  <a:txBody>
                    <a:bodyPr wrap="square"/>
                    <a:lstStyle/>
                    <a:p>
                      <a:pPr algn="l"/>
                      <a:r>
                        <a:rPr sz="900" b="0">
                          <a:solidFill>
                            <a:srgbClr val="1F1F1F"/>
                          </a:solidFill>
                          <a:latin typeface="Arial"/>
                        </a:rPr>
                        <a:t>+5.0%, from Dec 27</a:t>
                      </a:r>
                    </a:p>
                  </a:txBody>
                  <a:tcPr marL="54000" marR="54000" marT="18000" marB="18000" anchor="ctr">
                    <a:noFill/>
                  </a:tcPr>
                </a:tc>
                <a:tc>
                  <a:txBody>
                    <a:bodyPr wrap="square"/>
                    <a:lstStyle/>
                    <a:p>
                      <a:pPr algn="l"/>
                      <a:r>
                        <a:rPr sz="900" b="0">
                          <a:solidFill>
                            <a:srgbClr val="1F1F1F"/>
                          </a:solidFill>
                          <a:latin typeface="Arial"/>
                        </a:rPr>
                        <a:t>Expansion</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0E4E95"/>
                          </a:solidFill>
                          <a:latin typeface="Arial"/>
                        </a:rPr>
                        <a:t>+0.03</a:t>
                      </a:r>
                    </a:p>
                  </a:txBody>
                  <a:tcPr marL="54000" marR="54000" marT="18000" marB="18000" anchor="ctr">
                    <a:noFill/>
                  </a:tcPr>
                </a:tc>
                <a:tc>
                  <a:txBody>
                    <a:bodyPr wrap="square"/>
                    <a:lstStyle/>
                    <a:p>
                      <a:pPr algn="ctr"/>
                      <a:r>
                        <a:rPr sz="900" b="0">
                          <a:solidFill>
                            <a:srgbClr val="0E4E95"/>
                          </a:solidFill>
                          <a:latin typeface="Arial"/>
                        </a:rPr>
                        <a:t>+0.31</a:t>
                      </a:r>
                    </a:p>
                  </a:txBody>
                  <a:tcPr marL="54000" marR="54000" marT="18000" marB="18000" anchor="ctr">
                    <a:noFill/>
                  </a:tcPr>
                </a:tc>
              </a:tr>
              <a:tr h="380000">
                <a:tc>
                  <a:txBody>
                    <a:bodyPr wrap="square"/>
                    <a:lstStyle/>
                    <a:p>
                      <a:pPr algn="l"/>
                      <a:r>
                        <a:rPr sz="900" b="1">
                          <a:solidFill>
                            <a:srgbClr val="062552"/>
                          </a:solidFill>
                          <a:latin typeface="Arial"/>
                        </a:rPr>
                        <a:t>Hi-Lo Food Stores Ja Ltd</a:t>
                      </a:r>
                    </a:p>
                  </a:txBody>
                  <a:tcPr marL="54000" marR="54000" marT="18000" marB="18000" anchor="ctr">
                    <a:solidFill>
                      <a:srgbClr val="F3F6FB"/>
                    </a:solidFill>
                  </a:tcPr>
                </a:tc>
                <a:tc>
                  <a:txBody>
                    <a:bodyPr wrap="square"/>
                    <a:lstStyle/>
                    <a:p>
                      <a:pPr algn="l"/>
                      <a:r>
                        <a:rPr sz="900" b="0">
                          <a:solidFill>
                            <a:srgbClr val="1F1F1F"/>
                          </a:solidFill>
                          <a:latin typeface="Arial"/>
                        </a:rPr>
                        <a:t>+10%, from Sep 27</a:t>
                      </a:r>
                    </a:p>
                  </a:txBody>
                  <a:tcPr marL="54000" marR="54000" marT="18000" marB="18000" anchor="ctr">
                    <a:solidFill>
                      <a:srgbClr val="F3F6FB"/>
                    </a:solidFill>
                  </a:tcPr>
                </a:tc>
                <a:tc>
                  <a:txBody>
                    <a:bodyPr wrap="square"/>
                    <a:lstStyle/>
                    <a:p>
                      <a:pPr algn="l"/>
                      <a:r>
                        <a:rPr sz="900" b="0">
                          <a:solidFill>
                            <a:srgbClr val="1F1F1F"/>
                          </a:solidFill>
                          <a:latin typeface="Arial"/>
                        </a:rPr>
                        <a:t>Expansion</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0E4E95"/>
                          </a:solidFill>
                          <a:latin typeface="Arial"/>
                        </a:rPr>
                        <a:t>+0.01</a:t>
                      </a:r>
                    </a:p>
                  </a:txBody>
                  <a:tcPr marL="54000" marR="54000" marT="18000" marB="18000" anchor="ctr">
                    <a:solidFill>
                      <a:srgbClr val="F3F6FB"/>
                    </a:solidFill>
                  </a:tcPr>
                </a:tc>
                <a:tc>
                  <a:txBody>
                    <a:bodyPr wrap="square"/>
                    <a:lstStyle/>
                    <a:p>
                      <a:pPr algn="ctr"/>
                      <a:r>
                        <a:rPr sz="900" b="0">
                          <a:solidFill>
                            <a:srgbClr val="0E4E95"/>
                          </a:solidFill>
                          <a:latin typeface="Arial"/>
                        </a:rPr>
                        <a:t>+0.04</a:t>
                      </a:r>
                    </a:p>
                  </a:txBody>
                  <a:tcPr marL="54000" marR="54000" marT="18000" marB="18000" anchor="ctr">
                    <a:solidFill>
                      <a:srgbClr val="F3F6FB"/>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Upcoming Adjustments: Anna-Kay Toyloy</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6 customers with adjustments from October 2026 onward</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Effect is the change in the forecast for the whole customer, GWh. Keep, change or remove each one in the workbook.</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12</a:t>
            </a:r>
          </a:p>
        </p:txBody>
      </p:sp>
      <p:graphicFrame>
        <p:nvGraphicFramePr>
          <p:cNvPr id="7" name="Table 6"/>
          <p:cNvGraphicFramePr>
            <a:graphicFrameLocks noGrp="1"/>
          </p:cNvGraphicFramePr>
          <p:nvPr/>
        </p:nvGraphicFramePr>
        <p:xfrm>
          <a:off x="274320" y="1950000"/>
          <a:ext cx="11649996" cy="2600000"/>
        </p:xfrm>
        <a:graphic>
          <a:graphicData uri="http://schemas.openxmlformats.org/drawingml/2006/table">
            <a:tbl>
              <a:tblPr firstRow="0" bandRow="0">
                <a:tableStyleId>{5940675A-B579-460E-94D1-54222C63F5DA}</a:tableStyleId>
              </a:tblPr>
              <a:tblGrid>
                <a:gridCol w="2657017"/>
                <a:gridCol w="3678947"/>
                <a:gridCol w="1941666"/>
                <a:gridCol w="1328508"/>
                <a:gridCol w="1021929"/>
                <a:gridCol w="1021929"/>
              </a:tblGrid>
              <a:tr h="320000">
                <a:tc>
                  <a:txBody>
                    <a:bodyPr wrap="square"/>
                    <a:lstStyle/>
                    <a:p>
                      <a:pPr algn="l"/>
                      <a:r>
                        <a:rPr sz="900" b="1">
                          <a:solidFill>
                            <a:srgbClr val="FFFFFF"/>
                          </a:solidFill>
                          <a:latin typeface="Arial"/>
                        </a:rPr>
                        <a:t>Customer</a:t>
                      </a:r>
                    </a:p>
                  </a:txBody>
                  <a:tcPr marL="54000" marR="54000" marT="18000" marB="18000" anchor="ctr">
                    <a:solidFill>
                      <a:srgbClr val="062552"/>
                    </a:solidFill>
                  </a:tcPr>
                </a:tc>
                <a:tc>
                  <a:txBody>
                    <a:bodyPr wrap="square"/>
                    <a:lstStyle/>
                    <a:p>
                      <a:pPr algn="l"/>
                      <a:r>
                        <a:rPr sz="900" b="1">
                          <a:solidFill>
                            <a:srgbClr val="FFFFFF"/>
                          </a:solidFill>
                          <a:latin typeface="Arial"/>
                        </a:rPr>
                        <a:t>Adjustment and months</a:t>
                      </a:r>
                    </a:p>
                  </a:txBody>
                  <a:tcPr marL="54000" marR="54000" marT="18000" marB="18000" anchor="ctr">
                    <a:solidFill>
                      <a:srgbClr val="062552"/>
                    </a:solidFill>
                  </a:tcPr>
                </a:tc>
                <a:tc>
                  <a:txBody>
                    <a:bodyPr wrap="square"/>
                    <a:lstStyle/>
                    <a:p>
                      <a:pPr algn="l"/>
                      <a:r>
                        <a:rPr sz="900" b="1">
                          <a:solidFill>
                            <a:srgbClr val="FFFFFF"/>
                          </a:solidFill>
                          <a:latin typeface="Arial"/>
                        </a:rPr>
                        <a:t>Reason</a:t>
                      </a:r>
                    </a:p>
                  </a:txBody>
                  <a:tcPr marL="54000" marR="54000" marT="18000" marB="18000" anchor="ctr">
                    <a:solidFill>
                      <a:srgbClr val="062552"/>
                    </a:solidFill>
                  </a:tcPr>
                </a:tc>
                <a:tc>
                  <a:txBody>
                    <a:bodyPr wrap="square"/>
                    <a:lstStyle/>
                    <a:p>
                      <a:pPr algn="ctr"/>
                      <a:r>
                        <a:rPr sz="900" b="1">
                          <a:solidFill>
                            <a:srgbClr val="FFFFFF"/>
                          </a:solidFill>
                          <a:latin typeface="Arial"/>
                        </a:rPr>
                        <a:t>Entered by</a:t>
                      </a:r>
                    </a:p>
                  </a:txBody>
                  <a:tcPr marL="54000" marR="54000" marT="18000" marB="18000" anchor="ctr">
                    <a:solidFill>
                      <a:srgbClr val="062552"/>
                    </a:solidFill>
                  </a:tcPr>
                </a:tc>
                <a:tc>
                  <a:txBody>
                    <a:bodyPr wrap="square"/>
                    <a:lstStyle/>
                    <a:p>
                      <a:pPr algn="ctr"/>
                      <a:r>
                        <a:rPr sz="900" b="1">
                          <a:solidFill>
                            <a:srgbClr val="FFFFFF"/>
                          </a:solidFill>
                          <a:latin typeface="Arial"/>
                        </a:rPr>
                        <a:t>FY2027</a:t>
                      </a:r>
                    </a:p>
                  </a:txBody>
                  <a:tcPr marL="54000" marR="54000" marT="18000" marB="18000" anchor="ctr">
                    <a:solidFill>
                      <a:srgbClr val="062552"/>
                    </a:solidFill>
                  </a:tcPr>
                </a:tc>
                <a:tc>
                  <a:txBody>
                    <a:bodyPr wrap="square"/>
                    <a:lstStyle/>
                    <a:p>
                      <a:pPr algn="ctr"/>
                      <a:r>
                        <a:rPr sz="900" b="1">
                          <a:solidFill>
                            <a:srgbClr val="FFFFFF"/>
                          </a:solidFill>
                          <a:latin typeface="Arial"/>
                        </a:rPr>
                        <a:t>FY2028</a:t>
                      </a:r>
                    </a:p>
                  </a:txBody>
                  <a:tcPr marL="54000" marR="54000" marT="18000" marB="18000" anchor="ctr">
                    <a:solidFill>
                      <a:srgbClr val="062552"/>
                    </a:solidFill>
                  </a:tcPr>
                </a:tc>
              </a:tr>
              <a:tr h="380000">
                <a:tc>
                  <a:txBody>
                    <a:bodyPr wrap="square"/>
                    <a:lstStyle/>
                    <a:p>
                      <a:pPr algn="l"/>
                      <a:r>
                        <a:rPr sz="900" b="1">
                          <a:solidFill>
                            <a:srgbClr val="062552"/>
                          </a:solidFill>
                          <a:latin typeface="Arial"/>
                        </a:rPr>
                        <a:t>Port Marly Limited</a:t>
                      </a:r>
                    </a:p>
                  </a:txBody>
                  <a:tcPr marL="54000" marR="54000" marT="18000" marB="18000" anchor="ctr">
                    <a:noFill/>
                  </a:tcPr>
                </a:tc>
                <a:tc>
                  <a:txBody>
                    <a:bodyPr wrap="square"/>
                    <a:lstStyle/>
                    <a:p>
                      <a:pPr algn="l"/>
                      <a:r>
                        <a:rPr sz="900" b="0">
                          <a:solidFill>
                            <a:srgbClr val="1F1F1F"/>
                          </a:solidFill>
                          <a:latin typeface="Arial"/>
                        </a:rPr>
                        <a:t>+2.3%, Jan 27 to Dec 27</a:t>
                      </a:r>
                    </a:p>
                  </a:txBody>
                  <a:tcPr marL="54000" marR="54000" marT="18000" marB="18000" anchor="ctr">
                    <a:noFill/>
                  </a:tcPr>
                </a:tc>
                <a:tc>
                  <a:txBody>
                    <a:bodyPr wrap="square"/>
                    <a:lstStyle/>
                    <a:p>
                      <a:pPr algn="l"/>
                      <a:r>
                        <a:rPr sz="900" b="0">
                          <a:solidFill>
                            <a:srgbClr val="1F1F1F"/>
                          </a:solidFill>
                          <a:latin typeface="Arial"/>
                        </a:rPr>
                        <a:t>Operational disruption</a:t>
                      </a:r>
                    </a:p>
                  </a:txBody>
                  <a:tcPr marL="54000" marR="54000" marT="18000" marB="18000" anchor="ctr">
                    <a:noFill/>
                  </a:tcPr>
                </a:tc>
                <a:tc>
                  <a:txBody>
                    <a:bodyPr wrap="square"/>
                    <a:lstStyle/>
                    <a:p>
                      <a:pPr algn="ctr"/>
                      <a:r>
                        <a:rPr sz="900" b="0">
                          <a:solidFill>
                            <a:srgbClr val="1F1F1F"/>
                          </a:solidFill>
                          <a:latin typeface="Arial"/>
                        </a:rPr>
                        <a:t>Sales Forecasting</a:t>
                      </a:r>
                    </a:p>
                  </a:txBody>
                  <a:tcPr marL="54000" marR="54000" marT="18000" marB="18000" anchor="ctr">
                    <a:noFill/>
                  </a:tcPr>
                </a:tc>
                <a:tc>
                  <a:txBody>
                    <a:bodyPr wrap="square"/>
                    <a:lstStyle/>
                    <a:p>
                      <a:pPr algn="ctr"/>
                      <a:r>
                        <a:rPr sz="900" b="0">
                          <a:solidFill>
                            <a:srgbClr val="0E4E95"/>
                          </a:solidFill>
                          <a:latin typeface="Arial"/>
                        </a:rPr>
                        <a:t>+0.32</a:t>
                      </a:r>
                    </a:p>
                  </a:txBody>
                  <a:tcPr marL="54000" marR="54000" marT="18000" marB="18000" anchor="ctr">
                    <a:noFill/>
                  </a:tcPr>
                </a:tc>
                <a:tc>
                  <a:txBody>
                    <a:bodyPr wrap="square"/>
                    <a:lstStyle/>
                    <a:p>
                      <a:pPr algn="ctr"/>
                      <a:r>
                        <a:rPr sz="900" b="0">
                          <a:solidFill>
                            <a:srgbClr val="0E4E95"/>
                          </a:solidFill>
                          <a:latin typeface="Arial"/>
                        </a:rPr>
                        <a:t>0.00</a:t>
                      </a:r>
                    </a:p>
                  </a:txBody>
                  <a:tcPr marL="54000" marR="54000" marT="18000" marB="18000" anchor="ctr">
                    <a:noFill/>
                  </a:tcPr>
                </a:tc>
              </a:tr>
              <a:tr h="380000">
                <a:tc>
                  <a:txBody>
                    <a:bodyPr wrap="square"/>
                    <a:lstStyle/>
                    <a:p>
                      <a:pPr algn="l"/>
                      <a:r>
                        <a:rPr sz="900" b="1">
                          <a:solidFill>
                            <a:srgbClr val="062552"/>
                          </a:solidFill>
                          <a:latin typeface="Arial"/>
                        </a:rPr>
                        <a:t>Riu Jamaicotel Limited</a:t>
                      </a:r>
                    </a:p>
                  </a:txBody>
                  <a:tcPr marL="54000" marR="54000" marT="18000" marB="18000" anchor="ctr">
                    <a:solidFill>
                      <a:srgbClr val="F3F6FB"/>
                    </a:solidFill>
                  </a:tcPr>
                </a:tc>
                <a:tc>
                  <a:txBody>
                    <a:bodyPr wrap="square"/>
                    <a:lstStyle/>
                    <a:p>
                      <a:pPr algn="l"/>
                      <a:r>
                        <a:rPr sz="900" b="0">
                          <a:solidFill>
                            <a:srgbClr val="1F1F1F"/>
                          </a:solidFill>
                          <a:latin typeface="Arial"/>
                        </a:rPr>
                        <a:t>+2.3%, Jan 27 to Dec 27</a:t>
                      </a:r>
                    </a:p>
                  </a:txBody>
                  <a:tcPr marL="54000" marR="54000" marT="18000" marB="18000" anchor="ctr">
                    <a:solidFill>
                      <a:srgbClr val="F3F6FB"/>
                    </a:solidFill>
                  </a:tcPr>
                </a:tc>
                <a:tc>
                  <a:txBody>
                    <a:bodyPr wrap="square"/>
                    <a:lstStyle/>
                    <a:p>
                      <a:pPr algn="l"/>
                      <a:r>
                        <a:rPr sz="900" b="0">
                          <a:solidFill>
                            <a:srgbClr val="1F1F1F"/>
                          </a:solidFill>
                          <a:latin typeface="Arial"/>
                        </a:rPr>
                        <a:t>Operational disruption</a:t>
                      </a:r>
                    </a:p>
                  </a:txBody>
                  <a:tcPr marL="54000" marR="54000" marT="18000" marB="18000" anchor="ctr">
                    <a:solidFill>
                      <a:srgbClr val="F3F6FB"/>
                    </a:solidFill>
                  </a:tcPr>
                </a:tc>
                <a:tc>
                  <a:txBody>
                    <a:bodyPr wrap="square"/>
                    <a:lstStyle/>
                    <a:p>
                      <a:pPr algn="ctr"/>
                      <a:r>
                        <a:rPr sz="900" b="0">
                          <a:solidFill>
                            <a:srgbClr val="1F1F1F"/>
                          </a:solidFill>
                          <a:latin typeface="Arial"/>
                        </a:rPr>
                        <a:t>Sales Forecasting</a:t>
                      </a:r>
                    </a:p>
                  </a:txBody>
                  <a:tcPr marL="54000" marR="54000" marT="18000" marB="18000" anchor="ctr">
                    <a:solidFill>
                      <a:srgbClr val="F3F6FB"/>
                    </a:solidFill>
                  </a:tcPr>
                </a:tc>
                <a:tc>
                  <a:txBody>
                    <a:bodyPr wrap="square"/>
                    <a:lstStyle/>
                    <a:p>
                      <a:pPr algn="ctr"/>
                      <a:r>
                        <a:rPr sz="900" b="0">
                          <a:solidFill>
                            <a:srgbClr val="0E4E95"/>
                          </a:solidFill>
                          <a:latin typeface="Arial"/>
                        </a:rPr>
                        <a:t>+0.30</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r>
              <a:tr h="380000">
                <a:tc>
                  <a:txBody>
                    <a:bodyPr wrap="square"/>
                    <a:lstStyle/>
                    <a:p>
                      <a:pPr algn="l"/>
                      <a:r>
                        <a:rPr sz="900" b="1">
                          <a:solidFill>
                            <a:srgbClr val="062552"/>
                          </a:solidFill>
                          <a:latin typeface="Arial"/>
                        </a:rPr>
                        <a:t>Falmouth PHR Limited</a:t>
                      </a:r>
                    </a:p>
                  </a:txBody>
                  <a:tcPr marL="54000" marR="54000" marT="18000" marB="18000" anchor="ctr">
                    <a:noFill/>
                  </a:tcPr>
                </a:tc>
                <a:tc>
                  <a:txBody>
                    <a:bodyPr wrap="square"/>
                    <a:lstStyle/>
                    <a:p>
                      <a:pPr algn="l"/>
                      <a:r>
                        <a:rPr sz="900" b="0">
                          <a:solidFill>
                            <a:srgbClr val="1F1F1F"/>
                          </a:solidFill>
                          <a:latin typeface="Arial"/>
                        </a:rPr>
                        <a:t>+2.3%, Jan 27 to Dec 27</a:t>
                      </a:r>
                    </a:p>
                  </a:txBody>
                  <a:tcPr marL="54000" marR="54000" marT="18000" marB="18000" anchor="ctr">
                    <a:noFill/>
                  </a:tcPr>
                </a:tc>
                <a:tc>
                  <a:txBody>
                    <a:bodyPr wrap="square"/>
                    <a:lstStyle/>
                    <a:p>
                      <a:pPr algn="l"/>
                      <a:r>
                        <a:rPr sz="900" b="0">
                          <a:solidFill>
                            <a:srgbClr val="1F1F1F"/>
                          </a:solidFill>
                          <a:latin typeface="Arial"/>
                        </a:rPr>
                        <a:t>Operational disruption</a:t>
                      </a:r>
                    </a:p>
                  </a:txBody>
                  <a:tcPr marL="54000" marR="54000" marT="18000" marB="18000" anchor="ctr">
                    <a:noFill/>
                  </a:tcPr>
                </a:tc>
                <a:tc>
                  <a:txBody>
                    <a:bodyPr wrap="square"/>
                    <a:lstStyle/>
                    <a:p>
                      <a:pPr algn="ctr"/>
                      <a:r>
                        <a:rPr sz="900" b="0">
                          <a:solidFill>
                            <a:srgbClr val="1F1F1F"/>
                          </a:solidFill>
                          <a:latin typeface="Arial"/>
                        </a:rPr>
                        <a:t>Sales Forecasting</a:t>
                      </a:r>
                    </a:p>
                  </a:txBody>
                  <a:tcPr marL="54000" marR="54000" marT="18000" marB="18000" anchor="ctr">
                    <a:noFill/>
                  </a:tcPr>
                </a:tc>
                <a:tc>
                  <a:txBody>
                    <a:bodyPr wrap="square"/>
                    <a:lstStyle/>
                    <a:p>
                      <a:pPr algn="ctr"/>
                      <a:r>
                        <a:rPr sz="900" b="0">
                          <a:solidFill>
                            <a:srgbClr val="0E4E95"/>
                          </a:solidFill>
                          <a:latin typeface="Arial"/>
                        </a:rPr>
                        <a:t>+0.28</a:t>
                      </a:r>
                    </a:p>
                  </a:txBody>
                  <a:tcPr marL="54000" marR="54000" marT="18000" marB="18000" anchor="ctr">
                    <a:noFill/>
                  </a:tcPr>
                </a:tc>
                <a:tc>
                  <a:txBody>
                    <a:bodyPr wrap="square"/>
                    <a:lstStyle/>
                    <a:p>
                      <a:pPr algn="ctr"/>
                      <a:r>
                        <a:rPr sz="900" b="0">
                          <a:solidFill>
                            <a:srgbClr val="0E4E95"/>
                          </a:solidFill>
                          <a:latin typeface="Arial"/>
                        </a:rPr>
                        <a:t>0.00</a:t>
                      </a:r>
                    </a:p>
                  </a:txBody>
                  <a:tcPr marL="54000" marR="54000" marT="18000" marB="18000" anchor="ctr">
                    <a:noFill/>
                  </a:tcPr>
                </a:tc>
              </a:tr>
              <a:tr h="380000">
                <a:tc>
                  <a:txBody>
                    <a:bodyPr wrap="square"/>
                    <a:lstStyle/>
                    <a:p>
                      <a:pPr algn="l"/>
                      <a:r>
                        <a:rPr sz="900" b="1">
                          <a:solidFill>
                            <a:srgbClr val="062552"/>
                          </a:solidFill>
                          <a:latin typeface="Arial"/>
                        </a:rPr>
                        <a:t>Ciboney Villas Limited</a:t>
                      </a:r>
                    </a:p>
                  </a:txBody>
                  <a:tcPr marL="54000" marR="54000" marT="18000" marB="18000" anchor="ctr">
                    <a:solidFill>
                      <a:srgbClr val="F3F6FB"/>
                    </a:solidFill>
                  </a:tcPr>
                </a:tc>
                <a:tc>
                  <a:txBody>
                    <a:bodyPr wrap="square"/>
                    <a:lstStyle/>
                    <a:p>
                      <a:pPr algn="l"/>
                      <a:r>
                        <a:rPr sz="900" b="0">
                          <a:solidFill>
                            <a:srgbClr val="1F1F1F"/>
                          </a:solidFill>
                          <a:latin typeface="Arial"/>
                        </a:rPr>
                        <a:t>+2.3%, Jan 27 to Dec 27</a:t>
                      </a:r>
                    </a:p>
                  </a:txBody>
                  <a:tcPr marL="54000" marR="54000" marT="18000" marB="18000" anchor="ctr">
                    <a:solidFill>
                      <a:srgbClr val="F3F6FB"/>
                    </a:solidFill>
                  </a:tcPr>
                </a:tc>
                <a:tc>
                  <a:txBody>
                    <a:bodyPr wrap="square"/>
                    <a:lstStyle/>
                    <a:p>
                      <a:pPr algn="l"/>
                      <a:r>
                        <a:rPr sz="900" b="0">
                          <a:solidFill>
                            <a:srgbClr val="1F1F1F"/>
                          </a:solidFill>
                          <a:latin typeface="Arial"/>
                        </a:rPr>
                        <a:t>Operational disruption</a:t>
                      </a:r>
                    </a:p>
                  </a:txBody>
                  <a:tcPr marL="54000" marR="54000" marT="18000" marB="18000" anchor="ctr">
                    <a:solidFill>
                      <a:srgbClr val="F3F6FB"/>
                    </a:solidFill>
                  </a:tcPr>
                </a:tc>
                <a:tc>
                  <a:txBody>
                    <a:bodyPr wrap="square"/>
                    <a:lstStyle/>
                    <a:p>
                      <a:pPr algn="ctr"/>
                      <a:r>
                        <a:rPr sz="900" b="0">
                          <a:solidFill>
                            <a:srgbClr val="1F1F1F"/>
                          </a:solidFill>
                          <a:latin typeface="Arial"/>
                        </a:rPr>
                        <a:t>Sales Forecasting</a:t>
                      </a:r>
                    </a:p>
                  </a:txBody>
                  <a:tcPr marL="54000" marR="54000" marT="18000" marB="18000" anchor="ctr">
                    <a:solidFill>
                      <a:srgbClr val="F3F6FB"/>
                    </a:solidFill>
                  </a:tcPr>
                </a:tc>
                <a:tc>
                  <a:txBody>
                    <a:bodyPr wrap="square"/>
                    <a:lstStyle/>
                    <a:p>
                      <a:pPr algn="ctr"/>
                      <a:r>
                        <a:rPr sz="900" b="0">
                          <a:solidFill>
                            <a:srgbClr val="0E4E95"/>
                          </a:solidFill>
                          <a:latin typeface="Arial"/>
                        </a:rPr>
                        <a:t>+0.16</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r>
              <a:tr h="380000">
                <a:tc>
                  <a:txBody>
                    <a:bodyPr wrap="square"/>
                    <a:lstStyle/>
                    <a:p>
                      <a:pPr algn="l"/>
                      <a:r>
                        <a:rPr sz="900" b="1">
                          <a:solidFill>
                            <a:srgbClr val="062552"/>
                          </a:solidFill>
                          <a:latin typeface="Arial"/>
                        </a:rPr>
                        <a:t>Seawind Key Investments Limite</a:t>
                      </a:r>
                    </a:p>
                  </a:txBody>
                  <a:tcPr marL="54000" marR="54000" marT="18000" marB="18000" anchor="ctr">
                    <a:noFill/>
                  </a:tcPr>
                </a:tc>
                <a:tc>
                  <a:txBody>
                    <a:bodyPr wrap="square"/>
                    <a:lstStyle/>
                    <a:p>
                      <a:pPr algn="l"/>
                      <a:r>
                        <a:rPr sz="900" b="0">
                          <a:solidFill>
                            <a:srgbClr val="1F1F1F"/>
                          </a:solidFill>
                          <a:latin typeface="Arial"/>
                        </a:rPr>
                        <a:t>+2.3%, Jan 27 to Dec 27</a:t>
                      </a:r>
                    </a:p>
                  </a:txBody>
                  <a:tcPr marL="54000" marR="54000" marT="18000" marB="18000" anchor="ctr">
                    <a:noFill/>
                  </a:tcPr>
                </a:tc>
                <a:tc>
                  <a:txBody>
                    <a:bodyPr wrap="square"/>
                    <a:lstStyle/>
                    <a:p>
                      <a:pPr algn="l"/>
                      <a:r>
                        <a:rPr sz="900" b="0">
                          <a:solidFill>
                            <a:srgbClr val="1F1F1F"/>
                          </a:solidFill>
                          <a:latin typeface="Arial"/>
                        </a:rPr>
                        <a:t>Operational disruption</a:t>
                      </a:r>
                    </a:p>
                  </a:txBody>
                  <a:tcPr marL="54000" marR="54000" marT="18000" marB="18000" anchor="ctr">
                    <a:noFill/>
                  </a:tcPr>
                </a:tc>
                <a:tc>
                  <a:txBody>
                    <a:bodyPr wrap="square"/>
                    <a:lstStyle/>
                    <a:p>
                      <a:pPr algn="ctr"/>
                      <a:r>
                        <a:rPr sz="900" b="0">
                          <a:solidFill>
                            <a:srgbClr val="1F1F1F"/>
                          </a:solidFill>
                          <a:latin typeface="Arial"/>
                        </a:rPr>
                        <a:t>Sales Forecasting</a:t>
                      </a:r>
                    </a:p>
                  </a:txBody>
                  <a:tcPr marL="54000" marR="54000" marT="18000" marB="18000" anchor="ctr">
                    <a:noFill/>
                  </a:tcPr>
                </a:tc>
                <a:tc>
                  <a:txBody>
                    <a:bodyPr wrap="square"/>
                    <a:lstStyle/>
                    <a:p>
                      <a:pPr algn="ctr"/>
                      <a:r>
                        <a:rPr sz="900" b="0">
                          <a:solidFill>
                            <a:srgbClr val="0E4E95"/>
                          </a:solidFill>
                          <a:latin typeface="Arial"/>
                        </a:rPr>
                        <a:t>+0.08</a:t>
                      </a:r>
                    </a:p>
                  </a:txBody>
                  <a:tcPr marL="54000" marR="54000" marT="18000" marB="18000" anchor="ctr">
                    <a:noFill/>
                  </a:tcPr>
                </a:tc>
                <a:tc>
                  <a:txBody>
                    <a:bodyPr wrap="square"/>
                    <a:lstStyle/>
                    <a:p>
                      <a:pPr algn="ctr"/>
                      <a:r>
                        <a:rPr sz="900" b="0">
                          <a:solidFill>
                            <a:srgbClr val="0E4E95"/>
                          </a:solidFill>
                          <a:latin typeface="Arial"/>
                        </a:rPr>
                        <a:t>0.00</a:t>
                      </a:r>
                    </a:p>
                  </a:txBody>
                  <a:tcPr marL="54000" marR="54000" marT="18000" marB="18000" anchor="ctr">
                    <a:noFill/>
                  </a:tcPr>
                </a:tc>
              </a:tr>
              <a:tr h="380000">
                <a:tc>
                  <a:txBody>
                    <a:bodyPr wrap="square"/>
                    <a:lstStyle/>
                    <a:p>
                      <a:pPr algn="l"/>
                      <a:r>
                        <a:rPr sz="900" b="1">
                          <a:solidFill>
                            <a:srgbClr val="062552"/>
                          </a:solidFill>
                          <a:latin typeface="Arial"/>
                        </a:rPr>
                        <a:t>Plantation Inn Ltd</a:t>
                      </a:r>
                    </a:p>
                  </a:txBody>
                  <a:tcPr marL="54000" marR="54000" marT="18000" marB="18000" anchor="ctr">
                    <a:solidFill>
                      <a:srgbClr val="F3F6FB"/>
                    </a:solidFill>
                  </a:tcPr>
                </a:tc>
                <a:tc>
                  <a:txBody>
                    <a:bodyPr wrap="square"/>
                    <a:lstStyle/>
                    <a:p>
                      <a:pPr algn="l"/>
                      <a:r>
                        <a:rPr sz="900" b="0">
                          <a:solidFill>
                            <a:srgbClr val="1F1F1F"/>
                          </a:solidFill>
                          <a:latin typeface="Arial"/>
                        </a:rPr>
                        <a:t>+5.0%, from Jan 27</a:t>
                      </a:r>
                    </a:p>
                  </a:txBody>
                  <a:tcPr marL="54000" marR="54000" marT="18000" marB="18000" anchor="ctr">
                    <a:solidFill>
                      <a:srgbClr val="F3F6FB"/>
                    </a:solidFill>
                  </a:tcPr>
                </a:tc>
                <a:tc>
                  <a:txBody>
                    <a:bodyPr wrap="square"/>
                    <a:lstStyle/>
                    <a:p>
                      <a:pPr algn="l"/>
                      <a:r>
                        <a:rPr sz="900" b="0">
                          <a:solidFill>
                            <a:srgbClr val="1F1F1F"/>
                          </a:solidFill>
                          <a:latin typeface="Arial"/>
                        </a:rPr>
                        <a:t>Expansion</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Upcoming Adjustments: Sharmica Holness</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6 customers with adjustments from October 2026 onward</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Effect is the change in the forecast for the whole customer, GWh. Keep, change or remove each one in the workbook.</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13</a:t>
            </a:r>
          </a:p>
        </p:txBody>
      </p:sp>
      <p:graphicFrame>
        <p:nvGraphicFramePr>
          <p:cNvPr id="7" name="Table 6"/>
          <p:cNvGraphicFramePr>
            <a:graphicFrameLocks noGrp="1"/>
          </p:cNvGraphicFramePr>
          <p:nvPr/>
        </p:nvGraphicFramePr>
        <p:xfrm>
          <a:off x="274320" y="1950000"/>
          <a:ext cx="11649996" cy="2600000"/>
        </p:xfrm>
        <a:graphic>
          <a:graphicData uri="http://schemas.openxmlformats.org/drawingml/2006/table">
            <a:tbl>
              <a:tblPr firstRow="0" bandRow="0">
                <a:tableStyleId>{5940675A-B579-460E-94D1-54222C63F5DA}</a:tableStyleId>
              </a:tblPr>
              <a:tblGrid>
                <a:gridCol w="2657017"/>
                <a:gridCol w="3678947"/>
                <a:gridCol w="1941666"/>
                <a:gridCol w="1328508"/>
                <a:gridCol w="1021929"/>
                <a:gridCol w="1021929"/>
              </a:tblGrid>
              <a:tr h="320000">
                <a:tc>
                  <a:txBody>
                    <a:bodyPr wrap="square"/>
                    <a:lstStyle/>
                    <a:p>
                      <a:pPr algn="l"/>
                      <a:r>
                        <a:rPr sz="900" b="1">
                          <a:solidFill>
                            <a:srgbClr val="FFFFFF"/>
                          </a:solidFill>
                          <a:latin typeface="Arial"/>
                        </a:rPr>
                        <a:t>Customer</a:t>
                      </a:r>
                    </a:p>
                  </a:txBody>
                  <a:tcPr marL="54000" marR="54000" marT="18000" marB="18000" anchor="ctr">
                    <a:solidFill>
                      <a:srgbClr val="062552"/>
                    </a:solidFill>
                  </a:tcPr>
                </a:tc>
                <a:tc>
                  <a:txBody>
                    <a:bodyPr wrap="square"/>
                    <a:lstStyle/>
                    <a:p>
                      <a:pPr algn="l"/>
                      <a:r>
                        <a:rPr sz="900" b="1">
                          <a:solidFill>
                            <a:srgbClr val="FFFFFF"/>
                          </a:solidFill>
                          <a:latin typeface="Arial"/>
                        </a:rPr>
                        <a:t>Adjustment and months</a:t>
                      </a:r>
                    </a:p>
                  </a:txBody>
                  <a:tcPr marL="54000" marR="54000" marT="18000" marB="18000" anchor="ctr">
                    <a:solidFill>
                      <a:srgbClr val="062552"/>
                    </a:solidFill>
                  </a:tcPr>
                </a:tc>
                <a:tc>
                  <a:txBody>
                    <a:bodyPr wrap="square"/>
                    <a:lstStyle/>
                    <a:p>
                      <a:pPr algn="l"/>
                      <a:r>
                        <a:rPr sz="900" b="1">
                          <a:solidFill>
                            <a:srgbClr val="FFFFFF"/>
                          </a:solidFill>
                          <a:latin typeface="Arial"/>
                        </a:rPr>
                        <a:t>Reason</a:t>
                      </a:r>
                    </a:p>
                  </a:txBody>
                  <a:tcPr marL="54000" marR="54000" marT="18000" marB="18000" anchor="ctr">
                    <a:solidFill>
                      <a:srgbClr val="062552"/>
                    </a:solidFill>
                  </a:tcPr>
                </a:tc>
                <a:tc>
                  <a:txBody>
                    <a:bodyPr wrap="square"/>
                    <a:lstStyle/>
                    <a:p>
                      <a:pPr algn="ctr"/>
                      <a:r>
                        <a:rPr sz="900" b="1">
                          <a:solidFill>
                            <a:srgbClr val="FFFFFF"/>
                          </a:solidFill>
                          <a:latin typeface="Arial"/>
                        </a:rPr>
                        <a:t>Entered by</a:t>
                      </a:r>
                    </a:p>
                  </a:txBody>
                  <a:tcPr marL="54000" marR="54000" marT="18000" marB="18000" anchor="ctr">
                    <a:solidFill>
                      <a:srgbClr val="062552"/>
                    </a:solidFill>
                  </a:tcPr>
                </a:tc>
                <a:tc>
                  <a:txBody>
                    <a:bodyPr wrap="square"/>
                    <a:lstStyle/>
                    <a:p>
                      <a:pPr algn="ctr"/>
                      <a:r>
                        <a:rPr sz="900" b="1">
                          <a:solidFill>
                            <a:srgbClr val="FFFFFF"/>
                          </a:solidFill>
                          <a:latin typeface="Arial"/>
                        </a:rPr>
                        <a:t>FY2027</a:t>
                      </a:r>
                    </a:p>
                  </a:txBody>
                  <a:tcPr marL="54000" marR="54000" marT="18000" marB="18000" anchor="ctr">
                    <a:solidFill>
                      <a:srgbClr val="062552"/>
                    </a:solidFill>
                  </a:tcPr>
                </a:tc>
                <a:tc>
                  <a:txBody>
                    <a:bodyPr wrap="square"/>
                    <a:lstStyle/>
                    <a:p>
                      <a:pPr algn="ctr"/>
                      <a:r>
                        <a:rPr sz="900" b="1">
                          <a:solidFill>
                            <a:srgbClr val="FFFFFF"/>
                          </a:solidFill>
                          <a:latin typeface="Arial"/>
                        </a:rPr>
                        <a:t>FY2028</a:t>
                      </a:r>
                    </a:p>
                  </a:txBody>
                  <a:tcPr marL="54000" marR="54000" marT="18000" marB="18000" anchor="ctr">
                    <a:solidFill>
                      <a:srgbClr val="062552"/>
                    </a:solidFill>
                  </a:tcPr>
                </a:tc>
              </a:tr>
              <a:tr h="380000">
                <a:tc>
                  <a:txBody>
                    <a:bodyPr wrap="square"/>
                    <a:lstStyle/>
                    <a:p>
                      <a:pPr algn="l"/>
                      <a:r>
                        <a:rPr sz="900" b="1">
                          <a:solidFill>
                            <a:srgbClr val="062552"/>
                          </a:solidFill>
                          <a:latin typeface="Arial"/>
                        </a:rPr>
                        <a:t>Alcoa Mins Of Ja Ltd</a:t>
                      </a:r>
                    </a:p>
                  </a:txBody>
                  <a:tcPr marL="54000" marR="54000" marT="18000" marB="18000" anchor="ctr">
                    <a:noFill/>
                  </a:tcPr>
                </a:tc>
                <a:tc>
                  <a:txBody>
                    <a:bodyPr wrap="square"/>
                    <a:lstStyle/>
                    <a:p>
                      <a:pPr algn="l"/>
                      <a:r>
                        <a:rPr sz="900" b="0">
                          <a:solidFill>
                            <a:srgbClr val="1F1F1F"/>
                          </a:solidFill>
                          <a:latin typeface="Arial"/>
                        </a:rPr>
                        <a:t>−100%, from Sep 26</a:t>
                      </a:r>
                    </a:p>
                  </a:txBody>
                  <a:tcPr marL="54000" marR="54000" marT="18000" marB="18000" anchor="ctr">
                    <a:noFill/>
                  </a:tcPr>
                </a:tc>
                <a:tc>
                  <a:txBody>
                    <a:bodyPr wrap="square"/>
                    <a:lstStyle/>
                    <a:p>
                      <a:pPr algn="l"/>
                      <a:r>
                        <a:rPr sz="900" b="0">
                          <a:solidFill>
                            <a:srgbClr val="1F1F1F"/>
                          </a:solidFill>
                          <a:latin typeface="Arial"/>
                        </a:rPr>
                        <a:t>Confirmed defection</a:t>
                      </a:r>
                    </a:p>
                  </a:txBody>
                  <a:tcPr marL="54000" marR="54000" marT="18000" marB="18000" anchor="ctr">
                    <a:noFill/>
                  </a:tcPr>
                </a:tc>
                <a:tc>
                  <a:txBody>
                    <a:bodyPr wrap="square"/>
                    <a:lstStyle/>
                    <a:p>
                      <a:pPr algn="ctr"/>
                      <a:r>
                        <a:rPr sz="900" b="0">
                          <a:solidFill>
                            <a:srgbClr val="1F1F1F"/>
                          </a:solidFill>
                          <a:latin typeface="Arial"/>
                        </a:rPr>
                        <a:t>Sales Forecasting</a:t>
                      </a:r>
                    </a:p>
                  </a:txBody>
                  <a:tcPr marL="54000" marR="54000" marT="18000" marB="18000" anchor="ctr">
                    <a:noFill/>
                  </a:tcPr>
                </a:tc>
                <a:tc>
                  <a:txBody>
                    <a:bodyPr wrap="square"/>
                    <a:lstStyle/>
                    <a:p>
                      <a:pPr algn="ctr"/>
                      <a:r>
                        <a:rPr sz="900" b="0">
                          <a:solidFill>
                            <a:srgbClr val="C00000"/>
                          </a:solidFill>
                          <a:latin typeface="Arial"/>
                        </a:rPr>
                        <a:t>−25.39</a:t>
                      </a:r>
                    </a:p>
                  </a:txBody>
                  <a:tcPr marL="54000" marR="54000" marT="18000" marB="18000" anchor="ctr">
                    <a:noFill/>
                  </a:tcPr>
                </a:tc>
                <a:tc>
                  <a:txBody>
                    <a:bodyPr wrap="square"/>
                    <a:lstStyle/>
                    <a:p>
                      <a:pPr algn="ctr"/>
                      <a:r>
                        <a:rPr sz="900" b="0">
                          <a:solidFill>
                            <a:srgbClr val="C00000"/>
                          </a:solidFill>
                          <a:latin typeface="Arial"/>
                        </a:rPr>
                        <a:t>−24.19</a:t>
                      </a:r>
                    </a:p>
                  </a:txBody>
                  <a:tcPr marL="54000" marR="54000" marT="18000" marB="18000" anchor="ctr">
                    <a:noFill/>
                  </a:tcPr>
                </a:tc>
              </a:tr>
              <a:tr h="380000">
                <a:tc>
                  <a:txBody>
                    <a:bodyPr wrap="square"/>
                    <a:lstStyle/>
                    <a:p>
                      <a:pPr algn="l"/>
                      <a:r>
                        <a:rPr sz="900" b="1">
                          <a:solidFill>
                            <a:srgbClr val="062552"/>
                          </a:solidFill>
                          <a:latin typeface="Arial"/>
                        </a:rPr>
                        <a:t>MBJ Airports Limited</a:t>
                      </a:r>
                    </a:p>
                  </a:txBody>
                  <a:tcPr marL="54000" marR="54000" marT="18000" marB="18000" anchor="ctr">
                    <a:solidFill>
                      <a:srgbClr val="F3F6FB"/>
                    </a:solidFill>
                  </a:tcPr>
                </a:tc>
                <a:tc>
                  <a:txBody>
                    <a:bodyPr wrap="square"/>
                    <a:lstStyle/>
                    <a:p>
                      <a:pPr algn="l"/>
                      <a:r>
                        <a:rPr sz="900" b="0">
                          <a:solidFill>
                            <a:srgbClr val="1F1F1F"/>
                          </a:solidFill>
                          <a:latin typeface="Arial"/>
                        </a:rPr>
                        <a:t>−77%, from Jan 27</a:t>
                      </a:r>
                    </a:p>
                  </a:txBody>
                  <a:tcPr marL="54000" marR="54000" marT="18000" marB="18000" anchor="ctr">
                    <a:solidFill>
                      <a:srgbClr val="F3F6FB"/>
                    </a:solidFill>
                  </a:tcPr>
                </a:tc>
                <a:tc>
                  <a:txBody>
                    <a:bodyPr wrap="square"/>
                    <a:lstStyle/>
                    <a:p>
                      <a:pPr algn="l"/>
                      <a:r>
                        <a:rPr sz="900" b="0">
                          <a:solidFill>
                            <a:srgbClr val="1F1F1F"/>
                          </a:solidFill>
                          <a:latin typeface="Arial"/>
                        </a:rPr>
                        <a:t>Confirmed defection</a:t>
                      </a:r>
                    </a:p>
                  </a:txBody>
                  <a:tcPr marL="54000" marR="54000" marT="18000" marB="18000" anchor="ctr">
                    <a:solidFill>
                      <a:srgbClr val="F3F6FB"/>
                    </a:solidFill>
                  </a:tcPr>
                </a:tc>
                <a:tc>
                  <a:txBody>
                    <a:bodyPr wrap="square"/>
                    <a:lstStyle/>
                    <a:p>
                      <a:pPr algn="ctr"/>
                      <a:r>
                        <a:rPr sz="900" b="0">
                          <a:solidFill>
                            <a:srgbClr val="1F1F1F"/>
                          </a:solidFill>
                          <a:latin typeface="Arial"/>
                        </a:rPr>
                        <a:t>Sales Forecasting</a:t>
                      </a:r>
                    </a:p>
                  </a:txBody>
                  <a:tcPr marL="54000" marR="54000" marT="18000" marB="18000" anchor="ctr">
                    <a:solidFill>
                      <a:srgbClr val="F3F6FB"/>
                    </a:solidFill>
                  </a:tcPr>
                </a:tc>
                <a:tc>
                  <a:txBody>
                    <a:bodyPr wrap="square"/>
                    <a:lstStyle/>
                    <a:p>
                      <a:pPr algn="ctr"/>
                      <a:r>
                        <a:rPr sz="900" b="0">
                          <a:solidFill>
                            <a:srgbClr val="C00000"/>
                          </a:solidFill>
                          <a:latin typeface="Arial"/>
                        </a:rPr>
                        <a:t>−14.61</a:t>
                      </a:r>
                    </a:p>
                  </a:txBody>
                  <a:tcPr marL="54000" marR="54000" marT="18000" marB="18000" anchor="ctr">
                    <a:solidFill>
                      <a:srgbClr val="F3F6FB"/>
                    </a:solidFill>
                  </a:tcPr>
                </a:tc>
                <a:tc>
                  <a:txBody>
                    <a:bodyPr wrap="square"/>
                    <a:lstStyle/>
                    <a:p>
                      <a:pPr algn="ctr"/>
                      <a:r>
                        <a:rPr sz="900" b="0">
                          <a:solidFill>
                            <a:srgbClr val="C00000"/>
                          </a:solidFill>
                          <a:latin typeface="Arial"/>
                        </a:rPr>
                        <a:t>−14.27</a:t>
                      </a:r>
                    </a:p>
                  </a:txBody>
                  <a:tcPr marL="54000" marR="54000" marT="18000" marB="18000" anchor="ctr">
                    <a:solidFill>
                      <a:srgbClr val="F3F6FB"/>
                    </a:solidFill>
                  </a:tcPr>
                </a:tc>
              </a:tr>
              <a:tr h="380000">
                <a:tc>
                  <a:txBody>
                    <a:bodyPr wrap="square"/>
                    <a:lstStyle/>
                    <a:p>
                      <a:pPr algn="l"/>
                      <a:r>
                        <a:rPr sz="900" b="1">
                          <a:solidFill>
                            <a:srgbClr val="062552"/>
                          </a:solidFill>
                          <a:latin typeface="Arial"/>
                        </a:rPr>
                        <a:t>Clarendon Distillers Ltd</a:t>
                      </a:r>
                    </a:p>
                  </a:txBody>
                  <a:tcPr marL="54000" marR="54000" marT="18000" marB="18000" anchor="ctr">
                    <a:noFill/>
                  </a:tcPr>
                </a:tc>
                <a:tc>
                  <a:txBody>
                    <a:bodyPr wrap="square"/>
                    <a:lstStyle/>
                    <a:p>
                      <a:pPr algn="l"/>
                      <a:r>
                        <a:rPr sz="900" b="0">
                          <a:solidFill>
                            <a:srgbClr val="1F1F1F"/>
                          </a:solidFill>
                          <a:latin typeface="Arial"/>
                        </a:rPr>
                        <a:t>−80%, Jan 27; −80%, Feb 27...</a:t>
                      </a:r>
                    </a:p>
                  </a:txBody>
                  <a:tcPr marL="54000" marR="54000" marT="18000" marB="18000" anchor="ctr">
                    <a:noFill/>
                  </a:tcPr>
                </a:tc>
                <a:tc>
                  <a:txBody>
                    <a:bodyPr wrap="square"/>
                    <a:lstStyle/>
                    <a:p>
                      <a:pPr algn="l"/>
                      <a:r>
                        <a:rPr sz="900" b="0">
                          <a:solidFill>
                            <a:srgbClr val="1F1F1F"/>
                          </a:solidFill>
                          <a:latin typeface="Arial"/>
                        </a:rPr>
                        <a:t>Operational disruption, Po</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C00000"/>
                          </a:solidFill>
                          <a:latin typeface="Arial"/>
                        </a:rPr>
                        <a:t>−1.80</a:t>
                      </a:r>
                    </a:p>
                  </a:txBody>
                  <a:tcPr marL="54000" marR="54000" marT="18000" marB="18000" anchor="ctr">
                    <a:noFill/>
                  </a:tcPr>
                </a:tc>
                <a:tc>
                  <a:txBody>
                    <a:bodyPr wrap="square"/>
                    <a:lstStyle/>
                    <a:p>
                      <a:pPr algn="ctr"/>
                      <a:r>
                        <a:rPr sz="900" b="0">
                          <a:solidFill>
                            <a:srgbClr val="C00000"/>
                          </a:solidFill>
                          <a:latin typeface="Arial"/>
                        </a:rPr>
                        <a:t>−1.72</a:t>
                      </a:r>
                    </a:p>
                  </a:txBody>
                  <a:tcPr marL="54000" marR="54000" marT="18000" marB="18000" anchor="ctr">
                    <a:noFill/>
                  </a:tcPr>
                </a:tc>
              </a:tr>
              <a:tr h="380000">
                <a:tc>
                  <a:txBody>
                    <a:bodyPr wrap="square"/>
                    <a:lstStyle/>
                    <a:p>
                      <a:pPr algn="l"/>
                      <a:r>
                        <a:rPr sz="900" b="1">
                          <a:solidFill>
                            <a:srgbClr val="062552"/>
                          </a:solidFill>
                          <a:latin typeface="Arial"/>
                        </a:rPr>
                        <a:t>Juici Beef Limited</a:t>
                      </a:r>
                    </a:p>
                  </a:txBody>
                  <a:tcPr marL="54000" marR="54000" marT="18000" marB="18000" anchor="ctr">
                    <a:solidFill>
                      <a:srgbClr val="F3F6FB"/>
                    </a:solidFill>
                  </a:tcPr>
                </a:tc>
                <a:tc>
                  <a:txBody>
                    <a:bodyPr wrap="square"/>
                    <a:lstStyle/>
                    <a:p>
                      <a:pPr algn="l"/>
                      <a:r>
                        <a:rPr sz="900" b="0">
                          <a:solidFill>
                            <a:srgbClr val="1F1F1F"/>
                          </a:solidFill>
                          <a:latin typeface="Arial"/>
                        </a:rPr>
                        <a:t>+20%, from Feb 27</a:t>
                      </a:r>
                    </a:p>
                  </a:txBody>
                  <a:tcPr marL="54000" marR="54000" marT="18000" marB="18000" anchor="ctr">
                    <a:solidFill>
                      <a:srgbClr val="F3F6FB"/>
                    </a:solidFill>
                  </a:tcPr>
                </a:tc>
                <a:tc>
                  <a:txBody>
                    <a:bodyPr wrap="square"/>
                    <a:lstStyle/>
                    <a:p>
                      <a:pPr algn="l"/>
                      <a:r>
                        <a:rPr sz="900" b="0">
                          <a:solidFill>
                            <a:srgbClr val="1F1F1F"/>
                          </a:solidFill>
                          <a:latin typeface="Arial"/>
                        </a:rPr>
                        <a:t>Expansion</a:t>
                      </a:r>
                    </a:p>
                  </a:txBody>
                  <a:tcPr marL="54000" marR="54000" marT="18000" marB="18000" anchor="ctr">
                    <a:solidFill>
                      <a:srgbClr val="F3F6FB"/>
                    </a:solidFill>
                  </a:tcPr>
                </a:tc>
                <a:tc>
                  <a:txBody>
                    <a:bodyPr wrap="square"/>
                    <a:lstStyle/>
                    <a:p>
                      <a:pPr algn="ctr"/>
                      <a:r>
                        <a:rPr sz="900" b="0">
                          <a:solidFill>
                            <a:srgbClr val="1F1F1F"/>
                          </a:solidFill>
                          <a:latin typeface="Arial"/>
                        </a:rPr>
                        <a:t>KAM</a:t>
                      </a:r>
                    </a:p>
                  </a:txBody>
                  <a:tcPr marL="54000" marR="54000" marT="18000" marB="18000" anchor="ctr">
                    <a:solidFill>
                      <a:srgbClr val="F3F6FB"/>
                    </a:solidFill>
                  </a:tcPr>
                </a:tc>
                <a:tc>
                  <a:txBody>
                    <a:bodyPr wrap="square"/>
                    <a:lstStyle/>
                    <a:p>
                      <a:pPr algn="ctr"/>
                      <a:r>
                        <a:rPr sz="900" b="0">
                          <a:solidFill>
                            <a:srgbClr val="0E4E95"/>
                          </a:solidFill>
                          <a:latin typeface="Arial"/>
                        </a:rPr>
                        <a:t>+1.16</a:t>
                      </a:r>
                    </a:p>
                  </a:txBody>
                  <a:tcPr marL="54000" marR="54000" marT="18000" marB="18000" anchor="ctr">
                    <a:solidFill>
                      <a:srgbClr val="F3F6FB"/>
                    </a:solidFill>
                  </a:tcPr>
                </a:tc>
                <a:tc>
                  <a:txBody>
                    <a:bodyPr wrap="square"/>
                    <a:lstStyle/>
                    <a:p>
                      <a:pPr algn="ctr"/>
                      <a:r>
                        <a:rPr sz="900" b="0">
                          <a:solidFill>
                            <a:srgbClr val="0E4E95"/>
                          </a:solidFill>
                          <a:latin typeface="Arial"/>
                        </a:rPr>
                        <a:t>+1.52</a:t>
                      </a:r>
                    </a:p>
                  </a:txBody>
                  <a:tcPr marL="54000" marR="54000" marT="18000" marB="18000" anchor="ctr">
                    <a:solidFill>
                      <a:srgbClr val="F3F6FB"/>
                    </a:solidFill>
                  </a:tcPr>
                </a:tc>
              </a:tr>
              <a:tr h="380000">
                <a:tc>
                  <a:txBody>
                    <a:bodyPr wrap="square"/>
                    <a:lstStyle/>
                    <a:p>
                      <a:pPr algn="l"/>
                      <a:r>
                        <a:rPr sz="900" b="1">
                          <a:solidFill>
                            <a:srgbClr val="062552"/>
                          </a:solidFill>
                          <a:latin typeface="Arial"/>
                        </a:rPr>
                        <a:t>Ministry of Health</a:t>
                      </a:r>
                    </a:p>
                  </a:txBody>
                  <a:tcPr marL="54000" marR="54000" marT="18000" marB="18000" anchor="ctr">
                    <a:noFill/>
                  </a:tcPr>
                </a:tc>
                <a:tc>
                  <a:txBody>
                    <a:bodyPr wrap="square"/>
                    <a:lstStyle/>
                    <a:p>
                      <a:pPr algn="l"/>
                      <a:r>
                        <a:rPr sz="900" b="0">
                          <a:solidFill>
                            <a:srgbClr val="1F1F1F"/>
                          </a:solidFill>
                          <a:latin typeface="Arial"/>
                        </a:rPr>
                        <a:t>+20%, from Jun 27; +20%, from Mar 27...</a:t>
                      </a:r>
                    </a:p>
                  </a:txBody>
                  <a:tcPr marL="54000" marR="54000" marT="18000" marB="18000" anchor="ctr">
                    <a:noFill/>
                  </a:tcPr>
                </a:tc>
                <a:tc>
                  <a:txBody>
                    <a:bodyPr wrap="square"/>
                    <a:lstStyle/>
                    <a:p>
                      <a:pPr algn="l"/>
                      <a:r>
                        <a:rPr sz="900" b="0">
                          <a:solidFill>
                            <a:srgbClr val="1F1F1F"/>
                          </a:solidFill>
                          <a:latin typeface="Arial"/>
                        </a:rPr>
                        <a:t>Expansion, Renewal</a:t>
                      </a:r>
                    </a:p>
                  </a:txBody>
                  <a:tcPr marL="54000" marR="54000" marT="18000" marB="18000" anchor="ctr">
                    <a:noFill/>
                  </a:tcPr>
                </a:tc>
                <a:tc>
                  <a:txBody>
                    <a:bodyPr wrap="square"/>
                    <a:lstStyle/>
                    <a:p>
                      <a:pPr algn="ctr"/>
                      <a:r>
                        <a:rPr sz="900" b="0">
                          <a:solidFill>
                            <a:srgbClr val="1F1F1F"/>
                          </a:solidFill>
                          <a:latin typeface="Arial"/>
                        </a:rPr>
                        <a:t>KAM</a:t>
                      </a:r>
                    </a:p>
                  </a:txBody>
                  <a:tcPr marL="54000" marR="54000" marT="18000" marB="18000" anchor="ctr">
                    <a:noFill/>
                  </a:tcPr>
                </a:tc>
                <a:tc>
                  <a:txBody>
                    <a:bodyPr wrap="square"/>
                    <a:lstStyle/>
                    <a:p>
                      <a:pPr algn="ctr"/>
                      <a:r>
                        <a:rPr sz="900" b="0">
                          <a:solidFill>
                            <a:srgbClr val="0E4E95"/>
                          </a:solidFill>
                          <a:latin typeface="Arial"/>
                        </a:rPr>
                        <a:t>+0.57</a:t>
                      </a:r>
                    </a:p>
                  </a:txBody>
                  <a:tcPr marL="54000" marR="54000" marT="18000" marB="18000" anchor="ctr">
                    <a:noFill/>
                  </a:tcPr>
                </a:tc>
                <a:tc>
                  <a:txBody>
                    <a:bodyPr wrap="square"/>
                    <a:lstStyle/>
                    <a:p>
                      <a:pPr algn="ctr"/>
                      <a:r>
                        <a:rPr sz="900" b="0">
                          <a:solidFill>
                            <a:srgbClr val="0E4E95"/>
                          </a:solidFill>
                          <a:latin typeface="Arial"/>
                        </a:rPr>
                        <a:t>+0.89</a:t>
                      </a:r>
                    </a:p>
                  </a:txBody>
                  <a:tcPr marL="54000" marR="54000" marT="18000" marB="18000" anchor="ctr">
                    <a:noFill/>
                  </a:tcPr>
                </a:tc>
              </a:tr>
              <a:tr h="380000">
                <a:tc>
                  <a:txBody>
                    <a:bodyPr wrap="square"/>
                    <a:lstStyle/>
                    <a:p>
                      <a:pPr algn="l"/>
                      <a:r>
                        <a:rPr sz="900" b="1">
                          <a:solidFill>
                            <a:srgbClr val="062552"/>
                          </a:solidFill>
                          <a:latin typeface="Arial"/>
                        </a:rPr>
                        <a:t>Windalco</a:t>
                      </a:r>
                    </a:p>
                  </a:txBody>
                  <a:tcPr marL="54000" marR="54000" marT="18000" marB="18000" anchor="ctr">
                    <a:solidFill>
                      <a:srgbClr val="F3F6FB"/>
                    </a:solidFill>
                  </a:tcPr>
                </a:tc>
                <a:tc>
                  <a:txBody>
                    <a:bodyPr wrap="square"/>
                    <a:lstStyle/>
                    <a:p>
                      <a:pPr algn="l"/>
                      <a:r>
                        <a:rPr sz="900" b="0">
                          <a:solidFill>
                            <a:srgbClr val="1F1F1F"/>
                          </a:solidFill>
                          <a:latin typeface="Arial"/>
                        </a:rPr>
                        <a:t>−50%, Nov 26 to Dec 26</a:t>
                      </a:r>
                    </a:p>
                  </a:txBody>
                  <a:tcPr marL="54000" marR="54000" marT="18000" marB="18000" anchor="ctr">
                    <a:solidFill>
                      <a:srgbClr val="F3F6FB"/>
                    </a:solidFill>
                  </a:tcPr>
                </a:tc>
                <a:tc>
                  <a:txBody>
                    <a:bodyPr wrap="square"/>
                    <a:lstStyle/>
                    <a:p>
                      <a:pPr algn="l"/>
                      <a:r>
                        <a:rPr sz="900" b="0">
                          <a:solidFill>
                            <a:srgbClr val="1F1F1F"/>
                          </a:solidFill>
                          <a:latin typeface="Arial"/>
                        </a:rPr>
                        <a:t>Operational disruption</a:t>
                      </a:r>
                    </a:p>
                  </a:txBody>
                  <a:tcPr marL="54000" marR="54000" marT="18000" marB="18000" anchor="ctr">
                    <a:solidFill>
                      <a:srgbClr val="F3F6FB"/>
                    </a:solidFill>
                  </a:tcPr>
                </a:tc>
                <a:tc>
                  <a:txBody>
                    <a:bodyPr wrap="square"/>
                    <a:lstStyle/>
                    <a:p>
                      <a:pPr algn="ctr"/>
                      <a:r>
                        <a:rPr sz="900" b="0">
                          <a:solidFill>
                            <a:srgbClr val="1F1F1F"/>
                          </a:solidFill>
                          <a:latin typeface="Arial"/>
                        </a:rPr>
                        <a:t>Sales Forecasting</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c>
                  <a:txBody>
                    <a:bodyPr wrap="square"/>
                    <a:lstStyle/>
                    <a:p>
                      <a:pPr algn="ctr"/>
                      <a:r>
                        <a:rPr sz="900" b="0">
                          <a:solidFill>
                            <a:srgbClr val="0E4E95"/>
                          </a:solidFill>
                          <a:latin typeface="Arial"/>
                        </a:rPr>
                        <a:t>0.00</a:t>
                      </a:r>
                    </a:p>
                  </a:txBody>
                  <a:tcPr marL="54000" marR="54000" marT="18000" marB="18000" anchor="ctr">
                    <a:solidFill>
                      <a:srgbClr val="F3F6FB"/>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Upcoming Adjustments: Other Portfolios</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Adjustments from October 2026 onward for the remaining KAMs</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Effect is the change in the forecast for the whole customer, GWh.</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14</a:t>
            </a:r>
          </a:p>
        </p:txBody>
      </p:sp>
      <p:graphicFrame>
        <p:nvGraphicFramePr>
          <p:cNvPr id="7" name="Table 6"/>
          <p:cNvGraphicFramePr>
            <a:graphicFrameLocks noGrp="1"/>
          </p:cNvGraphicFramePr>
          <p:nvPr/>
        </p:nvGraphicFramePr>
        <p:xfrm>
          <a:off x="274320" y="1950000"/>
          <a:ext cx="11649998" cy="4210000"/>
        </p:xfrm>
        <a:graphic>
          <a:graphicData uri="http://schemas.openxmlformats.org/drawingml/2006/table">
            <a:tbl>
              <a:tblPr firstRow="0" bandRow="0">
                <a:tableStyleId>{5940675A-B579-460E-94D1-54222C63F5DA}</a:tableStyleId>
              </a:tblPr>
              <a:tblGrid>
                <a:gridCol w="2035922"/>
                <a:gridCol w="2714563"/>
                <a:gridCol w="3732524"/>
                <a:gridCol w="2035922"/>
                <a:gridCol w="1131067"/>
              </a:tblGrid>
              <a:tr h="290000">
                <a:tc>
                  <a:txBody>
                    <a:bodyPr wrap="square"/>
                    <a:lstStyle/>
                    <a:p>
                      <a:pPr algn="l"/>
                      <a:r>
                        <a:rPr sz="850" b="1">
                          <a:solidFill>
                            <a:srgbClr val="FFFFFF"/>
                          </a:solidFill>
                          <a:latin typeface="Arial"/>
                        </a:rPr>
                        <a:t>KAM</a:t>
                      </a:r>
                    </a:p>
                  </a:txBody>
                  <a:tcPr marL="54000" marR="54000" marT="18000" marB="18000" anchor="ctr">
                    <a:solidFill>
                      <a:srgbClr val="062552"/>
                    </a:solidFill>
                  </a:tcPr>
                </a:tc>
                <a:tc>
                  <a:txBody>
                    <a:bodyPr wrap="square"/>
                    <a:lstStyle/>
                    <a:p>
                      <a:pPr algn="l"/>
                      <a:r>
                        <a:rPr sz="850" b="1">
                          <a:solidFill>
                            <a:srgbClr val="FFFFFF"/>
                          </a:solidFill>
                          <a:latin typeface="Arial"/>
                        </a:rPr>
                        <a:t>Customer</a:t>
                      </a:r>
                    </a:p>
                  </a:txBody>
                  <a:tcPr marL="54000" marR="54000" marT="18000" marB="18000" anchor="ctr">
                    <a:solidFill>
                      <a:srgbClr val="062552"/>
                    </a:solidFill>
                  </a:tcPr>
                </a:tc>
                <a:tc>
                  <a:txBody>
                    <a:bodyPr wrap="square"/>
                    <a:lstStyle/>
                    <a:p>
                      <a:pPr algn="l"/>
                      <a:r>
                        <a:rPr sz="850" b="1">
                          <a:solidFill>
                            <a:srgbClr val="FFFFFF"/>
                          </a:solidFill>
                          <a:latin typeface="Arial"/>
                        </a:rPr>
                        <a:t>Adjustment and months</a:t>
                      </a:r>
                    </a:p>
                  </a:txBody>
                  <a:tcPr marL="54000" marR="54000" marT="18000" marB="18000" anchor="ctr">
                    <a:solidFill>
                      <a:srgbClr val="062552"/>
                    </a:solidFill>
                  </a:tcPr>
                </a:tc>
                <a:tc>
                  <a:txBody>
                    <a:bodyPr wrap="square"/>
                    <a:lstStyle/>
                    <a:p>
                      <a:pPr algn="l"/>
                      <a:r>
                        <a:rPr sz="850" b="1">
                          <a:solidFill>
                            <a:srgbClr val="FFFFFF"/>
                          </a:solidFill>
                          <a:latin typeface="Arial"/>
                        </a:rPr>
                        <a:t>Reason</a:t>
                      </a:r>
                    </a:p>
                  </a:txBody>
                  <a:tcPr marL="54000" marR="54000" marT="18000" marB="18000" anchor="ctr">
                    <a:solidFill>
                      <a:srgbClr val="062552"/>
                    </a:solidFill>
                  </a:tcPr>
                </a:tc>
                <a:tc>
                  <a:txBody>
                    <a:bodyPr wrap="square"/>
                    <a:lstStyle/>
                    <a:p>
                      <a:pPr algn="ctr"/>
                      <a:r>
                        <a:rPr sz="850" b="1">
                          <a:solidFill>
                            <a:srgbClr val="FFFFFF"/>
                          </a:solidFill>
                          <a:latin typeface="Arial"/>
                        </a:rPr>
                        <a:t>FY2027</a:t>
                      </a:r>
                    </a:p>
                  </a:txBody>
                  <a:tcPr marL="54000" marR="54000" marT="18000" marB="18000" anchor="ctr">
                    <a:solidFill>
                      <a:srgbClr val="062552"/>
                    </a:solidFill>
                  </a:tcPr>
                </a:tc>
              </a:tr>
              <a:tr h="280000">
                <a:tc>
                  <a:txBody>
                    <a:bodyPr wrap="square"/>
                    <a:lstStyle/>
                    <a:p>
                      <a:pPr algn="l"/>
                      <a:r>
                        <a:rPr sz="850" b="1">
                          <a:solidFill>
                            <a:srgbClr val="062552"/>
                          </a:solidFill>
                          <a:latin typeface="Arial"/>
                        </a:rPr>
                        <a:t>Tanya Williams</a:t>
                      </a:r>
                    </a:p>
                  </a:txBody>
                  <a:tcPr marL="54000" marR="54000" marT="18000" marB="18000" anchor="ctr">
                    <a:noFill/>
                  </a:tcPr>
                </a:tc>
                <a:tc>
                  <a:txBody>
                    <a:bodyPr wrap="square"/>
                    <a:lstStyle/>
                    <a:p>
                      <a:pPr algn="l"/>
                      <a:r>
                        <a:rPr sz="850" b="0">
                          <a:solidFill>
                            <a:srgbClr val="1F1F1F"/>
                          </a:solidFill>
                          <a:latin typeface="Arial"/>
                        </a:rPr>
                        <a:t>Port Authority Of Ja</a:t>
                      </a:r>
                    </a:p>
                  </a:txBody>
                  <a:tcPr marL="54000" marR="54000" marT="18000" marB="18000" anchor="ctr">
                    <a:noFill/>
                  </a:tcPr>
                </a:tc>
                <a:tc>
                  <a:txBody>
                    <a:bodyPr wrap="square"/>
                    <a:lstStyle/>
                    <a:p>
                      <a:pPr algn="l"/>
                      <a:r>
                        <a:rPr sz="850" b="0">
                          <a:solidFill>
                            <a:srgbClr val="1F1F1F"/>
                          </a:solidFill>
                          <a:latin typeface="Arial"/>
                        </a:rPr>
                        <a:t>+33%, from Jun 27</a:t>
                      </a:r>
                    </a:p>
                  </a:txBody>
                  <a:tcPr marL="54000" marR="54000" marT="18000" marB="18000" anchor="ctr">
                    <a:noFill/>
                  </a:tcPr>
                </a:tc>
                <a:tc>
                  <a:txBody>
                    <a:bodyPr wrap="square"/>
                    <a:lstStyle/>
                    <a:p>
                      <a:pPr algn="l"/>
                      <a:r>
                        <a:rPr sz="850" b="0">
                          <a:solidFill>
                            <a:srgbClr val="1F1F1F"/>
                          </a:solidFill>
                          <a:latin typeface="Arial"/>
                        </a:rPr>
                        <a:t>Expansion</a:t>
                      </a:r>
                    </a:p>
                  </a:txBody>
                  <a:tcPr marL="54000" marR="54000" marT="18000" marB="18000" anchor="ctr">
                    <a:noFill/>
                  </a:tcPr>
                </a:tc>
                <a:tc>
                  <a:txBody>
                    <a:bodyPr wrap="square"/>
                    <a:lstStyle/>
                    <a:p>
                      <a:pPr algn="ctr"/>
                      <a:r>
                        <a:rPr sz="850" b="0">
                          <a:solidFill>
                            <a:srgbClr val="1F1F1F"/>
                          </a:solidFill>
                          <a:latin typeface="Arial"/>
                        </a:rPr>
                        <a:t>+0.06</a:t>
                      </a:r>
                    </a:p>
                  </a:txBody>
                  <a:tcPr marL="54000" marR="54000" marT="18000" marB="18000" anchor="ctr">
                    <a:noFill/>
                  </a:tcPr>
                </a:tc>
              </a:tr>
              <a:tr h="280000">
                <a:tc>
                  <a:txBody>
                    <a:bodyPr wrap="square"/>
                    <a:lstStyle/>
                    <a:p>
                      <a:pPr algn="l"/>
                      <a:r>
                        <a:rPr sz="850" b="1">
                          <a:solidFill>
                            <a:srgbClr val="062552"/>
                          </a:solidFill>
                          <a:latin typeface="Arial"/>
                        </a:rPr>
                        <a:t>Sheryl Davis</a:t>
                      </a:r>
                    </a:p>
                  </a:txBody>
                  <a:tcPr marL="54000" marR="54000" marT="18000" marB="18000" anchor="ctr">
                    <a:solidFill>
                      <a:srgbClr val="F3F6FB"/>
                    </a:solidFill>
                  </a:tcPr>
                </a:tc>
                <a:tc>
                  <a:txBody>
                    <a:bodyPr wrap="square"/>
                    <a:lstStyle/>
                    <a:p>
                      <a:pPr algn="l"/>
                      <a:r>
                        <a:rPr sz="850" b="0">
                          <a:solidFill>
                            <a:srgbClr val="1F1F1F"/>
                          </a:solidFill>
                          <a:latin typeface="Arial"/>
                        </a:rPr>
                        <a:t>Poly Pet Company Limited</a:t>
                      </a:r>
                    </a:p>
                  </a:txBody>
                  <a:tcPr marL="54000" marR="54000" marT="18000" marB="18000" anchor="ctr">
                    <a:solidFill>
                      <a:srgbClr val="F3F6FB"/>
                    </a:solidFill>
                  </a:tcPr>
                </a:tc>
                <a:tc>
                  <a:txBody>
                    <a:bodyPr wrap="square"/>
                    <a:lstStyle/>
                    <a:p>
                      <a:pPr algn="l"/>
                      <a:r>
                        <a:rPr sz="850" b="0">
                          <a:solidFill>
                            <a:srgbClr val="1F1F1F"/>
                          </a:solidFill>
                          <a:latin typeface="Arial"/>
                        </a:rPr>
                        <a:t>+15%, from Dec 26</a:t>
                      </a:r>
                    </a:p>
                  </a:txBody>
                  <a:tcPr marL="54000" marR="54000" marT="18000" marB="18000" anchor="ctr">
                    <a:solidFill>
                      <a:srgbClr val="F3F6FB"/>
                    </a:solidFill>
                  </a:tcPr>
                </a:tc>
                <a:tc>
                  <a:txBody>
                    <a:bodyPr wrap="square"/>
                    <a:lstStyle/>
                    <a:p>
                      <a:pPr algn="l"/>
                      <a:r>
                        <a:rPr sz="850" b="0">
                          <a:solidFill>
                            <a:srgbClr val="1F1F1F"/>
                          </a:solidFill>
                          <a:latin typeface="Arial"/>
                        </a:rPr>
                        <a:t>Expansion</a:t>
                      </a:r>
                    </a:p>
                  </a:txBody>
                  <a:tcPr marL="54000" marR="54000" marT="18000" marB="18000" anchor="ctr">
                    <a:solidFill>
                      <a:srgbClr val="F3F6FB"/>
                    </a:solidFill>
                  </a:tcPr>
                </a:tc>
                <a:tc>
                  <a:txBody>
                    <a:bodyPr wrap="square"/>
                    <a:lstStyle/>
                    <a:p>
                      <a:pPr algn="ctr"/>
                      <a:r>
                        <a:rPr sz="850" b="0">
                          <a:solidFill>
                            <a:srgbClr val="1F1F1F"/>
                          </a:solidFill>
                          <a:latin typeface="Arial"/>
                        </a:rPr>
                        <a:t>+0.66</a:t>
                      </a:r>
                    </a:p>
                  </a:txBody>
                  <a:tcPr marL="54000" marR="54000" marT="18000" marB="18000" anchor="ctr">
                    <a:solidFill>
                      <a:srgbClr val="F3F6FB"/>
                    </a:solidFill>
                  </a:tcPr>
                </a:tc>
              </a:tr>
              <a:tr h="280000">
                <a:tc>
                  <a:txBody>
                    <a:bodyPr wrap="square"/>
                    <a:lstStyle/>
                    <a:p>
                      <a:pPr algn="l"/>
                      <a:r>
                        <a:rPr sz="850" b="1">
                          <a:solidFill>
                            <a:srgbClr val="062552"/>
                          </a:solidFill>
                          <a:latin typeface="Arial"/>
                        </a:rPr>
                        <a:t>Sheryl Davis</a:t>
                      </a:r>
                    </a:p>
                  </a:txBody>
                  <a:tcPr marL="54000" marR="54000" marT="18000" marB="18000" anchor="ctr">
                    <a:noFill/>
                  </a:tcPr>
                </a:tc>
                <a:tc>
                  <a:txBody>
                    <a:bodyPr wrap="square"/>
                    <a:lstStyle/>
                    <a:p>
                      <a:pPr algn="l"/>
                      <a:r>
                        <a:rPr sz="850" b="0">
                          <a:solidFill>
                            <a:srgbClr val="1F1F1F"/>
                          </a:solidFill>
                          <a:latin typeface="Arial"/>
                        </a:rPr>
                        <a:t>Sagicor Life Jamaica Limited</a:t>
                      </a:r>
                    </a:p>
                  </a:txBody>
                  <a:tcPr marL="54000" marR="54000" marT="18000" marB="18000" anchor="ctr">
                    <a:noFill/>
                  </a:tcPr>
                </a:tc>
                <a:tc>
                  <a:txBody>
                    <a:bodyPr wrap="square"/>
                    <a:lstStyle/>
                    <a:p>
                      <a:pPr algn="l"/>
                      <a:r>
                        <a:rPr sz="850" b="0">
                          <a:solidFill>
                            <a:srgbClr val="1F1F1F"/>
                          </a:solidFill>
                          <a:latin typeface="Arial"/>
                        </a:rPr>
                        <a:t>−25%, from Aug 27; −30%, from Jul 27</a:t>
                      </a:r>
                    </a:p>
                  </a:txBody>
                  <a:tcPr marL="54000" marR="54000" marT="18000" marB="18000" anchor="ctr">
                    <a:noFill/>
                  </a:tcPr>
                </a:tc>
                <a:tc>
                  <a:txBody>
                    <a:bodyPr wrap="square"/>
                    <a:lstStyle/>
                    <a:p>
                      <a:pPr algn="l"/>
                      <a:r>
                        <a:rPr sz="850" b="0">
                          <a:solidFill>
                            <a:srgbClr val="1F1F1F"/>
                          </a:solidFill>
                          <a:latin typeface="Arial"/>
                        </a:rPr>
                        <a:t>Possible defection</a:t>
                      </a:r>
                    </a:p>
                  </a:txBody>
                  <a:tcPr marL="54000" marR="54000" marT="18000" marB="18000" anchor="ctr">
                    <a:noFill/>
                  </a:tcPr>
                </a:tc>
                <a:tc>
                  <a:txBody>
                    <a:bodyPr wrap="square"/>
                    <a:lstStyle/>
                    <a:p>
                      <a:pPr algn="ctr"/>
                      <a:r>
                        <a:rPr sz="850" b="0">
                          <a:solidFill>
                            <a:srgbClr val="1F1F1F"/>
                          </a:solidFill>
                          <a:latin typeface="Arial"/>
                        </a:rPr>
                        <a:t>−0.50</a:t>
                      </a:r>
                    </a:p>
                  </a:txBody>
                  <a:tcPr marL="54000" marR="54000" marT="18000" marB="18000" anchor="ctr">
                    <a:noFill/>
                  </a:tcPr>
                </a:tc>
              </a:tr>
              <a:tr h="280000">
                <a:tc>
                  <a:txBody>
                    <a:bodyPr wrap="square"/>
                    <a:lstStyle/>
                    <a:p>
                      <a:pPr algn="l"/>
                      <a:r>
                        <a:rPr sz="850" b="1">
                          <a:solidFill>
                            <a:srgbClr val="062552"/>
                          </a:solidFill>
                          <a:latin typeface="Arial"/>
                        </a:rPr>
                        <a:t>Sheryl Davis</a:t>
                      </a:r>
                    </a:p>
                  </a:txBody>
                  <a:tcPr marL="54000" marR="54000" marT="18000" marB="18000" anchor="ctr">
                    <a:solidFill>
                      <a:srgbClr val="F3F6FB"/>
                    </a:solidFill>
                  </a:tcPr>
                </a:tc>
                <a:tc>
                  <a:txBody>
                    <a:bodyPr wrap="square"/>
                    <a:lstStyle/>
                    <a:p>
                      <a:pPr algn="l"/>
                      <a:r>
                        <a:rPr sz="850" b="0">
                          <a:solidFill>
                            <a:srgbClr val="1F1F1F"/>
                          </a:solidFill>
                          <a:latin typeface="Arial"/>
                        </a:rPr>
                        <a:t>Sagicor Bank Jamaica Ltd</a:t>
                      </a:r>
                    </a:p>
                  </a:txBody>
                  <a:tcPr marL="54000" marR="54000" marT="18000" marB="18000" anchor="ctr">
                    <a:solidFill>
                      <a:srgbClr val="F3F6FB"/>
                    </a:solidFill>
                  </a:tcPr>
                </a:tc>
                <a:tc>
                  <a:txBody>
                    <a:bodyPr wrap="square"/>
                    <a:lstStyle/>
                    <a:p>
                      <a:pPr algn="l"/>
                      <a:r>
                        <a:rPr sz="850" b="0">
                          <a:solidFill>
                            <a:srgbClr val="1F1F1F"/>
                          </a:solidFill>
                          <a:latin typeface="Arial"/>
                        </a:rPr>
                        <a:t>−25%, from Aug 27</a:t>
                      </a:r>
                    </a:p>
                  </a:txBody>
                  <a:tcPr marL="54000" marR="54000" marT="18000" marB="18000" anchor="ctr">
                    <a:solidFill>
                      <a:srgbClr val="F3F6FB"/>
                    </a:solidFill>
                  </a:tcPr>
                </a:tc>
                <a:tc>
                  <a:txBody>
                    <a:bodyPr wrap="square"/>
                    <a:lstStyle/>
                    <a:p>
                      <a:pPr algn="l"/>
                      <a:r>
                        <a:rPr sz="850" b="0">
                          <a:solidFill>
                            <a:srgbClr val="1F1F1F"/>
                          </a:solidFill>
                          <a:latin typeface="Arial"/>
                        </a:rPr>
                        <a:t>Possible defection</a:t>
                      </a:r>
                    </a:p>
                  </a:txBody>
                  <a:tcPr marL="54000" marR="54000" marT="18000" marB="18000" anchor="ctr">
                    <a:solidFill>
                      <a:srgbClr val="F3F6FB"/>
                    </a:solidFill>
                  </a:tcPr>
                </a:tc>
                <a:tc>
                  <a:txBody>
                    <a:bodyPr wrap="square"/>
                    <a:lstStyle/>
                    <a:p>
                      <a:pPr algn="ctr"/>
                      <a:r>
                        <a:rPr sz="850" b="0">
                          <a:solidFill>
                            <a:srgbClr val="1F1F1F"/>
                          </a:solidFill>
                          <a:latin typeface="Arial"/>
                        </a:rPr>
                        <a:t>−0.22</a:t>
                      </a:r>
                    </a:p>
                  </a:txBody>
                  <a:tcPr marL="54000" marR="54000" marT="18000" marB="18000" anchor="ctr">
                    <a:solidFill>
                      <a:srgbClr val="F3F6FB"/>
                    </a:solidFill>
                  </a:tcPr>
                </a:tc>
              </a:tr>
              <a:tr h="280000">
                <a:tc>
                  <a:txBody>
                    <a:bodyPr wrap="square"/>
                    <a:lstStyle/>
                    <a:p>
                      <a:pPr algn="l"/>
                      <a:r>
                        <a:rPr sz="850" b="1">
                          <a:solidFill>
                            <a:srgbClr val="062552"/>
                          </a:solidFill>
                          <a:latin typeface="Arial"/>
                        </a:rPr>
                        <a:t>Ewan Pitter</a:t>
                      </a:r>
                    </a:p>
                  </a:txBody>
                  <a:tcPr marL="54000" marR="54000" marT="18000" marB="18000" anchor="ctr">
                    <a:noFill/>
                  </a:tcPr>
                </a:tc>
                <a:tc>
                  <a:txBody>
                    <a:bodyPr wrap="square"/>
                    <a:lstStyle/>
                    <a:p>
                      <a:pPr algn="l"/>
                      <a:r>
                        <a:rPr sz="850" b="0">
                          <a:solidFill>
                            <a:srgbClr val="1F1F1F"/>
                          </a:solidFill>
                          <a:latin typeface="Arial"/>
                        </a:rPr>
                        <a:t>Petrojam Ltd</a:t>
                      </a:r>
                    </a:p>
                  </a:txBody>
                  <a:tcPr marL="54000" marR="54000" marT="18000" marB="18000" anchor="ctr">
                    <a:noFill/>
                  </a:tcPr>
                </a:tc>
                <a:tc>
                  <a:txBody>
                    <a:bodyPr wrap="square"/>
                    <a:lstStyle/>
                    <a:p>
                      <a:pPr algn="l"/>
                      <a:r>
                        <a:rPr sz="850" b="0">
                          <a:solidFill>
                            <a:srgbClr val="1F1F1F"/>
                          </a:solidFill>
                          <a:latin typeface="Arial"/>
                        </a:rPr>
                        <a:t>−50%, Jan 27; −40%, Feb 27</a:t>
                      </a:r>
                    </a:p>
                  </a:txBody>
                  <a:tcPr marL="54000" marR="54000" marT="18000" marB="18000" anchor="ctr">
                    <a:noFill/>
                  </a:tcPr>
                </a:tc>
                <a:tc>
                  <a:txBody>
                    <a:bodyPr wrap="square"/>
                    <a:lstStyle/>
                    <a:p>
                      <a:pPr algn="l"/>
                      <a:r>
                        <a:rPr sz="850" b="0">
                          <a:solidFill>
                            <a:srgbClr val="1F1F1F"/>
                          </a:solidFill>
                          <a:latin typeface="Arial"/>
                        </a:rPr>
                        <a:t>Operational disruption</a:t>
                      </a:r>
                    </a:p>
                  </a:txBody>
                  <a:tcPr marL="54000" marR="54000" marT="18000" marB="18000" anchor="ctr">
                    <a:noFill/>
                  </a:tcPr>
                </a:tc>
                <a:tc>
                  <a:txBody>
                    <a:bodyPr wrap="square"/>
                    <a:lstStyle/>
                    <a:p>
                      <a:pPr algn="ctr"/>
                      <a:r>
                        <a:rPr sz="850" b="0">
                          <a:solidFill>
                            <a:srgbClr val="1F1F1F"/>
                          </a:solidFill>
                          <a:latin typeface="Arial"/>
                        </a:rPr>
                        <a:t>+0.46</a:t>
                      </a:r>
                    </a:p>
                  </a:txBody>
                  <a:tcPr marL="54000" marR="54000" marT="18000" marB="18000" anchor="ctr">
                    <a:noFill/>
                  </a:tcPr>
                </a:tc>
              </a:tr>
              <a:tr h="280000">
                <a:tc>
                  <a:txBody>
                    <a:bodyPr wrap="square"/>
                    <a:lstStyle/>
                    <a:p>
                      <a:pPr algn="l"/>
                      <a:r>
                        <a:rPr sz="850" b="1">
                          <a:solidFill>
                            <a:srgbClr val="062552"/>
                          </a:solidFill>
                          <a:latin typeface="Arial"/>
                        </a:rPr>
                        <a:t>Ewan Pitter</a:t>
                      </a:r>
                    </a:p>
                  </a:txBody>
                  <a:tcPr marL="54000" marR="54000" marT="18000" marB="18000" anchor="ctr">
                    <a:solidFill>
                      <a:srgbClr val="F3F6FB"/>
                    </a:solidFill>
                  </a:tcPr>
                </a:tc>
                <a:tc>
                  <a:txBody>
                    <a:bodyPr wrap="square"/>
                    <a:lstStyle/>
                    <a:p>
                      <a:pPr algn="l"/>
                      <a:r>
                        <a:rPr sz="850" b="0">
                          <a:solidFill>
                            <a:srgbClr val="1F1F1F"/>
                          </a:solidFill>
                          <a:latin typeface="Arial"/>
                        </a:rPr>
                        <a:t>Progressive Grocers of Ja Lt</a:t>
                      </a:r>
                    </a:p>
                  </a:txBody>
                  <a:tcPr marL="54000" marR="54000" marT="18000" marB="18000" anchor="ctr">
                    <a:solidFill>
                      <a:srgbClr val="F3F6FB"/>
                    </a:solidFill>
                  </a:tcPr>
                </a:tc>
                <a:tc>
                  <a:txBody>
                    <a:bodyPr wrap="square"/>
                    <a:lstStyle/>
                    <a:p>
                      <a:pPr algn="l"/>
                      <a:r>
                        <a:rPr sz="850" b="0">
                          <a:solidFill>
                            <a:srgbClr val="1F1F1F"/>
                          </a:solidFill>
                          <a:latin typeface="Arial"/>
                        </a:rPr>
                        <a:t>+40%, from Jan 27</a:t>
                      </a:r>
                    </a:p>
                  </a:txBody>
                  <a:tcPr marL="54000" marR="54000" marT="18000" marB="18000" anchor="ctr">
                    <a:solidFill>
                      <a:srgbClr val="F3F6FB"/>
                    </a:solidFill>
                  </a:tcPr>
                </a:tc>
                <a:tc>
                  <a:txBody>
                    <a:bodyPr wrap="square"/>
                    <a:lstStyle/>
                    <a:p>
                      <a:pPr algn="l"/>
                      <a:r>
                        <a:rPr sz="850" b="0">
                          <a:solidFill>
                            <a:srgbClr val="1F1F1F"/>
                          </a:solidFill>
                          <a:latin typeface="Arial"/>
                        </a:rPr>
                        <a:t>Expansion</a:t>
                      </a:r>
                    </a:p>
                  </a:txBody>
                  <a:tcPr marL="54000" marR="54000" marT="18000" marB="18000" anchor="ctr">
                    <a:solidFill>
                      <a:srgbClr val="F3F6FB"/>
                    </a:solidFill>
                  </a:tcPr>
                </a:tc>
                <a:tc>
                  <a:txBody>
                    <a:bodyPr wrap="square"/>
                    <a:lstStyle/>
                    <a:p>
                      <a:pPr algn="ctr"/>
                      <a:r>
                        <a:rPr sz="850" b="0">
                          <a:solidFill>
                            <a:srgbClr val="1F1F1F"/>
                          </a:solidFill>
                          <a:latin typeface="Arial"/>
                        </a:rPr>
                        <a:t>+0.14</a:t>
                      </a:r>
                    </a:p>
                  </a:txBody>
                  <a:tcPr marL="54000" marR="54000" marT="18000" marB="18000" anchor="ctr">
                    <a:solidFill>
                      <a:srgbClr val="F3F6FB"/>
                    </a:solidFill>
                  </a:tcPr>
                </a:tc>
              </a:tr>
              <a:tr h="280000">
                <a:tc>
                  <a:txBody>
                    <a:bodyPr wrap="square"/>
                    <a:lstStyle/>
                    <a:p>
                      <a:pPr algn="l"/>
                      <a:r>
                        <a:rPr sz="850" b="1">
                          <a:solidFill>
                            <a:srgbClr val="062552"/>
                          </a:solidFill>
                          <a:latin typeface="Arial"/>
                        </a:rPr>
                        <a:t>Ewan Pitter</a:t>
                      </a:r>
                    </a:p>
                  </a:txBody>
                  <a:tcPr marL="54000" marR="54000" marT="18000" marB="18000" anchor="ctr">
                    <a:noFill/>
                  </a:tcPr>
                </a:tc>
                <a:tc>
                  <a:txBody>
                    <a:bodyPr wrap="square"/>
                    <a:lstStyle/>
                    <a:p>
                      <a:pPr algn="l"/>
                      <a:r>
                        <a:rPr sz="850" b="0">
                          <a:solidFill>
                            <a:srgbClr val="1F1F1F"/>
                          </a:solidFill>
                          <a:latin typeface="Arial"/>
                        </a:rPr>
                        <a:t>University Of Technology</a:t>
                      </a:r>
                    </a:p>
                  </a:txBody>
                  <a:tcPr marL="54000" marR="54000" marT="18000" marB="18000" anchor="ctr">
                    <a:noFill/>
                  </a:tcPr>
                </a:tc>
                <a:tc>
                  <a:txBody>
                    <a:bodyPr wrap="square"/>
                    <a:lstStyle/>
                    <a:p>
                      <a:pPr algn="l"/>
                      <a:r>
                        <a:rPr sz="850" b="0">
                          <a:solidFill>
                            <a:srgbClr val="1F1F1F"/>
                          </a:solidFill>
                          <a:latin typeface="Arial"/>
                        </a:rPr>
                        <a:t>−95%, from Jan 28</a:t>
                      </a:r>
                    </a:p>
                  </a:txBody>
                  <a:tcPr marL="54000" marR="54000" marT="18000" marB="18000" anchor="ctr">
                    <a:noFill/>
                  </a:tcPr>
                </a:tc>
                <a:tc>
                  <a:txBody>
                    <a:bodyPr wrap="square"/>
                    <a:lstStyle/>
                    <a:p>
                      <a:pPr algn="l"/>
                      <a:r>
                        <a:rPr sz="850" b="0">
                          <a:solidFill>
                            <a:srgbClr val="1F1F1F"/>
                          </a:solidFill>
                          <a:latin typeface="Arial"/>
                        </a:rPr>
                        <a:t>Confirmed defection</a:t>
                      </a:r>
                    </a:p>
                  </a:txBody>
                  <a:tcPr marL="54000" marR="54000" marT="18000" marB="18000" anchor="ctr">
                    <a:noFill/>
                  </a:tcPr>
                </a:tc>
                <a:tc>
                  <a:txBody>
                    <a:bodyPr wrap="square"/>
                    <a:lstStyle/>
                    <a:p>
                      <a:pPr algn="ctr"/>
                      <a:r>
                        <a:rPr sz="850" b="0">
                          <a:solidFill>
                            <a:srgbClr val="1F1F1F"/>
                          </a:solidFill>
                          <a:latin typeface="Arial"/>
                        </a:rPr>
                        <a:t>0.00</a:t>
                      </a:r>
                    </a:p>
                  </a:txBody>
                  <a:tcPr marL="54000" marR="54000" marT="18000" marB="18000" anchor="ctr">
                    <a:noFill/>
                  </a:tcPr>
                </a:tc>
              </a:tr>
              <a:tr h="280000">
                <a:tc>
                  <a:txBody>
                    <a:bodyPr wrap="square"/>
                    <a:lstStyle/>
                    <a:p>
                      <a:pPr algn="l"/>
                      <a:r>
                        <a:rPr sz="850" b="1">
                          <a:solidFill>
                            <a:srgbClr val="062552"/>
                          </a:solidFill>
                          <a:latin typeface="Arial"/>
                        </a:rPr>
                        <a:t>Ruel Barnett</a:t>
                      </a:r>
                    </a:p>
                  </a:txBody>
                  <a:tcPr marL="54000" marR="54000" marT="18000" marB="18000" anchor="ctr">
                    <a:solidFill>
                      <a:srgbClr val="F3F6FB"/>
                    </a:solidFill>
                  </a:tcPr>
                </a:tc>
                <a:tc>
                  <a:txBody>
                    <a:bodyPr wrap="square"/>
                    <a:lstStyle/>
                    <a:p>
                      <a:pPr algn="l"/>
                      <a:r>
                        <a:rPr sz="850" b="0">
                          <a:solidFill>
                            <a:srgbClr val="1F1F1F"/>
                          </a:solidFill>
                          <a:latin typeface="Arial"/>
                        </a:rPr>
                        <a:t>Operadora Palace Resorts (Ja</a:t>
                      </a:r>
                    </a:p>
                  </a:txBody>
                  <a:tcPr marL="54000" marR="54000" marT="18000" marB="18000" anchor="ctr">
                    <a:solidFill>
                      <a:srgbClr val="F3F6FB"/>
                    </a:solidFill>
                  </a:tcPr>
                </a:tc>
                <a:tc>
                  <a:txBody>
                    <a:bodyPr wrap="square"/>
                    <a:lstStyle/>
                    <a:p>
                      <a:pPr algn="l"/>
                      <a:r>
                        <a:rPr sz="850" b="0">
                          <a:solidFill>
                            <a:srgbClr val="1F1F1F"/>
                          </a:solidFill>
                          <a:latin typeface="Arial"/>
                        </a:rPr>
                        <a:t>+2.3%, Jan 27 to Dec 27</a:t>
                      </a:r>
                    </a:p>
                  </a:txBody>
                  <a:tcPr marL="54000" marR="54000" marT="18000" marB="18000" anchor="ctr">
                    <a:solidFill>
                      <a:srgbClr val="F3F6FB"/>
                    </a:solidFill>
                  </a:tcPr>
                </a:tc>
                <a:tc>
                  <a:txBody>
                    <a:bodyPr wrap="square"/>
                    <a:lstStyle/>
                    <a:p>
                      <a:pPr algn="l"/>
                      <a:r>
                        <a:rPr sz="850" b="0">
                          <a:solidFill>
                            <a:srgbClr val="1F1F1F"/>
                          </a:solidFill>
                          <a:latin typeface="Arial"/>
                        </a:rPr>
                        <a:t>Operational disruption</a:t>
                      </a:r>
                    </a:p>
                  </a:txBody>
                  <a:tcPr marL="54000" marR="54000" marT="18000" marB="18000" anchor="ctr">
                    <a:solidFill>
                      <a:srgbClr val="F3F6FB"/>
                    </a:solidFill>
                  </a:tcPr>
                </a:tc>
                <a:tc>
                  <a:txBody>
                    <a:bodyPr wrap="square"/>
                    <a:lstStyle/>
                    <a:p>
                      <a:pPr algn="ctr"/>
                      <a:r>
                        <a:rPr sz="850" b="0">
                          <a:solidFill>
                            <a:srgbClr val="1F1F1F"/>
                          </a:solidFill>
                          <a:latin typeface="Arial"/>
                        </a:rPr>
                        <a:t>+0.15</a:t>
                      </a:r>
                    </a:p>
                  </a:txBody>
                  <a:tcPr marL="54000" marR="54000" marT="18000" marB="18000" anchor="ctr">
                    <a:solidFill>
                      <a:srgbClr val="F3F6FB"/>
                    </a:solidFill>
                  </a:tcPr>
                </a:tc>
              </a:tr>
              <a:tr h="280000">
                <a:tc>
                  <a:txBody>
                    <a:bodyPr wrap="square"/>
                    <a:lstStyle/>
                    <a:p>
                      <a:pPr algn="l"/>
                      <a:r>
                        <a:rPr sz="850" b="1">
                          <a:solidFill>
                            <a:srgbClr val="062552"/>
                          </a:solidFill>
                          <a:latin typeface="Arial"/>
                        </a:rPr>
                        <a:t>Ruel Barnett</a:t>
                      </a:r>
                    </a:p>
                  </a:txBody>
                  <a:tcPr marL="54000" marR="54000" marT="18000" marB="18000" anchor="ctr">
                    <a:noFill/>
                  </a:tcPr>
                </a:tc>
                <a:tc>
                  <a:txBody>
                    <a:bodyPr wrap="square"/>
                    <a:lstStyle/>
                    <a:p>
                      <a:pPr algn="l"/>
                      <a:r>
                        <a:rPr sz="850" b="0">
                          <a:solidFill>
                            <a:srgbClr val="1F1F1F"/>
                          </a:solidFill>
                          <a:latin typeface="Arial"/>
                        </a:rPr>
                        <a:t>Playa Hall Jamaican Resort L</a:t>
                      </a:r>
                    </a:p>
                  </a:txBody>
                  <a:tcPr marL="54000" marR="54000" marT="18000" marB="18000" anchor="ctr">
                    <a:noFill/>
                  </a:tcPr>
                </a:tc>
                <a:tc>
                  <a:txBody>
                    <a:bodyPr wrap="square"/>
                    <a:lstStyle/>
                    <a:p>
                      <a:pPr algn="l"/>
                      <a:r>
                        <a:rPr sz="850" b="0">
                          <a:solidFill>
                            <a:srgbClr val="1F1F1F"/>
                          </a:solidFill>
                          <a:latin typeface="Arial"/>
                        </a:rPr>
                        <a:t>+2.3%, Jan 27 to Dec 27</a:t>
                      </a:r>
                    </a:p>
                  </a:txBody>
                  <a:tcPr marL="54000" marR="54000" marT="18000" marB="18000" anchor="ctr">
                    <a:noFill/>
                  </a:tcPr>
                </a:tc>
                <a:tc>
                  <a:txBody>
                    <a:bodyPr wrap="square"/>
                    <a:lstStyle/>
                    <a:p>
                      <a:pPr algn="l"/>
                      <a:r>
                        <a:rPr sz="850" b="0">
                          <a:solidFill>
                            <a:srgbClr val="1F1F1F"/>
                          </a:solidFill>
                          <a:latin typeface="Arial"/>
                        </a:rPr>
                        <a:t>Operational disruption</a:t>
                      </a:r>
                    </a:p>
                  </a:txBody>
                  <a:tcPr marL="54000" marR="54000" marT="18000" marB="18000" anchor="ctr">
                    <a:noFill/>
                  </a:tcPr>
                </a:tc>
                <a:tc>
                  <a:txBody>
                    <a:bodyPr wrap="square"/>
                    <a:lstStyle/>
                    <a:p>
                      <a:pPr algn="ctr"/>
                      <a:r>
                        <a:rPr sz="850" b="0">
                          <a:solidFill>
                            <a:srgbClr val="1F1F1F"/>
                          </a:solidFill>
                          <a:latin typeface="Arial"/>
                        </a:rPr>
                        <a:t>+0.12</a:t>
                      </a:r>
                    </a:p>
                  </a:txBody>
                  <a:tcPr marL="54000" marR="54000" marT="18000" marB="18000" anchor="ctr">
                    <a:noFill/>
                  </a:tcPr>
                </a:tc>
              </a:tr>
              <a:tr h="280000">
                <a:tc>
                  <a:txBody>
                    <a:bodyPr wrap="square"/>
                    <a:lstStyle/>
                    <a:p>
                      <a:pPr algn="l"/>
                      <a:r>
                        <a:rPr sz="850" b="1">
                          <a:solidFill>
                            <a:srgbClr val="062552"/>
                          </a:solidFill>
                          <a:latin typeface="Arial"/>
                        </a:rPr>
                        <a:t>Kenroy Williams</a:t>
                      </a:r>
                    </a:p>
                  </a:txBody>
                  <a:tcPr marL="54000" marR="54000" marT="18000" marB="18000" anchor="ctr">
                    <a:solidFill>
                      <a:srgbClr val="F3F6FB"/>
                    </a:solidFill>
                  </a:tcPr>
                </a:tc>
                <a:tc>
                  <a:txBody>
                    <a:bodyPr wrap="square"/>
                    <a:lstStyle/>
                    <a:p>
                      <a:pPr algn="l"/>
                      <a:r>
                        <a:rPr sz="850" b="0">
                          <a:solidFill>
                            <a:srgbClr val="1F1F1F"/>
                          </a:solidFill>
                          <a:latin typeface="Arial"/>
                        </a:rPr>
                        <a:t>Cocalapalm Company Ltd</a:t>
                      </a:r>
                    </a:p>
                  </a:txBody>
                  <a:tcPr marL="54000" marR="54000" marT="18000" marB="18000" anchor="ctr">
                    <a:solidFill>
                      <a:srgbClr val="F3F6FB"/>
                    </a:solidFill>
                  </a:tcPr>
                </a:tc>
                <a:tc>
                  <a:txBody>
                    <a:bodyPr wrap="square"/>
                    <a:lstStyle/>
                    <a:p>
                      <a:pPr algn="l"/>
                      <a:r>
                        <a:rPr sz="850" b="0">
                          <a:solidFill>
                            <a:srgbClr val="1F1F1F"/>
                          </a:solidFill>
                          <a:latin typeface="Arial"/>
                        </a:rPr>
                        <a:t>+30%, from Jan 27</a:t>
                      </a:r>
                    </a:p>
                  </a:txBody>
                  <a:tcPr marL="54000" marR="54000" marT="18000" marB="18000" anchor="ctr">
                    <a:solidFill>
                      <a:srgbClr val="F3F6FB"/>
                    </a:solidFill>
                  </a:tcPr>
                </a:tc>
                <a:tc>
                  <a:txBody>
                    <a:bodyPr wrap="square"/>
                    <a:lstStyle/>
                    <a:p>
                      <a:pPr algn="l"/>
                      <a:r>
                        <a:rPr sz="850" b="0">
                          <a:solidFill>
                            <a:srgbClr val="1F1F1F"/>
                          </a:solidFill>
                          <a:latin typeface="Arial"/>
                        </a:rPr>
                        <a:t>Renewal</a:t>
                      </a:r>
                    </a:p>
                  </a:txBody>
                  <a:tcPr marL="54000" marR="54000" marT="18000" marB="18000" anchor="ctr">
                    <a:solidFill>
                      <a:srgbClr val="F3F6FB"/>
                    </a:solidFill>
                  </a:tcPr>
                </a:tc>
                <a:tc>
                  <a:txBody>
                    <a:bodyPr wrap="square"/>
                    <a:lstStyle/>
                    <a:p>
                      <a:pPr algn="ctr"/>
                      <a:r>
                        <a:rPr sz="850" b="0">
                          <a:solidFill>
                            <a:srgbClr val="1F1F1F"/>
                          </a:solidFill>
                          <a:latin typeface="Arial"/>
                        </a:rPr>
                        <a:t>+0.09</a:t>
                      </a:r>
                    </a:p>
                  </a:txBody>
                  <a:tcPr marL="54000" marR="54000" marT="18000" marB="18000" anchor="ctr">
                    <a:solidFill>
                      <a:srgbClr val="F3F6FB"/>
                    </a:solidFill>
                  </a:tcPr>
                </a:tc>
              </a:tr>
              <a:tr h="280000">
                <a:tc>
                  <a:txBody>
                    <a:bodyPr wrap="square"/>
                    <a:lstStyle/>
                    <a:p>
                      <a:pPr algn="l"/>
                      <a:r>
                        <a:rPr sz="850" b="1">
                          <a:solidFill>
                            <a:srgbClr val="062552"/>
                          </a:solidFill>
                          <a:latin typeface="Arial"/>
                        </a:rPr>
                        <a:t>Jean Waugh-Evans</a:t>
                      </a:r>
                    </a:p>
                  </a:txBody>
                  <a:tcPr marL="54000" marR="54000" marT="18000" marB="18000" anchor="ctr">
                    <a:noFill/>
                  </a:tcPr>
                </a:tc>
                <a:tc>
                  <a:txBody>
                    <a:bodyPr wrap="square"/>
                    <a:lstStyle/>
                    <a:p>
                      <a:pPr algn="l"/>
                      <a:r>
                        <a:rPr sz="850" b="0">
                          <a:solidFill>
                            <a:srgbClr val="1F1F1F"/>
                          </a:solidFill>
                          <a:latin typeface="Arial"/>
                        </a:rPr>
                        <a:t>University Of Technology</a:t>
                      </a:r>
                    </a:p>
                  </a:txBody>
                  <a:tcPr marL="54000" marR="54000" marT="18000" marB="18000" anchor="ctr">
                    <a:noFill/>
                  </a:tcPr>
                </a:tc>
                <a:tc>
                  <a:txBody>
                    <a:bodyPr wrap="square"/>
                    <a:lstStyle/>
                    <a:p>
                      <a:pPr algn="l"/>
                      <a:r>
                        <a:rPr sz="850" b="0">
                          <a:solidFill>
                            <a:srgbClr val="1F1F1F"/>
                          </a:solidFill>
                          <a:latin typeface="Arial"/>
                        </a:rPr>
                        <a:t>−95%, from Jan 28; −50%, from Jul 27</a:t>
                      </a:r>
                    </a:p>
                  </a:txBody>
                  <a:tcPr marL="54000" marR="54000" marT="18000" marB="18000" anchor="ctr">
                    <a:noFill/>
                  </a:tcPr>
                </a:tc>
                <a:tc>
                  <a:txBody>
                    <a:bodyPr wrap="square"/>
                    <a:lstStyle/>
                    <a:p>
                      <a:pPr algn="l"/>
                      <a:r>
                        <a:rPr sz="850" b="0">
                          <a:solidFill>
                            <a:srgbClr val="1F1F1F"/>
                          </a:solidFill>
                          <a:latin typeface="Arial"/>
                        </a:rPr>
                        <a:t>Confirmed defection, P</a:t>
                      </a:r>
                    </a:p>
                  </a:txBody>
                  <a:tcPr marL="54000" marR="54000" marT="18000" marB="18000" anchor="ctr">
                    <a:noFill/>
                  </a:tcPr>
                </a:tc>
                <a:tc>
                  <a:txBody>
                    <a:bodyPr wrap="square"/>
                    <a:lstStyle/>
                    <a:p>
                      <a:pPr algn="ctr"/>
                      <a:r>
                        <a:rPr sz="850" b="0">
                          <a:solidFill>
                            <a:srgbClr val="1F1F1F"/>
                          </a:solidFill>
                          <a:latin typeface="Arial"/>
                        </a:rPr>
                        <a:t>−1.53</a:t>
                      </a:r>
                    </a:p>
                  </a:txBody>
                  <a:tcPr marL="54000" marR="54000" marT="18000" marB="18000" anchor="ctr">
                    <a:noFill/>
                  </a:tcPr>
                </a:tc>
              </a:tr>
              <a:tr h="280000">
                <a:tc>
                  <a:txBody>
                    <a:bodyPr wrap="square"/>
                    <a:lstStyle/>
                    <a:p>
                      <a:pPr algn="l"/>
                      <a:r>
                        <a:rPr sz="850" b="1">
                          <a:solidFill>
                            <a:srgbClr val="062552"/>
                          </a:solidFill>
                          <a:latin typeface="Arial"/>
                        </a:rPr>
                        <a:t>Not assigned (no effect)</a:t>
                      </a:r>
                    </a:p>
                  </a:txBody>
                  <a:tcPr marL="54000" marR="54000" marT="18000" marB="18000" anchor="ctr">
                    <a:solidFill>
                      <a:srgbClr val="F3F6FB"/>
                    </a:solidFill>
                  </a:tcPr>
                </a:tc>
                <a:tc>
                  <a:txBody>
                    <a:bodyPr wrap="square"/>
                    <a:lstStyle/>
                    <a:p>
                      <a:pPr algn="l"/>
                      <a:r>
                        <a:rPr sz="850" b="0">
                          <a:solidFill>
                            <a:srgbClr val="1F1F1F"/>
                          </a:solidFill>
                          <a:latin typeface="Arial"/>
                        </a:rPr>
                        <a:t>Contax360 BPO Solutions Inc.</a:t>
                      </a:r>
                    </a:p>
                  </a:txBody>
                  <a:tcPr marL="54000" marR="54000" marT="18000" marB="18000" anchor="ctr">
                    <a:solidFill>
                      <a:srgbClr val="F3F6FB"/>
                    </a:solidFill>
                  </a:tcPr>
                </a:tc>
                <a:tc>
                  <a:txBody>
                    <a:bodyPr wrap="square"/>
                    <a:lstStyle/>
                    <a:p>
                      <a:pPr algn="l"/>
                      <a:r>
                        <a:rPr sz="850" b="0">
                          <a:solidFill>
                            <a:srgbClr val="1F1F1F"/>
                          </a:solidFill>
                          <a:latin typeface="Arial"/>
                        </a:rPr>
                        <a:t>, Jan 27</a:t>
                      </a:r>
                    </a:p>
                  </a:txBody>
                  <a:tcPr marL="54000" marR="54000" marT="18000" marB="18000" anchor="ctr">
                    <a:solidFill>
                      <a:srgbClr val="F3F6FB"/>
                    </a:solidFill>
                  </a:tcPr>
                </a:tc>
                <a:tc>
                  <a:txBody>
                    <a:bodyPr wrap="square"/>
                    <a:lstStyle/>
                    <a:p>
                      <a:pPr algn="l"/>
                      <a:r>
                        <a:rPr sz="850" b="0">
                          <a:solidFill>
                            <a:srgbClr val="1F1F1F"/>
                          </a:solidFill>
                          <a:latin typeface="Arial"/>
                        </a:rPr>
                        <a:t>Possible defection</a:t>
                      </a:r>
                    </a:p>
                  </a:txBody>
                  <a:tcPr marL="54000" marR="54000" marT="18000" marB="18000" anchor="ctr">
                    <a:solidFill>
                      <a:srgbClr val="F3F6FB"/>
                    </a:solidFill>
                  </a:tcPr>
                </a:tc>
                <a:tc>
                  <a:txBody>
                    <a:bodyPr wrap="square"/>
                    <a:lstStyle/>
                    <a:p>
                      <a:pPr algn="ctr"/>
                      <a:r>
                        <a:rPr sz="850" b="0">
                          <a:solidFill>
                            <a:srgbClr val="1F1F1F"/>
                          </a:solidFill>
                          <a:latin typeface="Arial"/>
                        </a:rPr>
                        <a:t>0.00</a:t>
                      </a:r>
                    </a:p>
                  </a:txBody>
                  <a:tcPr marL="54000" marR="54000" marT="18000" marB="18000" anchor="ctr">
                    <a:solidFill>
                      <a:srgbClr val="F3F6FB"/>
                    </a:solidFill>
                  </a:tcPr>
                </a:tc>
              </a:tr>
              <a:tr h="280000">
                <a:tc>
                  <a:txBody>
                    <a:bodyPr wrap="square"/>
                    <a:lstStyle/>
                    <a:p>
                      <a:pPr algn="l"/>
                      <a:r>
                        <a:rPr sz="850" b="1">
                          <a:solidFill>
                            <a:srgbClr val="062552"/>
                          </a:solidFill>
                          <a:latin typeface="Arial"/>
                        </a:rPr>
                        <a:t>Not assigned (no effect)</a:t>
                      </a:r>
                    </a:p>
                  </a:txBody>
                  <a:tcPr marL="54000" marR="54000" marT="18000" marB="18000" anchor="ctr">
                    <a:noFill/>
                  </a:tcPr>
                </a:tc>
                <a:tc>
                  <a:txBody>
                    <a:bodyPr wrap="square"/>
                    <a:lstStyle/>
                    <a:p>
                      <a:pPr algn="l"/>
                      <a:r>
                        <a:rPr sz="850" b="0">
                          <a:solidFill>
                            <a:srgbClr val="1F1F1F"/>
                          </a:solidFill>
                          <a:latin typeface="Arial"/>
                        </a:rPr>
                        <a:t>F W Woolworth &amp; Co Ltd</a:t>
                      </a:r>
                    </a:p>
                  </a:txBody>
                  <a:tcPr marL="54000" marR="54000" marT="18000" marB="18000" anchor="ctr">
                    <a:noFill/>
                  </a:tcPr>
                </a:tc>
                <a:tc>
                  <a:txBody>
                    <a:bodyPr wrap="square"/>
                    <a:lstStyle/>
                    <a:p>
                      <a:pPr algn="l"/>
                      <a:r>
                        <a:rPr sz="850" b="0">
                          <a:solidFill>
                            <a:srgbClr val="1F1F1F"/>
                          </a:solidFill>
                          <a:latin typeface="Arial"/>
                        </a:rPr>
                        <a:t>, Jan 27</a:t>
                      </a:r>
                    </a:p>
                  </a:txBody>
                  <a:tcPr marL="54000" marR="54000" marT="18000" marB="18000" anchor="ctr">
                    <a:noFill/>
                  </a:tcPr>
                </a:tc>
                <a:tc>
                  <a:txBody>
                    <a:bodyPr wrap="square"/>
                    <a:lstStyle/>
                    <a:p>
                      <a:pPr algn="l"/>
                      <a:r>
                        <a:rPr sz="850" b="0">
                          <a:solidFill>
                            <a:srgbClr val="1F1F1F"/>
                          </a:solidFill>
                          <a:latin typeface="Arial"/>
                        </a:rPr>
                        <a:t>Possible defection</a:t>
                      </a:r>
                    </a:p>
                  </a:txBody>
                  <a:tcPr marL="54000" marR="54000" marT="18000" marB="18000" anchor="ctr">
                    <a:noFill/>
                  </a:tcPr>
                </a:tc>
                <a:tc>
                  <a:txBody>
                    <a:bodyPr wrap="square"/>
                    <a:lstStyle/>
                    <a:p>
                      <a:pPr algn="ctr"/>
                      <a:r>
                        <a:rPr sz="850" b="0">
                          <a:solidFill>
                            <a:srgbClr val="1F1F1F"/>
                          </a:solidFill>
                          <a:latin typeface="Arial"/>
                        </a:rPr>
                        <a:t>0.00</a:t>
                      </a:r>
                    </a:p>
                  </a:txBody>
                  <a:tcPr marL="54000" marR="54000" marT="18000" marB="18000" anchor="ctr">
                    <a:noFill/>
                  </a:tcPr>
                </a:tc>
              </a:tr>
              <a:tr h="280000">
                <a:tc>
                  <a:txBody>
                    <a:bodyPr wrap="square"/>
                    <a:lstStyle/>
                    <a:p>
                      <a:pPr algn="l"/>
                      <a:r>
                        <a:rPr sz="850" b="1">
                          <a:solidFill>
                            <a:srgbClr val="062552"/>
                          </a:solidFill>
                          <a:latin typeface="Arial"/>
                        </a:rPr>
                        <a:t>Not assigned (no effect)</a:t>
                      </a:r>
                    </a:p>
                  </a:txBody>
                  <a:tcPr marL="54000" marR="54000" marT="18000" marB="18000" anchor="ctr">
                    <a:solidFill>
                      <a:srgbClr val="F3F6FB"/>
                    </a:solidFill>
                  </a:tcPr>
                </a:tc>
                <a:tc>
                  <a:txBody>
                    <a:bodyPr wrap="square"/>
                    <a:lstStyle/>
                    <a:p>
                      <a:pPr algn="l"/>
                      <a:r>
                        <a:rPr sz="850" b="0">
                          <a:solidFill>
                            <a:srgbClr val="1F1F1F"/>
                          </a:solidFill>
                          <a:latin typeface="Arial"/>
                        </a:rPr>
                        <a:t>Rock Solid Plastics Limited</a:t>
                      </a:r>
                    </a:p>
                  </a:txBody>
                  <a:tcPr marL="54000" marR="54000" marT="18000" marB="18000" anchor="ctr">
                    <a:solidFill>
                      <a:srgbClr val="F3F6FB"/>
                    </a:solidFill>
                  </a:tcPr>
                </a:tc>
                <a:tc>
                  <a:txBody>
                    <a:bodyPr wrap="square"/>
                    <a:lstStyle/>
                    <a:p>
                      <a:pPr algn="l"/>
                      <a:r>
                        <a:rPr sz="850" b="0">
                          <a:solidFill>
                            <a:srgbClr val="1F1F1F"/>
                          </a:solidFill>
                          <a:latin typeface="Arial"/>
                        </a:rPr>
                        <a:t>, Jan 27</a:t>
                      </a:r>
                    </a:p>
                  </a:txBody>
                  <a:tcPr marL="54000" marR="54000" marT="18000" marB="18000" anchor="ctr">
                    <a:solidFill>
                      <a:srgbClr val="F3F6FB"/>
                    </a:solidFill>
                  </a:tcPr>
                </a:tc>
                <a:tc>
                  <a:txBody>
                    <a:bodyPr wrap="square"/>
                    <a:lstStyle/>
                    <a:p>
                      <a:pPr algn="l"/>
                      <a:r>
                        <a:rPr sz="850" b="0">
                          <a:solidFill>
                            <a:srgbClr val="1F1F1F"/>
                          </a:solidFill>
                          <a:latin typeface="Arial"/>
                        </a:rPr>
                        <a:t>Possible defection</a:t>
                      </a:r>
                    </a:p>
                  </a:txBody>
                  <a:tcPr marL="54000" marR="54000" marT="18000" marB="18000" anchor="ctr">
                    <a:solidFill>
                      <a:srgbClr val="F3F6FB"/>
                    </a:solidFill>
                  </a:tcPr>
                </a:tc>
                <a:tc>
                  <a:txBody>
                    <a:bodyPr wrap="square"/>
                    <a:lstStyle/>
                    <a:p>
                      <a:pPr algn="ctr"/>
                      <a:r>
                        <a:rPr sz="850" b="0">
                          <a:solidFill>
                            <a:srgbClr val="1F1F1F"/>
                          </a:solidFill>
                          <a:latin typeface="Arial"/>
                        </a:rPr>
                        <a:t>0.00</a:t>
                      </a:r>
                    </a:p>
                  </a:txBody>
                  <a:tcPr marL="54000" marR="54000" marT="18000" marB="18000" anchor="ctr">
                    <a:solidFill>
                      <a:srgbClr val="F3F6FB"/>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New Customers In The Forecast</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13 pipeline entries: confirm the start and the volume</a:t>
            </a:r>
          </a:p>
        </p:txBody>
      </p:sp>
      <p:sp>
        <p:nvSpPr>
          <p:cNvPr id="4" name="TextBox 3"/>
          <p:cNvSpPr txBox="1"/>
          <p:nvPr/>
        </p:nvSpPr>
        <p:spPr>
          <a:xfrm>
            <a:off x="815243" y="1500000"/>
            <a:ext cx="11200000" cy="300000"/>
          </a:xfrm>
          <a:prstGeom prst="rect">
            <a:avLst/>
          </a:prstGeom>
          <a:noFill/>
        </p:spPr>
        <p:txBody>
          <a:bodyPr wrap="square" lIns="0" rIns="0" tIns="0" bIns="0" anchor="t">
            <a:spAutoFit/>
          </a:bodyPr>
          <a:lstStyle/>
          <a:p>
            <a:pPr algn="l"/>
            <a:r>
              <a:rPr sz="1100" b="0">
                <a:solidFill>
                  <a:srgbClr val="66788A"/>
                </a:solidFill>
                <a:latin typeface="Arial"/>
              </a:rPr>
              <a:t>kWh a month from the start date. These sit in the forecast until you confirm or remove them.</a:t>
            </a:r>
          </a:p>
        </p:txBody>
      </p:sp>
      <p:sp>
        <p:nvSpPr>
          <p:cNvPr id="5" name="TextBox 4"/>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6" name="TextBox 5"/>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15</a:t>
            </a:r>
          </a:p>
        </p:txBody>
      </p:sp>
      <p:graphicFrame>
        <p:nvGraphicFramePr>
          <p:cNvPr id="7" name="Table 6"/>
          <p:cNvGraphicFramePr>
            <a:graphicFrameLocks noGrp="1"/>
          </p:cNvGraphicFramePr>
          <p:nvPr/>
        </p:nvGraphicFramePr>
        <p:xfrm>
          <a:off x="274320" y="1950000"/>
          <a:ext cx="11649997" cy="3726000"/>
        </p:xfrm>
        <a:graphic>
          <a:graphicData uri="http://schemas.openxmlformats.org/drawingml/2006/table">
            <a:tbl>
              <a:tblPr firstRow="0" bandRow="0">
                <a:tableStyleId>{5940675A-B579-460E-94D1-54222C63F5DA}</a:tableStyleId>
              </a:tblPr>
              <a:tblGrid>
                <a:gridCol w="3798913"/>
                <a:gridCol w="2026086"/>
                <a:gridCol w="1013043"/>
                <a:gridCol w="1266304"/>
                <a:gridCol w="1519565"/>
                <a:gridCol w="2026086"/>
              </a:tblGrid>
              <a:tr h="320000">
                <a:tc>
                  <a:txBody>
                    <a:bodyPr wrap="square"/>
                    <a:lstStyle/>
                    <a:p>
                      <a:pPr algn="l"/>
                      <a:r>
                        <a:rPr sz="850" b="1">
                          <a:solidFill>
                            <a:srgbClr val="FFFFFF"/>
                          </a:solidFill>
                          <a:latin typeface="Arial"/>
                        </a:rPr>
                        <a:t>Customer</a:t>
                      </a:r>
                    </a:p>
                  </a:txBody>
                  <a:tcPr marL="54000" marR="54000" marT="18000" marB="18000" anchor="ctr">
                    <a:solidFill>
                      <a:srgbClr val="062552"/>
                    </a:solidFill>
                  </a:tcPr>
                </a:tc>
                <a:tc>
                  <a:txBody>
                    <a:bodyPr wrap="square"/>
                    <a:lstStyle/>
                    <a:p>
                      <a:pPr algn="l"/>
                      <a:r>
                        <a:rPr sz="850" b="1">
                          <a:solidFill>
                            <a:srgbClr val="FFFFFF"/>
                          </a:solidFill>
                          <a:latin typeface="Arial"/>
                        </a:rPr>
                        <a:t>KAM</a:t>
                      </a:r>
                    </a:p>
                  </a:txBody>
                  <a:tcPr marL="54000" marR="54000" marT="18000" marB="18000" anchor="ctr">
                    <a:solidFill>
                      <a:srgbClr val="062552"/>
                    </a:solidFill>
                  </a:tcPr>
                </a:tc>
                <a:tc>
                  <a:txBody>
                    <a:bodyPr wrap="square"/>
                    <a:lstStyle/>
                    <a:p>
                      <a:pPr algn="ctr"/>
                      <a:r>
                        <a:rPr sz="850" b="1">
                          <a:solidFill>
                            <a:srgbClr val="FFFFFF"/>
                          </a:solidFill>
                          <a:latin typeface="Arial"/>
                        </a:rPr>
                        <a:t>Class</a:t>
                      </a:r>
                    </a:p>
                  </a:txBody>
                  <a:tcPr marL="54000" marR="54000" marT="18000" marB="18000" anchor="ctr">
                    <a:solidFill>
                      <a:srgbClr val="062552"/>
                    </a:solidFill>
                  </a:tcPr>
                </a:tc>
                <a:tc>
                  <a:txBody>
                    <a:bodyPr wrap="square"/>
                    <a:lstStyle/>
                    <a:p>
                      <a:pPr algn="ctr"/>
                      <a:r>
                        <a:rPr sz="850" b="1">
                          <a:solidFill>
                            <a:srgbClr val="FFFFFF"/>
                          </a:solidFill>
                          <a:latin typeface="Arial"/>
                        </a:rPr>
                        <a:t>Start</a:t>
                      </a:r>
                    </a:p>
                  </a:txBody>
                  <a:tcPr marL="54000" marR="54000" marT="18000" marB="18000" anchor="ctr">
                    <a:solidFill>
                      <a:srgbClr val="062552"/>
                    </a:solidFill>
                  </a:tcPr>
                </a:tc>
                <a:tc>
                  <a:txBody>
                    <a:bodyPr wrap="square"/>
                    <a:lstStyle/>
                    <a:p>
                      <a:pPr algn="ctr"/>
                      <a:r>
                        <a:rPr sz="850" b="1">
                          <a:solidFill>
                            <a:srgbClr val="FFFFFF"/>
                          </a:solidFill>
                          <a:latin typeface="Arial"/>
                        </a:rPr>
                        <a:t>kWh a month</a:t>
                      </a:r>
                    </a:p>
                  </a:txBody>
                  <a:tcPr marL="54000" marR="54000" marT="18000" marB="18000" anchor="ctr">
                    <a:solidFill>
                      <a:srgbClr val="062552"/>
                    </a:solidFill>
                  </a:tcPr>
                </a:tc>
                <a:tc>
                  <a:txBody>
                    <a:bodyPr wrap="square"/>
                    <a:lstStyle/>
                    <a:p>
                      <a:pPr algn="l"/>
                      <a:r>
                        <a:rPr sz="850" b="1">
                          <a:solidFill>
                            <a:srgbClr val="FFFFFF"/>
                          </a:solidFill>
                          <a:latin typeface="Arial"/>
                        </a:rPr>
                        <a:t>Entered by</a:t>
                      </a:r>
                    </a:p>
                  </a:txBody>
                  <a:tcPr marL="54000" marR="54000" marT="18000" marB="18000" anchor="ctr">
                    <a:solidFill>
                      <a:srgbClr val="062552"/>
                    </a:solidFill>
                  </a:tcPr>
                </a:tc>
              </a:tr>
              <a:tr h="262000">
                <a:tc>
                  <a:txBody>
                    <a:bodyPr wrap="square"/>
                    <a:lstStyle/>
                    <a:p>
                      <a:pPr algn="l"/>
                      <a:r>
                        <a:rPr sz="850" b="1">
                          <a:solidFill>
                            <a:srgbClr val="062552"/>
                          </a:solidFill>
                          <a:latin typeface="Arial"/>
                        </a:rPr>
                        <a:t>Price Smart Kgn</a:t>
                      </a:r>
                    </a:p>
                  </a:txBody>
                  <a:tcPr marL="54000" marR="54000" marT="18000" marB="18000" anchor="ctr">
                    <a:noFill/>
                  </a:tcPr>
                </a:tc>
                <a:tc>
                  <a:txBody>
                    <a:bodyPr wrap="square"/>
                    <a:lstStyle/>
                    <a:p>
                      <a:pPr algn="l"/>
                      <a:r>
                        <a:rPr sz="850" b="0">
                          <a:solidFill>
                            <a:srgbClr val="1F1F1F"/>
                          </a:solidFill>
                          <a:latin typeface="Arial"/>
                        </a:rPr>
                        <a:t>Not assigned</a:t>
                      </a:r>
                    </a:p>
                  </a:txBody>
                  <a:tcPr marL="54000" marR="54000" marT="18000" marB="18000" anchor="ctr">
                    <a:noFill/>
                  </a:tcPr>
                </a:tc>
                <a:tc>
                  <a:txBody>
                    <a:bodyPr wrap="square"/>
                    <a:lstStyle/>
                    <a:p>
                      <a:pPr algn="ctr"/>
                      <a:r>
                        <a:rPr sz="850" b="0">
                          <a:solidFill>
                            <a:srgbClr val="1F1F1F"/>
                          </a:solidFill>
                          <a:latin typeface="Arial"/>
                        </a:rPr>
                        <a:t>RT40</a:t>
                      </a:r>
                    </a:p>
                  </a:txBody>
                  <a:tcPr marL="54000" marR="54000" marT="18000" marB="18000" anchor="ctr">
                    <a:noFill/>
                  </a:tcPr>
                </a:tc>
                <a:tc>
                  <a:txBody>
                    <a:bodyPr wrap="square"/>
                    <a:lstStyle/>
                    <a:p>
                      <a:pPr algn="ctr"/>
                      <a:r>
                        <a:rPr sz="850" b="0">
                          <a:solidFill>
                            <a:srgbClr val="1F1F1F"/>
                          </a:solidFill>
                          <a:latin typeface="Arial"/>
                        </a:rPr>
                        <a:t>Sep 2026</a:t>
                      </a:r>
                    </a:p>
                  </a:txBody>
                  <a:tcPr marL="54000" marR="54000" marT="18000" marB="18000" anchor="ctr">
                    <a:noFill/>
                  </a:tcPr>
                </a:tc>
                <a:tc>
                  <a:txBody>
                    <a:bodyPr wrap="square"/>
                    <a:lstStyle/>
                    <a:p>
                      <a:pPr algn="ctr"/>
                      <a:r>
                        <a:rPr sz="850" b="0">
                          <a:solidFill>
                            <a:srgbClr val="1F1F1F"/>
                          </a:solidFill>
                          <a:latin typeface="Arial"/>
                        </a:rPr>
                        <a:t>100,000</a:t>
                      </a:r>
                    </a:p>
                  </a:txBody>
                  <a:tcPr marL="54000" marR="54000" marT="18000" marB="18000" anchor="ctr">
                    <a:noFill/>
                  </a:tcPr>
                </a:tc>
                <a:tc>
                  <a:txBody>
                    <a:bodyPr wrap="square"/>
                    <a:lstStyle/>
                    <a:p>
                      <a:pPr algn="l"/>
                      <a:r>
                        <a:rPr sz="850" b="0">
                          <a:solidFill>
                            <a:srgbClr val="1F1F1F"/>
                          </a:solidFill>
                          <a:latin typeface="Arial"/>
                        </a:rPr>
                        <a:t>Jordache Wilson</a:t>
                      </a:r>
                    </a:p>
                  </a:txBody>
                  <a:tcPr marL="54000" marR="54000" marT="18000" marB="18000" anchor="ctr">
                    <a:noFill/>
                  </a:tcPr>
                </a:tc>
              </a:tr>
              <a:tr h="262000">
                <a:tc>
                  <a:txBody>
                    <a:bodyPr wrap="square"/>
                    <a:lstStyle/>
                    <a:p>
                      <a:pPr algn="l"/>
                      <a:r>
                        <a:rPr sz="850" b="1">
                          <a:solidFill>
                            <a:srgbClr val="062552"/>
                          </a:solidFill>
                          <a:latin typeface="Arial"/>
                        </a:rPr>
                        <a:t>PriceSmart</a:t>
                      </a:r>
                    </a:p>
                  </a:txBody>
                  <a:tcPr marL="54000" marR="54000" marT="18000" marB="18000" anchor="ctr">
                    <a:solidFill>
                      <a:srgbClr val="F3F6FB"/>
                    </a:solidFill>
                  </a:tcPr>
                </a:tc>
                <a:tc>
                  <a:txBody>
                    <a:bodyPr wrap="square"/>
                    <a:lstStyle/>
                    <a:p>
                      <a:pPr algn="l"/>
                      <a:r>
                        <a:rPr sz="850" b="0">
                          <a:solidFill>
                            <a:srgbClr val="1F1F1F"/>
                          </a:solidFill>
                          <a:latin typeface="Arial"/>
                        </a:rPr>
                        <a:t>Ewan Pitter</a:t>
                      </a:r>
                    </a:p>
                  </a:txBody>
                  <a:tcPr marL="54000" marR="54000" marT="18000" marB="18000" anchor="ctr">
                    <a:solidFill>
                      <a:srgbClr val="F3F6FB"/>
                    </a:solidFill>
                  </a:tcPr>
                </a:tc>
                <a:tc>
                  <a:txBody>
                    <a:bodyPr wrap="square"/>
                    <a:lstStyle/>
                    <a:p>
                      <a:pPr algn="ctr"/>
                      <a:r>
                        <a:rPr sz="850" b="0">
                          <a:solidFill>
                            <a:srgbClr val="1F1F1F"/>
                          </a:solidFill>
                          <a:latin typeface="Arial"/>
                        </a:rPr>
                        <a:t>RT40</a:t>
                      </a:r>
                    </a:p>
                  </a:txBody>
                  <a:tcPr marL="54000" marR="54000" marT="18000" marB="18000" anchor="ctr">
                    <a:solidFill>
                      <a:srgbClr val="F3F6FB"/>
                    </a:solidFill>
                  </a:tcPr>
                </a:tc>
                <a:tc>
                  <a:txBody>
                    <a:bodyPr wrap="square"/>
                    <a:lstStyle/>
                    <a:p>
                      <a:pPr algn="ctr"/>
                      <a:r>
                        <a:rPr sz="850" b="0">
                          <a:solidFill>
                            <a:srgbClr val="1F1F1F"/>
                          </a:solidFill>
                          <a:latin typeface="Arial"/>
                        </a:rPr>
                        <a:t>Jan 2027</a:t>
                      </a:r>
                    </a:p>
                  </a:txBody>
                  <a:tcPr marL="54000" marR="54000" marT="18000" marB="18000" anchor="ctr">
                    <a:solidFill>
                      <a:srgbClr val="F3F6FB"/>
                    </a:solidFill>
                  </a:tcPr>
                </a:tc>
                <a:tc>
                  <a:txBody>
                    <a:bodyPr wrap="square"/>
                    <a:lstStyle/>
                    <a:p>
                      <a:pPr algn="ctr"/>
                      <a:r>
                        <a:rPr sz="850" b="0">
                          <a:solidFill>
                            <a:srgbClr val="1F1F1F"/>
                          </a:solidFill>
                          <a:latin typeface="Arial"/>
                        </a:rPr>
                        <a:t>268,100</a:t>
                      </a:r>
                    </a:p>
                  </a:txBody>
                  <a:tcPr marL="54000" marR="54000" marT="18000" marB="18000" anchor="ctr">
                    <a:solidFill>
                      <a:srgbClr val="F3F6FB"/>
                    </a:solidFill>
                  </a:tcPr>
                </a:tc>
                <a:tc>
                  <a:txBody>
                    <a:bodyPr wrap="square"/>
                    <a:lstStyle/>
                    <a:p>
                      <a:pPr algn="l"/>
                      <a:r>
                        <a:rPr sz="850" b="0">
                          <a:solidFill>
                            <a:srgbClr val="1F1F1F"/>
                          </a:solidFill>
                          <a:latin typeface="Arial"/>
                        </a:rPr>
                        <a:t>jwaugh</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Hi-Lo</a:t>
                      </a:r>
                    </a:p>
                  </a:txBody>
                  <a:tcPr marL="54000" marR="54000" marT="18000" marB="18000" anchor="ctr">
                    <a:noFill/>
                  </a:tcPr>
                </a:tc>
                <a:tc>
                  <a:txBody>
                    <a:bodyPr wrap="square"/>
                    <a:lstStyle/>
                    <a:p>
                      <a:pPr algn="l"/>
                      <a:r>
                        <a:rPr sz="850" b="0">
                          <a:solidFill>
                            <a:srgbClr val="1F1F1F"/>
                          </a:solidFill>
                          <a:latin typeface="Arial"/>
                        </a:rPr>
                        <a:t>Nicole Watson</a:t>
                      </a:r>
                    </a:p>
                  </a:txBody>
                  <a:tcPr marL="54000" marR="54000" marT="18000" marB="18000" anchor="ctr">
                    <a:noFill/>
                  </a:tcPr>
                </a:tc>
                <a:tc>
                  <a:txBody>
                    <a:bodyPr wrap="square"/>
                    <a:lstStyle/>
                    <a:p>
                      <a:pPr algn="ctr"/>
                      <a:r>
                        <a:rPr sz="850" b="0">
                          <a:solidFill>
                            <a:srgbClr val="1F1F1F"/>
                          </a:solidFill>
                          <a:latin typeface="Arial"/>
                        </a:rPr>
                        <a:t>RT40</a:t>
                      </a:r>
                    </a:p>
                  </a:txBody>
                  <a:tcPr marL="54000" marR="54000" marT="18000" marB="18000" anchor="ctr">
                    <a:noFill/>
                  </a:tcPr>
                </a:tc>
                <a:tc>
                  <a:txBody>
                    <a:bodyPr wrap="square"/>
                    <a:lstStyle/>
                    <a:p>
                      <a:pPr algn="ctr"/>
                      <a:r>
                        <a:rPr sz="850" b="0">
                          <a:solidFill>
                            <a:srgbClr val="1F1F1F"/>
                          </a:solidFill>
                          <a:latin typeface="Arial"/>
                        </a:rPr>
                        <a:t>Jan 2028</a:t>
                      </a:r>
                    </a:p>
                  </a:txBody>
                  <a:tcPr marL="54000" marR="54000" marT="18000" marB="18000" anchor="ctr">
                    <a:noFill/>
                  </a:tcPr>
                </a:tc>
                <a:tc>
                  <a:txBody>
                    <a:bodyPr wrap="square"/>
                    <a:lstStyle/>
                    <a:p>
                      <a:pPr algn="ctr"/>
                      <a:r>
                        <a:rPr sz="850" b="0">
                          <a:solidFill>
                            <a:srgbClr val="1F1F1F"/>
                          </a:solidFill>
                          <a:latin typeface="Arial"/>
                        </a:rPr>
                        <a:t>24,940</a:t>
                      </a:r>
                    </a:p>
                  </a:txBody>
                  <a:tcPr marL="54000" marR="54000" marT="18000" marB="18000" anchor="ctr">
                    <a:noFill/>
                  </a:tcPr>
                </a:tc>
                <a:tc>
                  <a:txBody>
                    <a:bodyPr wrap="square"/>
                    <a:lstStyle/>
                    <a:p>
                      <a:pPr algn="l"/>
                      <a:r>
                        <a:rPr sz="850" b="0">
                          <a:solidFill>
                            <a:srgbClr val="1F1F1F"/>
                          </a:solidFill>
                          <a:latin typeface="Arial"/>
                        </a:rPr>
                        <a:t>nwatson</a:t>
                      </a:r>
                    </a:p>
                  </a:txBody>
                  <a:tcPr marL="54000" marR="54000" marT="18000" marB="18000" anchor="ctr">
                    <a:noFill/>
                  </a:tcPr>
                </a:tc>
              </a:tr>
              <a:tr h="262000">
                <a:tc>
                  <a:txBody>
                    <a:bodyPr wrap="square"/>
                    <a:lstStyle/>
                    <a:p>
                      <a:pPr algn="l"/>
                      <a:r>
                        <a:rPr sz="850" b="1">
                          <a:solidFill>
                            <a:srgbClr val="062552"/>
                          </a:solidFill>
                          <a:latin typeface="Arial"/>
                        </a:rPr>
                        <a:t>Restaurants of Jam Ltd (KFC)</a:t>
                      </a:r>
                    </a:p>
                  </a:txBody>
                  <a:tcPr marL="54000" marR="54000" marT="18000" marB="18000" anchor="ctr">
                    <a:solidFill>
                      <a:srgbClr val="F3F6FB"/>
                    </a:solidFill>
                  </a:tcPr>
                </a:tc>
                <a:tc>
                  <a:txBody>
                    <a:bodyPr wrap="square"/>
                    <a:lstStyle/>
                    <a:p>
                      <a:pPr algn="l"/>
                      <a:r>
                        <a:rPr sz="850" b="0">
                          <a:solidFill>
                            <a:srgbClr val="1F1F1F"/>
                          </a:solidFill>
                          <a:latin typeface="Arial"/>
                        </a:rPr>
                        <a:t>Tanya Williams</a:t>
                      </a:r>
                    </a:p>
                  </a:txBody>
                  <a:tcPr marL="54000" marR="54000" marT="18000" marB="18000" anchor="ctr">
                    <a:solidFill>
                      <a:srgbClr val="F3F6FB"/>
                    </a:solidFill>
                  </a:tcPr>
                </a:tc>
                <a:tc>
                  <a:txBody>
                    <a:bodyPr wrap="square"/>
                    <a:lstStyle/>
                    <a:p>
                      <a:pPr algn="ctr"/>
                      <a:r>
                        <a:rPr sz="850" b="0">
                          <a:solidFill>
                            <a:srgbClr val="1F1F1F"/>
                          </a:solidFill>
                          <a:latin typeface="Arial"/>
                        </a:rPr>
                        <a:t>RT40</a:t>
                      </a:r>
                    </a:p>
                  </a:txBody>
                  <a:tcPr marL="54000" marR="54000" marT="18000" marB="18000" anchor="ctr">
                    <a:solidFill>
                      <a:srgbClr val="F3F6FB"/>
                    </a:solidFill>
                  </a:tcPr>
                </a:tc>
                <a:tc>
                  <a:txBody>
                    <a:bodyPr wrap="square"/>
                    <a:lstStyle/>
                    <a:p>
                      <a:pPr algn="ctr"/>
                      <a:r>
                        <a:rPr sz="850" b="0">
                          <a:solidFill>
                            <a:srgbClr val="1F1F1F"/>
                          </a:solidFill>
                          <a:latin typeface="Arial"/>
                        </a:rPr>
                        <a:t>Apr 2027</a:t>
                      </a:r>
                    </a:p>
                  </a:txBody>
                  <a:tcPr marL="54000" marR="54000" marT="18000" marB="18000" anchor="ctr">
                    <a:solidFill>
                      <a:srgbClr val="F3F6FB"/>
                    </a:solidFill>
                  </a:tcPr>
                </a:tc>
                <a:tc>
                  <a:txBody>
                    <a:bodyPr wrap="square"/>
                    <a:lstStyle/>
                    <a:p>
                      <a:pPr algn="ctr"/>
                      <a:r>
                        <a:rPr sz="850" b="0">
                          <a:solidFill>
                            <a:srgbClr val="1F1F1F"/>
                          </a:solidFill>
                          <a:latin typeface="Arial"/>
                        </a:rPr>
                        <a:t>66,787</a:t>
                      </a:r>
                    </a:p>
                  </a:txBody>
                  <a:tcPr marL="54000" marR="54000" marT="18000" marB="18000" anchor="ctr">
                    <a:solidFill>
                      <a:srgbClr val="F3F6FB"/>
                    </a:solidFill>
                  </a:tcPr>
                </a:tc>
                <a:tc>
                  <a:txBody>
                    <a:bodyPr wrap="square"/>
                    <a:lstStyle/>
                    <a:p>
                      <a:pPr algn="l"/>
                      <a:r>
                        <a:rPr sz="850" b="0">
                          <a:solidFill>
                            <a:srgbClr val="1F1F1F"/>
                          </a:solidFill>
                          <a:latin typeface="Arial"/>
                        </a:rPr>
                        <a:t>tawilliams</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Restaurants of Jam Ltd (KFC)</a:t>
                      </a:r>
                    </a:p>
                  </a:txBody>
                  <a:tcPr marL="54000" marR="54000" marT="18000" marB="18000" anchor="ctr">
                    <a:noFill/>
                  </a:tcPr>
                </a:tc>
                <a:tc>
                  <a:txBody>
                    <a:bodyPr wrap="square"/>
                    <a:lstStyle/>
                    <a:p>
                      <a:pPr algn="l"/>
                      <a:r>
                        <a:rPr sz="850" b="0">
                          <a:solidFill>
                            <a:srgbClr val="1F1F1F"/>
                          </a:solidFill>
                          <a:latin typeface="Arial"/>
                        </a:rPr>
                        <a:t>Tanya Williams</a:t>
                      </a:r>
                    </a:p>
                  </a:txBody>
                  <a:tcPr marL="54000" marR="54000" marT="18000" marB="18000" anchor="ctr">
                    <a:noFill/>
                  </a:tcPr>
                </a:tc>
                <a:tc>
                  <a:txBody>
                    <a:bodyPr wrap="square"/>
                    <a:lstStyle/>
                    <a:p>
                      <a:pPr algn="ctr"/>
                      <a:r>
                        <a:rPr sz="850" b="0">
                          <a:solidFill>
                            <a:srgbClr val="1F1F1F"/>
                          </a:solidFill>
                          <a:latin typeface="Arial"/>
                        </a:rPr>
                        <a:t>RT40</a:t>
                      </a:r>
                    </a:p>
                  </a:txBody>
                  <a:tcPr marL="54000" marR="54000" marT="18000" marB="18000" anchor="ctr">
                    <a:noFill/>
                  </a:tcPr>
                </a:tc>
                <a:tc>
                  <a:txBody>
                    <a:bodyPr wrap="square"/>
                    <a:lstStyle/>
                    <a:p>
                      <a:pPr algn="ctr"/>
                      <a:r>
                        <a:rPr sz="850" b="0">
                          <a:solidFill>
                            <a:srgbClr val="1F1F1F"/>
                          </a:solidFill>
                          <a:latin typeface="Arial"/>
                        </a:rPr>
                        <a:t>Oct 2027</a:t>
                      </a:r>
                    </a:p>
                  </a:txBody>
                  <a:tcPr marL="54000" marR="54000" marT="18000" marB="18000" anchor="ctr">
                    <a:noFill/>
                  </a:tcPr>
                </a:tc>
                <a:tc>
                  <a:txBody>
                    <a:bodyPr wrap="square"/>
                    <a:lstStyle/>
                    <a:p>
                      <a:pPr algn="ctr"/>
                      <a:r>
                        <a:rPr sz="850" b="0">
                          <a:solidFill>
                            <a:srgbClr val="1F1F1F"/>
                          </a:solidFill>
                          <a:latin typeface="Arial"/>
                        </a:rPr>
                        <a:t>33,234</a:t>
                      </a:r>
                    </a:p>
                  </a:txBody>
                  <a:tcPr marL="54000" marR="54000" marT="18000" marB="18000" anchor="ctr">
                    <a:noFill/>
                  </a:tcPr>
                </a:tc>
                <a:tc>
                  <a:txBody>
                    <a:bodyPr wrap="square"/>
                    <a:lstStyle/>
                    <a:p>
                      <a:pPr algn="l"/>
                      <a:r>
                        <a:rPr sz="850" b="0">
                          <a:solidFill>
                            <a:srgbClr val="1F1F1F"/>
                          </a:solidFill>
                          <a:latin typeface="Arial"/>
                        </a:rPr>
                        <a:t>tawilliams</a:t>
                      </a:r>
                    </a:p>
                  </a:txBody>
                  <a:tcPr marL="54000" marR="54000" marT="18000" marB="18000" anchor="ctr">
                    <a:noFill/>
                  </a:tcPr>
                </a:tc>
              </a:tr>
              <a:tr h="262000">
                <a:tc>
                  <a:txBody>
                    <a:bodyPr wrap="square"/>
                    <a:lstStyle/>
                    <a:p>
                      <a:pPr algn="l"/>
                      <a:r>
                        <a:rPr sz="850" b="1">
                          <a:solidFill>
                            <a:srgbClr val="062552"/>
                          </a:solidFill>
                          <a:latin typeface="Arial"/>
                        </a:rPr>
                        <a:t>Progressive Grocers</a:t>
                      </a:r>
                    </a:p>
                  </a:txBody>
                  <a:tcPr marL="54000" marR="54000" marT="18000" marB="18000" anchor="ctr">
                    <a:solidFill>
                      <a:srgbClr val="F3F6FB"/>
                    </a:solidFill>
                  </a:tcPr>
                </a:tc>
                <a:tc>
                  <a:txBody>
                    <a:bodyPr wrap="square"/>
                    <a:lstStyle/>
                    <a:p>
                      <a:pPr algn="l"/>
                      <a:r>
                        <a:rPr sz="850" b="0">
                          <a:solidFill>
                            <a:srgbClr val="1F1F1F"/>
                          </a:solidFill>
                          <a:latin typeface="Arial"/>
                        </a:rPr>
                        <a:t>Sheryl</a:t>
                      </a:r>
                    </a:p>
                  </a:txBody>
                  <a:tcPr marL="54000" marR="54000" marT="18000" marB="18000" anchor="ctr">
                    <a:solidFill>
                      <a:srgbClr val="F3F6FB"/>
                    </a:solidFill>
                  </a:tcPr>
                </a:tc>
                <a:tc>
                  <a:txBody>
                    <a:bodyPr wrap="square"/>
                    <a:lstStyle/>
                    <a:p>
                      <a:pPr algn="ctr"/>
                      <a:r>
                        <a:rPr sz="850" b="0">
                          <a:solidFill>
                            <a:srgbClr val="1F1F1F"/>
                          </a:solidFill>
                          <a:latin typeface="Arial"/>
                        </a:rPr>
                        <a:t>RT40</a:t>
                      </a:r>
                    </a:p>
                  </a:txBody>
                  <a:tcPr marL="54000" marR="54000" marT="18000" marB="18000" anchor="ctr">
                    <a:solidFill>
                      <a:srgbClr val="F3F6FB"/>
                    </a:solidFill>
                  </a:tcPr>
                </a:tc>
                <a:tc>
                  <a:txBody>
                    <a:bodyPr wrap="square"/>
                    <a:lstStyle/>
                    <a:p>
                      <a:pPr algn="ctr"/>
                      <a:r>
                        <a:rPr sz="850" b="0">
                          <a:solidFill>
                            <a:srgbClr val="1F1F1F"/>
                          </a:solidFill>
                          <a:latin typeface="Arial"/>
                        </a:rPr>
                        <a:t>Dec 2027</a:t>
                      </a:r>
                    </a:p>
                  </a:txBody>
                  <a:tcPr marL="54000" marR="54000" marT="18000" marB="18000" anchor="ctr">
                    <a:solidFill>
                      <a:srgbClr val="F3F6FB"/>
                    </a:solidFill>
                  </a:tcPr>
                </a:tc>
                <a:tc>
                  <a:txBody>
                    <a:bodyPr wrap="square"/>
                    <a:lstStyle/>
                    <a:p>
                      <a:pPr algn="ctr"/>
                      <a:r>
                        <a:rPr sz="850" b="0">
                          <a:solidFill>
                            <a:srgbClr val="1F1F1F"/>
                          </a:solidFill>
                          <a:latin typeface="Arial"/>
                        </a:rPr>
                        <a:t>70,000</a:t>
                      </a:r>
                    </a:p>
                  </a:txBody>
                  <a:tcPr marL="54000" marR="54000" marT="18000" marB="18000" anchor="ctr">
                    <a:solidFill>
                      <a:srgbClr val="F3F6FB"/>
                    </a:solidFill>
                  </a:tcPr>
                </a:tc>
                <a:tc>
                  <a:txBody>
                    <a:bodyPr wrap="square"/>
                    <a:lstStyle/>
                    <a:p>
                      <a:pPr algn="l"/>
                      <a:r>
                        <a:rPr sz="850" b="0">
                          <a:solidFill>
                            <a:srgbClr val="1F1F1F"/>
                          </a:solidFill>
                          <a:latin typeface="Arial"/>
                        </a:rPr>
                        <a:t>shdavis</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Progressive Grocers</a:t>
                      </a:r>
                    </a:p>
                  </a:txBody>
                  <a:tcPr marL="54000" marR="54000" marT="18000" marB="18000" anchor="ctr">
                    <a:noFill/>
                  </a:tcPr>
                </a:tc>
                <a:tc>
                  <a:txBody>
                    <a:bodyPr wrap="square"/>
                    <a:lstStyle/>
                    <a:p>
                      <a:pPr algn="l"/>
                      <a:r>
                        <a:rPr sz="850" b="0">
                          <a:solidFill>
                            <a:srgbClr val="1F1F1F"/>
                          </a:solidFill>
                          <a:latin typeface="Arial"/>
                        </a:rPr>
                        <a:t>Sheryl Davis</a:t>
                      </a:r>
                    </a:p>
                  </a:txBody>
                  <a:tcPr marL="54000" marR="54000" marT="18000" marB="18000" anchor="ctr">
                    <a:noFill/>
                  </a:tcPr>
                </a:tc>
                <a:tc>
                  <a:txBody>
                    <a:bodyPr wrap="square"/>
                    <a:lstStyle/>
                    <a:p>
                      <a:pPr algn="ctr"/>
                      <a:r>
                        <a:rPr sz="850" b="0">
                          <a:solidFill>
                            <a:srgbClr val="1F1F1F"/>
                          </a:solidFill>
                          <a:latin typeface="Arial"/>
                        </a:rPr>
                        <a:t>RT40</a:t>
                      </a:r>
                    </a:p>
                  </a:txBody>
                  <a:tcPr marL="54000" marR="54000" marT="18000" marB="18000" anchor="ctr">
                    <a:noFill/>
                  </a:tcPr>
                </a:tc>
                <a:tc>
                  <a:txBody>
                    <a:bodyPr wrap="square"/>
                    <a:lstStyle/>
                    <a:p>
                      <a:pPr algn="ctr"/>
                      <a:r>
                        <a:rPr sz="850" b="0">
                          <a:solidFill>
                            <a:srgbClr val="1F1F1F"/>
                          </a:solidFill>
                          <a:latin typeface="Arial"/>
                        </a:rPr>
                        <a:t>Dec 2027</a:t>
                      </a:r>
                    </a:p>
                  </a:txBody>
                  <a:tcPr marL="54000" marR="54000" marT="18000" marB="18000" anchor="ctr">
                    <a:noFill/>
                  </a:tcPr>
                </a:tc>
                <a:tc>
                  <a:txBody>
                    <a:bodyPr wrap="square"/>
                    <a:lstStyle/>
                    <a:p>
                      <a:pPr algn="ctr"/>
                      <a:r>
                        <a:rPr sz="850" b="0">
                          <a:solidFill>
                            <a:srgbClr val="1F1F1F"/>
                          </a:solidFill>
                          <a:latin typeface="Arial"/>
                        </a:rPr>
                        <a:t>70,000</a:t>
                      </a:r>
                    </a:p>
                  </a:txBody>
                  <a:tcPr marL="54000" marR="54000" marT="18000" marB="18000" anchor="ctr">
                    <a:noFill/>
                  </a:tcPr>
                </a:tc>
                <a:tc>
                  <a:txBody>
                    <a:bodyPr wrap="square"/>
                    <a:lstStyle/>
                    <a:p>
                      <a:pPr algn="l"/>
                      <a:r>
                        <a:rPr sz="850" b="0">
                          <a:solidFill>
                            <a:srgbClr val="1F1F1F"/>
                          </a:solidFill>
                          <a:latin typeface="Arial"/>
                        </a:rPr>
                        <a:t>shdavis</a:t>
                      </a:r>
                    </a:p>
                  </a:txBody>
                  <a:tcPr marL="54000" marR="54000" marT="18000" marB="18000" anchor="ctr">
                    <a:noFill/>
                  </a:tcPr>
                </a:tc>
              </a:tr>
              <a:tr h="262000">
                <a:tc>
                  <a:txBody>
                    <a:bodyPr wrap="square"/>
                    <a:lstStyle/>
                    <a:p>
                      <a:pPr algn="l"/>
                      <a:r>
                        <a:rPr sz="850" b="1">
                          <a:solidFill>
                            <a:srgbClr val="062552"/>
                          </a:solidFill>
                          <a:latin typeface="Arial"/>
                        </a:rPr>
                        <a:t>National Water Commission</a:t>
                      </a:r>
                    </a:p>
                  </a:txBody>
                  <a:tcPr marL="54000" marR="54000" marT="18000" marB="18000" anchor="ctr">
                    <a:solidFill>
                      <a:srgbClr val="F3F6FB"/>
                    </a:solidFill>
                  </a:tcPr>
                </a:tc>
                <a:tc>
                  <a:txBody>
                    <a:bodyPr wrap="square"/>
                    <a:lstStyle/>
                    <a:p>
                      <a:pPr algn="l"/>
                      <a:r>
                        <a:rPr sz="850" b="0">
                          <a:solidFill>
                            <a:srgbClr val="1F1F1F"/>
                          </a:solidFill>
                          <a:latin typeface="Arial"/>
                        </a:rPr>
                        <a:t>Simone Chisholm</a:t>
                      </a:r>
                    </a:p>
                  </a:txBody>
                  <a:tcPr marL="54000" marR="54000" marT="18000" marB="18000" anchor="ctr">
                    <a:solidFill>
                      <a:srgbClr val="F3F6FB"/>
                    </a:solidFill>
                  </a:tcPr>
                </a:tc>
                <a:tc>
                  <a:txBody>
                    <a:bodyPr wrap="square"/>
                    <a:lstStyle/>
                    <a:p>
                      <a:pPr algn="ctr"/>
                      <a:r>
                        <a:rPr sz="850" b="0">
                          <a:solidFill>
                            <a:srgbClr val="1F1F1F"/>
                          </a:solidFill>
                          <a:latin typeface="Arial"/>
                        </a:rPr>
                        <a:t>RT40</a:t>
                      </a:r>
                    </a:p>
                  </a:txBody>
                  <a:tcPr marL="54000" marR="54000" marT="18000" marB="18000" anchor="ctr">
                    <a:solidFill>
                      <a:srgbClr val="F3F6FB"/>
                    </a:solidFill>
                  </a:tcPr>
                </a:tc>
                <a:tc>
                  <a:txBody>
                    <a:bodyPr wrap="square"/>
                    <a:lstStyle/>
                    <a:p>
                      <a:pPr algn="ctr"/>
                      <a:r>
                        <a:rPr sz="850" b="0">
                          <a:solidFill>
                            <a:srgbClr val="1F1F1F"/>
                          </a:solidFill>
                          <a:latin typeface="Arial"/>
                        </a:rPr>
                        <a:t>Feb 2027</a:t>
                      </a:r>
                    </a:p>
                  </a:txBody>
                  <a:tcPr marL="54000" marR="54000" marT="18000" marB="18000" anchor="ctr">
                    <a:solidFill>
                      <a:srgbClr val="F3F6FB"/>
                    </a:solidFill>
                  </a:tcPr>
                </a:tc>
                <a:tc>
                  <a:txBody>
                    <a:bodyPr wrap="square"/>
                    <a:lstStyle/>
                    <a:p>
                      <a:pPr algn="ctr"/>
                      <a:r>
                        <a:rPr sz="850" b="0">
                          <a:solidFill>
                            <a:srgbClr val="1F1F1F"/>
                          </a:solidFill>
                          <a:latin typeface="Arial"/>
                        </a:rPr>
                        <a:t>150,000</a:t>
                      </a:r>
                    </a:p>
                  </a:txBody>
                  <a:tcPr marL="54000" marR="54000" marT="18000" marB="18000" anchor="ctr">
                    <a:solidFill>
                      <a:srgbClr val="F3F6FB"/>
                    </a:solidFill>
                  </a:tcPr>
                </a:tc>
                <a:tc>
                  <a:txBody>
                    <a:bodyPr wrap="square"/>
                    <a:lstStyle/>
                    <a:p>
                      <a:pPr algn="l"/>
                      <a:r>
                        <a:rPr sz="850" b="0">
                          <a:solidFill>
                            <a:srgbClr val="1F1F1F"/>
                          </a:solidFill>
                          <a:latin typeface="Arial"/>
                        </a:rPr>
                        <a:t>Simone Chisholm</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Continental Baking</a:t>
                      </a:r>
                    </a:p>
                  </a:txBody>
                  <a:tcPr marL="54000" marR="54000" marT="18000" marB="18000" anchor="ctr">
                    <a:noFill/>
                  </a:tcPr>
                </a:tc>
                <a:tc>
                  <a:txBody>
                    <a:bodyPr wrap="square"/>
                    <a:lstStyle/>
                    <a:p>
                      <a:pPr algn="l"/>
                      <a:r>
                        <a:rPr sz="850" b="0">
                          <a:solidFill>
                            <a:srgbClr val="1F1F1F"/>
                          </a:solidFill>
                          <a:latin typeface="Arial"/>
                        </a:rPr>
                        <a:t>Nicole Watson</a:t>
                      </a:r>
                    </a:p>
                  </a:txBody>
                  <a:tcPr marL="54000" marR="54000" marT="18000" marB="18000" anchor="ctr">
                    <a:noFill/>
                  </a:tcPr>
                </a:tc>
                <a:tc>
                  <a:txBody>
                    <a:bodyPr wrap="square"/>
                    <a:lstStyle/>
                    <a:p>
                      <a:pPr algn="ctr"/>
                      <a:r>
                        <a:rPr sz="850" b="0">
                          <a:solidFill>
                            <a:srgbClr val="1F1F1F"/>
                          </a:solidFill>
                          <a:latin typeface="Arial"/>
                        </a:rPr>
                        <a:t>RT50</a:t>
                      </a:r>
                    </a:p>
                  </a:txBody>
                  <a:tcPr marL="54000" marR="54000" marT="18000" marB="18000" anchor="ctr">
                    <a:noFill/>
                  </a:tcPr>
                </a:tc>
                <a:tc>
                  <a:txBody>
                    <a:bodyPr wrap="square"/>
                    <a:lstStyle/>
                    <a:p>
                      <a:pPr algn="ctr"/>
                      <a:r>
                        <a:rPr sz="850" b="0">
                          <a:solidFill>
                            <a:srgbClr val="1F1F1F"/>
                          </a:solidFill>
                          <a:latin typeface="Arial"/>
                        </a:rPr>
                        <a:t>Apr 2027</a:t>
                      </a:r>
                    </a:p>
                  </a:txBody>
                  <a:tcPr marL="54000" marR="54000" marT="18000" marB="18000" anchor="ctr">
                    <a:noFill/>
                  </a:tcPr>
                </a:tc>
                <a:tc>
                  <a:txBody>
                    <a:bodyPr wrap="square"/>
                    <a:lstStyle/>
                    <a:p>
                      <a:pPr algn="ctr"/>
                      <a:r>
                        <a:rPr sz="850" b="0">
                          <a:solidFill>
                            <a:srgbClr val="1F1F1F"/>
                          </a:solidFill>
                          <a:latin typeface="Arial"/>
                        </a:rPr>
                        <a:t>133,000</a:t>
                      </a:r>
                    </a:p>
                  </a:txBody>
                  <a:tcPr marL="54000" marR="54000" marT="18000" marB="18000" anchor="ctr">
                    <a:noFill/>
                  </a:tcPr>
                </a:tc>
                <a:tc>
                  <a:txBody>
                    <a:bodyPr wrap="square"/>
                    <a:lstStyle/>
                    <a:p>
                      <a:pPr algn="l"/>
                      <a:r>
                        <a:rPr sz="850" b="0">
                          <a:solidFill>
                            <a:srgbClr val="1F1F1F"/>
                          </a:solidFill>
                          <a:latin typeface="Arial"/>
                        </a:rPr>
                        <a:t>nwatson</a:t>
                      </a:r>
                    </a:p>
                  </a:txBody>
                  <a:tcPr marL="54000" marR="54000" marT="18000" marB="18000" anchor="ctr">
                    <a:noFill/>
                  </a:tcPr>
                </a:tc>
              </a:tr>
              <a:tr h="262000">
                <a:tc>
                  <a:txBody>
                    <a:bodyPr wrap="square"/>
                    <a:lstStyle/>
                    <a:p>
                      <a:pPr algn="l"/>
                      <a:r>
                        <a:rPr sz="850" b="1">
                          <a:solidFill>
                            <a:srgbClr val="062552"/>
                          </a:solidFill>
                          <a:latin typeface="Arial"/>
                        </a:rPr>
                        <a:t>National Water Commission - Old </a:t>
                      </a:r>
                    </a:p>
                  </a:txBody>
                  <a:tcPr marL="54000" marR="54000" marT="18000" marB="18000" anchor="ctr">
                    <a:solidFill>
                      <a:srgbClr val="F3F6FB"/>
                    </a:solidFill>
                  </a:tcPr>
                </a:tc>
                <a:tc>
                  <a:txBody>
                    <a:bodyPr wrap="square"/>
                    <a:lstStyle/>
                    <a:p>
                      <a:pPr algn="l"/>
                      <a:r>
                        <a:rPr sz="850" b="0">
                          <a:solidFill>
                            <a:srgbClr val="1F1F1F"/>
                          </a:solidFill>
                          <a:latin typeface="Arial"/>
                        </a:rPr>
                        <a:t>Simone Chisholm</a:t>
                      </a:r>
                    </a:p>
                  </a:txBody>
                  <a:tcPr marL="54000" marR="54000" marT="18000" marB="18000" anchor="ctr">
                    <a:solidFill>
                      <a:srgbClr val="F3F6FB"/>
                    </a:solidFill>
                  </a:tcPr>
                </a:tc>
                <a:tc>
                  <a:txBody>
                    <a:bodyPr wrap="square"/>
                    <a:lstStyle/>
                    <a:p>
                      <a:pPr algn="ctr"/>
                      <a:r>
                        <a:rPr sz="850" b="0">
                          <a:solidFill>
                            <a:srgbClr val="1F1F1F"/>
                          </a:solidFill>
                          <a:latin typeface="Arial"/>
                        </a:rPr>
                        <a:t>RT40</a:t>
                      </a:r>
                    </a:p>
                  </a:txBody>
                  <a:tcPr marL="54000" marR="54000" marT="18000" marB="18000" anchor="ctr">
                    <a:solidFill>
                      <a:srgbClr val="F3F6FB"/>
                    </a:solidFill>
                  </a:tcPr>
                </a:tc>
                <a:tc>
                  <a:txBody>
                    <a:bodyPr wrap="square"/>
                    <a:lstStyle/>
                    <a:p>
                      <a:pPr algn="ctr"/>
                      <a:r>
                        <a:rPr sz="850" b="0">
                          <a:solidFill>
                            <a:srgbClr val="1F1F1F"/>
                          </a:solidFill>
                          <a:latin typeface="Arial"/>
                        </a:rPr>
                        <a:t>Feb 2027</a:t>
                      </a:r>
                    </a:p>
                  </a:txBody>
                  <a:tcPr marL="54000" marR="54000" marT="18000" marB="18000" anchor="ctr">
                    <a:solidFill>
                      <a:srgbClr val="F3F6FB"/>
                    </a:solidFill>
                  </a:tcPr>
                </a:tc>
                <a:tc>
                  <a:txBody>
                    <a:bodyPr wrap="square"/>
                    <a:lstStyle/>
                    <a:p>
                      <a:pPr algn="ctr"/>
                      <a:r>
                        <a:rPr sz="850" b="0">
                          <a:solidFill>
                            <a:srgbClr val="1F1F1F"/>
                          </a:solidFill>
                          <a:latin typeface="Arial"/>
                        </a:rPr>
                        <a:t>150,000</a:t>
                      </a:r>
                    </a:p>
                  </a:txBody>
                  <a:tcPr marL="54000" marR="54000" marT="18000" marB="18000" anchor="ctr">
                    <a:solidFill>
                      <a:srgbClr val="F3F6FB"/>
                    </a:solidFill>
                  </a:tcPr>
                </a:tc>
                <a:tc>
                  <a:txBody>
                    <a:bodyPr wrap="square"/>
                    <a:lstStyle/>
                    <a:p>
                      <a:pPr algn="l"/>
                      <a:r>
                        <a:rPr sz="850" b="0">
                          <a:solidFill>
                            <a:srgbClr val="1F1F1F"/>
                          </a:solidFill>
                          <a:latin typeface="Arial"/>
                        </a:rPr>
                        <a:t>Simone Chisholm</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Caribbean Broilers Pork Plant</a:t>
                      </a:r>
                    </a:p>
                  </a:txBody>
                  <a:tcPr marL="54000" marR="54000" marT="18000" marB="18000" anchor="ctr">
                    <a:noFill/>
                  </a:tcPr>
                </a:tc>
                <a:tc>
                  <a:txBody>
                    <a:bodyPr wrap="square"/>
                    <a:lstStyle/>
                    <a:p>
                      <a:pPr algn="l"/>
                      <a:r>
                        <a:rPr sz="850" b="0">
                          <a:solidFill>
                            <a:srgbClr val="1F1F1F"/>
                          </a:solidFill>
                          <a:latin typeface="Arial"/>
                        </a:rPr>
                        <a:t>Nicole Watson</a:t>
                      </a:r>
                    </a:p>
                  </a:txBody>
                  <a:tcPr marL="54000" marR="54000" marT="18000" marB="18000" anchor="ctr">
                    <a:noFill/>
                  </a:tcPr>
                </a:tc>
                <a:tc>
                  <a:txBody>
                    <a:bodyPr wrap="square"/>
                    <a:lstStyle/>
                    <a:p>
                      <a:pPr algn="ctr"/>
                      <a:r>
                        <a:rPr sz="850" b="0">
                          <a:solidFill>
                            <a:srgbClr val="1F1F1F"/>
                          </a:solidFill>
                          <a:latin typeface="Arial"/>
                        </a:rPr>
                        <a:t>RT40</a:t>
                      </a:r>
                    </a:p>
                  </a:txBody>
                  <a:tcPr marL="54000" marR="54000" marT="18000" marB="18000" anchor="ctr">
                    <a:noFill/>
                  </a:tcPr>
                </a:tc>
                <a:tc>
                  <a:txBody>
                    <a:bodyPr wrap="square"/>
                    <a:lstStyle/>
                    <a:p>
                      <a:pPr algn="ctr"/>
                      <a:r>
                        <a:rPr sz="850" b="0">
                          <a:solidFill>
                            <a:srgbClr val="1F1F1F"/>
                          </a:solidFill>
                          <a:latin typeface="Arial"/>
                        </a:rPr>
                        <a:t>Dec 2027</a:t>
                      </a:r>
                    </a:p>
                  </a:txBody>
                  <a:tcPr marL="54000" marR="54000" marT="18000" marB="18000" anchor="ctr">
                    <a:noFill/>
                  </a:tcPr>
                </a:tc>
                <a:tc>
                  <a:txBody>
                    <a:bodyPr wrap="square"/>
                    <a:lstStyle/>
                    <a:p>
                      <a:pPr algn="ctr"/>
                      <a:r>
                        <a:rPr sz="850" b="0">
                          <a:solidFill>
                            <a:srgbClr val="1F1F1F"/>
                          </a:solidFill>
                          <a:latin typeface="Arial"/>
                        </a:rPr>
                        <a:t>0</a:t>
                      </a:r>
                    </a:p>
                  </a:txBody>
                  <a:tcPr marL="54000" marR="54000" marT="18000" marB="18000" anchor="ctr">
                    <a:noFill/>
                  </a:tcPr>
                </a:tc>
                <a:tc>
                  <a:txBody>
                    <a:bodyPr wrap="square"/>
                    <a:lstStyle/>
                    <a:p>
                      <a:pPr algn="l"/>
                      <a:r>
                        <a:rPr sz="850" b="0">
                          <a:solidFill>
                            <a:srgbClr val="1F1F1F"/>
                          </a:solidFill>
                          <a:latin typeface="Arial"/>
                        </a:rPr>
                        <a:t>nwatson</a:t>
                      </a:r>
                    </a:p>
                  </a:txBody>
                  <a:tcPr marL="54000" marR="54000" marT="18000" marB="18000" anchor="ctr">
                    <a:noFill/>
                  </a:tcPr>
                </a:tc>
              </a:tr>
              <a:tr h="262000">
                <a:tc>
                  <a:txBody>
                    <a:bodyPr wrap="square"/>
                    <a:lstStyle/>
                    <a:p>
                      <a:pPr algn="l"/>
                      <a:r>
                        <a:rPr sz="850" b="1">
                          <a:solidFill>
                            <a:srgbClr val="062552"/>
                          </a:solidFill>
                          <a:latin typeface="Arial"/>
                        </a:rPr>
                        <a:t>CB Egg Farm</a:t>
                      </a:r>
                    </a:p>
                  </a:txBody>
                  <a:tcPr marL="54000" marR="54000" marT="18000" marB="18000" anchor="ctr">
                    <a:solidFill>
                      <a:srgbClr val="F3F6FB"/>
                    </a:solidFill>
                  </a:tcPr>
                </a:tc>
                <a:tc>
                  <a:txBody>
                    <a:bodyPr wrap="square"/>
                    <a:lstStyle/>
                    <a:p>
                      <a:pPr algn="l"/>
                      <a:r>
                        <a:rPr sz="850" b="0">
                          <a:solidFill>
                            <a:srgbClr val="1F1F1F"/>
                          </a:solidFill>
                          <a:latin typeface="Arial"/>
                        </a:rPr>
                        <a:t>Nicole Watson</a:t>
                      </a:r>
                    </a:p>
                  </a:txBody>
                  <a:tcPr marL="54000" marR="54000" marT="18000" marB="18000" anchor="ctr">
                    <a:solidFill>
                      <a:srgbClr val="F3F6FB"/>
                    </a:solidFill>
                  </a:tcPr>
                </a:tc>
                <a:tc>
                  <a:txBody>
                    <a:bodyPr wrap="square"/>
                    <a:lstStyle/>
                    <a:p>
                      <a:pPr algn="ctr"/>
                      <a:r>
                        <a:rPr sz="850" b="0">
                          <a:solidFill>
                            <a:srgbClr val="1F1F1F"/>
                          </a:solidFill>
                          <a:latin typeface="Arial"/>
                        </a:rPr>
                        <a:t>RT40</a:t>
                      </a:r>
                    </a:p>
                  </a:txBody>
                  <a:tcPr marL="54000" marR="54000" marT="18000" marB="18000" anchor="ctr">
                    <a:solidFill>
                      <a:srgbClr val="F3F6FB"/>
                    </a:solidFill>
                  </a:tcPr>
                </a:tc>
                <a:tc>
                  <a:txBody>
                    <a:bodyPr wrap="square"/>
                    <a:lstStyle/>
                    <a:p>
                      <a:pPr algn="ctr"/>
                      <a:r>
                        <a:rPr sz="850" b="0">
                          <a:solidFill>
                            <a:srgbClr val="1F1F1F"/>
                          </a:solidFill>
                          <a:latin typeface="Arial"/>
                        </a:rPr>
                        <a:t>Jan 2027</a:t>
                      </a:r>
                    </a:p>
                  </a:txBody>
                  <a:tcPr marL="54000" marR="54000" marT="18000" marB="18000" anchor="ctr">
                    <a:solidFill>
                      <a:srgbClr val="F3F6FB"/>
                    </a:solidFill>
                  </a:tcPr>
                </a:tc>
                <a:tc>
                  <a:txBody>
                    <a:bodyPr wrap="square"/>
                    <a:lstStyle/>
                    <a:p>
                      <a:pPr algn="ctr"/>
                      <a:r>
                        <a:rPr sz="850" b="0">
                          <a:solidFill>
                            <a:srgbClr val="1F1F1F"/>
                          </a:solidFill>
                          <a:latin typeface="Arial"/>
                        </a:rPr>
                        <a:t>132,000</a:t>
                      </a:r>
                    </a:p>
                  </a:txBody>
                  <a:tcPr marL="54000" marR="54000" marT="18000" marB="18000" anchor="ctr">
                    <a:solidFill>
                      <a:srgbClr val="F3F6FB"/>
                    </a:solidFill>
                  </a:tcPr>
                </a:tc>
                <a:tc>
                  <a:txBody>
                    <a:bodyPr wrap="square"/>
                    <a:lstStyle/>
                    <a:p>
                      <a:pPr algn="l"/>
                      <a:r>
                        <a:rPr sz="850" b="0">
                          <a:solidFill>
                            <a:srgbClr val="1F1F1F"/>
                          </a:solidFill>
                          <a:latin typeface="Arial"/>
                        </a:rPr>
                        <a:t>nwatson</a:t>
                      </a:r>
                    </a:p>
                  </a:txBody>
                  <a:tcPr marL="54000" marR="54000" marT="18000" marB="18000" anchor="ctr">
                    <a:solidFill>
                      <a:srgbClr val="F3F6FB"/>
                    </a:solidFill>
                  </a:tcPr>
                </a:tc>
              </a:tr>
              <a:tr h="262000">
                <a:tc>
                  <a:txBody>
                    <a:bodyPr wrap="square"/>
                    <a:lstStyle/>
                    <a:p>
                      <a:pPr algn="l"/>
                      <a:r>
                        <a:rPr sz="850" b="1">
                          <a:solidFill>
                            <a:srgbClr val="062552"/>
                          </a:solidFill>
                          <a:latin typeface="Arial"/>
                        </a:rPr>
                        <a:t>Price Smart</a:t>
                      </a:r>
                    </a:p>
                  </a:txBody>
                  <a:tcPr marL="54000" marR="54000" marT="18000" marB="18000" anchor="ctr">
                    <a:noFill/>
                  </a:tcPr>
                </a:tc>
                <a:tc>
                  <a:txBody>
                    <a:bodyPr wrap="square"/>
                    <a:lstStyle/>
                    <a:p>
                      <a:pPr algn="l"/>
                      <a:r>
                        <a:rPr sz="850" b="0">
                          <a:solidFill>
                            <a:srgbClr val="1F1F1F"/>
                          </a:solidFill>
                          <a:latin typeface="Arial"/>
                        </a:rPr>
                        <a:t>Ewan Pitter</a:t>
                      </a:r>
                    </a:p>
                  </a:txBody>
                  <a:tcPr marL="54000" marR="54000" marT="18000" marB="18000" anchor="ctr">
                    <a:noFill/>
                  </a:tcPr>
                </a:tc>
                <a:tc>
                  <a:txBody>
                    <a:bodyPr wrap="square"/>
                    <a:lstStyle/>
                    <a:p>
                      <a:pPr algn="ctr"/>
                      <a:r>
                        <a:rPr sz="850" b="0">
                          <a:solidFill>
                            <a:srgbClr val="1F1F1F"/>
                          </a:solidFill>
                          <a:latin typeface="Arial"/>
                        </a:rPr>
                        <a:t>RT40</a:t>
                      </a:r>
                    </a:p>
                  </a:txBody>
                  <a:tcPr marL="54000" marR="54000" marT="18000" marB="18000" anchor="ctr">
                    <a:noFill/>
                  </a:tcPr>
                </a:tc>
                <a:tc>
                  <a:txBody>
                    <a:bodyPr wrap="square"/>
                    <a:lstStyle/>
                    <a:p>
                      <a:pPr algn="ctr"/>
                      <a:r>
                        <a:rPr sz="850" b="0">
                          <a:solidFill>
                            <a:srgbClr val="1F1F1F"/>
                          </a:solidFill>
                          <a:latin typeface="Arial"/>
                        </a:rPr>
                        <a:t>Nov 2026</a:t>
                      </a:r>
                    </a:p>
                  </a:txBody>
                  <a:tcPr marL="54000" marR="54000" marT="18000" marB="18000" anchor="ctr">
                    <a:noFill/>
                  </a:tcPr>
                </a:tc>
                <a:tc>
                  <a:txBody>
                    <a:bodyPr wrap="square"/>
                    <a:lstStyle/>
                    <a:p>
                      <a:pPr algn="ctr"/>
                      <a:r>
                        <a:rPr sz="850" b="0">
                          <a:solidFill>
                            <a:srgbClr val="1F1F1F"/>
                          </a:solidFill>
                          <a:latin typeface="Arial"/>
                        </a:rPr>
                        <a:t>258,000</a:t>
                      </a:r>
                    </a:p>
                  </a:txBody>
                  <a:tcPr marL="54000" marR="54000" marT="18000" marB="18000" anchor="ctr">
                    <a:noFill/>
                  </a:tcPr>
                </a:tc>
                <a:tc>
                  <a:txBody>
                    <a:bodyPr wrap="square"/>
                    <a:lstStyle/>
                    <a:p>
                      <a:pPr algn="l"/>
                      <a:r>
                        <a:rPr sz="850" b="0">
                          <a:solidFill>
                            <a:srgbClr val="1F1F1F"/>
                          </a:solidFill>
                          <a:latin typeface="Arial"/>
                        </a:rPr>
                        <a:t>jwaugh</a:t>
                      </a:r>
                    </a:p>
                  </a:txBody>
                  <a:tcPr marL="54000" marR="54000" marT="18000" marB="18000" anchor="ctr">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812" y="493325"/>
            <a:ext cx="11000000" cy="523220"/>
          </a:xfrm>
          <a:prstGeom prst="rect">
            <a:avLst/>
          </a:prstGeom>
          <a:noFill/>
        </p:spPr>
        <p:txBody>
          <a:bodyPr wrap="square" lIns="0" rIns="0" tIns="0" bIns="0" anchor="t">
            <a:spAutoFit/>
          </a:bodyPr>
          <a:lstStyle/>
          <a:p>
            <a:pPr algn="l"/>
            <a:r>
              <a:rPr sz="2800" b="1">
                <a:solidFill>
                  <a:srgbClr val="062552"/>
                </a:solidFill>
                <a:latin typeface="Arial"/>
              </a:rPr>
              <a:t>Next Steps</a:t>
            </a:r>
          </a:p>
        </p:txBody>
      </p:sp>
      <p:sp>
        <p:nvSpPr>
          <p:cNvPr id="3" name="TextBox 2"/>
          <p:cNvSpPr txBox="1"/>
          <p:nvPr/>
        </p:nvSpPr>
        <p:spPr>
          <a:xfrm>
            <a:off x="815243" y="1079336"/>
            <a:ext cx="11200000" cy="330000"/>
          </a:xfrm>
          <a:prstGeom prst="rect">
            <a:avLst/>
          </a:prstGeom>
          <a:noFill/>
        </p:spPr>
        <p:txBody>
          <a:bodyPr wrap="square" lIns="0" rIns="0" tIns="0" bIns="0" anchor="t">
            <a:spAutoFit/>
          </a:bodyPr>
          <a:lstStyle/>
          <a:p>
            <a:pPr algn="l"/>
            <a:r>
              <a:rPr sz="1600" b="1">
                <a:solidFill>
                  <a:srgbClr val="0E4E95"/>
                </a:solidFill>
                <a:latin typeface="Arial"/>
              </a:rPr>
              <a:t>Return the workbook, and we rebuild the forecast with your changes</a:t>
            </a:r>
          </a:p>
        </p:txBody>
      </p:sp>
      <p:sp>
        <p:nvSpPr>
          <p:cNvPr id="4" name="TextBox 3"/>
          <p:cNvSpPr txBox="1"/>
          <p:nvPr/>
        </p:nvSpPr>
        <p:spPr>
          <a:xfrm>
            <a:off x="469231" y="6411345"/>
            <a:ext cx="6621379" cy="266676"/>
          </a:xfrm>
          <a:prstGeom prst="rect">
            <a:avLst/>
          </a:prstGeom>
          <a:noFill/>
        </p:spPr>
        <p:txBody>
          <a:bodyPr wrap="square" lIns="0" rIns="0" tIns="0" bIns="0" anchor="t">
            <a:spAutoFit/>
          </a:bodyPr>
          <a:lstStyle/>
          <a:p>
            <a:pPr algn="l"/>
            <a:r>
              <a:rPr sz="900" b="1">
                <a:solidFill>
                  <a:srgbClr val="062552"/>
                </a:solidFill>
                <a:latin typeface="Arial"/>
              </a:rPr>
              <a:t>Jamaica Public Service | Key Account Forecast Review | October 2026</a:t>
            </a:r>
          </a:p>
        </p:txBody>
      </p:sp>
      <p:sp>
        <p:nvSpPr>
          <p:cNvPr id="5" name="TextBox 4"/>
          <p:cNvSpPr txBox="1"/>
          <p:nvPr/>
        </p:nvSpPr>
        <p:spPr>
          <a:xfrm>
            <a:off x="186473" y="6413496"/>
            <a:ext cx="287140" cy="265842"/>
          </a:xfrm>
          <a:prstGeom prst="rect">
            <a:avLst/>
          </a:prstGeom>
          <a:noFill/>
        </p:spPr>
        <p:txBody>
          <a:bodyPr wrap="square" lIns="0" rIns="0" tIns="0" bIns="0" anchor="t">
            <a:spAutoFit/>
          </a:bodyPr>
          <a:lstStyle/>
          <a:p>
            <a:pPr algn="l"/>
            <a:r>
              <a:rPr sz="900" b="1">
                <a:solidFill>
                  <a:srgbClr val="062552"/>
                </a:solidFill>
                <a:latin typeface="Arial"/>
              </a:rPr>
              <a:t>16</a:t>
            </a:r>
          </a:p>
        </p:txBody>
      </p:sp>
      <p:sp>
        <p:nvSpPr>
          <p:cNvPr id="6" name="Oval 5"/>
          <p:cNvSpPr/>
          <p:nvPr/>
        </p:nvSpPr>
        <p:spPr>
          <a:xfrm>
            <a:off x="400000" y="1950000"/>
            <a:ext cx="330000" cy="330000"/>
          </a:xfrm>
          <a:prstGeom prst="ellipse">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7" name="TextBox 6"/>
          <p:cNvSpPr txBox="1"/>
          <p:nvPr/>
        </p:nvSpPr>
        <p:spPr>
          <a:xfrm>
            <a:off x="900000" y="1940000"/>
            <a:ext cx="10800000" cy="800000"/>
          </a:xfrm>
          <a:prstGeom prst="rect">
            <a:avLst/>
          </a:prstGeom>
          <a:noFill/>
        </p:spPr>
        <p:txBody>
          <a:bodyPr wrap="square" lIns="0" rIns="0" tIns="0" bIns="0" anchor="t">
            <a:spAutoFit/>
          </a:bodyPr>
          <a:lstStyle/>
          <a:p>
            <a:pPr algn="l"/>
            <a:r>
              <a:rPr sz="1200" b="1">
                <a:solidFill>
                  <a:srgbClr val="062552"/>
                </a:solidFill>
                <a:latin typeface="Arial"/>
              </a:rPr>
              <a:t>Review your sheets</a:t>
            </a:r>
          </a:p>
          <a:p>
            <a:pPr algn="l"/>
            <a:r>
              <a:rPr sz="1200" b="0">
                <a:solidFill>
                  <a:srgbClr val="1F1F1F"/>
                </a:solidFill>
                <a:latin typeface="Arial"/>
              </a:rPr>
              <a:t>Adjustments, Permanent or temporary, New customers and Portfolio forecast. Respond in the yellow columns.</a:t>
            </a:r>
          </a:p>
        </p:txBody>
      </p:sp>
      <p:sp>
        <p:nvSpPr>
          <p:cNvPr id="8" name="Oval 7"/>
          <p:cNvSpPr/>
          <p:nvPr/>
        </p:nvSpPr>
        <p:spPr>
          <a:xfrm>
            <a:off x="400000" y="2900000"/>
            <a:ext cx="330000" cy="330000"/>
          </a:xfrm>
          <a:prstGeom prst="ellipse">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9" name="TextBox 8"/>
          <p:cNvSpPr txBox="1"/>
          <p:nvPr/>
        </p:nvSpPr>
        <p:spPr>
          <a:xfrm>
            <a:off x="900000" y="2890000"/>
            <a:ext cx="10800000" cy="800000"/>
          </a:xfrm>
          <a:prstGeom prst="rect">
            <a:avLst/>
          </a:prstGeom>
          <a:noFill/>
        </p:spPr>
        <p:txBody>
          <a:bodyPr wrap="square" lIns="0" rIns="0" tIns="0" bIns="0" anchor="t">
            <a:spAutoFit/>
          </a:bodyPr>
          <a:lstStyle/>
          <a:p>
            <a:pPr algn="l"/>
            <a:r>
              <a:rPr sz="1200" b="1">
                <a:solidFill>
                  <a:srgbClr val="062552"/>
                </a:solidFill>
                <a:latin typeface="Arial"/>
              </a:rPr>
              <a:t>Explain the misses</a:t>
            </a:r>
          </a:p>
          <a:p>
            <a:pPr algn="l"/>
            <a:r>
              <a:rPr sz="1200" b="0">
                <a:solidFill>
                  <a:srgbClr val="1F1F1F"/>
                </a:solidFill>
                <a:latin typeface="Arial"/>
              </a:rPr>
              <a:t>Add the reason for each account that missed in September, in the Sept account misses sheet.</a:t>
            </a:r>
          </a:p>
        </p:txBody>
      </p:sp>
      <p:sp>
        <p:nvSpPr>
          <p:cNvPr id="10" name="Oval 9"/>
          <p:cNvSpPr/>
          <p:nvPr/>
        </p:nvSpPr>
        <p:spPr>
          <a:xfrm>
            <a:off x="400000" y="3850000"/>
            <a:ext cx="330000" cy="330000"/>
          </a:xfrm>
          <a:prstGeom prst="ellipse">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11" name="TextBox 10"/>
          <p:cNvSpPr txBox="1"/>
          <p:nvPr/>
        </p:nvSpPr>
        <p:spPr>
          <a:xfrm>
            <a:off x="900000" y="3840000"/>
            <a:ext cx="10800000" cy="800000"/>
          </a:xfrm>
          <a:prstGeom prst="rect">
            <a:avLst/>
          </a:prstGeom>
          <a:noFill/>
        </p:spPr>
        <p:txBody>
          <a:bodyPr wrap="square" lIns="0" rIns="0" tIns="0" bIns="0" anchor="t">
            <a:spAutoFit/>
          </a:bodyPr>
          <a:lstStyle/>
          <a:p>
            <a:pPr algn="l"/>
            <a:r>
              <a:rPr sz="1200" b="1">
                <a:solidFill>
                  <a:srgbClr val="062552"/>
                </a:solidFill>
                <a:latin typeface="Arial"/>
              </a:rPr>
              <a:t>Return the workbook</a:t>
            </a:r>
          </a:p>
          <a:p>
            <a:pPr algn="l"/>
            <a:r>
              <a:rPr sz="1200" b="0">
                <a:solidFill>
                  <a:srgbClr val="1F1F1F"/>
                </a:solidFill>
                <a:latin typeface="Arial"/>
              </a:rPr>
              <a:t>Date to be agreed at this meeting.</a:t>
            </a:r>
          </a:p>
        </p:txBody>
      </p:sp>
      <p:sp>
        <p:nvSpPr>
          <p:cNvPr id="12" name="Oval 11"/>
          <p:cNvSpPr/>
          <p:nvPr/>
        </p:nvSpPr>
        <p:spPr>
          <a:xfrm>
            <a:off x="400000" y="4800000"/>
            <a:ext cx="330000" cy="330000"/>
          </a:xfrm>
          <a:prstGeom prst="ellipse">
            <a:avLst/>
          </a:prstGeom>
          <a:solidFill>
            <a:srgbClr val="0E4E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13" name="TextBox 12"/>
          <p:cNvSpPr txBox="1"/>
          <p:nvPr/>
        </p:nvSpPr>
        <p:spPr>
          <a:xfrm>
            <a:off x="900000" y="4790000"/>
            <a:ext cx="10800000" cy="800000"/>
          </a:xfrm>
          <a:prstGeom prst="rect">
            <a:avLst/>
          </a:prstGeom>
          <a:noFill/>
        </p:spPr>
        <p:txBody>
          <a:bodyPr wrap="square" lIns="0" rIns="0" tIns="0" bIns="0" anchor="t">
            <a:spAutoFit/>
          </a:bodyPr>
          <a:lstStyle/>
          <a:p>
            <a:pPr algn="l"/>
            <a:r>
              <a:rPr sz="1200" b="1">
                <a:solidFill>
                  <a:srgbClr val="062552"/>
                </a:solidFill>
                <a:latin typeface="Arial"/>
              </a:rPr>
              <a:t>We rebuild the forecast</a:t>
            </a:r>
          </a:p>
          <a:p>
            <a:pPr algn="l"/>
            <a:r>
              <a:rPr sz="1200" b="0">
                <a:solidFill>
                  <a:srgbClr val="1F1F1F"/>
                </a:solidFill>
                <a:latin typeface="Arial"/>
              </a:rPr>
              <a:t>Your changes go into the register, and we share the updated portfolio forecast and accuracy for sign-off.</a:t>
            </a:r>
          </a:p>
        </p:txBody>
      </p:sp>
    </p:spTree>
  </p:cSld>
  <p:clrMapOvr>
    <a:masterClrMapping/>
  </p:clrMapOvr>
</p:sld>
</file>

<file path=ppt/theme/theme1.xml><?xml version="1.0" encoding="utf-8"?>
<a:theme xmlns:a="http://schemas.openxmlformats.org/drawingml/2006/main" name="2_Office Theme">
  <a:themeElements>
    <a:clrScheme name="JPS Brand Template">
      <a:dk1>
        <a:srgbClr val="000000"/>
      </a:dk1>
      <a:lt1>
        <a:srgbClr val="FFFFFF"/>
      </a:lt1>
      <a:dk2>
        <a:srgbClr val="44546A"/>
      </a:dk2>
      <a:lt2>
        <a:srgbClr val="F1F1F1"/>
      </a:lt2>
      <a:accent1>
        <a:srgbClr val="0C4D94"/>
      </a:accent1>
      <a:accent2>
        <a:srgbClr val="052351"/>
      </a:accent2>
      <a:accent3>
        <a:srgbClr val="FFFFFF"/>
      </a:accent3>
      <a:accent4>
        <a:srgbClr val="FFEF00"/>
      </a:accent4>
      <a:accent5>
        <a:srgbClr val="009ED9"/>
      </a:accent5>
      <a:accent6>
        <a:srgbClr val="96CF59"/>
      </a:accent6>
      <a:hlink>
        <a:srgbClr val="0563C1"/>
      </a:hlink>
      <a:folHlink>
        <a:srgbClr val="0E71D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 Brand Refresh Template" id="{7C8E15AC-222E-724A-A53D-B2E92DA2A17C}" vid="{C57CD149-FEBD-8948-BAE4-30C91AE6FBA9}"/>
    </a:ext>
  </a:extLst>
</a:theme>
</file>

<file path=ppt/theme/theme2.xml><?xml version="1.0" encoding="utf-8"?>
<a:theme xmlns:a="http://schemas.openxmlformats.org/drawingml/2006/main" name="3_Office Theme">
  <a:themeElements>
    <a:clrScheme name="JPS Brand Template">
      <a:dk1>
        <a:srgbClr val="000000"/>
      </a:dk1>
      <a:lt1>
        <a:srgbClr val="FFFFFF"/>
      </a:lt1>
      <a:dk2>
        <a:srgbClr val="44546A"/>
      </a:dk2>
      <a:lt2>
        <a:srgbClr val="F1F1F1"/>
      </a:lt2>
      <a:accent1>
        <a:srgbClr val="0C4D94"/>
      </a:accent1>
      <a:accent2>
        <a:srgbClr val="052351"/>
      </a:accent2>
      <a:accent3>
        <a:srgbClr val="FFFFFF"/>
      </a:accent3>
      <a:accent4>
        <a:srgbClr val="FFEF00"/>
      </a:accent4>
      <a:accent5>
        <a:srgbClr val="009ED9"/>
      </a:accent5>
      <a:accent6>
        <a:srgbClr val="96CF59"/>
      </a:accent6>
      <a:hlink>
        <a:srgbClr val="0563C1"/>
      </a:hlink>
      <a:folHlink>
        <a:srgbClr val="0E71D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 Brand Refresh Template" id="{7C8E15AC-222E-724A-A53D-B2E92DA2A17C}" vid="{C57CD149-FEBD-8948-BAE4-30C91AE6FBA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744B4A84E6C5409DBF05FF78BE7F0B" ma:contentTypeVersion="4" ma:contentTypeDescription="Create a new document." ma:contentTypeScope="" ma:versionID="b983b02e7cdb56be63a93b09d6b717ff">
  <xsd:schema xmlns:xsd="http://www.w3.org/2001/XMLSchema" xmlns:xs="http://www.w3.org/2001/XMLSchema" xmlns:p="http://schemas.microsoft.com/office/2006/metadata/properties" xmlns:ns2="9883ab80-12e9-41c2-bd94-a272ffd3ca7e" targetNamespace="http://schemas.microsoft.com/office/2006/metadata/properties" ma:root="true" ma:fieldsID="1e1105fb426fbd486b49c7c7b4a6f378" ns2:_="">
    <xsd:import namespace="9883ab80-12e9-41c2-bd94-a272ffd3ca7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83ab80-12e9-41c2-bd94-a272ffd3ca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1D070C-532B-4F38-8F34-94EBA70592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83ab80-12e9-41c2-bd94-a272ffd3ca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0A3CDE6-5B82-4249-A385-54374AE91900}">
  <ds:schemaRefs>
    <ds:schemaRef ds:uri="http://schemas.microsoft.com/office/2006/documentManagement/types"/>
    <ds:schemaRef ds:uri="http://schemas.microsoft.com/office/2006/metadata/properties"/>
    <ds:schemaRef ds:uri="http://purl.org/dc/elements/1.1/"/>
    <ds:schemaRef ds:uri="http://purl.org/dc/terms/"/>
    <ds:schemaRef ds:uri="9883ab80-12e9-41c2-bd94-a272ffd3ca7e"/>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63C8149-0B23-431D-B6D4-EB90E7BC0F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1757</TotalTime>
  <Words>7203</Words>
  <Application>Microsoft Office PowerPoint</Application>
  <PresentationFormat>Widescreen</PresentationFormat>
  <Paragraphs>1062</Paragraphs>
  <Slides>41</Slides>
  <Notes>26</Notes>
  <HiddenSlides>0</HiddenSlides>
  <MMClips>0</MMClips>
  <ScaleCrop>false</ScaleCrop>
  <HeadingPairs>
    <vt:vector size="8" baseType="variant">
      <vt:variant>
        <vt:lpstr>Fonts Used</vt:lpstr>
      </vt:variant>
      <vt:variant>
        <vt:i4>14</vt:i4>
      </vt:variant>
      <vt:variant>
        <vt:lpstr>Theme</vt:lpstr>
      </vt:variant>
      <vt:variant>
        <vt:i4>2</vt:i4>
      </vt:variant>
      <vt:variant>
        <vt:lpstr>Links</vt:lpstr>
      </vt:variant>
      <vt:variant>
        <vt:i4>14</vt:i4>
      </vt:variant>
      <vt:variant>
        <vt:lpstr>Slide Titles</vt:lpstr>
      </vt:variant>
      <vt:variant>
        <vt:i4>41</vt:i4>
      </vt:variant>
    </vt:vector>
  </HeadingPairs>
  <TitlesOfParts>
    <vt:vector size="71" baseType="lpstr">
      <vt:lpstr>Aileron</vt:lpstr>
      <vt:lpstr>Aileron Bold</vt:lpstr>
      <vt:lpstr>Aptos</vt:lpstr>
      <vt:lpstr>Aptos Black</vt:lpstr>
      <vt:lpstr>Arial</vt:lpstr>
      <vt:lpstr>Arial Black</vt:lpstr>
      <vt:lpstr>Calibri</vt:lpstr>
      <vt:lpstr>Georgia</vt:lpstr>
      <vt:lpstr>Gotham</vt:lpstr>
      <vt:lpstr>Gotham Bold</vt:lpstr>
      <vt:lpstr>Gotham Book</vt:lpstr>
      <vt:lpstr>Gotham Heavy</vt:lpstr>
      <vt:lpstr>Montserrat</vt:lpstr>
      <vt:lpstr>Times New Roman</vt:lpstr>
      <vt:lpstr>2_Office Theme</vt:lpstr>
      <vt:lpstr>3_Office Theme</vt:lpstr>
      <vt:lpstr>file:///\\jps.net\orgshare\FinRptg2\2026\FinMod%202026\2026%20LE\09%20-%202026\Copy%20of%20Presentation%20PL%20-%20Sep%202026%20LE%20(v6).xlsx!Waterfall%20-%20NI%20%20(Stand%20alone)!R12C8:R26C26</vt:lpstr>
      <vt:lpstr>file:///\\jps.net\orgshare\FinRptg2\2026\FinMod%202026\2026%20NonFuel%20Variance\Non%20Fuel%20Variance%20September%202026.xlsx!Non%20Fuel%20Revenue!R37C6:R55C21</vt:lpstr>
      <vt:lpstr>file:///\\jps.net\orgshare\FinRptg2\2026\FinMod%202026\2026%20LE\09%20-%202026\Financial%20Summary%20-%20September%202026%20%20LE.xlsx!Fuel%20Summary!R5C3:R25C9</vt:lpstr>
      <vt:lpstr>file:///\\jps.net\orgshare\FinRptg2\2026\FinMod%202026\2026%20LE\09%20-%202026\Financial%20Summary%20-%20September%202026%20%20LE.xlsx!Bad%20Debt%20Provision!R4C1:R11C9</vt:lpstr>
      <vt:lpstr>file:///\\jps.net\orgshare\FinRptg2\2026\FinMod%202026\2026%20LE\09%20-%202026\Financial%20Summary%20-%20September%202026%20%20LE.xlsx!Presentation%20Balance%20Sheet!R4C1:R41C6</vt:lpstr>
      <vt:lpstr>file:///\\jps.net\orgshare\FinRptg2\2026\FinMod%202026\2026%20LE\09%20-%202026\Financial%20Summary%20-%20September%202026%20%20LE.xlsx!Presentation%20Cash%20Flow!R3C1:R24C9</vt:lpstr>
      <vt:lpstr>file:///\\jps.net\orgshare\FinRptg2\2026\FinMod%202026\2026%20LE\09%20-%202026\Financial%20Summary%20-%20September%202026%20%20LE.xlsx!Monhtly_FX%20Trend%20!%5bFinancial%20Summary%20-%20September%202026%20%20LE.xlsx%5dMonhtly_FX%20Trend%20%20Chart%207</vt:lpstr>
      <vt:lpstr>file:///\\jps.net\orgshare\FinRptg2\2026\FinMod%202026\2026%20Cash%20Flow\09.%20Cash%20Flow%20September%202026%20LE\Cash%20Flow%20-%20%20September%202026.xlsx!Base%20Case!R7C1:R46C30</vt:lpstr>
      <vt:lpstr>file:///\\jps.net\orgshare\FinRptg2\2026\FinMod%202026\2026%20LE\09%20-%202026\Financial%20Summary%20-%20September%202026%20%20LE_V2.xlsx!Dashboard%20(Standalone)!R4C1:R21C10</vt:lpstr>
      <vt:lpstr>file:///\\jps.net\orgshare\FinRptg2\2026\FinMod%202026\2026%20LE\09%20-%202026\Financial%20Summary%20-%20September%202026%20%20LE_V2.xlsx!FX%20Impact!R4C3:R27C17</vt:lpstr>
      <vt:lpstr>file:///\\jps.net\orgshare\FinRptg2\2026\FinMod%202026\2026%20LE\09%20-%202026\Financial%20Summary%20-%20September%202026%20%20LE_V2.xlsx!Presentation%20P&amp;L%20(Stand%20alone)!R75C1:R104C21</vt:lpstr>
      <vt:lpstr>file:///\\jps.net\orgshare\FinRptg2\2026\FinMod%202026\2026%20LE\09%20-%202026\Financial%20Summary%20-%20September%202026%20%20LE_V2.xlsx!Presentation%20P&amp;L%20(Stand%20alone)!R4C1:R47C21</vt:lpstr>
      <vt:lpstr>file:///\\jps.net\orgshare\FinRptg2\2026\FinMod%202026\2026%20LE\09%20-%202026\Financial%20Summary%20-%20September%202026%20%20LE_V2.xlsx!Other%20Operating%20Revenue!R2C2:R20C8</vt:lpstr>
      <vt:lpstr>file:///\\jps.net\orgshare\FinRptg2\2026\FinMod%202026\2026%20LE\09%20-%202026\Financial%20Summary%20-%20September%202026%20%20LE_V2.xlsx!Waterfall%20-%20NI%20%20(Stand%20alone)!R32C7:R75C23</vt:lpstr>
      <vt:lpstr>Corporate Performance Report</vt:lpstr>
      <vt:lpstr>PowerPoint Presentation</vt:lpstr>
      <vt:lpstr>PowerPoint Presentation</vt:lpstr>
      <vt:lpstr>Financial Highlights</vt:lpstr>
      <vt:lpstr>PowerPoint Presentation</vt:lpstr>
      <vt:lpstr>PowerPoint Presentation</vt:lpstr>
      <vt:lpstr>PowerPoint Presentation</vt:lpstr>
      <vt:lpstr>PowerPoint Presentation</vt:lpstr>
      <vt:lpstr>PowerPoint Presentation</vt:lpstr>
      <vt:lpstr>PowerPoint Presentation</vt:lpstr>
      <vt:lpstr>Operational  Expenditure</vt:lpstr>
      <vt:lpstr>PowerPoint Presentation</vt:lpstr>
      <vt:lpstr>PowerPoint Presentation</vt:lpstr>
      <vt:lpstr>PowerPoint Presentation</vt:lpstr>
      <vt:lpstr>Capital  Expenditure</vt:lpstr>
      <vt:lpstr>PowerPoint Presentation</vt:lpstr>
      <vt:lpstr>PowerPoint Presentation</vt:lpstr>
      <vt:lpstr>Cash Flow and  Funding Outlook</vt:lpstr>
      <vt:lpstr>PowerPoint Presentation</vt:lpstr>
      <vt:lpstr>PowerPoint Presentation</vt:lpstr>
      <vt:lpstr>Business Performance</vt:lpstr>
      <vt:lpstr>PowerPoint Presentation</vt:lpstr>
      <vt:lpstr>PowerPoint Presentation</vt:lpstr>
      <vt:lpstr>PowerPoint Presentation</vt:lpstr>
      <vt:lpstr>PowerPoint Presentation</vt:lpstr>
      <vt:lpstr>PowerPoint Presentation</vt:lpstr>
      <vt:lpstr>Appendices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Jamaica Public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Performance Report</dc:title>
  <dc:creator>Nickisha Chin</dc:creator>
  <cp:lastModifiedBy>Jordache Wilson</cp:lastModifiedBy>
  <cp:revision>33</cp:revision>
  <cp:lastPrinted>2026-07-16T19:03:44Z</cp:lastPrinted>
  <dcterms:created xsi:type="dcterms:W3CDTF">2026-06-04T14:47:53Z</dcterms:created>
  <dcterms:modified xsi:type="dcterms:W3CDTF">2026-10-14T22:20:04Z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0x01010098744B4A84E6C5409DBF05FF78BE7F0B</vt:lpwstr>
  </property>
</Properties>
</file>