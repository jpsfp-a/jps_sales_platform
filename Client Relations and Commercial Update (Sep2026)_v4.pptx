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4" r:id="rId5"/>
    <p:sldMasterId id="2147483666" r:id="rId6"/>
    <p:sldMasterId id="2147483668" r:id="rId7"/>
    <p:sldMasterId id="2147483671" r:id="rId8"/>
  </p:sldMasterIdLst>
  <p:notesMasterIdLst>
    <p:notesMasterId r:id="rId16"/>
  </p:notesMasterIdLst>
  <p:sldIdLst>
    <p:sldId id="281" r:id="rId24"/>
    <p:sldId id="273" r:id="rId9"/>
    <p:sldId id="276" r:id="rId13"/>
    <p:sldId id="279" r:id="rId22"/>
    <p:sldId id="275" r:id="rId12"/>
    <p:sldId id="277" r:id="rId14"/>
    <p:sldId id="280" r:id="rId23"/>
    <p:sldId id="278" r:id="rId15"/>
    <p:sldId id="265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83684F-A723-ABDF-0A2A-01B597A4C65C}" name="Mario Ashman" initials="MA" userId="S::mashman@jpsco.com::1081a874-2d6a-4896-999d-9f9eca258b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CC"/>
    <a:srgbClr val="C98A00"/>
    <a:srgbClr val="1E8C5A"/>
    <a:srgbClr val="009ED9"/>
    <a:srgbClr val="FFFF00"/>
    <a:srgbClr val="05235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64112" autoAdjust="0"/>
  </p:normalViewPr>
  <p:slideViewPr>
    <p:cSldViewPr snapToGrid="0">
      <p:cViewPr varScale="1">
        <p:scale>
          <a:sx n="44" d="100"/>
          <a:sy n="44" d="100"/>
        </p:scale>
        <p:origin x="13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8/10/relationships/authors" Target="authors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1-1651-432C-A8A5-B50FCEBA4FF8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1651-432C-A8A5-B50FCEBA4FF8}"/>
              </c:ext>
            </c:extLst>
          </c:dPt>
          <c:dPt>
            <c:idx val="2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5-1651-432C-A8A5-B50FCEBA4FF8}"/>
              </c:ext>
            </c:extLst>
          </c:dPt>
          <c:dPt>
            <c:idx val="3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7-1651-432C-A8A5-B50FCEBA4FF8}"/>
              </c:ext>
            </c:extLst>
          </c:dPt>
          <c:dPt>
            <c:idx val="4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9-1651-432C-A8A5-B50FCEBA4FF8}"/>
              </c:ext>
            </c:extLst>
          </c:dPt>
          <c:dPt>
            <c:idx val="5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B-1651-432C-A8A5-B50FCEBA4FF8}"/>
              </c:ext>
            </c:extLst>
          </c:dPt>
          <c:dPt>
            <c:idx val="6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D-1651-432C-A8A5-B50FCEBA4FF8}"/>
              </c:ext>
            </c:extLst>
          </c:dPt>
          <c:dPt>
            <c:idx val="7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F-1651-432C-A8A5-B50FCEBA4FF8}"/>
              </c:ext>
            </c:extLst>
          </c:dPt>
          <c:dPt>
            <c:idx val="8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11-1651-432C-A8A5-B50FCEBA4FF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11.8</c:v>
                </c:pt>
                <c:pt idx="1">
                  <c:v>3.8</c:v>
                </c:pt>
                <c:pt idx="2">
                  <c:v>2.4</c:v>
                </c:pt>
                <c:pt idx="3">
                  <c:v>7.2</c:v>
                </c:pt>
                <c:pt idx="4">
                  <c:v>2.2000000000000002</c:v>
                </c:pt>
                <c:pt idx="5">
                  <c:v>3.1</c:v>
                </c:pt>
                <c:pt idx="6">
                  <c:v>10.9</c:v>
                </c:pt>
                <c:pt idx="7">
                  <c:v>4.8</c:v>
                </c:pt>
                <c:pt idx="8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61-5B40-AC40-6390558165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1-80A3-42BF-9B40-55E925115526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80A3-42BF-9B40-55E925115526}"/>
              </c:ext>
            </c:extLst>
          </c:dPt>
          <c:dPt>
            <c:idx val="2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5-80A3-42BF-9B40-55E925115526}"/>
              </c:ext>
            </c:extLst>
          </c:dPt>
          <c:dPt>
            <c:idx val="3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7-80A3-42BF-9B40-55E925115526}"/>
              </c:ext>
            </c:extLst>
          </c:dPt>
          <c:dPt>
            <c:idx val="4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9-80A3-42BF-9B40-55E925115526}"/>
              </c:ext>
            </c:extLst>
          </c:dPt>
          <c:dPt>
            <c:idx val="5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B-80A3-42BF-9B40-55E925115526}"/>
              </c:ext>
            </c:extLst>
          </c:dPt>
          <c:dPt>
            <c:idx val="6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D-80A3-42BF-9B40-55E925115526}"/>
              </c:ext>
            </c:extLst>
          </c:dPt>
          <c:dPt>
            <c:idx val="7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F-80A3-42BF-9B40-55E925115526}"/>
              </c:ext>
            </c:extLst>
          </c:dPt>
          <c:dPt>
            <c:idx val="8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11-80A3-42BF-9B40-55E92511552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11.8</c:v>
                </c:pt>
                <c:pt idx="1">
                  <c:v>3.8</c:v>
                </c:pt>
                <c:pt idx="2">
                  <c:v>2.4</c:v>
                </c:pt>
                <c:pt idx="3">
                  <c:v>7.2</c:v>
                </c:pt>
                <c:pt idx="4">
                  <c:v>2.2000000000000002</c:v>
                </c:pt>
                <c:pt idx="5">
                  <c:v>3.1</c:v>
                </c:pt>
                <c:pt idx="6">
                  <c:v>10.9</c:v>
                </c:pt>
                <c:pt idx="7">
                  <c:v>4.8</c:v>
                </c:pt>
                <c:pt idx="8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AC-7045-844D-EF41ADA6B8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3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PAC Kingston</c:v>
                </c:pt>
                <c:pt idx="1">
                  <c:v>Princess Resorts</c:v>
                </c:pt>
                <c:pt idx="2">
                  <c:v>Dreams (Hilton)</c:v>
                </c:pt>
                <c:pt idx="3">
                  <c:v>Royalton ×2</c:v>
                </c:pt>
                <c:pt idx="4">
                  <c:v>Moon Palace</c:v>
                </c:pt>
                <c:pt idx="5">
                  <c:v>MBJ Airport</c:v>
                </c:pt>
                <c:pt idx="6">
                  <c:v>Iberostar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256</c:v>
                </c:pt>
                <c:pt idx="1">
                  <c:v>300</c:v>
                </c:pt>
                <c:pt idx="2">
                  <c:v>365</c:v>
                </c:pt>
                <c:pt idx="3">
                  <c:v>487</c:v>
                </c:pt>
                <c:pt idx="4">
                  <c:v>590</c:v>
                </c:pt>
                <c:pt idx="5">
                  <c:v>602</c:v>
                </c:pt>
                <c:pt idx="6">
                  <c:v>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79-8341-AE9A-6AE00A826F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8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1-D262-4A12-8F80-74BA90D0434E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D262-4A12-8F80-74BA90D0434E}"/>
              </c:ext>
            </c:extLst>
          </c:dPt>
          <c:dPt>
            <c:idx val="2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5-D262-4A12-8F80-74BA90D0434E}"/>
              </c:ext>
            </c:extLst>
          </c:dPt>
          <c:dPt>
            <c:idx val="3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7-D262-4A12-8F80-74BA90D0434E}"/>
              </c:ext>
            </c:extLst>
          </c:dPt>
          <c:dPt>
            <c:idx val="4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9-D262-4A12-8F80-74BA90D0434E}"/>
              </c:ext>
            </c:extLst>
          </c:dPt>
          <c:dPt>
            <c:idx val="5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B-D262-4A12-8F80-74BA90D0434E}"/>
              </c:ext>
            </c:extLst>
          </c:dPt>
          <c:dPt>
            <c:idx val="6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D-D262-4A12-8F80-74BA90D0434E}"/>
              </c:ext>
            </c:extLst>
          </c:dPt>
          <c:dPt>
            <c:idx val="7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F-D262-4A12-8F80-74BA90D0434E}"/>
              </c:ext>
            </c:extLst>
          </c:dPt>
          <c:dPt>
            <c:idx val="8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11-D262-4A12-8F80-74BA90D0434E}"/>
              </c:ext>
            </c:extLst>
          </c:dPt>
          <c:dLbls>
            <c:numFmt formatCode="\+0.0;\−0.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Distilleries</c:v>
                </c:pt>
                <c:pt idx="1">
                  <c:v>Food manufacturing</c:v>
                </c:pt>
                <c:pt idx="2">
                  <c:v>Hospitals</c:v>
                </c:pt>
                <c:pt idx="3">
                  <c:v>Cement</c:v>
                </c:pt>
                <c:pt idx="4">
                  <c:v>Telecoms</c:v>
                </c:pt>
                <c:pt idx="5">
                  <c:v>Poultry</c:v>
                </c:pt>
                <c:pt idx="6">
                  <c:v>Water, irrigation</c:v>
                </c:pt>
                <c:pt idx="7">
                  <c:v>Hotels and motels</c:v>
                </c:pt>
                <c:pt idx="8">
                  <c:v>Mining (incl. Alcoa)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</c:v>
                </c:pt>
                <c:pt idx="1">
                  <c:v>0.8</c:v>
                </c:pt>
                <c:pt idx="2">
                  <c:v>0.7</c:v>
                </c:pt>
                <c:pt idx="3">
                  <c:v>0.4</c:v>
                </c:pt>
                <c:pt idx="4">
                  <c:v>-1.2</c:v>
                </c:pt>
                <c:pt idx="5">
                  <c:v>-2.1</c:v>
                </c:pt>
                <c:pt idx="6">
                  <c:v>-2.4</c:v>
                </c:pt>
                <c:pt idx="7">
                  <c:v>-3.7</c:v>
                </c:pt>
                <c:pt idx="8">
                  <c:v>-7.2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56-494C-A056-B9C7D178B6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4"/>
          <c:min val="-9.1999999999999993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1-0233-4C2D-B486-59C383846BE7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0233-4C2D-B486-59C383846BE7}"/>
              </c:ext>
            </c:extLst>
          </c:dPt>
          <c:dPt>
            <c:idx val="2"/>
            <c:invertIfNegative val="1"/>
            <c:bubble3D val="0"/>
            <c:spPr>
              <a:solidFill>
                <a:srgbClr val="6B7785"/>
              </a:solidFill>
            </c:spPr>
            <c:extLst>
              <c:ext xmlns:c16="http://schemas.microsoft.com/office/drawing/2014/chart" uri="{C3380CC4-5D6E-409C-BE32-E72D297353CC}">
                <c16:uniqueId val="{00000005-0233-4C2D-B486-59C383846BE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 2026
6 hotels</c:v>
                </c:pt>
                <c:pt idx="1">
                  <c:v>H1 2027
8 hotels</c:v>
                </c:pt>
                <c:pt idx="2">
                  <c:v>2028
1 hotel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1.78</c:v>
                </c:pt>
                <c:pt idx="1">
                  <c:v>2.27</c:v>
                </c:pt>
                <c:pt idx="2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DE-1341-BB26-A684C4DD5A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tx>
          <c:spPr>
            <a:solidFill>
              <a:srgbClr val="009FDA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Distilleries</c:v>
                </c:pt>
                <c:pt idx="1">
                  <c:v>Food manufacturing</c:v>
                </c:pt>
                <c:pt idx="2">
                  <c:v>Hospitals</c:v>
                </c:pt>
                <c:pt idx="3">
                  <c:v>Cement</c:v>
                </c:pt>
                <c:pt idx="4">
                  <c:v>Telecoms</c:v>
                </c:pt>
                <c:pt idx="5">
                  <c:v>Poultry</c:v>
                </c:pt>
                <c:pt idx="6">
                  <c:v>Water, irrigation</c:v>
                </c:pt>
                <c:pt idx="7">
                  <c:v>Hotels and motels</c:v>
                </c:pt>
                <c:pt idx="8">
                  <c:v>Mining (incl. Alcoa)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5.266000000000002</c:v>
                </c:pt>
                <c:pt idx="1">
                  <c:v>4.342999999999996</c:v>
                </c:pt>
                <c:pt idx="2">
                  <c:v>3.633999999999997</c:v>
                </c:pt>
                <c:pt idx="3">
                  <c:v>7.308000000000007</c:v>
                </c:pt>
                <c:pt idx="4">
                  <c:v>-4.777999999999999</c:v>
                </c:pt>
                <c:pt idx="5">
                  <c:v>-2.642999999999997</c:v>
                </c:pt>
                <c:pt idx="6">
                  <c:v>-8.50800000000001</c:v>
                </c:pt>
                <c:pt idx="7">
                  <c:v>-11.149000000000001</c:v>
                </c:pt>
                <c:pt idx="8">
                  <c:v>-3.159000000000006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062552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Distilleries</c:v>
                </c:pt>
                <c:pt idx="1">
                  <c:v>Food manufacturing</c:v>
                </c:pt>
                <c:pt idx="2">
                  <c:v>Hospitals</c:v>
                </c:pt>
                <c:pt idx="3">
                  <c:v>Cement</c:v>
                </c:pt>
                <c:pt idx="4">
                  <c:v>Telecoms</c:v>
                </c:pt>
                <c:pt idx="5">
                  <c:v>Poultry</c:v>
                </c:pt>
                <c:pt idx="6">
                  <c:v>Water, irrigation</c:v>
                </c:pt>
                <c:pt idx="7">
                  <c:v>Hotels and motels</c:v>
                </c:pt>
                <c:pt idx="8">
                  <c:v>Mining (incl. Alcoa)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0.8740000000000001</c:v>
                </c:pt>
                <c:pt idx="1">
                  <c:v>0.815</c:v>
                </c:pt>
                <c:pt idx="2">
                  <c:v>0.7449999999999997</c:v>
                </c:pt>
                <c:pt idx="3">
                  <c:v>0.4220000000000006</c:v>
                </c:pt>
                <c:pt idx="4">
                  <c:v>-1.2169999999999996</c:v>
                </c:pt>
                <c:pt idx="5">
                  <c:v>-2.112</c:v>
                </c:pt>
                <c:pt idx="6">
                  <c:v>-2.4190000000000005</c:v>
                </c:pt>
                <c:pt idx="7">
                  <c:v>-3.7129999999999974</c:v>
                </c:pt>
                <c:pt idx="8">
                  <c:v>-7.219999999999999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7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none"/>
        <c:minorTickMark val="none"/>
        <c:tickLblPos val="none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Commercial total</c:v>
                </c:pt>
              </c:strCache>
            </c:strRef>
          </c:tx>
          <c:spPr>
            <a:ln w="28575">
              <a:solidFill>
                <a:srgbClr val="062552"/>
              </a:solidFill>
            </a:ln>
          </c:spPr>
          <c:marker>
            <c:spPr>
              <a:solidFill>
                <a:srgbClr val="062552"/>
              </a:solidFill>
              <a:ln>
                <a:solidFill>
                  <a:srgbClr val="062552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-14.130671033463804</c:v>
                </c:pt>
                <c:pt idx="1">
                  <c:v>-16.258757021179292</c:v>
                </c:pt>
                <c:pt idx="2">
                  <c:v>-4.3995452775207555</c:v>
                </c:pt>
                <c:pt idx="3">
                  <c:v>-4.916167467365029</c:v>
                </c:pt>
                <c:pt idx="4">
                  <c:v>3.6295806117216722</c:v>
                </c:pt>
                <c:pt idx="5">
                  <c:v>-4.033534737266398</c:v>
                </c:pt>
                <c:pt idx="6">
                  <c:v>-2.657403298090344</c:v>
                </c:pt>
                <c:pt idx="7">
                  <c:v>-3.744421898931627</c:v>
                </c:pt>
                <c:pt idx="8">
                  <c:v>-5.848770546903204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Hotels</c:v>
                </c:pt>
              </c:strCache>
            </c:strRef>
          </c:tx>
          <c:spPr>
            <a:ln w="28575">
              <a:solidFill>
                <a:srgbClr val="C00000"/>
              </a:solidFill>
            </a:ln>
          </c:spPr>
          <c:marker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-31.16647265740119</c:v>
                </c:pt>
                <c:pt idx="1">
                  <c:v>-36.65258149373758</c:v>
                </c:pt>
                <c:pt idx="2">
                  <c:v>-23.367535844894604</c:v>
                </c:pt>
                <c:pt idx="3">
                  <c:v>-25.373240054476465</c:v>
                </c:pt>
                <c:pt idx="4">
                  <c:v>-20.60509934590251</c:v>
                </c:pt>
                <c:pt idx="5">
                  <c:v>-27.554060522002455</c:v>
                </c:pt>
                <c:pt idx="6">
                  <c:v>-23.08002475212557</c:v>
                </c:pt>
                <c:pt idx="7">
                  <c:v>-21.206372766944504</c:v>
                </c:pt>
                <c:pt idx="8">
                  <c:v>-19.2037064492539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Water supply</c:v>
                </c:pt>
              </c:strCache>
            </c:strRef>
          </c:tx>
          <c:spPr>
            <a:ln w="28575">
              <a:solidFill>
                <a:srgbClr val="009FDA"/>
              </a:solidFill>
            </a:ln>
          </c:spPr>
          <c:marker>
            <c:spPr>
              <a:solidFill>
                <a:srgbClr val="009FDA"/>
              </a:solidFill>
              <a:ln>
                <a:solidFill>
                  <a:srgbClr val="009FDA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-20.978759609608765</c:v>
                </c:pt>
                <c:pt idx="1">
                  <c:v>-20.58586912857715</c:v>
                </c:pt>
                <c:pt idx="2">
                  <c:v>-14.244901625736617</c:v>
                </c:pt>
                <c:pt idx="3">
                  <c:v>-11.605030658153614</c:v>
                </c:pt>
                <c:pt idx="4">
                  <c:v>-3.7129081860995727</c:v>
                </c:pt>
                <c:pt idx="5">
                  <c:v>-5.744862304930365</c:v>
                </c:pt>
                <c:pt idx="6">
                  <c:v>-2.5955808099030753</c:v>
                </c:pt>
                <c:pt idx="7">
                  <c:v>-1.212392103571458</c:v>
                </c:pt>
                <c:pt idx="8">
                  <c:v>-0.6328617955215665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.0"/>
          <c:min val="-40.0"/>
        </c:scaling>
        <c:delete val="0"/>
        <c:axPos val="l"/>
        <c:majorGridlines>
          <c:spPr>
            <a:ln>
              <a:solidFill>
                <a:srgbClr val="D9E1F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F4709-F812-034D-AC3F-8BAC9F3E7E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74F39-87EF-FC4F-BF56-84027A0A6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7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TALKING POINTS</a:t>
            </a:r>
          </a:p>
          <a:p>
            <a:r>
              <a:rPr dirty="0"/>
              <a:t>This slide reports Client Relations and Commercial in three parts: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how we protect key accounts through service and reliability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what we are losing or at risk of losing to self-generation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how commercial revenue is tracking.</a:t>
            </a:r>
            <a:endParaRPr lang="en-US" dirty="0"/>
          </a:p>
          <a:p>
            <a:pPr marL="0" indent="0">
              <a:buFontTx/>
              <a:buNone/>
            </a:pPr>
            <a:endParaRPr lang="en-JM" dirty="0"/>
          </a:p>
          <a:p>
            <a:pPr marL="0" indent="0">
              <a:buFontTx/>
              <a:buNone/>
            </a:pPr>
            <a:r>
              <a:rPr dirty="0"/>
              <a:t>The bottom band shows how we will build the commercial model from January 2027.</a:t>
            </a:r>
          </a:p>
          <a:p>
            <a:pPr marL="171450" indent="-171450">
              <a:buFontTx/>
              <a:buChar char="-"/>
            </a:pPr>
            <a:r>
              <a:rPr dirty="0"/>
              <a:t>Protect: service to our largest customers is on target.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Top-50 accounts averaged 1.8 hours per sustained outage in September, the best month of 2026;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January reflects Hurricane Melissa restoration and July the 610-hour </a:t>
            </a:r>
            <a:r>
              <a:rPr dirty="0" err="1"/>
              <a:t>Windalco</a:t>
            </a:r>
            <a:r>
              <a:rPr dirty="0"/>
              <a:t> </a:t>
            </a:r>
            <a:r>
              <a:rPr dirty="0" err="1"/>
              <a:t>Ewarton</a:t>
            </a:r>
            <a:r>
              <a:rPr dirty="0"/>
              <a:t> outage.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 All four engagement KPIs were met and stakeholder engagement is at 305% of the year-to-date target.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The five Negril resorts behind 468 interruptions have had their issues resolved.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Twelve customer issues were open at 1 October, seven for more than ten days, including the power-quality cases at KFTL, Pepsi and Red Stripe that the COO is leading.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Ahead of hotel reopenings the team is checking supply, reliability and capacity with tourism customers.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Outages and power quality are among the reasons Dreams, Moon Palace and Royalton gave for self-generating.</a:t>
            </a:r>
          </a:p>
          <a:p>
            <a:endParaRPr lang="en-US" dirty="0"/>
          </a:p>
          <a:p>
            <a:r>
              <a:rPr dirty="0"/>
              <a:t>Retain: J$4.16 billion of revenue is at risk across 18 accounts.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In September PAC Kingston took a further 4 MW of solar live and Alcoa's TG4 returned it to self-generation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 err="1"/>
              <a:t>Windalco</a:t>
            </a:r>
            <a:r>
              <a:rPr dirty="0"/>
              <a:t> </a:t>
            </a:r>
            <a:r>
              <a:rPr dirty="0" err="1"/>
              <a:t>Kirkvine</a:t>
            </a:r>
            <a:r>
              <a:rPr dirty="0"/>
              <a:t> follows in October (about 30% less load).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Royalton is evaluating JPS as its main backup, a J$487 million win-back.</a:t>
            </a:r>
          </a:p>
          <a:p>
            <a:endParaRPr lang="en-US" dirty="0"/>
          </a:p>
          <a:p>
            <a:r>
              <a:rPr dirty="0"/>
              <a:t>Grow: commercial sales were 6.3% below budget, with RT40 to RT70 15.2 GWh short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Alcoa and Caribbean Broilers' billing timing explain 8.3 GWh.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Account-level forecast accuracy for large customers was 60%.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2027 pipeline is J$1.17 billion and 1,982 hotel rooms reopen in December.</a:t>
            </a:r>
          </a:p>
          <a:p>
            <a:endParaRPr lang="en-US" dirty="0"/>
          </a:p>
          <a:p>
            <a:r>
              <a:rPr dirty="0"/>
              <a:t>From January 2027 we build the commercial model: commercial leadership and a weekly deal desk, the Commercial Academy, a priced revenue-at-risk register in February, Tier 1 commercial offers in March, standby and hybrid riders filed with the OUR and a shadow revenue scorecard for key account executives in Q2.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Contents now list every section, including the MyJPS App slide that was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Protect</a:t>
            </a:r>
            <a:r>
              <a:rPr dirty="0"/>
              <a:t>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Monthly outage duration for top-50 accounts fell to 1.8 hours in September, the best month of the year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January and July spikes reflect Hurricane Melissa restoration and the 610-hour </a:t>
            </a:r>
            <a:r>
              <a:rPr dirty="0" err="1"/>
              <a:t>Windalco</a:t>
            </a:r>
            <a:r>
              <a:rPr dirty="0"/>
              <a:t> </a:t>
            </a:r>
            <a:r>
              <a:rPr dirty="0" err="1"/>
              <a:t>Ewarton</a:t>
            </a:r>
            <a:r>
              <a:rPr dirty="0"/>
              <a:t> outage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Tourism accounts made up half of all interruptions, mainly five Negril resorts, now resolved through feeder, transmission and vegetation wor</a:t>
            </a:r>
            <a:r>
              <a:rPr lang="en-US" dirty="0"/>
              <a:t>k</a:t>
            </a:r>
          </a:p>
          <a:p>
            <a:pPr marL="171450" indent="-171450">
              <a:buFontTx/>
              <a:buChar char="-"/>
            </a:pPr>
            <a:r>
              <a:rPr lang="en-US" dirty="0"/>
              <a:t>M</a:t>
            </a:r>
            <a:r>
              <a:rPr dirty="0"/>
              <a:t>anufacturing was 32%, led by </a:t>
            </a:r>
            <a:r>
              <a:rPr dirty="0" err="1"/>
              <a:t>Alpart</a:t>
            </a:r>
            <a:r>
              <a:rPr dirty="0"/>
              <a:t>. 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dirty="0"/>
              <a:t>Engagement KPIs are all at or above target. 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dirty="0"/>
              <a:t>Twelve customer issues were open at 1 October: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</a:t>
            </a:r>
            <a:r>
              <a:rPr dirty="0"/>
              <a:t>ix voltage or power quality, two outage response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</a:t>
            </a:r>
            <a:r>
              <a:rPr dirty="0"/>
              <a:t>wo billing and two line or site works; three more were closed in the week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Seven have been open more than ten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Retain</a:t>
            </a:r>
            <a:r>
              <a:rPr dirty="0"/>
              <a:t>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</a:t>
            </a:r>
            <a:r>
              <a:rPr dirty="0"/>
              <a:t>ccounts at the planning stage, where engagement and offers can still change the decision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Customers cite energy cost and power quality as the main reasons for self-generating (Excellence also cites reliability; Sutherland cites cost), with sustainability goals a growing 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Grow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Commercial sales (RT20 to RT70) were 180.2 GWh against a 192.4 GWh budget.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gap is in RT40 to RT70 (15.2 GWh below budget)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</a:t>
            </a:r>
            <a:r>
              <a:rPr dirty="0"/>
              <a:t>mall commercial ran 3.0 GWh above.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Alcoa's move to self-generation (6.5 GWh) and Caribbean Broilers' billing timing (1.8 GWh) explain 8.3 GWh.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Alcoa billing is confirmed as import-only. </a:t>
            </a:r>
            <a:endParaRPr lang="en-US" dirty="0"/>
          </a:p>
          <a:p>
            <a:pPr marL="171450" lvl="0" indent="-171450">
              <a:buFontTx/>
              <a:buChar char="-"/>
            </a:pPr>
            <a:r>
              <a:rPr dirty="0"/>
              <a:t>Account-level forecast accuracy for large customers was 60%.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12.2 GWh shortfall.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Grow</a:t>
            </a:r>
            <a:r>
              <a:rPr dirty="0"/>
              <a:t>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Fifteen hotels with 5,018 rooms closed after Hurricane Melissa, worth about J$4.52 billion a year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1,982 rooms return in December, 2,524 in the first half of 2027 and 512 in 2028.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Hotel sales were 3.7 GWh below budget in September.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New load in 2026 totals 25.67 GWh across six projects, and the 2027 pipeline is J$1.17 billion across 13 projects, of which NWC is three projects and 18.53 GWh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JM" dirty="0"/>
              <a:t>T</a:t>
            </a:r>
            <a:r>
              <a:rPr dirty="0" err="1"/>
              <a:t>ourism</a:t>
            </a:r>
            <a:r>
              <a:rPr dirty="0"/>
              <a:t> and housing are The Pinnacle, Gore and HAJ. NWC is both the largest growth opportunity and on the defection watchlist, so the relationship needs a joint energy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commercial model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K</a:t>
            </a:r>
            <a:r>
              <a:rPr dirty="0"/>
              <a:t>eep everything that makes the team's service strong and add the capabilities to own revenue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JM" dirty="0"/>
              <a:t>P</a:t>
            </a:r>
            <a:r>
              <a:rPr dirty="0"/>
              <a:t>riced offers designed with Engineering, a revenue-at-risk register, KAE-owned forecasts and commercial KPIs.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build starts in January 2027 with commercial leadership, a weekly deal desk and the Commercial Academy.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revenue-at-risk register follows in February and Tier 1 commercial offers in March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JM" dirty="0"/>
              <a:t>S</a:t>
            </a:r>
            <a:r>
              <a:rPr dirty="0" err="1"/>
              <a:t>tandby</a:t>
            </a:r>
            <a:r>
              <a:rPr dirty="0"/>
              <a:t> and hybrid riders are filed with the OUR </a:t>
            </a:r>
            <a:r>
              <a:rPr lang="en-US" dirty="0"/>
              <a:t>(TBD: Dependent on rate case submission)</a:t>
            </a:r>
          </a:p>
          <a:p>
            <a:pPr marL="628650" lvl="1" indent="-171450">
              <a:buFontTx/>
              <a:buChar char="-"/>
            </a:pPr>
            <a:r>
              <a:rPr dirty="0"/>
              <a:t>KPIs also start in shadow mode before becoming targets. </a:t>
            </a:r>
            <a:endParaRPr lang="en-US" dirty="0"/>
          </a:p>
          <a:p>
            <a:pPr marL="0" lvl="0" indent="0">
              <a:buFontTx/>
              <a:buNone/>
            </a:pPr>
            <a:endParaRPr lang="en-JM" dirty="0"/>
          </a:p>
          <a:p>
            <a:pPr marL="0" lvl="0" indent="0">
              <a:buFontTx/>
              <a:buNone/>
            </a:pPr>
            <a:r>
              <a:rPr lang="en-JM" dirty="0"/>
              <a:t>ELT ask will be to </a:t>
            </a:r>
            <a:r>
              <a:rPr dirty="0"/>
              <a:t>support flexible contracting with key accounts and reliability investment on key-account feeders.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RT40 to RT70, January to September 2026 against 2025. Non-fuel revenue ties to billing components (energy, demand, customer charge). Retention is measured on accounts billed in both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Outlook figures are the held forecast by rate class. The monthly series is billed commercial sales (RT20 to RT70), hotel customers and water supply customers, 2026 against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message: volume is recovering, but revenue is concentrated in a few large accounts that can leave the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chemeClr val="accent4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12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64" y="753395"/>
            <a:ext cx="9144000" cy="72247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264" y="1660944"/>
            <a:ext cx="9144000" cy="62964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ptos ExtraBold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30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49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ransition Slide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D68B-9D38-D375-0E0B-E71B45CF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0"/>
            <a:ext cx="10515600" cy="285273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Separator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A4C5-586B-46CD-F4E4-A44AA15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2185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D76-F7F7-44F4-0928-16192EA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DF8654-4A5A-410F-70D5-0CB8DD014DC0}"/>
              </a:ext>
            </a:extLst>
          </p:cNvPr>
          <p:cNvSpPr/>
          <p:nvPr userDrawn="1"/>
        </p:nvSpPr>
        <p:spPr>
          <a:xfrm>
            <a:off x="418641" y="2002631"/>
            <a:ext cx="234787" cy="2852737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77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Slid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E64-907E-2DFA-F136-C1E5CDC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894C-98E2-34B4-5B80-C191EDBE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F8B9-305F-D62C-1E11-AD8FA8B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4DC9-7F3E-7532-D80E-54314305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589295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F5E3-F3CF-1106-B32E-82CAC70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0033CA9-4BE9-FDD0-037D-C73A3E682E1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15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8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A39AC746-0F8C-8731-3C35-4469604CC322}"/>
              </a:ext>
            </a:extLst>
          </p:cNvPr>
          <p:cNvGrpSpPr/>
          <p:nvPr userDrawn="1"/>
        </p:nvGrpSpPr>
        <p:grpSpPr>
          <a:xfrm>
            <a:off x="0" y="0"/>
            <a:ext cx="8021053" cy="6858000"/>
            <a:chOff x="0" y="0"/>
            <a:chExt cx="3694747" cy="270933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7BE17A93-7FBF-2E2F-8B58-82E731C41C76}"/>
                </a:ext>
              </a:extLst>
            </p:cNvPr>
            <p:cNvSpPr/>
            <p:nvPr/>
          </p:nvSpPr>
          <p:spPr>
            <a:xfrm>
              <a:off x="0" y="0"/>
              <a:ext cx="3694747" cy="2709333"/>
            </a:xfrm>
            <a:custGeom>
              <a:avLst/>
              <a:gdLst/>
              <a:ahLst/>
              <a:cxnLst/>
              <a:rect l="l" t="t" r="r" b="b"/>
              <a:pathLst>
                <a:path w="3694747" h="2709333">
                  <a:moveTo>
                    <a:pt x="0" y="0"/>
                  </a:moveTo>
                  <a:lnTo>
                    <a:pt x="3694747" y="0"/>
                  </a:lnTo>
                  <a:lnTo>
                    <a:pt x="369474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C60A4">
                    <a:alpha val="100000"/>
                  </a:srgbClr>
                </a:gs>
                <a:gs pos="100000">
                  <a:srgbClr val="06255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4F536023-7B7E-5E02-7BDB-8029957D9838}"/>
                </a:ext>
              </a:extLst>
            </p:cNvPr>
            <p:cNvSpPr txBox="1"/>
            <p:nvPr/>
          </p:nvSpPr>
          <p:spPr>
            <a:xfrm>
              <a:off x="0" y="-38100"/>
              <a:ext cx="369474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20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ple Samp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1C56-D50C-E00F-A566-6510789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Timeline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7EFC4-7E64-FCB0-691D-3FEA22FB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733249" cy="399264"/>
          </a:xfrm>
        </p:spPr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3FA75-D5B7-7721-506F-2C139D3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DA6D51-0096-3EF2-8EA8-65807A921332}"/>
              </a:ext>
            </a:extLst>
          </p:cNvPr>
          <p:cNvGrpSpPr/>
          <p:nvPr userDrawn="1"/>
        </p:nvGrpSpPr>
        <p:grpSpPr>
          <a:xfrm>
            <a:off x="1202571" y="2143158"/>
            <a:ext cx="946844" cy="971454"/>
            <a:chOff x="0" y="-14473"/>
            <a:chExt cx="556826" cy="571299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AAF412B-C6FB-58D8-CD2A-88EAEA032B0D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3ADC7E24-88FE-D365-A98D-C65B6F5E92A0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868748-0B27-5CDD-AE5C-4800B2233183}"/>
              </a:ext>
            </a:extLst>
          </p:cNvPr>
          <p:cNvGrpSpPr/>
          <p:nvPr userDrawn="1"/>
        </p:nvGrpSpPr>
        <p:grpSpPr>
          <a:xfrm>
            <a:off x="8714997" y="4262647"/>
            <a:ext cx="2457578" cy="1776564"/>
            <a:chOff x="0" y="-28575"/>
            <a:chExt cx="3276771" cy="2368753"/>
          </a:xfrm>
        </p:grpSpPr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4A229842-87A8-33EA-DE8E-2C0A9FB39D2E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2015</a:t>
              </a:r>
            </a:p>
          </p:txBody>
        </p: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50297581-D24E-B736-C2E3-1E629C725569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,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0D0A38-4D5E-6B41-7A74-4C009A0B102E}"/>
              </a:ext>
            </a:extLst>
          </p:cNvPr>
          <p:cNvGrpSpPr/>
          <p:nvPr userDrawn="1"/>
        </p:nvGrpSpPr>
        <p:grpSpPr>
          <a:xfrm>
            <a:off x="451184" y="4262647"/>
            <a:ext cx="2457578" cy="1776564"/>
            <a:chOff x="0" y="-28575"/>
            <a:chExt cx="3276771" cy="2368753"/>
          </a:xfrm>
        </p:grpSpPr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335BCA9-845D-3C1C-61E6-EA2B82CF218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1980</a:t>
              </a:r>
            </a:p>
          </p:txBody>
        </p:sp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C400E550-EB0D-905B-3FC9-7AF480269C46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7EB83-DA75-A735-2374-55CEFCA42838}"/>
              </a:ext>
            </a:extLst>
          </p:cNvPr>
          <p:cNvGrpSpPr/>
          <p:nvPr userDrawn="1"/>
        </p:nvGrpSpPr>
        <p:grpSpPr>
          <a:xfrm>
            <a:off x="3205788" y="4262647"/>
            <a:ext cx="2457578" cy="1776564"/>
            <a:chOff x="0" y="-28575"/>
            <a:chExt cx="3276771" cy="2368753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158044-E681-9E6D-315D-1E5F8C79133F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1981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7B544EC8-4E09-2AFA-C2AA-5438BD21479A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EBEFF6-F57A-9EE1-EE47-A067270E2CCC}"/>
              </a:ext>
            </a:extLst>
          </p:cNvPr>
          <p:cNvGrpSpPr/>
          <p:nvPr userDrawn="1"/>
        </p:nvGrpSpPr>
        <p:grpSpPr>
          <a:xfrm>
            <a:off x="5960393" y="4262647"/>
            <a:ext cx="2457578" cy="1776564"/>
            <a:chOff x="0" y="-28575"/>
            <a:chExt cx="3276771" cy="2368753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48B2A52-DA7A-B5F2-AE66-392C1711945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2011</a:t>
              </a: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FC7E0932-21D0-3824-DE1F-86208194ECDB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46210-36A3-661B-DC89-11523C75E9CB}"/>
              </a:ext>
            </a:extLst>
          </p:cNvPr>
          <p:cNvGrpSpPr/>
          <p:nvPr userDrawn="1"/>
        </p:nvGrpSpPr>
        <p:grpSpPr>
          <a:xfrm>
            <a:off x="4027070" y="2125884"/>
            <a:ext cx="946844" cy="971454"/>
            <a:chOff x="0" y="-14473"/>
            <a:chExt cx="556826" cy="571299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92C169-4533-35D8-F865-37BCE2C88335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E4E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524C1F9B-974F-33AF-76B3-AD3A8BBC2D51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5EFC44-4732-467D-0BB9-9639FFAE5D5C}"/>
              </a:ext>
            </a:extLst>
          </p:cNvPr>
          <p:cNvGrpSpPr/>
          <p:nvPr userDrawn="1"/>
        </p:nvGrpSpPr>
        <p:grpSpPr>
          <a:xfrm>
            <a:off x="6713372" y="2143158"/>
            <a:ext cx="946844" cy="971454"/>
            <a:chOff x="0" y="-14473"/>
            <a:chExt cx="556826" cy="57129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F6FA1B7-7695-A8F9-9930-6ABC935139CF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6255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7B6E1EE0-FE91-8AD9-36A2-1EC012E34EFB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FD45E0-CFEB-C722-3C2F-676614F9A6BD}"/>
              </a:ext>
            </a:extLst>
          </p:cNvPr>
          <p:cNvGrpSpPr/>
          <p:nvPr userDrawn="1"/>
        </p:nvGrpSpPr>
        <p:grpSpPr>
          <a:xfrm>
            <a:off x="9468772" y="2143158"/>
            <a:ext cx="946844" cy="971454"/>
            <a:chOff x="0" y="-14473"/>
            <a:chExt cx="556826" cy="57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49AB401-36D5-BF2E-2A63-B11D712ABE32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37647DDC-735C-32A2-CE57-A46D0AE04D54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4</a:t>
              </a:r>
            </a:p>
          </p:txBody>
        </p:sp>
      </p:grpSp>
      <p:sp>
        <p:nvSpPr>
          <p:cNvPr id="18" name="AutoShape 38">
            <a:extLst>
              <a:ext uri="{FF2B5EF4-FFF2-40B4-BE49-F238E27FC236}">
                <a16:creationId xmlns:a16="http://schemas.microsoft.com/office/drawing/2014/main" id="{5B55CC53-4B0B-1F7A-E6CF-1D807C272B88}"/>
              </a:ext>
            </a:extLst>
          </p:cNvPr>
          <p:cNvSpPr/>
          <p:nvPr userDrawn="1"/>
        </p:nvSpPr>
        <p:spPr>
          <a:xfrm>
            <a:off x="1675993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147CB15D-6D2B-85B2-EA0A-A2D72009459A}"/>
              </a:ext>
            </a:extLst>
          </p:cNvPr>
          <p:cNvSpPr/>
          <p:nvPr userDrawn="1"/>
        </p:nvSpPr>
        <p:spPr>
          <a:xfrm>
            <a:off x="4500492" y="3097338"/>
            <a:ext cx="0" cy="810133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40">
            <a:extLst>
              <a:ext uri="{FF2B5EF4-FFF2-40B4-BE49-F238E27FC236}">
                <a16:creationId xmlns:a16="http://schemas.microsoft.com/office/drawing/2014/main" id="{26EBBA74-6593-863D-9566-7B0F68E2231E}"/>
              </a:ext>
            </a:extLst>
          </p:cNvPr>
          <p:cNvSpPr/>
          <p:nvPr userDrawn="1"/>
        </p:nvSpPr>
        <p:spPr>
          <a:xfrm>
            <a:off x="71867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41">
            <a:extLst>
              <a:ext uri="{FF2B5EF4-FFF2-40B4-BE49-F238E27FC236}">
                <a16:creationId xmlns:a16="http://schemas.microsoft.com/office/drawing/2014/main" id="{87B37EE5-3174-E60F-EB7F-28EAFCDB990B}"/>
              </a:ext>
            </a:extLst>
          </p:cNvPr>
          <p:cNvSpPr/>
          <p:nvPr userDrawn="1"/>
        </p:nvSpPr>
        <p:spPr>
          <a:xfrm>
            <a:off x="99421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44">
            <a:extLst>
              <a:ext uri="{FF2B5EF4-FFF2-40B4-BE49-F238E27FC236}">
                <a16:creationId xmlns:a16="http://schemas.microsoft.com/office/drawing/2014/main" id="{B173C173-30D8-B176-A7DA-38D50DA243C0}"/>
              </a:ext>
            </a:extLst>
          </p:cNvPr>
          <p:cNvSpPr/>
          <p:nvPr userDrawn="1"/>
        </p:nvSpPr>
        <p:spPr>
          <a:xfrm flipV="1">
            <a:off x="2149415" y="2623916"/>
            <a:ext cx="1877655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45">
            <a:extLst>
              <a:ext uri="{FF2B5EF4-FFF2-40B4-BE49-F238E27FC236}">
                <a16:creationId xmlns:a16="http://schemas.microsoft.com/office/drawing/2014/main" id="{683F0CD1-60C5-B175-6B13-F66EA667B0AD}"/>
              </a:ext>
            </a:extLst>
          </p:cNvPr>
          <p:cNvSpPr/>
          <p:nvPr userDrawn="1"/>
        </p:nvSpPr>
        <p:spPr>
          <a:xfrm>
            <a:off x="4973915" y="2623916"/>
            <a:ext cx="1739457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F428AD71-9119-EE29-B4D0-C39466C2D067}"/>
              </a:ext>
            </a:extLst>
          </p:cNvPr>
          <p:cNvSpPr/>
          <p:nvPr userDrawn="1"/>
        </p:nvSpPr>
        <p:spPr>
          <a:xfrm>
            <a:off x="7660216" y="2641190"/>
            <a:ext cx="1808556" cy="0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CCF2BEBE-A490-1991-D680-2F8AB220AA36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2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Gotham Book" panose="0200060404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46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>
                    <a:lumMod val="50000"/>
                  </a:schemeClr>
                </a:solidFill>
                <a:latin typeface="Gotham Book" panose="0200060404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36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E393-2E9A-9983-45BF-77A29608D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07995"/>
            <a:ext cx="3932237" cy="1172679"/>
          </a:xfrm>
        </p:spPr>
        <p:txBody>
          <a:bodyPr anchor="t"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Header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9BD8-2B4F-4CEE-835C-9912AAF944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Insert Photo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56C8-AD1A-1557-910F-A40E7EAEA0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Insert Summary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C0C9-500F-FE4D-7059-F06EBA9D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0438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80E6-F565-AA43-351F-D8B3E480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B0E02BF-5253-F5F0-3096-EB50B28B984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115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95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499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13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629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723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6449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3.xml"/><Relationship Id="rId3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5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26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1" r:id="rId4"/>
    <p:sldLayoutId id="2147483652" r:id="rId5"/>
    <p:sldLayoutId id="2147483653" r:id="rId6"/>
    <p:sldLayoutId id="2147483663" r:id="rId7"/>
    <p:sldLayoutId id="2147483654" r:id="rId8"/>
    <p:sldLayoutId id="2147483655" r:id="rId9"/>
    <p:sldLayoutId id="2147483660" r:id="rId10"/>
    <p:sldLayoutId id="2147483656" r:id="rId11"/>
    <p:sldLayoutId id="2147483661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0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8B40F0A-320E-6442-A923-5A57A6A8D9C5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49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81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93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Relationship Id="rId4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 anchor="ctr"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CLIENT RELATIONS &amp; COMMERCIAL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7" y="1158240"/>
            <a:ext cx="10485119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Service on target | Commercial sales 6.3% below budget, J$4.16B at risk: building a commercial model</a:t>
            </a:r>
          </a:p>
        </p:txBody>
      </p:sp>
      <p:sp>
        <p:nvSpPr>
          <p:cNvPr id="4" name="PROTECT column"/>
          <p:cNvSpPr/>
          <p:nvPr/>
        </p:nvSpPr>
        <p:spPr>
          <a:xfrm>
            <a:off x="612648" y="1591056"/>
            <a:ext cx="4224528" cy="356616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PROTECT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30815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 dirty="0">
                <a:solidFill>
                  <a:srgbClr val="22438A"/>
                </a:solidFill>
                <a:latin typeface="Arial"/>
              </a:rPr>
              <a:t>Service &amp; reliability</a:t>
            </a:r>
          </a:p>
        </p:txBody>
      </p:sp>
      <p:sp>
        <p:nvSpPr>
          <p:cNvPr id="7" name="RAG GREEN"/>
          <p:cNvSpPr/>
          <p:nvPr/>
        </p:nvSpPr>
        <p:spPr>
          <a:xfrm>
            <a:off x="3886200" y="177393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E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sz="2400" b="1" dirty="0">
                <a:solidFill>
                  <a:srgbClr val="1E8C5A"/>
                </a:solidFill>
                <a:latin typeface="Arial"/>
              </a:rPr>
              <a:t>1.8</a:t>
            </a:r>
            <a:r>
              <a:rPr lang="en-US" sz="1300" b="1" dirty="0">
                <a:solidFill>
                  <a:srgbClr val="1E8C5A"/>
                </a:solidFill>
                <a:latin typeface="Arial"/>
              </a:rPr>
              <a:t>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2194560"/>
            <a:ext cx="2642616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Top-50 average sustained outage, Sept: lowest of 2026 (benchmark 4 hrs)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38953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Monthly average, hrs (red: above 4-hr benchmark)</a:t>
            </a:r>
          </a:p>
        </p:txBody>
      </p:sp>
      <p:graphicFrame>
        <p:nvGraphicFramePr>
          <p:cNvPr id="11" name="Outage duration chart"/>
          <p:cNvGraphicFramePr>
            <a:graphicFrameLocks noGrp="1"/>
          </p:cNvGraphicFramePr>
          <p:nvPr/>
        </p:nvGraphicFramePr>
        <p:xfrm>
          <a:off x="685800" y="2852928"/>
          <a:ext cx="4078224" cy="1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77240" y="4500000"/>
            <a:ext cx="38953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Reliability is our first defence: outages and power quality drive defection decisions</a:t>
            </a:r>
          </a:p>
        </p:txBody>
      </p:sp>
      <p:sp>
        <p:nvSpPr>
          <p:cNvPr id="26" name="RETAIN column"/>
          <p:cNvSpPr/>
          <p:nvPr/>
        </p:nvSpPr>
        <p:spPr>
          <a:xfrm>
            <a:off x="4933188" y="1591056"/>
            <a:ext cx="3278124" cy="356616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97780" y="1700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RETAIN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7780" y="1901952"/>
            <a:ext cx="21351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 dirty="0">
                <a:solidFill>
                  <a:srgbClr val="22438A"/>
                </a:solidFill>
                <a:latin typeface="Arial"/>
              </a:rPr>
              <a:t>Defection</a:t>
            </a:r>
          </a:p>
        </p:txBody>
      </p:sp>
      <p:sp>
        <p:nvSpPr>
          <p:cNvPr id="29" name="RAG RED"/>
          <p:cNvSpPr/>
          <p:nvPr/>
        </p:nvSpPr>
        <p:spPr>
          <a:xfrm>
            <a:off x="7260336" y="177393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7780" y="21945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sz="2400" b="1" dirty="0">
                <a:solidFill>
                  <a:srgbClr val="C23B32"/>
                </a:solidFill>
                <a:latin typeface="Arial"/>
              </a:rPr>
              <a:t>J$4.16B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7396" y="2194560"/>
            <a:ext cx="144932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at risk · 18 accounts · 89.5 GWh</a:t>
            </a:r>
          </a:p>
        </p:txBody>
      </p:sp>
      <p:sp>
        <p:nvSpPr>
          <p:cNvPr id="32" name="Stage 7 planning"/>
          <p:cNvSpPr/>
          <p:nvPr/>
        </p:nvSpPr>
        <p:spPr>
          <a:xfrm>
            <a:off x="5097780" y="2779776"/>
            <a:ext cx="1119378" cy="256032"/>
          </a:xfrm>
          <a:prstGeom prst="roundRect">
            <a:avLst>
              <a:gd name="adj" fmla="val 8000"/>
            </a:avLst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planning</a:t>
            </a:r>
          </a:p>
        </p:txBody>
      </p:sp>
      <p:sp>
        <p:nvSpPr>
          <p:cNvPr id="33" name="Stage 7 partial"/>
          <p:cNvSpPr/>
          <p:nvPr/>
        </p:nvSpPr>
        <p:spPr>
          <a:xfrm>
            <a:off x="6244590" y="2779776"/>
            <a:ext cx="1119378" cy="256032"/>
          </a:xfrm>
          <a:prstGeom prst="roundRect">
            <a:avLst>
              <a:gd name="adj" fmla="val 8000"/>
            </a:avLst>
          </a:prstGeom>
          <a:solidFill>
            <a:srgbClr val="C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partial</a:t>
            </a:r>
          </a:p>
        </p:txBody>
      </p:sp>
      <p:sp>
        <p:nvSpPr>
          <p:cNvPr id="34" name="Stage 4 exited"/>
          <p:cNvSpPr/>
          <p:nvPr/>
        </p:nvSpPr>
        <p:spPr>
          <a:xfrm>
            <a:off x="7391400" y="2779776"/>
            <a:ext cx="627888" cy="256032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4 exited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97780" y="3163824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97780" y="3218688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Retention YTD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9068" y="3218688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99.6% vs 100% target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97780" y="3474720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97780" y="3529584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Lost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9068" y="3529584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Alcoa (Aug), PAC (Oct)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97780" y="3785615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97780" y="3840479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Next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9068" y="3840479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Windalco Kirkvine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97780" y="4096511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97780" y="4151375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Win-back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9068" y="4151375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E8C5A"/>
                </a:solidFill>
                <a:latin typeface="Arial"/>
              </a:rPr>
              <a:t>Royalton: J$487M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97780" y="4407407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97780" y="4480559"/>
            <a:ext cx="29489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Each lost kWh raises costs for remaining customers and makes self-generation more attractive</a:t>
            </a:r>
          </a:p>
        </p:txBody>
      </p:sp>
      <p:sp>
        <p:nvSpPr>
          <p:cNvPr id="49" name="GROW column"/>
          <p:cNvSpPr/>
          <p:nvPr/>
        </p:nvSpPr>
        <p:spPr>
          <a:xfrm>
            <a:off x="8307324" y="1591056"/>
            <a:ext cx="3278124" cy="356616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71916" y="1700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GROW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1916" y="1901952"/>
            <a:ext cx="21351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 dirty="0">
                <a:solidFill>
                  <a:srgbClr val="22438A"/>
                </a:solidFill>
                <a:latin typeface="Arial"/>
              </a:rPr>
              <a:t>Sales</a:t>
            </a:r>
          </a:p>
        </p:txBody>
      </p:sp>
      <p:sp>
        <p:nvSpPr>
          <p:cNvPr id="52" name="RAG RED"/>
          <p:cNvSpPr/>
          <p:nvPr/>
        </p:nvSpPr>
        <p:spPr>
          <a:xfrm>
            <a:off x="10634472" y="177393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71916" y="2194560"/>
            <a:ext cx="1298448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sz="2400" b="1" dirty="0">
                <a:solidFill>
                  <a:srgbClr val="C23B32"/>
                </a:solidFill>
                <a:latin typeface="Arial"/>
              </a:rPr>
              <a:t>−6.3%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8652" y="2194560"/>
            <a:ext cx="163220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Sept commercial sales vs budget: 180.2 vs 192.4 GWh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71916" y="2779776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71916" y="283464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YTD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33204" y="2834640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+0.4% bud, −5.7% 2025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71916" y="3090672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471916" y="3145536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Accuracy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3204" y="3145536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23B32"/>
                </a:solidFill>
                <a:latin typeface="Arial"/>
              </a:rPr>
              <a:t>60% Sept, 80% YTD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471916" y="3401568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471916" y="3456432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New load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33204" y="3456432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6 projects, 25.67 GWh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471916" y="3712463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471916" y="3767327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2027 pipeline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33204" y="3767327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E8C5A"/>
                </a:solidFill>
                <a:latin typeface="Arial"/>
              </a:rPr>
              <a:t>J$1.17B, 23.72 GWh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471916" y="4023359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471916" y="4078223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Hotels, Dec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33204" y="4078223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E8C5A"/>
                </a:solidFill>
                <a:latin typeface="Arial"/>
              </a:rPr>
              <a:t>1,982 rooms, J$1.78B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471916" y="4334255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471916" y="4407407"/>
            <a:ext cx="29489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Alcoa's move to self-generation explains 6.5 GWh of the 12.2 GWh September gap</a:t>
            </a:r>
          </a:p>
        </p:txBody>
      </p:sp>
      <p:sp>
        <p:nvSpPr>
          <p:cNvPr id="72" name="Commercial model progress"/>
          <p:cNvSpPr/>
          <p:nvPr/>
        </p:nvSpPr>
        <p:spPr>
          <a:xfrm>
            <a:off x="612648" y="5248656"/>
            <a:ext cx="10972800" cy="1481328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5528" y="5340096"/>
            <a:ext cx="74980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BUILDING THE COMMERCIAL MODEL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   from January 2027: service excellence to revenue ownership</a:t>
            </a:r>
          </a:p>
        </p:txBody>
      </p:sp>
      <p:sp>
        <p:nvSpPr>
          <p:cNvPr id="74" name="Oval 73"/>
          <p:cNvSpPr/>
          <p:nvPr/>
        </p:nvSpPr>
        <p:spPr>
          <a:xfrm>
            <a:off x="8458200" y="5367528"/>
            <a:ext cx="146304" cy="146304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659368" y="53400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Starts Jan 2027</a:t>
            </a:r>
          </a:p>
        </p:txBody>
      </p:sp>
      <p:sp>
        <p:nvSpPr>
          <p:cNvPr id="76" name="Oval 75"/>
          <p:cNvSpPr/>
          <p:nvPr/>
        </p:nvSpPr>
        <p:spPr>
          <a:xfrm>
            <a:off x="10058400" y="5367528"/>
            <a:ext cx="146304" cy="146304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259568" y="53400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68680" y="5888736"/>
            <a:ext cx="8823960" cy="0"/>
          </a:xfrm>
          <a:prstGeom prst="line">
            <a:avLst/>
          </a:prstGeom>
          <a:ln w="15875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795528" y="5815584"/>
            <a:ext cx="146304" cy="146304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8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00"/>
                </a:solidFill>
                <a:latin typeface="Arial"/>
              </a:rPr>
              <a:t>Jan 2027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528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Commercial lead and deal desk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5528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Weekly pricing decisions</a:t>
            </a:r>
          </a:p>
        </p:txBody>
      </p:sp>
      <p:sp>
        <p:nvSpPr>
          <p:cNvPr id="83" name="Oval 82"/>
          <p:cNvSpPr/>
          <p:nvPr/>
        </p:nvSpPr>
        <p:spPr>
          <a:xfrm>
            <a:off x="2560320" y="5815584"/>
            <a:ext cx="146304" cy="146304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560320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00"/>
                </a:solidFill>
                <a:latin typeface="Arial"/>
              </a:rPr>
              <a:t>Jan 2027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60320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Commercial Academy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60320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KAE skills: pricing, energy economics</a:t>
            </a:r>
          </a:p>
        </p:txBody>
      </p:sp>
      <p:sp>
        <p:nvSpPr>
          <p:cNvPr id="87" name="Oval 86"/>
          <p:cNvSpPr/>
          <p:nvPr/>
        </p:nvSpPr>
        <p:spPr>
          <a:xfrm>
            <a:off x="4325112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325112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Feb 2027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25112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Revenue-at-risk register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25112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Every Tier 1 account priced</a:t>
            </a:r>
          </a:p>
        </p:txBody>
      </p:sp>
      <p:sp>
        <p:nvSpPr>
          <p:cNvPr id="91" name="Oval 90"/>
          <p:cNvSpPr/>
          <p:nvPr/>
        </p:nvSpPr>
        <p:spPr>
          <a:xfrm>
            <a:off x="6089904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089904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Mar 2027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89904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Tier 1 commercial offers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89904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Standby, hybrid, resilience</a:t>
            </a:r>
          </a:p>
        </p:txBody>
      </p:sp>
      <p:sp>
        <p:nvSpPr>
          <p:cNvPr id="95" name="Oval 94"/>
          <p:cNvSpPr/>
          <p:nvPr/>
        </p:nvSpPr>
        <p:spPr>
          <a:xfrm>
            <a:off x="7854696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854696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Q2 2027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54696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Riders filed with the OUR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54696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Standby and hybrid tariffs</a:t>
            </a:r>
          </a:p>
        </p:txBody>
      </p:sp>
      <p:sp>
        <p:nvSpPr>
          <p:cNvPr id="99" name="Oval 98"/>
          <p:cNvSpPr/>
          <p:nvPr/>
        </p:nvSpPr>
        <p:spPr>
          <a:xfrm>
            <a:off x="9619488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619488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Q2 2027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19488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Revenue scorecard for KAEs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19488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Retention, win-backs,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10506-9740-B380-FAF7-6D2E96F7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23344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CLIENT RELATIONS  |  SERVICE &amp; RELIABILITY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Top-50 outage duration was the best of 2026 in September; half of open customer issues are voltage or power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6583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Average sustained outage duration, top-50 accounts (hrs)</a:t>
            </a:r>
          </a:p>
        </p:txBody>
      </p:sp>
      <p:graphicFrame>
        <p:nvGraphicFramePr>
          <p:cNvPr id="5" name="Monthly outage duration"/>
          <p:cNvGraphicFramePr>
            <a:graphicFrameLocks noGrp="1"/>
          </p:cNvGraphicFramePr>
          <p:nvPr/>
        </p:nvGraphicFramePr>
        <p:xfrm>
          <a:off x="548640" y="1810512"/>
          <a:ext cx="667512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36118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Red: above the 4-hr benchmark. Jan: Hurricane Melissa restoration. Jul: 610-hr Windalco Ewarton outage.</a:t>
            </a:r>
          </a:p>
        </p:txBody>
      </p:sp>
      <p:sp>
        <p:nvSpPr>
          <p:cNvPr id="7" name="Interruptions panel"/>
          <p:cNvSpPr/>
          <p:nvPr/>
        </p:nvSpPr>
        <p:spPr>
          <a:xfrm>
            <a:off x="7360920" y="1572768"/>
            <a:ext cx="4224528" cy="2395728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1664208"/>
            <a:ext cx="3858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INTERRUPTIONS, JAN–SEP (TOP-50 ACCOUNTS)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20240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FFFF00"/>
                </a:solidFill>
                <a:latin typeface="Arial"/>
              </a:rPr>
              <a:t>1,840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920240"/>
            <a:ext cx="253288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412 sustained · 1,428 momentary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395728"/>
            <a:ext cx="3858768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Tourism 945 (51%):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468 at five Negril resorts, now resolved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Manufacturing 597 (32%):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led by Alpart (138)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PAC Kingston Airport: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116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June peak 335: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5 June system shutdown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041648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Engagement KPIs, actual vs target</a:t>
            </a:r>
          </a:p>
        </p:txBody>
      </p:sp>
      <p:graphicFrame>
        <p:nvGraphicFramePr>
          <p:cNvPr id="13" name="Engagement KPI table"/>
          <p:cNvGraphicFramePr>
            <a:graphicFrameLocks noGrp="1"/>
          </p:cNvGraphicFramePr>
          <p:nvPr/>
        </p:nvGraphicFramePr>
        <p:xfrm>
          <a:off x="612648" y="4279392"/>
          <a:ext cx="4526280" cy="1325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Sept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48 / 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246 / 240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103%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Stakeholder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5 / 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125%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61 / 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305%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Customer education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 / 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8 / 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160%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Safety / BBSOs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9 /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450%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44 / 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440%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2648" y="5669280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Customer retention 99.6% YTD vs 100%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041648"/>
            <a:ext cx="62362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Issues open over 10 days at 1 Oct (12 open in total)</a:t>
            </a:r>
          </a:p>
        </p:txBody>
      </p:sp>
      <p:graphicFrame>
        <p:nvGraphicFramePr>
          <p:cNvPr id="16" name="Open issues table"/>
          <p:cNvGraphicFramePr>
            <a:graphicFrameLocks noGrp="1"/>
          </p:cNvGraphicFramePr>
          <p:nvPr/>
        </p:nvGraphicFramePr>
        <p:xfrm>
          <a:off x="5349240" y="4279392"/>
          <a:ext cx="6236207" cy="18150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Issue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Logged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KFTL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Voltage affecting cranes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21 Aug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ELT / Client Relations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Pepsi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Power quality and outages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26 Aug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ELT / Key Accounts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Red Stripe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Power quality, reliability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26 Aug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Key Accounts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Meliá Braco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Billing: settled balances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7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Finance / Collections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PriceSmart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Line relocation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14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Legal / Engineering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Digicel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Outage response times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23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Energy Delivery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Ministry of Finance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Voltage issues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24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KSA Operations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Power-quality remediation: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COO-led engagement with KFTL, Pepsi and Red Stripe; Pepsi conductor upgrade due October</a:t>
            </a:r>
          </a:p>
        </p:txBody>
      </p:sp>
      <p:sp>
        <p:nvSpPr>
          <p:cNvPr id="18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CLIENT RELATIONS  |  DEFECTION RISK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J$4.16B at risk across 18 accounts; planning-stage accounts are where we can still change 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Largest defection revenue losses (J$M)</a:t>
            </a:r>
          </a:p>
        </p:txBody>
      </p:sp>
      <p:graphicFrame>
        <p:nvGraphicFramePr>
          <p:cNvPr id="5" name="Largest losses"/>
          <p:cNvGraphicFramePr>
            <a:graphicFrameLocks noGrp="1"/>
          </p:cNvGraphicFramePr>
          <p:nvPr/>
        </p:nvGraphicFramePr>
        <p:xfrm>
          <a:off x="548640" y="1801368"/>
          <a:ext cx="42976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39136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Past 12–24 months. Off-grid from inception: UNICO, H10 Resorts.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31596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18 tracked accounts by stage</a:t>
            </a:r>
          </a:p>
        </p:txBody>
      </p:sp>
      <p:sp>
        <p:nvSpPr>
          <p:cNvPr id="8" name="Stage 7 planning"/>
          <p:cNvSpPr/>
          <p:nvPr/>
        </p:nvSpPr>
        <p:spPr>
          <a:xfrm>
            <a:off x="612648" y="4553712"/>
            <a:ext cx="1608327" cy="274320"/>
          </a:xfrm>
          <a:prstGeom prst="roundRect">
            <a:avLst>
              <a:gd name="adj" fmla="val 8000"/>
            </a:avLst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planning</a:t>
            </a:r>
          </a:p>
        </p:txBody>
      </p:sp>
      <p:sp>
        <p:nvSpPr>
          <p:cNvPr id="9" name="Stage 7 partial"/>
          <p:cNvSpPr/>
          <p:nvPr/>
        </p:nvSpPr>
        <p:spPr>
          <a:xfrm>
            <a:off x="2248408" y="4553712"/>
            <a:ext cx="1608327" cy="274320"/>
          </a:xfrm>
          <a:prstGeom prst="roundRect">
            <a:avLst>
              <a:gd name="adj" fmla="val 8000"/>
            </a:avLst>
          </a:prstGeom>
          <a:solidFill>
            <a:srgbClr val="C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partial</a:t>
            </a:r>
          </a:p>
        </p:txBody>
      </p:sp>
      <p:sp>
        <p:nvSpPr>
          <p:cNvPr id="10" name="Stage 4 exited"/>
          <p:cNvSpPr/>
          <p:nvPr/>
        </p:nvSpPr>
        <p:spPr>
          <a:xfrm>
            <a:off x="3884167" y="4553712"/>
            <a:ext cx="907287" cy="274320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4 exited</a:t>
            </a:r>
          </a:p>
        </p:txBody>
      </p:sp>
      <p:sp>
        <p:nvSpPr>
          <p:cNvPr id="11" name="Why customers leave"/>
          <p:cNvSpPr/>
          <p:nvPr/>
        </p:nvSpPr>
        <p:spPr>
          <a:xfrm>
            <a:off x="612648" y="4919472"/>
            <a:ext cx="4206240" cy="1170432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Why customers say they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12080"/>
            <a:ext cx="38862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Arial"/>
              </a:rPr>
              <a:t>Cost: </a:t>
            </a:r>
            <a:r>
              <a:rPr lang="en-US" sz="1100" b="0" dirty="0">
                <a:solidFill>
                  <a:srgbClr val="1F2933"/>
                </a:solidFill>
                <a:latin typeface="Arial"/>
              </a:rPr>
              <a:t>Dreams, Royalton Negril, Excellence, JN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Arial"/>
              </a:rPr>
              <a:t>Power quality: </a:t>
            </a:r>
            <a:r>
              <a:rPr lang="en-US" sz="1100" b="0" dirty="0">
                <a:solidFill>
                  <a:srgbClr val="1F2933"/>
                </a:solidFill>
                <a:latin typeface="Arial"/>
              </a:rPr>
              <a:t>Moon Palace, Dreams, Royalton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Arial"/>
              </a:rPr>
              <a:t>Sustainability: </a:t>
            </a:r>
            <a:r>
              <a:rPr lang="en-US" sz="1100" b="0" dirty="0">
                <a:solidFill>
                  <a:srgbClr val="1F2933"/>
                </a:solidFill>
                <a:latin typeface="Arial"/>
              </a:rPr>
              <a:t>MBJ Airport, Sutherland, JN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72768"/>
            <a:ext cx="66019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Early warning: planning-stage accounts (weekly tracker, 1 Oct)</a:t>
            </a:r>
          </a:p>
        </p:txBody>
      </p:sp>
      <p:graphicFrame>
        <p:nvGraphicFramePr>
          <p:cNvPr id="15" name="Early warning table"/>
          <p:cNvGraphicFramePr>
            <a:graphicFrameLocks noGrp="1"/>
          </p:cNvGraphicFramePr>
          <p:nvPr/>
        </p:nvGraphicFramePr>
        <p:xfrm>
          <a:off x="4983480" y="1810512"/>
          <a:ext cx="6601968" cy="20665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Account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Loss, J$M/yr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Windalco Ewarton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Feasibility study; pilot; up to 70% less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Windalco Kirkvine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Own generator primary from Oct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Sutherland Global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100 kW solar at three sites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Clarendon Distillers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CHP installed but idle: LNG too costly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US Embassy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Battery-backed solar planned; delayed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Jewel Paradise Cove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LNG microturbine on site; new owner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Jamaica National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Solar at Belmont and Oxford Roads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Watchlist"/>
          <p:cNvSpPr/>
          <p:nvPr/>
        </p:nvSpPr>
        <p:spPr>
          <a:xfrm>
            <a:off x="4983480" y="4114800"/>
            <a:ext cx="6601968" cy="1975104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4206240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EMERGING WATCHLIST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480560"/>
            <a:ext cx="6217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FLOW: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800 cell sites planning alternative supply; cost-driven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Pepsi and Red Stripe: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power-quality remediation and CEO-level engagement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Digicel: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solar expansion; dedicated outage-response crews proposed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NWC: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5 MW solar programme across 22 projects over five years</a:t>
            </a:r>
          </a:p>
        </p:txBody>
      </p:sp>
      <p:sp>
        <p:nvSpPr>
          <p:cNvPr id="19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Grid/Load Defection Win-Back: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standby and hybrid supply, power-quality-first fixes and executive engagement</a:t>
            </a:r>
          </a:p>
        </p:txBody>
      </p:sp>
      <p:sp>
        <p:nvSpPr>
          <p:cNvPr id="20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SALES VS BUDGET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Commercial sales 12.2 GWh (6.3%) below budget; Alcoa's move to self-generation explains 6.5 GWh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Commercial sales by rate class, September and January to September (GWh)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85615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Acc: YTD account budget vs billing, RT40-RT70. Jan-Feb budget = actuals, so YTD vs budget flatters.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72768"/>
            <a:ext cx="4270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Variance vs budget by industry (GWh)</a:t>
            </a:r>
          </a:p>
        </p:txBody>
      </p:sp>
      <p:sp>
        <p:nvSpPr>
          <p:cNvPr id="9" name="Alcoa spotlight"/>
          <p:cNvSpPr/>
          <p:nvPr/>
        </p:nvSpPr>
        <p:spPr>
          <a:xfrm>
            <a:off x="612648" y="4224528"/>
            <a:ext cx="6400800" cy="1865376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297680"/>
            <a:ext cx="6035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SPOTLIGHT  |  ALCOA (JAMALCO REFINERY)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354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0.6 GWh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88289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billed in Sept vs 6.9 a year 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45354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−6.5 GWh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488289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vs budget; 73% of RT70 drop vs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45354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up to J$175M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488289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Aug–Sep demand charges provisional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321808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Arial"/>
              </a:rPr>
              <a:t>New turbine (TG4) commissioned in August: the refinery now generates all its own power; grid draw fell from 9.0 GWh in July to 0.6 in Sept; load not expected back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Arial"/>
              </a:rPr>
              <a:t>PIA and ROPECON in review; margin hit smaller than sales loss (avoided cost)</a:t>
            </a:r>
          </a:p>
        </p:txBody>
      </p:sp>
      <p:sp>
        <p:nvSpPr>
          <p:cNvPr id="18" name="What it means"/>
          <p:cNvSpPr/>
          <p:nvPr/>
        </p:nvSpPr>
        <p:spPr>
          <a:xfrm>
            <a:off x="7269480" y="4224528"/>
            <a:ext cx="4315968" cy="1865376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34072" y="4297680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What it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4535424"/>
            <a:ext cx="4023360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1F2933"/>
                </a:solidFill>
                <a:latin typeface="Arial"/>
              </a:rPr>
              <a:t>RT10 and RT20 ran 12.7 GWh above budget; RT40–RT70 15.2 GWh below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1F2933"/>
                </a:solidFill>
                <a:latin typeface="Arial"/>
              </a:rPr>
              <a:t>YTD: commercial sales +0.4% vs budget but −5.7% vs 2025; Sept shows the gap more sharply as Alcoa and hotels weigh on the month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Account forecasting: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key account executives refresh outlooks for the largest accounts as soon as a change is known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2648" y="1810512"/>
          <a:ext cx="6400797" cy="1888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4130"/>
                <a:gridCol w="520995"/>
                <a:gridCol w="520995"/>
                <a:gridCol w="558209"/>
                <a:gridCol w="558209"/>
                <a:gridCol w="632637"/>
                <a:gridCol w="632637"/>
                <a:gridCol w="558209"/>
                <a:gridCol w="558209"/>
                <a:gridCol w="446567"/>
              </a:tblGrid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September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January to September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Rate class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bud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bud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RT20 Small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60.6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57.6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+5.2%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+4.0%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475.8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461.3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+3.1%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−3.0%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RT40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67.3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73.3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−8.2%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−2.4%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569.8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584.9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−2.6%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−5.9%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RT50 Large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30.3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35.3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−14.2%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−9.8%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259.5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274.1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−5.3%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−9.6%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RT60 Street lighting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+3.0%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+0.1%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27.5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27.1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+1.6%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−9.5%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36000" marR="36000" marT="12000" marB="12000" anchor="ctr">
                    <a:solidFill>
                      <a:srgbClr val="DDEFDF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RT70 Industrial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22.9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−18.5%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−31.7%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213.9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192.7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+11.0%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−5.7%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Commercial total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180.2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192.4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Arial"/>
                        </a:rPr>
                        <a:t>−6.3%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Arial"/>
                        </a:rPr>
                        <a:t>−5.8%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1,546.4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1,540.1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8F5A"/>
                          </a:solidFill>
                          <a:latin typeface="Arial"/>
                        </a:rPr>
                        <a:t>+0.4%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Arial"/>
                        </a:rPr>
                        <a:t>−5.7%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80%*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7269480" y="1801368"/>
          <a:ext cx="434340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GROWTH &amp; PIPELINE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The 2027 pipeline is J$1.17B across 13 projects, led by NWC; 25.67 GWh of new load connects in 2026</a:t>
            </a:r>
          </a:p>
        </p:txBody>
      </p:sp>
      <p:sp>
        <p:nvSpPr>
          <p:cNvPr id="22" name="Pipeline panel"/>
          <p:cNvSpPr/>
          <p:nvPr/>
        </p:nvSpPr>
        <p:spPr>
          <a:xfrm>
            <a:off x="612648" y="1572768"/>
            <a:ext cx="10972800" cy="4300000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166420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NEW AND EXPANDING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19202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25.67 GWh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192024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6 major opportunities in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2500000"/>
            <a:ext cx="4434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spcAft>
                <a:spcPts val="1400"/>
              </a:spcAft>
              <a:buFont typeface="Arial"/>
              <a:buChar char="•"/>
            </a:pPr>
            <a:r>
              <a:rPr lang="en-US" sz="1400" b="1" dirty="0">
                <a:solidFill>
                  <a:srgbClr val="FFFF00"/>
                </a:solidFill>
                <a:latin typeface="Arial"/>
              </a:rPr>
              <a:t>Sep: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Caribbean Broilers egg farm</a:t>
            </a:r>
          </a:p>
          <a:p>
            <a:pPr marL="160020" indent="-160020" algn="l">
              <a:spcAft>
                <a:spcPts val="1400"/>
              </a:spcAft>
              <a:buFont typeface="Arial"/>
              <a:buChar char="•"/>
            </a:pPr>
            <a:r>
              <a:rPr lang="en-US" sz="1400" b="1" dirty="0">
                <a:solidFill>
                  <a:srgbClr val="FFFF00"/>
                </a:solidFill>
                <a:latin typeface="Arial"/>
              </a:rPr>
              <a:t>Dec: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PriceSmart South Camp, Progressive Grocers, Poly Pet</a:t>
            </a:r>
          </a:p>
          <a:p>
            <a:pPr marL="160020" indent="-160020" algn="l">
              <a:spcAft>
                <a:spcPts val="1400"/>
              </a:spcAft>
              <a:buFont typeface="Arial"/>
              <a:buChar char="•"/>
            </a:pPr>
            <a:r>
              <a:rPr lang="en-US" sz="1400" b="1" dirty="0">
                <a:solidFill>
                  <a:srgbClr val="FFFF00"/>
                </a:solidFill>
                <a:latin typeface="Arial"/>
              </a:rPr>
              <a:t>Dec: </a:t>
            </a:r>
            <a:r>
              <a:rPr lang="en-US" sz="1400" b="0" dirty="0">
                <a:solidFill>
                  <a:srgbClr val="FFFFFF"/>
                </a:solidFill>
                <a:latin typeface="Arial"/>
              </a:rPr>
              <a:t>Cornwall Regional and Western Children's hospitals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0000" y="19202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J$1.17B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520" y="192024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2027 pipeline · 13 projects</a:t>
            </a:r>
          </a:p>
        </p:txBody>
      </p:sp>
      <p:graphicFrame>
        <p:nvGraphicFramePr>
          <p:cNvPr id="30" name="Pipeline table"/>
          <p:cNvGraphicFramePr>
            <a:graphicFrameLocks noGrp="1"/>
          </p:cNvGraphicFramePr>
          <p:nvPr/>
        </p:nvGraphicFramePr>
        <p:xfrm>
          <a:off x="6200000" y="2450000"/>
          <a:ext cx="4407408" cy="225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GWh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J$M a year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NWC (3 projects)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18.53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926.5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Tourism, housing (3)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3.40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152.9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Other sectors (7)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1.79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94.5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Total (13)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23.72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1,174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200000" y="4850000"/>
            <a:ext cx="44074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NWC is 78% of 2027 pipeline volume and also on the watchlist with a 5 MW solar programme.</a:t>
            </a:r>
          </a:p>
        </p:txBody>
      </p:sp>
      <p:sp>
        <p:nvSpPr>
          <p:cNvPr id="32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Pipeline delivery: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connect the six 2026 projects on time and secure NWC's 2027 load against its solar programme</a:t>
            </a:r>
          </a:p>
        </p:txBody>
      </p:sp>
      <p:sp>
        <p:nvSpPr>
          <p:cNvPr id="33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BUILDING THE COMMERCIAL MODEL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Service excellence stays the foundation; from January 2027 we add the capabilities to own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What we keep and what we add</a:t>
            </a:r>
          </a:p>
        </p:txBody>
      </p:sp>
      <p:graphicFrame>
        <p:nvGraphicFramePr>
          <p:cNvPr id="5" name="Keep and add"/>
          <p:cNvGraphicFramePr>
            <a:graphicFrameLocks noGrp="1"/>
          </p:cNvGraphicFramePr>
          <p:nvPr/>
        </p:nvGraphicFramePr>
        <p:xfrm>
          <a:off x="612648" y="1810512"/>
          <a:ext cx="5486400" cy="25054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Keep: service excellence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Add: revenue ownership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Engagement with every key account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Account plans with a revenue goal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Issue resolution and escalation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Offers priced with Engineering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Reliability focus on top 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Standby, hybrid, flexibility offers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Defection tracking by stage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Priced revenue-at-risk register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Budget support by account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KAE forecasts updated on change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Engagement KPIs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Retention, win-back, growth KPIs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55080" y="1572768"/>
            <a:ext cx="5230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Roadmap from January 2027</a:t>
            </a:r>
          </a:p>
        </p:txBody>
      </p:sp>
      <p:graphicFrame>
        <p:nvGraphicFramePr>
          <p:cNvPr id="7" name="Roadmap table"/>
          <p:cNvGraphicFramePr>
            <a:graphicFrameLocks noGrp="1"/>
          </p:cNvGraphicFramePr>
          <p:nvPr/>
        </p:nvGraphicFramePr>
        <p:xfrm>
          <a:off x="6355080" y="1810512"/>
          <a:ext cx="5230368" cy="25176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Commercial lead and deal desk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Jan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SVP Customer Experience &amp; Commercial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Commercial Academy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Jan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Client Relations with HR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Revenue-at-risk register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Feb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Client Relations with Sales Forecasting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Tier 1 commercial offers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Mar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Key Accounts with Engineering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Riders filed with the OUR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Q2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Regulatory Affairs with Commercial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Revenue scorecard (shadow)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Q2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Client Relations with Finance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Board KPIs"/>
          <p:cNvSpPr/>
          <p:nvPr/>
        </p:nvSpPr>
        <p:spPr>
          <a:xfrm>
            <a:off x="612648" y="4462272"/>
            <a:ext cx="10972800" cy="1627632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4544568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WHAT THE BOARD WILL SEE ON THIS SLIDE DURING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81888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00"/>
                </a:solidFill>
                <a:latin typeface="Arial"/>
              </a:rPr>
              <a:t>PROTECT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065776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Top-50 outage duration · issues closed in 10 days · executive coverage of Tier 1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81888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00"/>
                </a:solidFill>
                <a:latin typeface="Arial"/>
              </a:rPr>
              <a:t>RETAIN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065776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Revenue at risk and mitigated · accounts by stage · win-backs signed ·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481888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00"/>
                </a:solidFill>
                <a:latin typeface="Arial"/>
              </a:rPr>
              <a:t>GROW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5065776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Commercial sales and revenue vs budget · new load connected · pipeline · forecast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72414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Revenue KPIs run in shadow mode in Q2 2027 before they become targets; service KPIs continue unchanged.</a:t>
            </a:r>
          </a:p>
        </p:txBody>
      </p:sp>
      <p:sp>
        <p:nvSpPr>
          <p:cNvPr id="17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Board support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Requested: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support for flexible contracting with key accounts and for reliability investment on key-account feeders</a:t>
            </a:r>
          </a:p>
        </p:txBody>
      </p:sp>
      <p:sp>
        <p:nvSpPr>
          <p:cNvPr id="18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REVENUE &amp; RETENTION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Key accounts keep 94% of their revenue, but six accounts drive J$540M of the J$0.9bn decline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Revenue-at-risk register: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price every Tier 1 account on non-fuel revenue and demand charge, not volume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" y="1572768"/>
            <a:ext cx="3150000" cy="88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648" y="1620000"/>
            <a:ext cx="29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2552"/>
                </a:solidFill>
                <a:latin typeface="Arial"/>
              </a:rPr>
              <a:t>J$16.2bn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648" y="1960000"/>
            <a:ext cx="2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F1F1F"/>
                </a:solidFill>
                <a:latin typeface="Arial"/>
              </a:rPr>
              <a:t>non-fuel revenue, January to September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648" y="2200000"/>
            <a:ext cx="29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Arial"/>
              </a:rPr>
              <a:t>−5.3% vs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62648" y="1572768"/>
            <a:ext cx="3150000" cy="88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82648" y="1620000"/>
            <a:ext cx="29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2552"/>
                </a:solidFill>
                <a:latin typeface="Arial"/>
              </a:rPr>
              <a:t>1,071 GWh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82648" y="1960000"/>
            <a:ext cx="2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F1F1F"/>
                </a:solidFill>
                <a:latin typeface="Arial"/>
              </a:rPr>
              <a:t>volume, January to September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2648" y="2200000"/>
            <a:ext cx="29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Arial"/>
              </a:rPr>
              <a:t>−6.9% vs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560000"/>
            <a:ext cx="64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62552"/>
                </a:solidFill>
                <a:latin typeface="Arial"/>
              </a:rPr>
              <a:t>Top key accounts by non-fuel revenue, January to September (J$M)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12648" y="2800000"/>
          <a:ext cx="6399996" cy="2358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11594"/>
                <a:gridCol w="742028"/>
                <a:gridCol w="742028"/>
                <a:gridCol w="742028"/>
                <a:gridCol w="834782"/>
                <a:gridCol w="927536"/>
              </a:tblGrid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Account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GWh 2026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GWh vs 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National Water Commission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2,019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2,156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135.9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−14.9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Caribbean Cement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772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82.3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+11.5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Alcoa Minerals of Jamaica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974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56.2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−10.0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Caribbean Broilers Jamaica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20.3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+0.4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Windalco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20.8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+5.6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Ministry of Health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15.8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Kingston Free Port Terminal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−3%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Restaurants of Jamaica (KFC)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13.3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7315200" y="1572768"/>
            <a:ext cx="4270000" cy="1750000"/>
          </a:xfrm>
          <a:prstGeom prst="rect">
            <a:avLst/>
          </a:prstGeom>
          <a:noFill/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40000" y="1632768"/>
            <a:ext cx="40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6788A"/>
                </a:solidFill>
                <a:latin typeface="Arial"/>
              </a:rPr>
              <a:t>RETENTION, JAN TO SEP 2026 VS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0000" y="1930000"/>
            <a:ext cx="2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552"/>
                </a:solidFill>
                <a:latin typeface="Arial"/>
              </a:rPr>
              <a:t>Accounts billing in both periods</a:t>
            </a:r>
          </a:p>
          <a:p>
            <a:pPr algn="l"/>
            <a:r>
              <a:rPr sz="850" b="0">
                <a:solidFill>
                  <a:srgbClr val="66788A"/>
                </a:solidFill>
                <a:latin typeface="Arial"/>
              </a:rPr>
              <a:t>2,467 of 2,545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0000" y="1930000"/>
            <a:ext cx="15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062552"/>
                </a:solidFill>
                <a:latin typeface="Arial"/>
              </a:rPr>
              <a:t>96.9%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0000" y="2380000"/>
            <a:ext cx="2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552"/>
                </a:solidFill>
                <a:latin typeface="Arial"/>
              </a:rPr>
              <a:t>Volume, net of growth</a:t>
            </a:r>
          </a:p>
          <a:p>
            <a:pPr algn="l"/>
            <a:r>
              <a:rPr sz="850" b="0">
                <a:solidFill>
                  <a:srgbClr val="66788A"/>
                </a:solidFill>
                <a:latin typeface="Arial"/>
              </a:rPr>
              <a:t>86.8% counting losses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0000" y="2380000"/>
            <a:ext cx="15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062552"/>
                </a:solidFill>
                <a:latin typeface="Arial"/>
              </a:rPr>
              <a:t>92.6%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0000" y="2830000"/>
            <a:ext cx="2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552"/>
                </a:solidFill>
                <a:latin typeface="Arial"/>
              </a:rPr>
              <a:t>Non-fuel revenue, net of growth</a:t>
            </a:r>
          </a:p>
          <a:p>
            <a:pPr algn="l"/>
            <a:r>
              <a:rPr sz="850" b="0">
                <a:solidFill>
                  <a:srgbClr val="66788A"/>
                </a:solidFill>
                <a:latin typeface="Arial"/>
              </a:rPr>
              <a:t>89.2% counting losses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0000" y="2830000"/>
            <a:ext cx="15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062552"/>
                </a:solidFill>
                <a:latin typeface="Arial"/>
              </a:rPr>
              <a:t>93.9%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400000"/>
            <a:ext cx="427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Counting accounts alone makes retention look strong. Volume is the better test: a single refinery moves it more than 100 small accounts.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000000"/>
            <a:ext cx="427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2552"/>
                </a:solidFill>
                <a:latin typeface="Arial"/>
              </a:rPr>
              <a:t>Largest changes in non-fuel revenue (J$M)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7315200" y="4220000"/>
          <a:ext cx="4269999" cy="172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53333"/>
                <a:gridCol w="1016666"/>
              </a:tblGrid>
              <a:tr h="172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Account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172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National Water Commission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−137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172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Jamaica Broilers Group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−133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172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Alcoa Minerals of Jamaica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−100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172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Seawind Key Investments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−73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172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Playa Hall Jamaican Resort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−52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172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X Fund Properties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−45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172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Caribbean Cement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+115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172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South Jamaica Power Company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+72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172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Windalco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+30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12648" y="5320000"/>
            <a:ext cx="64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88A"/>
                </a:solidFill>
                <a:latin typeface="Arial"/>
              </a:rPr>
              <a:t>RT40 to RT70 accounts. Non-fuel revenue is energy, demand and customer charges; it excludes fuel, IPP and GCT. Net retention includes growth at retained accounts; the counting-losses-only figure caps each account at its 2025 level. Alcoa August and September demand charges are provisional.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OUTLOOK &amp; RECOVERY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Commercial grows 4.2% in FY2027 as hotels recover; industrial falls 28% to self-generation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Recovery tracking: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review hotel and water-supply volumes monthly against the reopening schedule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1572768"/>
            <a:ext cx="60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62552"/>
                </a:solidFill>
                <a:latin typeface="Arial"/>
              </a:rPr>
              <a:t>Commercial outlook by rate class (GWh)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2648" y="1800000"/>
          <a:ext cx="6199996" cy="1715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57894"/>
                <a:gridCol w="734210"/>
                <a:gridCol w="734210"/>
                <a:gridCol w="734210"/>
                <a:gridCol w="652631"/>
                <a:gridCol w="734210"/>
                <a:gridCol w="652631"/>
              </a:tblGrid>
              <a:tr h="245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Rate class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FY2025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FY2026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FY2027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FY2028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45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RT20 Small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627.3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654.7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691.6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+5.6%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708.4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+2.4%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45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RT40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776.7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771.9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838.6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+8.6%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835.3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−0.4%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45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RT50 Large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362.8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345.7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400.8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+16.0%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433.4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+8.1%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45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RT60 Street lighting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38.6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37.5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39.8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+6.2%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38.8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−2.5%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45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RT70 Industrial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288.1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267.2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193.7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−27.5%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189.5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−2.2%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45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Commercial total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2,093.6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2,076.9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2,164.5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F8F5A"/>
                          </a:solidFill>
                          <a:latin typeface="Arial"/>
                        </a:rPr>
                        <a:t>+4.2%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F1F1F"/>
                          </a:solidFill>
                          <a:latin typeface="Arial"/>
                        </a:rPr>
                        <a:t>2,205.4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1F8F5A"/>
                          </a:solidFill>
                          <a:latin typeface="Arial"/>
                        </a:rPr>
                        <a:t>+1.9%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612648" y="3650000"/>
            <a:ext cx="6200000" cy="22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000" y="3700000"/>
            <a:ext cx="59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6788A"/>
                </a:solidFill>
                <a:latin typeface="Arial"/>
              </a:rPr>
              <a:t>WHAT MOVES THE OUTLOOK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000" y="3910000"/>
            <a:ext cx="59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62552"/>
                </a:solidFill>
                <a:latin typeface="Arial"/>
              </a:rPr>
              <a:t>Recovery adds about 140 GWh in FY2027, </a:t>
            </a:r>
            <a:r>
              <a:rPr sz="950" b="0">
                <a:solidFill>
                  <a:srgbClr val="1F1F1F"/>
                </a:solidFill>
                <a:latin typeface="Arial"/>
              </a:rPr>
              <a:t>led by hotels returning in steps and water supply, which is nearly back to last year.</a:t>
            </a:r>
          </a:p>
          <a:p>
            <a:pPr algn="l"/>
            <a:r>
              <a:rPr sz="950" b="1">
                <a:solidFill>
                  <a:srgbClr val="062552"/>
                </a:solidFill>
                <a:latin typeface="Arial"/>
              </a:rPr>
              <a:t>Defections take about 71 GWh. </a:t>
            </a:r>
            <a:r>
              <a:rPr sz="950" b="0">
                <a:solidFill>
                  <a:srgbClr val="1F1F1F"/>
                </a:solidFill>
                <a:latin typeface="Arial"/>
              </a:rPr>
              <a:t>Alcoa, MBJ Airports and PAC Kingston Airport are decisions already taken.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000" y="4650000"/>
            <a:ext cx="59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6788A"/>
                </a:solidFill>
                <a:latin typeface="Arial"/>
              </a:rPr>
              <a:t>HOTEL REOPENINGS: 5,018 ROOMS, J$4.52B A YEAR, 89.8% BACK BY MID-2027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60000" y="4870000"/>
          <a:ext cx="5899998" cy="94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08510"/>
                <a:gridCol w="1129787"/>
                <a:gridCol w="1255319"/>
                <a:gridCol w="1506382"/>
              </a:tblGrid>
              <a:tr h="235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Hotels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Rooms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J$B a year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35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December 2026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1,982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1.78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35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First half of 2027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2,524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2.27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35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2028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0.46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100000" y="1572768"/>
            <a:ext cx="45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62552"/>
                </a:solidFill>
                <a:latin typeface="Arial"/>
              </a:rPr>
              <a:t>Year on year by month, 2026 vs 2025 (%)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7050000" y="1800000"/>
          <a:ext cx="455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100000" y="4850000"/>
            <a:ext cx="45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2552"/>
                </a:solidFill>
                <a:latin typeface="Arial"/>
              </a:rPr>
              <a:t>Hotels: -31% in January to -19% in September. </a:t>
            </a:r>
            <a:r>
              <a:rPr sz="900" b="0">
                <a:solidFill>
                  <a:srgbClr val="1F1F1F"/>
                </a:solidFill>
                <a:latin typeface="Arial"/>
              </a:rPr>
              <a:t>Water supply: -21% to -0.6%. Commercial total: -14% to -5.8%.</a:t>
            </a:r>
          </a:p>
          <a:p>
            <a:pPr algn="l"/>
            <a:r>
              <a:rPr sz="900" b="0">
                <a:solidFill>
                  <a:srgbClr val="66788A"/>
                </a:solidFill>
                <a:latin typeface="Arial"/>
              </a:rPr>
              <a:t>Storm hit in late October 2025; hotels recover with reopened rooms, water supply with restored pumping.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5900000"/>
            <a:ext cx="620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88A"/>
                </a:solidFill>
                <a:latin typeface="Arial"/>
              </a:rPr>
              <a:t>FY2026 to FY2028 are held at the financials; FY2025 is billed actual. Commercial = RT20 to RT70.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KEY MESSAGES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Volume is recovering, but revenue sits with a few large accounts that can leave: the commercial model protects it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So what and ask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Protect the top accounts: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risk register in Feb, Tier 1 offers in Mar. Board support requested for flexible contracting.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" y="1650000"/>
            <a:ext cx="3560000" cy="35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" y="1650000"/>
            <a:ext cx="3560000" cy="700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48" y="1830000"/>
            <a:ext cx="3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88A"/>
                </a:solidFill>
                <a:latin typeface="Arial"/>
              </a:rPr>
              <a:t>SEPTEMBER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48" y="211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62552"/>
                </a:solidFill>
                <a:latin typeface="Arial"/>
              </a:rPr>
              <a:t>−6.3%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48" y="285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4E95"/>
                </a:solidFill>
                <a:latin typeface="Arial"/>
              </a:rPr>
              <a:t>commercial sales vs budget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48" y="3350000"/>
            <a:ext cx="325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Alcoa's move to self-generation explains 6.5 of the 12.2 GWh gap. 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Year to date: +0.4% vs budget, −5.7% vs 2025.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2648" y="1650000"/>
            <a:ext cx="3560000" cy="35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2648" y="1650000"/>
            <a:ext cx="3560000" cy="700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2648" y="1830000"/>
            <a:ext cx="3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88A"/>
                </a:solidFill>
                <a:latin typeface="Arial"/>
              </a:rPr>
              <a:t>THE 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2648" y="211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62552"/>
                </a:solidFill>
                <a:latin typeface="Arial"/>
              </a:rPr>
              <a:t>94%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2648" y="285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4E95"/>
                </a:solidFill>
                <a:latin typeface="Arial"/>
              </a:rPr>
              <a:t>of key-account revenue retained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2648" y="3350000"/>
            <a:ext cx="325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97% of accounts and 93% of volume stayed. 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Six accounts drive J$540M of the J$0.9bn decline: water supply, Jamaica Broilers and Alcoa lead.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12648" y="1650000"/>
            <a:ext cx="3560000" cy="35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12648" y="1650000"/>
            <a:ext cx="3560000" cy="700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2648" y="1830000"/>
            <a:ext cx="3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88A"/>
                </a:solidFill>
                <a:latin typeface="Arial"/>
              </a:rPr>
              <a:t>AHEAD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648" y="211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62552"/>
                </a:solidFill>
                <a:latin typeface="Arial"/>
              </a:rPr>
              <a:t>+4.2%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2648" y="285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4E95"/>
                </a:solidFill>
                <a:latin typeface="Arial"/>
              </a:rPr>
              <a:t>commercial sales in FY2027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2648" y="3350000"/>
            <a:ext cx="325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Storm recovery adds 140 GWh; three defections take 71 GWh. 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J$4.16B across 18 accounts is still at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4.xml><?xml version="1.0" encoding="utf-8"?>
<a:theme xmlns:a="http://schemas.openxmlformats.org/drawingml/2006/main" name="3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5.xml><?xml version="1.0" encoding="utf-8"?>
<a:theme xmlns:a="http://schemas.openxmlformats.org/drawingml/2006/main" name="4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633e6f-ebdb-440a-a774-fa759bdff499" xsi:nil="true"/>
    <lcf76f155ced4ddcb4097134ff3c332f xmlns="314078b5-608a-4acd-be10-f84d9950b55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2F9971224D164D85402CDCD92571F0" ma:contentTypeVersion="15" ma:contentTypeDescription="Create a new document." ma:contentTypeScope="" ma:versionID="6f610e8dda8b85f32a2f4c3f563442fd">
  <xsd:schema xmlns:xsd="http://www.w3.org/2001/XMLSchema" xmlns:xs="http://www.w3.org/2001/XMLSchema" xmlns:p="http://schemas.microsoft.com/office/2006/metadata/properties" xmlns:ns2="314078b5-608a-4acd-be10-f84d9950b557" xmlns:ns3="35633e6f-ebdb-440a-a774-fa759bdff499" targetNamespace="http://schemas.microsoft.com/office/2006/metadata/properties" ma:root="true" ma:fieldsID="b996becf6236c172bd02dca43b031d92" ns2:_="" ns3:_="">
    <xsd:import namespace="314078b5-608a-4acd-be10-f84d9950b557"/>
    <xsd:import namespace="35633e6f-ebdb-440a-a774-fa759bdff4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4078b5-608a-4acd-be10-f84d9950b5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ac19319-c8f2-47a2-a072-c64feff92b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633e6f-ebdb-440a-a774-fa759bdff49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70a0f98-646f-442f-9059-9ef6884c1a60}" ma:internalName="TaxCatchAll" ma:showField="CatchAllData" ma:web="35633e6f-ebdb-440a-a774-fa759bdff4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F55DFB-36BA-40D6-A75B-CD7EBB17A671}">
  <ds:schemaRefs>
    <ds:schemaRef ds:uri="http://schemas.microsoft.com/office/2006/metadata/properties"/>
    <ds:schemaRef ds:uri="http://www.w3.org/2000/xmlns/"/>
    <ds:schemaRef ds:uri="35633e6f-ebdb-440a-a774-fa759bdff499"/>
    <ds:schemaRef ds:uri="http://www.w3.org/2001/XMLSchema-instance"/>
    <ds:schemaRef ds:uri="314078b5-608a-4acd-be10-f84d9950b557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B860102-9AA7-4D28-A7CB-71C1B8454C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B4E8CB-F0A5-4D60-8783-7F554C1F8B5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314078b5-608a-4acd-be10-f84d9950b557"/>
    <ds:schemaRef ds:uri="35633e6f-ebdb-440a-a774-fa759bdff499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3591</TotalTime>
  <Words>2527</Words>
  <Application>Microsoft Office PowerPoint</Application>
  <PresentationFormat>Widescreen</PresentationFormat>
  <Paragraphs>436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Aileron</vt:lpstr>
      <vt:lpstr>Aileron Bold</vt:lpstr>
      <vt:lpstr>Aptos</vt:lpstr>
      <vt:lpstr>Aptos Black</vt:lpstr>
      <vt:lpstr>Aptos ExtraBold</vt:lpstr>
      <vt:lpstr>Arial</vt:lpstr>
      <vt:lpstr>Calibri</vt:lpstr>
      <vt:lpstr>Gotham Bold</vt:lpstr>
      <vt:lpstr>Gotham Book</vt:lpstr>
      <vt:lpstr>Office Theme</vt:lpstr>
      <vt:lpstr>1_Office Theme</vt:lpstr>
      <vt:lpstr>2_Office Theme</vt:lpstr>
      <vt:lpstr>3_Office Theme</vt:lpstr>
      <vt:lpstr>4_Office Theme</vt:lpstr>
      <vt:lpstr>CLIENT RELATIONS &amp; COMMERCIAL</vt:lpstr>
      <vt:lpstr>APPENDIX</vt:lpstr>
      <vt:lpstr>CLIENT RELATIONS  |  SERVICE &amp; RELIABILITY</vt:lpstr>
      <vt:lpstr>CLIENT RELATIONS  |  DEFECTION RISK</vt:lpstr>
      <vt:lpstr>COMMERCIAL  |  SALES VS BUDGET</vt:lpstr>
      <vt:lpstr>COMMERCIAL  |  GROWTH &amp; TOURISM RECOVERY</vt:lpstr>
      <vt:lpstr>COMMERCIAL  |  BUILDING THE COMMERCIAL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Jhenelle Lewis</dc:creator>
  <cp:lastModifiedBy>Pia Baker</cp:lastModifiedBy>
  <cp:revision>299</cp:revision>
  <dcterms:created xsi:type="dcterms:W3CDTF">2026-06-08T12:41:49Z</dcterms:created>
  <dcterms:modified xsi:type="dcterms:W3CDTF">2026-10-28T22:30:31Z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0x010100122F9971224D164D85402CDCD92571F0</vt:lpwstr>
  </property>
  <property fmtid="{D5CDD505-2E9C-101B-9397-08002B2CF9AE}" pid="3" name="MediaServiceImageTags">
    <vt:lpwstr/>
  </property>
</Properties>
</file>