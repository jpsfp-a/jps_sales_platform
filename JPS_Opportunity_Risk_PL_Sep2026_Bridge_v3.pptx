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  <p:sldMasterId id="2147483712" r:id="rId5"/>
  </p:sldMasterIdLst>
  <p:notesMasterIdLst>
    <p:notesMasterId r:id="rId47"/>
  </p:notesMasterIdLst>
  <p:sldIdLst>
    <p:sldId id="256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000"/>
    <a:srgbClr val="0E4E95"/>
    <a:srgbClr val="009FDA"/>
    <a:srgbClr val="FFFFFF"/>
    <a:srgbClr val="062552"/>
    <a:srgbClr val="FFFDF8"/>
    <a:srgbClr val="FFF000"/>
    <a:srgbClr val="97C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87011" autoAdjust="0"/>
  </p:normalViewPr>
  <p:slideViewPr>
    <p:cSldViewPr snapToGrid="0">
      <p:cViewPr varScale="1">
        <p:scale>
          <a:sx n="99" d="100"/>
          <a:sy n="99" d="100"/>
        </p:scale>
        <p:origin x="10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J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94F2353-5319-4B93-868E-90E661544A21}" type="datetimeFigureOut">
              <a:rPr lang="en-JM" smtClean="0"/>
              <a:t>14/10/2026</a:t>
            </a:fld>
            <a:endParaRPr lang="en-J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J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J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4A6AFF9-10F2-4CAF-B65B-9235AF386E10}" type="slidenum">
              <a:rPr lang="en-JM" smtClean="0"/>
              <a:t>‹#›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76384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September 2026 LE base (Sep26_LE_Exec_PnL_by_Scenario / Presentation P&amp;L Sep 2026 LE v6, Scenario PL): EBITDA US$245.2M, net profit before dividends US$55.1M. Net income impact = impact x (1 - 1/3), rounded to 0.1 before summing. Other income (NFE) $9.0M treated as pre-tax and below EBITDA. Bridge axes are truncated (EBITDA from 240, net income from 45).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71707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64" y="753395"/>
            <a:ext cx="9144000" cy="72247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264" y="1660944"/>
            <a:ext cx="9144000" cy="62964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02947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977461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ransition Slide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D68B-9D38-D375-0E0B-E71B45CF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0"/>
            <a:ext cx="10515600" cy="285273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Separator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A4C5-586B-46CD-F4E4-A44AA159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2185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1D76-F7F7-44F4-0928-16192EA5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EDF8654-4A5A-410F-70D5-0CB8DD014DC0}"/>
              </a:ext>
            </a:extLst>
          </p:cNvPr>
          <p:cNvSpPr/>
          <p:nvPr userDrawn="1"/>
        </p:nvSpPr>
        <p:spPr>
          <a:xfrm>
            <a:off x="418641" y="2002631"/>
            <a:ext cx="234787" cy="2852737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3201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Slid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CE64-907E-2DFA-F136-C1E5CDCA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894C-98E2-34B4-5B80-C191EDBE7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F8B9-305F-D62C-1E11-AD8FA8B9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4DC9-7F3E-7532-D80E-54314305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589295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9F5E3-F3CF-1106-B32E-82CAC70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0033CA9-4BE9-FDD0-037D-C73A3E682E1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27733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06296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A39AC746-0F8C-8731-3C35-4469604CC322}"/>
              </a:ext>
            </a:extLst>
          </p:cNvPr>
          <p:cNvGrpSpPr/>
          <p:nvPr userDrawn="1"/>
        </p:nvGrpSpPr>
        <p:grpSpPr>
          <a:xfrm>
            <a:off x="0" y="0"/>
            <a:ext cx="8021053" cy="6858000"/>
            <a:chOff x="0" y="0"/>
            <a:chExt cx="3694747" cy="2709333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7BE17A93-7FBF-2E2F-8B58-82E731C41C76}"/>
                </a:ext>
              </a:extLst>
            </p:cNvPr>
            <p:cNvSpPr/>
            <p:nvPr/>
          </p:nvSpPr>
          <p:spPr>
            <a:xfrm>
              <a:off x="0" y="0"/>
              <a:ext cx="3694747" cy="2709333"/>
            </a:xfrm>
            <a:custGeom>
              <a:avLst/>
              <a:gdLst/>
              <a:ahLst/>
              <a:cxnLst/>
              <a:rect l="l" t="t" r="r" b="b"/>
              <a:pathLst>
                <a:path w="3694747" h="2709333">
                  <a:moveTo>
                    <a:pt x="0" y="0"/>
                  </a:moveTo>
                  <a:lnTo>
                    <a:pt x="3694747" y="0"/>
                  </a:lnTo>
                  <a:lnTo>
                    <a:pt x="369474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C60A4">
                    <a:alpha val="100000"/>
                  </a:srgbClr>
                </a:gs>
                <a:gs pos="100000">
                  <a:srgbClr val="06255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JM"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4F536023-7B7E-5E02-7BDB-8029957D9838}"/>
                </a:ext>
              </a:extLst>
            </p:cNvPr>
            <p:cNvSpPr txBox="1"/>
            <p:nvPr/>
          </p:nvSpPr>
          <p:spPr>
            <a:xfrm>
              <a:off x="0" y="-38100"/>
              <a:ext cx="369474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110C61-80E7-54DA-AE45-FAD0695662ED}"/>
              </a:ext>
            </a:extLst>
          </p:cNvPr>
          <p:cNvSpPr/>
          <p:nvPr userDrawn="1"/>
        </p:nvSpPr>
        <p:spPr>
          <a:xfrm>
            <a:off x="5157281" y="6490721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32883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ple Samp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1C56-D50C-E00F-A566-6510789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Timeline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7EFC4-7E64-FCB0-691D-3FEA22FB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733249" cy="399264"/>
          </a:xfrm>
        </p:spPr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3FA75-D5B7-7721-506F-2C139D3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DA6D51-0096-3EF2-8EA8-65807A921332}"/>
              </a:ext>
            </a:extLst>
          </p:cNvPr>
          <p:cNvGrpSpPr/>
          <p:nvPr userDrawn="1"/>
        </p:nvGrpSpPr>
        <p:grpSpPr>
          <a:xfrm>
            <a:off x="1202571" y="2143158"/>
            <a:ext cx="946844" cy="971454"/>
            <a:chOff x="0" y="-14473"/>
            <a:chExt cx="556826" cy="571299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AAF412B-C6FB-58D8-CD2A-88EAEA032B0D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3ADC7E24-88FE-D365-A98D-C65B6F5E92A0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868748-0B27-5CDD-AE5C-4800B2233183}"/>
              </a:ext>
            </a:extLst>
          </p:cNvPr>
          <p:cNvGrpSpPr/>
          <p:nvPr userDrawn="1"/>
        </p:nvGrpSpPr>
        <p:grpSpPr>
          <a:xfrm>
            <a:off x="8714997" y="4262647"/>
            <a:ext cx="2457578" cy="1530344"/>
            <a:chOff x="0" y="-28575"/>
            <a:chExt cx="3276771" cy="2040459"/>
          </a:xfrm>
        </p:grpSpPr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4A229842-87A8-33EA-DE8E-2C0A9FB39D2E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2015</a:t>
              </a:r>
            </a:p>
          </p:txBody>
        </p:sp>
        <p:sp>
          <p:nvSpPr>
            <p:cNvPr id="50" name="TextBox 7">
              <a:extLst>
                <a:ext uri="{FF2B5EF4-FFF2-40B4-BE49-F238E27FC236}">
                  <a16:creationId xmlns:a16="http://schemas.microsoft.com/office/drawing/2014/main" id="{50297581-D24E-B736-C2E3-1E629C725569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0D0A38-4D5E-6B41-7A74-4C009A0B102E}"/>
              </a:ext>
            </a:extLst>
          </p:cNvPr>
          <p:cNvGrpSpPr/>
          <p:nvPr userDrawn="1"/>
        </p:nvGrpSpPr>
        <p:grpSpPr>
          <a:xfrm>
            <a:off x="451184" y="4262647"/>
            <a:ext cx="2457578" cy="1530344"/>
            <a:chOff x="0" y="-28575"/>
            <a:chExt cx="3276771" cy="2040459"/>
          </a:xfrm>
        </p:grpSpPr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B335BCA9-845D-3C1C-61E6-EA2B82CF218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1980</a:t>
              </a:r>
            </a:p>
          </p:txBody>
        </p:sp>
        <p:sp>
          <p:nvSpPr>
            <p:cNvPr id="48" name="TextBox 10">
              <a:extLst>
                <a:ext uri="{FF2B5EF4-FFF2-40B4-BE49-F238E27FC236}">
                  <a16:creationId xmlns:a16="http://schemas.microsoft.com/office/drawing/2014/main" id="{C400E550-EB0D-905B-3FC9-7AF480269C46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7EB83-DA75-A735-2374-55CEFCA42838}"/>
              </a:ext>
            </a:extLst>
          </p:cNvPr>
          <p:cNvGrpSpPr/>
          <p:nvPr userDrawn="1"/>
        </p:nvGrpSpPr>
        <p:grpSpPr>
          <a:xfrm>
            <a:off x="3205788" y="4262647"/>
            <a:ext cx="2457578" cy="1530344"/>
            <a:chOff x="0" y="-28575"/>
            <a:chExt cx="3276771" cy="2040459"/>
          </a:xfrm>
        </p:grpSpPr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F2158044-E681-9E6D-315D-1E5F8C79133F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1981</a:t>
              </a:r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7B544EC8-4E09-2AFA-C2AA-5438BD21479A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EBEFF6-F57A-9EE1-EE47-A067270E2CCC}"/>
              </a:ext>
            </a:extLst>
          </p:cNvPr>
          <p:cNvGrpSpPr/>
          <p:nvPr userDrawn="1"/>
        </p:nvGrpSpPr>
        <p:grpSpPr>
          <a:xfrm>
            <a:off x="5960393" y="4262647"/>
            <a:ext cx="2457578" cy="1530344"/>
            <a:chOff x="0" y="-28575"/>
            <a:chExt cx="3276771" cy="2040459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F48B2A52-DA7A-B5F2-AE66-392C1711945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2011</a:t>
              </a:r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FC7E0932-21D0-3824-DE1F-86208194ECDB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46210-36A3-661B-DC89-11523C75E9CB}"/>
              </a:ext>
            </a:extLst>
          </p:cNvPr>
          <p:cNvGrpSpPr/>
          <p:nvPr userDrawn="1"/>
        </p:nvGrpSpPr>
        <p:grpSpPr>
          <a:xfrm>
            <a:off x="4027070" y="2125884"/>
            <a:ext cx="946844" cy="971454"/>
            <a:chOff x="0" y="-14473"/>
            <a:chExt cx="556826" cy="571299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F92C169-4533-35D8-F865-37BCE2C88335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E4E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524C1F9B-974F-33AF-76B3-AD3A8BBC2D51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5EFC44-4732-467D-0BB9-9639FFAE5D5C}"/>
              </a:ext>
            </a:extLst>
          </p:cNvPr>
          <p:cNvGrpSpPr/>
          <p:nvPr userDrawn="1"/>
        </p:nvGrpSpPr>
        <p:grpSpPr>
          <a:xfrm>
            <a:off x="6713372" y="2143158"/>
            <a:ext cx="946844" cy="971454"/>
            <a:chOff x="0" y="-14473"/>
            <a:chExt cx="556826" cy="57129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F6FA1B7-7695-A8F9-9930-6ABC935139CF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6255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7B6E1EE0-FE91-8AD9-36A2-1EC012E34EFB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FD45E0-CFEB-C722-3C2F-676614F9A6BD}"/>
              </a:ext>
            </a:extLst>
          </p:cNvPr>
          <p:cNvGrpSpPr/>
          <p:nvPr userDrawn="1"/>
        </p:nvGrpSpPr>
        <p:grpSpPr>
          <a:xfrm>
            <a:off x="9468772" y="2143158"/>
            <a:ext cx="946844" cy="971454"/>
            <a:chOff x="0" y="-14473"/>
            <a:chExt cx="556826" cy="571299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49AB401-36D5-BF2E-2A63-B11D712ABE32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37647DDC-735C-32A2-CE57-A46D0AE04D54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4</a:t>
              </a:r>
            </a:p>
          </p:txBody>
        </p:sp>
      </p:grpSp>
      <p:sp>
        <p:nvSpPr>
          <p:cNvPr id="18" name="AutoShape 38">
            <a:extLst>
              <a:ext uri="{FF2B5EF4-FFF2-40B4-BE49-F238E27FC236}">
                <a16:creationId xmlns:a16="http://schemas.microsoft.com/office/drawing/2014/main" id="{5B55CC53-4B0B-1F7A-E6CF-1D807C272B88}"/>
              </a:ext>
            </a:extLst>
          </p:cNvPr>
          <p:cNvSpPr/>
          <p:nvPr userDrawn="1"/>
        </p:nvSpPr>
        <p:spPr>
          <a:xfrm>
            <a:off x="1675993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147CB15D-6D2B-85B2-EA0A-A2D72009459A}"/>
              </a:ext>
            </a:extLst>
          </p:cNvPr>
          <p:cNvSpPr/>
          <p:nvPr userDrawn="1"/>
        </p:nvSpPr>
        <p:spPr>
          <a:xfrm>
            <a:off x="4500492" y="3097338"/>
            <a:ext cx="0" cy="810133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40">
            <a:extLst>
              <a:ext uri="{FF2B5EF4-FFF2-40B4-BE49-F238E27FC236}">
                <a16:creationId xmlns:a16="http://schemas.microsoft.com/office/drawing/2014/main" id="{26EBBA74-6593-863D-9566-7B0F68E2231E}"/>
              </a:ext>
            </a:extLst>
          </p:cNvPr>
          <p:cNvSpPr/>
          <p:nvPr userDrawn="1"/>
        </p:nvSpPr>
        <p:spPr>
          <a:xfrm>
            <a:off x="71867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41">
            <a:extLst>
              <a:ext uri="{FF2B5EF4-FFF2-40B4-BE49-F238E27FC236}">
                <a16:creationId xmlns:a16="http://schemas.microsoft.com/office/drawing/2014/main" id="{87B37EE5-3174-E60F-EB7F-28EAFCDB990B}"/>
              </a:ext>
            </a:extLst>
          </p:cNvPr>
          <p:cNvSpPr/>
          <p:nvPr userDrawn="1"/>
        </p:nvSpPr>
        <p:spPr>
          <a:xfrm>
            <a:off x="99421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44">
            <a:extLst>
              <a:ext uri="{FF2B5EF4-FFF2-40B4-BE49-F238E27FC236}">
                <a16:creationId xmlns:a16="http://schemas.microsoft.com/office/drawing/2014/main" id="{B173C173-30D8-B176-A7DA-38D50DA243C0}"/>
              </a:ext>
            </a:extLst>
          </p:cNvPr>
          <p:cNvSpPr/>
          <p:nvPr userDrawn="1"/>
        </p:nvSpPr>
        <p:spPr>
          <a:xfrm flipV="1">
            <a:off x="2149415" y="2623916"/>
            <a:ext cx="1877655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45">
            <a:extLst>
              <a:ext uri="{FF2B5EF4-FFF2-40B4-BE49-F238E27FC236}">
                <a16:creationId xmlns:a16="http://schemas.microsoft.com/office/drawing/2014/main" id="{683F0CD1-60C5-B175-6B13-F66EA667B0AD}"/>
              </a:ext>
            </a:extLst>
          </p:cNvPr>
          <p:cNvSpPr/>
          <p:nvPr userDrawn="1"/>
        </p:nvSpPr>
        <p:spPr>
          <a:xfrm>
            <a:off x="4973915" y="2623916"/>
            <a:ext cx="1739457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F428AD71-9119-EE29-B4D0-C39466C2D067}"/>
              </a:ext>
            </a:extLst>
          </p:cNvPr>
          <p:cNvSpPr/>
          <p:nvPr userDrawn="1"/>
        </p:nvSpPr>
        <p:spPr>
          <a:xfrm>
            <a:off x="7660216" y="2641190"/>
            <a:ext cx="1808556" cy="0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CCF2BEBE-A490-1991-D680-2F8AB220AA36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43575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Gotham Book" panose="0200060404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5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Title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9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E393-2E9A-9983-45BF-77A29608D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07995"/>
            <a:ext cx="3932237" cy="1172679"/>
          </a:xfrm>
        </p:spPr>
        <p:txBody>
          <a:bodyPr anchor="t"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Header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9BD8-2B4F-4CEE-835C-9912AAF944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Insert Photo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56C8-AD1A-1557-910F-A40E7EAEA0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Insert Summary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FC0C9-500F-FE4D-7059-F06EBA9D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043863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480E6-F565-AA43-351F-D8B3E480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B0E02BF-5253-F5F0-3096-EB50B28B984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224152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310247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64" y="753395"/>
            <a:ext cx="9144000" cy="72247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264" y="1660944"/>
            <a:ext cx="9144000" cy="62964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914213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231554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ransition Slide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D68B-9D38-D375-0E0B-E71B45CF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0"/>
            <a:ext cx="10515600" cy="285273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Separator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A4C5-586B-46CD-F4E4-A44AA159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2185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1D76-F7F7-44F4-0928-16192EA5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EDF8654-4A5A-410F-70D5-0CB8DD014DC0}"/>
              </a:ext>
            </a:extLst>
          </p:cNvPr>
          <p:cNvSpPr/>
          <p:nvPr userDrawn="1"/>
        </p:nvSpPr>
        <p:spPr>
          <a:xfrm>
            <a:off x="418641" y="2002631"/>
            <a:ext cx="234787" cy="2852737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538788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Content Slid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CE64-907E-2DFA-F136-C1E5CDCA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894C-98E2-34B4-5B80-C191EDBE7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F8B9-305F-D62C-1E11-AD8FA8B9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4DC9-7F3E-7532-D80E-54314305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589295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9F5E3-F3CF-1106-B32E-82CAC70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0033CA9-4BE9-FDD0-037D-C73A3E682E1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762649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53701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A39AC746-0F8C-8731-3C35-4469604CC322}"/>
              </a:ext>
            </a:extLst>
          </p:cNvPr>
          <p:cNvGrpSpPr/>
          <p:nvPr userDrawn="1"/>
        </p:nvGrpSpPr>
        <p:grpSpPr>
          <a:xfrm>
            <a:off x="0" y="0"/>
            <a:ext cx="8021053" cy="6858000"/>
            <a:chOff x="0" y="0"/>
            <a:chExt cx="3694747" cy="2709333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7BE17A93-7FBF-2E2F-8B58-82E731C41C76}"/>
                </a:ext>
              </a:extLst>
            </p:cNvPr>
            <p:cNvSpPr/>
            <p:nvPr/>
          </p:nvSpPr>
          <p:spPr>
            <a:xfrm>
              <a:off x="0" y="0"/>
              <a:ext cx="3694747" cy="2709333"/>
            </a:xfrm>
            <a:custGeom>
              <a:avLst/>
              <a:gdLst/>
              <a:ahLst/>
              <a:cxnLst/>
              <a:rect l="l" t="t" r="r" b="b"/>
              <a:pathLst>
                <a:path w="3694747" h="2709333">
                  <a:moveTo>
                    <a:pt x="0" y="0"/>
                  </a:moveTo>
                  <a:lnTo>
                    <a:pt x="3694747" y="0"/>
                  </a:lnTo>
                  <a:lnTo>
                    <a:pt x="369474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C60A4">
                    <a:alpha val="100000"/>
                  </a:srgbClr>
                </a:gs>
                <a:gs pos="100000">
                  <a:srgbClr val="06255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JM"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4F536023-7B7E-5E02-7BDB-8029957D9838}"/>
                </a:ext>
              </a:extLst>
            </p:cNvPr>
            <p:cNvSpPr txBox="1"/>
            <p:nvPr/>
          </p:nvSpPr>
          <p:spPr>
            <a:xfrm>
              <a:off x="0" y="-38100"/>
              <a:ext cx="369474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110C61-80E7-54DA-AE45-FAD0695662ED}"/>
              </a:ext>
            </a:extLst>
          </p:cNvPr>
          <p:cNvSpPr/>
          <p:nvPr userDrawn="1"/>
        </p:nvSpPr>
        <p:spPr>
          <a:xfrm>
            <a:off x="5157281" y="6490721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42917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mple Samp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1C56-D50C-E00F-A566-6510789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Timeline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7EFC4-7E64-FCB0-691D-3FEA22FB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733249" cy="399264"/>
          </a:xfrm>
        </p:spPr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3FA75-D5B7-7721-506F-2C139D3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DA6D51-0096-3EF2-8EA8-65807A921332}"/>
              </a:ext>
            </a:extLst>
          </p:cNvPr>
          <p:cNvGrpSpPr/>
          <p:nvPr userDrawn="1"/>
        </p:nvGrpSpPr>
        <p:grpSpPr>
          <a:xfrm>
            <a:off x="1202571" y="2143158"/>
            <a:ext cx="946844" cy="971454"/>
            <a:chOff x="0" y="-14473"/>
            <a:chExt cx="556826" cy="571299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AAF412B-C6FB-58D8-CD2A-88EAEA032B0D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3ADC7E24-88FE-D365-A98D-C65B6F5E92A0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868748-0B27-5CDD-AE5C-4800B2233183}"/>
              </a:ext>
            </a:extLst>
          </p:cNvPr>
          <p:cNvGrpSpPr/>
          <p:nvPr userDrawn="1"/>
        </p:nvGrpSpPr>
        <p:grpSpPr>
          <a:xfrm>
            <a:off x="8714997" y="4262647"/>
            <a:ext cx="2457578" cy="1530344"/>
            <a:chOff x="0" y="-28575"/>
            <a:chExt cx="3276771" cy="2040459"/>
          </a:xfrm>
        </p:grpSpPr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4A229842-87A8-33EA-DE8E-2C0A9FB39D2E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2015</a:t>
              </a:r>
            </a:p>
          </p:txBody>
        </p:sp>
        <p:sp>
          <p:nvSpPr>
            <p:cNvPr id="50" name="TextBox 7">
              <a:extLst>
                <a:ext uri="{FF2B5EF4-FFF2-40B4-BE49-F238E27FC236}">
                  <a16:creationId xmlns:a16="http://schemas.microsoft.com/office/drawing/2014/main" id="{50297581-D24E-B736-C2E3-1E629C725569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0D0A38-4D5E-6B41-7A74-4C009A0B102E}"/>
              </a:ext>
            </a:extLst>
          </p:cNvPr>
          <p:cNvGrpSpPr/>
          <p:nvPr userDrawn="1"/>
        </p:nvGrpSpPr>
        <p:grpSpPr>
          <a:xfrm>
            <a:off x="451184" y="4262647"/>
            <a:ext cx="2457578" cy="1530344"/>
            <a:chOff x="0" y="-28575"/>
            <a:chExt cx="3276771" cy="2040459"/>
          </a:xfrm>
        </p:grpSpPr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B335BCA9-845D-3C1C-61E6-EA2B82CF218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1980</a:t>
              </a:r>
            </a:p>
          </p:txBody>
        </p:sp>
        <p:sp>
          <p:nvSpPr>
            <p:cNvPr id="48" name="TextBox 10">
              <a:extLst>
                <a:ext uri="{FF2B5EF4-FFF2-40B4-BE49-F238E27FC236}">
                  <a16:creationId xmlns:a16="http://schemas.microsoft.com/office/drawing/2014/main" id="{C400E550-EB0D-905B-3FC9-7AF480269C46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7EB83-DA75-A735-2374-55CEFCA42838}"/>
              </a:ext>
            </a:extLst>
          </p:cNvPr>
          <p:cNvGrpSpPr/>
          <p:nvPr userDrawn="1"/>
        </p:nvGrpSpPr>
        <p:grpSpPr>
          <a:xfrm>
            <a:off x="3205788" y="4262647"/>
            <a:ext cx="2457578" cy="1530344"/>
            <a:chOff x="0" y="-28575"/>
            <a:chExt cx="3276771" cy="2040459"/>
          </a:xfrm>
        </p:grpSpPr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F2158044-E681-9E6D-315D-1E5F8C79133F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1981</a:t>
              </a:r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7B544EC8-4E09-2AFA-C2AA-5438BD21479A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EBEFF6-F57A-9EE1-EE47-A067270E2CCC}"/>
              </a:ext>
            </a:extLst>
          </p:cNvPr>
          <p:cNvGrpSpPr/>
          <p:nvPr userDrawn="1"/>
        </p:nvGrpSpPr>
        <p:grpSpPr>
          <a:xfrm>
            <a:off x="5960393" y="4262647"/>
            <a:ext cx="2457578" cy="1530344"/>
            <a:chOff x="0" y="-28575"/>
            <a:chExt cx="3276771" cy="2040459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F48B2A52-DA7A-B5F2-AE66-392C1711945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2011</a:t>
              </a:r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FC7E0932-21D0-3824-DE1F-86208194ECDB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46210-36A3-661B-DC89-11523C75E9CB}"/>
              </a:ext>
            </a:extLst>
          </p:cNvPr>
          <p:cNvGrpSpPr/>
          <p:nvPr userDrawn="1"/>
        </p:nvGrpSpPr>
        <p:grpSpPr>
          <a:xfrm>
            <a:off x="4027070" y="2125884"/>
            <a:ext cx="946844" cy="971454"/>
            <a:chOff x="0" y="-14473"/>
            <a:chExt cx="556826" cy="571299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F92C169-4533-35D8-F865-37BCE2C88335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E4E95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524C1F9B-974F-33AF-76B3-AD3A8BBC2D51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5EFC44-4732-467D-0BB9-9639FFAE5D5C}"/>
              </a:ext>
            </a:extLst>
          </p:cNvPr>
          <p:cNvGrpSpPr/>
          <p:nvPr userDrawn="1"/>
        </p:nvGrpSpPr>
        <p:grpSpPr>
          <a:xfrm>
            <a:off x="6713372" y="2143158"/>
            <a:ext cx="946844" cy="971454"/>
            <a:chOff x="0" y="-14473"/>
            <a:chExt cx="556826" cy="57129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F6FA1B7-7695-A8F9-9930-6ABC935139CF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62552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7B6E1EE0-FE91-8AD9-36A2-1EC012E34EFB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FD45E0-CFEB-C722-3C2F-676614F9A6BD}"/>
              </a:ext>
            </a:extLst>
          </p:cNvPr>
          <p:cNvGrpSpPr/>
          <p:nvPr userDrawn="1"/>
        </p:nvGrpSpPr>
        <p:grpSpPr>
          <a:xfrm>
            <a:off x="9468772" y="2143158"/>
            <a:ext cx="946844" cy="971454"/>
            <a:chOff x="0" y="-14473"/>
            <a:chExt cx="556826" cy="571299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49AB401-36D5-BF2E-2A63-B11D712ABE32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37647DDC-735C-32A2-CE57-A46D0AE04D54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4</a:t>
              </a:r>
            </a:p>
          </p:txBody>
        </p:sp>
      </p:grpSp>
      <p:sp>
        <p:nvSpPr>
          <p:cNvPr id="18" name="AutoShape 38">
            <a:extLst>
              <a:ext uri="{FF2B5EF4-FFF2-40B4-BE49-F238E27FC236}">
                <a16:creationId xmlns:a16="http://schemas.microsoft.com/office/drawing/2014/main" id="{5B55CC53-4B0B-1F7A-E6CF-1D807C272B88}"/>
              </a:ext>
            </a:extLst>
          </p:cNvPr>
          <p:cNvSpPr/>
          <p:nvPr userDrawn="1"/>
        </p:nvSpPr>
        <p:spPr>
          <a:xfrm>
            <a:off x="1675993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147CB15D-6D2B-85B2-EA0A-A2D72009459A}"/>
              </a:ext>
            </a:extLst>
          </p:cNvPr>
          <p:cNvSpPr/>
          <p:nvPr userDrawn="1"/>
        </p:nvSpPr>
        <p:spPr>
          <a:xfrm>
            <a:off x="4500492" y="3097338"/>
            <a:ext cx="0" cy="810133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40">
            <a:extLst>
              <a:ext uri="{FF2B5EF4-FFF2-40B4-BE49-F238E27FC236}">
                <a16:creationId xmlns:a16="http://schemas.microsoft.com/office/drawing/2014/main" id="{26EBBA74-6593-863D-9566-7B0F68E2231E}"/>
              </a:ext>
            </a:extLst>
          </p:cNvPr>
          <p:cNvSpPr/>
          <p:nvPr userDrawn="1"/>
        </p:nvSpPr>
        <p:spPr>
          <a:xfrm>
            <a:off x="71867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41">
            <a:extLst>
              <a:ext uri="{FF2B5EF4-FFF2-40B4-BE49-F238E27FC236}">
                <a16:creationId xmlns:a16="http://schemas.microsoft.com/office/drawing/2014/main" id="{87B37EE5-3174-E60F-EB7F-28EAFCDB990B}"/>
              </a:ext>
            </a:extLst>
          </p:cNvPr>
          <p:cNvSpPr/>
          <p:nvPr userDrawn="1"/>
        </p:nvSpPr>
        <p:spPr>
          <a:xfrm>
            <a:off x="99421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44">
            <a:extLst>
              <a:ext uri="{FF2B5EF4-FFF2-40B4-BE49-F238E27FC236}">
                <a16:creationId xmlns:a16="http://schemas.microsoft.com/office/drawing/2014/main" id="{B173C173-30D8-B176-A7DA-38D50DA243C0}"/>
              </a:ext>
            </a:extLst>
          </p:cNvPr>
          <p:cNvSpPr/>
          <p:nvPr userDrawn="1"/>
        </p:nvSpPr>
        <p:spPr>
          <a:xfrm flipV="1">
            <a:off x="2149415" y="2623916"/>
            <a:ext cx="1877655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45">
            <a:extLst>
              <a:ext uri="{FF2B5EF4-FFF2-40B4-BE49-F238E27FC236}">
                <a16:creationId xmlns:a16="http://schemas.microsoft.com/office/drawing/2014/main" id="{683F0CD1-60C5-B175-6B13-F66EA667B0AD}"/>
              </a:ext>
            </a:extLst>
          </p:cNvPr>
          <p:cNvSpPr/>
          <p:nvPr userDrawn="1"/>
        </p:nvSpPr>
        <p:spPr>
          <a:xfrm>
            <a:off x="4973915" y="2623916"/>
            <a:ext cx="1739457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F428AD71-9119-EE29-B4D0-C39466C2D067}"/>
              </a:ext>
            </a:extLst>
          </p:cNvPr>
          <p:cNvSpPr/>
          <p:nvPr userDrawn="1"/>
        </p:nvSpPr>
        <p:spPr>
          <a:xfrm>
            <a:off x="7660216" y="2641190"/>
            <a:ext cx="1808556" cy="0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CCF2BEBE-A490-1991-D680-2F8AB220AA36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961092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87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Title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63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E393-2E9A-9983-45BF-77A29608D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07995"/>
            <a:ext cx="3932237" cy="1172679"/>
          </a:xfrm>
        </p:spPr>
        <p:txBody>
          <a:bodyPr anchor="t"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Header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9BD8-2B4F-4CEE-835C-9912AAF944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Insert Photo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56C8-AD1A-1557-910F-A40E7EAEA0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Insert Summary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FC0C9-500F-FE4D-7059-F06EBA9D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043863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480E6-F565-AA43-351F-D8B3E480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B0E02BF-5253-F5F0-3096-EB50B28B984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7382607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4295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7064612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64" y="753395"/>
            <a:ext cx="9144000" cy="72247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264" y="1660944"/>
            <a:ext cx="9144000" cy="62964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5787820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2564249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ransition Slide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D68B-9D38-D375-0E0B-E71B45CF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0"/>
            <a:ext cx="10515600" cy="285273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Separator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A4C5-586B-46CD-F4E4-A44AA159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2185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1D76-F7F7-44F4-0928-16192EA5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EDF8654-4A5A-410F-70D5-0CB8DD014DC0}"/>
              </a:ext>
            </a:extLst>
          </p:cNvPr>
          <p:cNvSpPr/>
          <p:nvPr userDrawn="1"/>
        </p:nvSpPr>
        <p:spPr>
          <a:xfrm>
            <a:off x="418641" y="2002631"/>
            <a:ext cx="234787" cy="2852737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7438169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Slid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CE64-907E-2DFA-F136-C1E5CDCA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894C-98E2-34B4-5B80-C191EDBE7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F8B9-305F-D62C-1E11-AD8FA8B9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4DC9-7F3E-7532-D80E-54314305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589295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9F5E3-F3CF-1106-B32E-82CAC70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0033CA9-4BE9-FDD0-037D-C73A3E682E1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8604315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2070811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A39AC746-0F8C-8731-3C35-4469604CC322}"/>
              </a:ext>
            </a:extLst>
          </p:cNvPr>
          <p:cNvGrpSpPr/>
          <p:nvPr userDrawn="1"/>
        </p:nvGrpSpPr>
        <p:grpSpPr>
          <a:xfrm>
            <a:off x="0" y="0"/>
            <a:ext cx="8021053" cy="6858000"/>
            <a:chOff x="0" y="0"/>
            <a:chExt cx="3694747" cy="2709333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7BE17A93-7FBF-2E2F-8B58-82E731C41C76}"/>
                </a:ext>
              </a:extLst>
            </p:cNvPr>
            <p:cNvSpPr/>
            <p:nvPr/>
          </p:nvSpPr>
          <p:spPr>
            <a:xfrm>
              <a:off x="0" y="0"/>
              <a:ext cx="3694747" cy="2709333"/>
            </a:xfrm>
            <a:custGeom>
              <a:avLst/>
              <a:gdLst/>
              <a:ahLst/>
              <a:cxnLst/>
              <a:rect l="l" t="t" r="r" b="b"/>
              <a:pathLst>
                <a:path w="3694747" h="2709333">
                  <a:moveTo>
                    <a:pt x="0" y="0"/>
                  </a:moveTo>
                  <a:lnTo>
                    <a:pt x="3694747" y="0"/>
                  </a:lnTo>
                  <a:lnTo>
                    <a:pt x="369474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C60A4">
                    <a:alpha val="100000"/>
                  </a:srgbClr>
                </a:gs>
                <a:gs pos="100000">
                  <a:srgbClr val="06255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JM"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4F536023-7B7E-5E02-7BDB-8029957D9838}"/>
                </a:ext>
              </a:extLst>
            </p:cNvPr>
            <p:cNvSpPr txBox="1"/>
            <p:nvPr/>
          </p:nvSpPr>
          <p:spPr>
            <a:xfrm>
              <a:off x="0" y="-38100"/>
              <a:ext cx="369474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6C8BDA-BFA9-C52B-1EDA-99DDBA8DE60B}"/>
              </a:ext>
            </a:extLst>
          </p:cNvPr>
          <p:cNvSpPr/>
          <p:nvPr userDrawn="1"/>
        </p:nvSpPr>
        <p:spPr>
          <a:xfrm>
            <a:off x="5157281" y="6487156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968697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ple Samp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1C56-D50C-E00F-A566-6510789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Timeline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7EFC4-7E64-FCB0-691D-3FEA22FB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733249" cy="399264"/>
          </a:xfrm>
        </p:spPr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3FA75-D5B7-7721-506F-2C139D3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DA6D51-0096-3EF2-8EA8-65807A921332}"/>
              </a:ext>
            </a:extLst>
          </p:cNvPr>
          <p:cNvGrpSpPr/>
          <p:nvPr userDrawn="1"/>
        </p:nvGrpSpPr>
        <p:grpSpPr>
          <a:xfrm>
            <a:off x="1202571" y="2143158"/>
            <a:ext cx="946844" cy="971454"/>
            <a:chOff x="0" y="-14473"/>
            <a:chExt cx="556826" cy="571299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AAF412B-C6FB-58D8-CD2A-88EAEA032B0D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3ADC7E24-88FE-D365-A98D-C65B6F5E92A0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868748-0B27-5CDD-AE5C-4800B2233183}"/>
              </a:ext>
            </a:extLst>
          </p:cNvPr>
          <p:cNvGrpSpPr/>
          <p:nvPr userDrawn="1"/>
        </p:nvGrpSpPr>
        <p:grpSpPr>
          <a:xfrm>
            <a:off x="8714997" y="4262647"/>
            <a:ext cx="2457578" cy="1530344"/>
            <a:chOff x="0" y="-28575"/>
            <a:chExt cx="3276771" cy="2040459"/>
          </a:xfrm>
        </p:grpSpPr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4A229842-87A8-33EA-DE8E-2C0A9FB39D2E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2015</a:t>
              </a:r>
            </a:p>
          </p:txBody>
        </p:sp>
        <p:sp>
          <p:nvSpPr>
            <p:cNvPr id="50" name="TextBox 7">
              <a:extLst>
                <a:ext uri="{FF2B5EF4-FFF2-40B4-BE49-F238E27FC236}">
                  <a16:creationId xmlns:a16="http://schemas.microsoft.com/office/drawing/2014/main" id="{50297581-D24E-B736-C2E3-1E629C725569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0D0A38-4D5E-6B41-7A74-4C009A0B102E}"/>
              </a:ext>
            </a:extLst>
          </p:cNvPr>
          <p:cNvGrpSpPr/>
          <p:nvPr userDrawn="1"/>
        </p:nvGrpSpPr>
        <p:grpSpPr>
          <a:xfrm>
            <a:off x="451184" y="4262647"/>
            <a:ext cx="2457578" cy="1530344"/>
            <a:chOff x="0" y="-28575"/>
            <a:chExt cx="3276771" cy="2040459"/>
          </a:xfrm>
        </p:grpSpPr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B335BCA9-845D-3C1C-61E6-EA2B82CF218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1980</a:t>
              </a:r>
            </a:p>
          </p:txBody>
        </p:sp>
        <p:sp>
          <p:nvSpPr>
            <p:cNvPr id="48" name="TextBox 10">
              <a:extLst>
                <a:ext uri="{FF2B5EF4-FFF2-40B4-BE49-F238E27FC236}">
                  <a16:creationId xmlns:a16="http://schemas.microsoft.com/office/drawing/2014/main" id="{C400E550-EB0D-905B-3FC9-7AF480269C46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7EB83-DA75-A735-2374-55CEFCA42838}"/>
              </a:ext>
            </a:extLst>
          </p:cNvPr>
          <p:cNvGrpSpPr/>
          <p:nvPr userDrawn="1"/>
        </p:nvGrpSpPr>
        <p:grpSpPr>
          <a:xfrm>
            <a:off x="3205788" y="4262647"/>
            <a:ext cx="2457578" cy="1530344"/>
            <a:chOff x="0" y="-28575"/>
            <a:chExt cx="3276771" cy="2040459"/>
          </a:xfrm>
        </p:grpSpPr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F2158044-E681-9E6D-315D-1E5F8C79133F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1981</a:t>
              </a:r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7B544EC8-4E09-2AFA-C2AA-5438BD21479A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EBEFF6-F57A-9EE1-EE47-A067270E2CCC}"/>
              </a:ext>
            </a:extLst>
          </p:cNvPr>
          <p:cNvGrpSpPr/>
          <p:nvPr userDrawn="1"/>
        </p:nvGrpSpPr>
        <p:grpSpPr>
          <a:xfrm>
            <a:off x="5960393" y="4262647"/>
            <a:ext cx="2457578" cy="1530344"/>
            <a:chOff x="0" y="-28575"/>
            <a:chExt cx="3276771" cy="2040459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F48B2A52-DA7A-B5F2-AE66-392C1711945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2011</a:t>
              </a:r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FC7E0932-21D0-3824-DE1F-86208194ECDB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46210-36A3-661B-DC89-11523C75E9CB}"/>
              </a:ext>
            </a:extLst>
          </p:cNvPr>
          <p:cNvGrpSpPr/>
          <p:nvPr userDrawn="1"/>
        </p:nvGrpSpPr>
        <p:grpSpPr>
          <a:xfrm>
            <a:off x="4027070" y="2125884"/>
            <a:ext cx="946844" cy="971454"/>
            <a:chOff x="0" y="-14473"/>
            <a:chExt cx="556826" cy="571299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F92C169-4533-35D8-F865-37BCE2C88335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E4E95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524C1F9B-974F-33AF-76B3-AD3A8BBC2D51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5EFC44-4732-467D-0BB9-9639FFAE5D5C}"/>
              </a:ext>
            </a:extLst>
          </p:cNvPr>
          <p:cNvGrpSpPr/>
          <p:nvPr userDrawn="1"/>
        </p:nvGrpSpPr>
        <p:grpSpPr>
          <a:xfrm>
            <a:off x="6713372" y="2143158"/>
            <a:ext cx="946844" cy="971454"/>
            <a:chOff x="0" y="-14473"/>
            <a:chExt cx="556826" cy="57129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F6FA1B7-7695-A8F9-9930-6ABC935139CF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62552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7B6E1EE0-FE91-8AD9-36A2-1EC012E34EFB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FD45E0-CFEB-C722-3C2F-676614F9A6BD}"/>
              </a:ext>
            </a:extLst>
          </p:cNvPr>
          <p:cNvGrpSpPr/>
          <p:nvPr userDrawn="1"/>
        </p:nvGrpSpPr>
        <p:grpSpPr>
          <a:xfrm>
            <a:off x="9468772" y="2143158"/>
            <a:ext cx="946844" cy="971454"/>
            <a:chOff x="0" y="-14473"/>
            <a:chExt cx="556826" cy="571299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49AB401-36D5-BF2E-2A63-B11D712ABE32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37647DDC-735C-32A2-CE57-A46D0AE04D54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4</a:t>
              </a:r>
            </a:p>
          </p:txBody>
        </p:sp>
      </p:grpSp>
      <p:sp>
        <p:nvSpPr>
          <p:cNvPr id="18" name="AutoShape 38">
            <a:extLst>
              <a:ext uri="{FF2B5EF4-FFF2-40B4-BE49-F238E27FC236}">
                <a16:creationId xmlns:a16="http://schemas.microsoft.com/office/drawing/2014/main" id="{5B55CC53-4B0B-1F7A-E6CF-1D807C272B88}"/>
              </a:ext>
            </a:extLst>
          </p:cNvPr>
          <p:cNvSpPr/>
          <p:nvPr userDrawn="1"/>
        </p:nvSpPr>
        <p:spPr>
          <a:xfrm>
            <a:off x="1675993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147CB15D-6D2B-85B2-EA0A-A2D72009459A}"/>
              </a:ext>
            </a:extLst>
          </p:cNvPr>
          <p:cNvSpPr/>
          <p:nvPr userDrawn="1"/>
        </p:nvSpPr>
        <p:spPr>
          <a:xfrm>
            <a:off x="4500492" y="3097338"/>
            <a:ext cx="0" cy="810133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40">
            <a:extLst>
              <a:ext uri="{FF2B5EF4-FFF2-40B4-BE49-F238E27FC236}">
                <a16:creationId xmlns:a16="http://schemas.microsoft.com/office/drawing/2014/main" id="{26EBBA74-6593-863D-9566-7B0F68E2231E}"/>
              </a:ext>
            </a:extLst>
          </p:cNvPr>
          <p:cNvSpPr/>
          <p:nvPr userDrawn="1"/>
        </p:nvSpPr>
        <p:spPr>
          <a:xfrm>
            <a:off x="71867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41">
            <a:extLst>
              <a:ext uri="{FF2B5EF4-FFF2-40B4-BE49-F238E27FC236}">
                <a16:creationId xmlns:a16="http://schemas.microsoft.com/office/drawing/2014/main" id="{87B37EE5-3174-E60F-EB7F-28EAFCDB990B}"/>
              </a:ext>
            </a:extLst>
          </p:cNvPr>
          <p:cNvSpPr/>
          <p:nvPr userDrawn="1"/>
        </p:nvSpPr>
        <p:spPr>
          <a:xfrm>
            <a:off x="99421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44">
            <a:extLst>
              <a:ext uri="{FF2B5EF4-FFF2-40B4-BE49-F238E27FC236}">
                <a16:creationId xmlns:a16="http://schemas.microsoft.com/office/drawing/2014/main" id="{B173C173-30D8-B176-A7DA-38D50DA243C0}"/>
              </a:ext>
            </a:extLst>
          </p:cNvPr>
          <p:cNvSpPr/>
          <p:nvPr userDrawn="1"/>
        </p:nvSpPr>
        <p:spPr>
          <a:xfrm flipV="1">
            <a:off x="2149415" y="2623916"/>
            <a:ext cx="1877655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45">
            <a:extLst>
              <a:ext uri="{FF2B5EF4-FFF2-40B4-BE49-F238E27FC236}">
                <a16:creationId xmlns:a16="http://schemas.microsoft.com/office/drawing/2014/main" id="{683F0CD1-60C5-B175-6B13-F66EA667B0AD}"/>
              </a:ext>
            </a:extLst>
          </p:cNvPr>
          <p:cNvSpPr/>
          <p:nvPr userDrawn="1"/>
        </p:nvSpPr>
        <p:spPr>
          <a:xfrm>
            <a:off x="4973915" y="2623916"/>
            <a:ext cx="1739457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F428AD71-9119-EE29-B4D0-C39466C2D067}"/>
              </a:ext>
            </a:extLst>
          </p:cNvPr>
          <p:cNvSpPr/>
          <p:nvPr userDrawn="1"/>
        </p:nvSpPr>
        <p:spPr>
          <a:xfrm>
            <a:off x="7660216" y="2641190"/>
            <a:ext cx="1808556" cy="0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CCF2BEBE-A490-1991-D680-2F8AB220AA36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1330465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53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Title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177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E393-2E9A-9983-45BF-77A29608D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07995"/>
            <a:ext cx="3932237" cy="1172679"/>
          </a:xfrm>
        </p:spPr>
        <p:txBody>
          <a:bodyPr anchor="t"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Header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9BD8-2B4F-4CEE-835C-9912AAF944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Insert Photo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56C8-AD1A-1557-910F-A40E7EAEA0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Insert Summary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FC0C9-500F-FE4D-7059-F06EBA9D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043863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480E6-F565-AA43-351F-D8B3E480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B0E02BF-5253-F5F0-3096-EB50B28B984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5793076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86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B40F0A-320E-6442-A923-5A57A6A8D9C5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8AD4AA-68AC-5F26-D7F6-6F73C00A5B9F}"/>
              </a:ext>
            </a:extLst>
          </p:cNvPr>
          <p:cNvSpPr/>
          <p:nvPr userDrawn="1"/>
        </p:nvSpPr>
        <p:spPr>
          <a:xfrm>
            <a:off x="5157281" y="6491422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1331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  <p:sldLayoutId id="2147483758" r:id="rId18"/>
    <p:sldLayoutId id="2147483759" r:id="rId19"/>
    <p:sldLayoutId id="2147483760" r:id="rId20"/>
    <p:sldLayoutId id="2147483761" r:id="rId21"/>
    <p:sldLayoutId id="2147483762" r:id="rId22"/>
    <p:sldLayoutId id="2147483777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8B40F0A-320E-6442-A923-5A57A6A8D9C5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F8D44C-0D43-B0FF-AFB1-0A9B210C970E}"/>
              </a:ext>
            </a:extLst>
          </p:cNvPr>
          <p:cNvSpPr/>
          <p:nvPr userDrawn="1"/>
        </p:nvSpPr>
        <p:spPr>
          <a:xfrm>
            <a:off x="5157281" y="6492876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71557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812" y="493325"/>
            <a:ext cx="11000000" cy="52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2552"/>
                </a:solidFill>
                <a:latin typeface="Arial"/>
              </a:rPr>
              <a:t>Opportunity &amp; Risk to P&amp;L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5243" y="1079336"/>
            <a:ext cx="11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4E95"/>
                </a:solidFill>
                <a:latin typeface="Arial"/>
              </a:rPr>
              <a:t>O&amp;M inflation costs EBITDA −$1.5M, but other income lifts net income +$5.0M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5243" y="150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88A"/>
                </a:solidFill>
                <a:latin typeface="Arial"/>
              </a:rPr>
              <a:t>From the latest estimate (EBITDA US$245.2M, net income US$55.1M) to the scenario with both items. US$M; net income after 33⅓% tax.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900000"/>
            <a:ext cx="5731680" cy="335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900000"/>
            <a:ext cx="5731680" cy="45719"/>
          </a:xfrm>
          <a:prstGeom prst="rect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4320" y="2020000"/>
            <a:ext cx="543168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2552"/>
                </a:solidFill>
                <a:latin typeface="Arial"/>
              </a:rPr>
              <a:t>EBITDA bridge (US$M)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4320" y="4450000"/>
            <a:ext cx="5431680" cy="9525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3062" y="2930000"/>
            <a:ext cx="760435" cy="1520000"/>
          </a:xfrm>
          <a:prstGeom prst="rect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3062" y="2720000"/>
            <a:ext cx="1060435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62552"/>
                </a:solidFill>
                <a:latin typeface="Arial"/>
              </a:rPr>
              <a:t>245.2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83497" y="2930000"/>
            <a:ext cx="597484" cy="9525"/>
          </a:xfrm>
          <a:prstGeom prst="rect">
            <a:avLst/>
          </a:prstGeom>
          <a:solidFill>
            <a:srgbClr val="667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80982" y="2930000"/>
            <a:ext cx="760435" cy="43846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0982" y="3398461"/>
            <a:ext cx="1060435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rial"/>
              </a:rPr>
              <a:t>(1.5)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41417" y="3368461"/>
            <a:ext cx="597484" cy="9525"/>
          </a:xfrm>
          <a:prstGeom prst="rect">
            <a:avLst/>
          </a:prstGeom>
          <a:solidFill>
            <a:srgbClr val="667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38902" y="3358936"/>
            <a:ext cx="760435" cy="19050"/>
          </a:xfrm>
          <a:prstGeom prst="rect">
            <a:avLst/>
          </a:prstGeom>
          <a:solidFill>
            <a:srgbClr val="667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88902" y="2968461"/>
            <a:ext cx="1060435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6788A"/>
                </a:solidFill>
                <a:latin typeface="Arial"/>
              </a:rPr>
              <a:t>0.0</a:t>
            </a:r>
          </a:p>
          <a:p>
            <a:pPr algn="ctr"/>
            <a:r>
              <a:rPr sz="850" b="0">
                <a:solidFill>
                  <a:srgbClr val="66788A"/>
                </a:solidFill>
                <a:latin typeface="Arial"/>
              </a:rPr>
              <a:t>below EBITDA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9337" y="3368461"/>
            <a:ext cx="597484" cy="9525"/>
          </a:xfrm>
          <a:prstGeom prst="rect">
            <a:avLst/>
          </a:prstGeom>
          <a:solidFill>
            <a:srgbClr val="667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96822" y="3368461"/>
            <a:ext cx="760435" cy="1081538"/>
          </a:xfrm>
          <a:prstGeom prst="rect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6822" y="3158461"/>
            <a:ext cx="1060435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62552"/>
                </a:solidFill>
                <a:latin typeface="Arial"/>
              </a:rPr>
              <a:t>243.7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62" y="4520000"/>
            <a:ext cx="116043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6788A"/>
                </a:solidFill>
                <a:latin typeface="Arial"/>
              </a:rPr>
              <a:t>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80982" y="4520000"/>
            <a:ext cx="116043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6788A"/>
                </a:solidFill>
                <a:latin typeface="Arial"/>
              </a:rPr>
              <a:t>O&amp;M inflation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8902" y="4520000"/>
            <a:ext cx="116043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6788A"/>
                </a:solidFill>
                <a:latin typeface="Arial"/>
              </a:rPr>
              <a:t>Other income (NFE)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6822" y="4520000"/>
            <a:ext cx="116043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6788A"/>
                </a:solidFill>
                <a:latin typeface="Arial"/>
              </a:rPr>
              <a:t>Scenario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1200" y="4880000"/>
            <a:ext cx="640000" cy="170000"/>
          </a:xfrm>
          <a:prstGeom prst="roundRect">
            <a:avLst/>
          </a:prstGeom>
          <a:solidFill>
            <a:srgbClr val="F6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C00000"/>
                </a:solidFill>
                <a:latin typeface="Arial"/>
              </a:rPr>
              <a:t>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9120" y="4880000"/>
            <a:ext cx="960000" cy="170000"/>
          </a:xfrm>
          <a:prstGeom prst="roundRect">
            <a:avLst/>
          </a:prstGeom>
          <a:solidFill>
            <a:srgbClr val="DD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E7D52"/>
                </a:solidFill>
                <a:latin typeface="Arial"/>
              </a:rPr>
              <a:t>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320" y="5060000"/>
            <a:ext cx="543168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88A"/>
                </a:solidFill>
                <a:latin typeface="Arial"/>
              </a:rPr>
              <a:t>Axis starts at 240 to make the movements visible.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6000" y="1900000"/>
            <a:ext cx="5731680" cy="335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6000" y="1900000"/>
            <a:ext cx="5731680" cy="45719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000" y="2020000"/>
            <a:ext cx="543168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2552"/>
                </a:solidFill>
                <a:latin typeface="Arial"/>
              </a:rPr>
              <a:t>Net income bridge (US$M)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36000" y="4450000"/>
            <a:ext cx="5431680" cy="9525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34742" y="3642500"/>
            <a:ext cx="760435" cy="8075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4742" y="3432500"/>
            <a:ext cx="1060435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62552"/>
                </a:solidFill>
                <a:latin typeface="Arial"/>
              </a:rPr>
              <a:t>55.1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95177" y="3642500"/>
            <a:ext cx="597484" cy="9525"/>
          </a:xfrm>
          <a:prstGeom prst="rect">
            <a:avLst/>
          </a:prstGeom>
          <a:solidFill>
            <a:srgbClr val="667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662" y="3642500"/>
            <a:ext cx="760435" cy="158333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42662" y="3830833"/>
            <a:ext cx="1060435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rial"/>
              </a:rPr>
              <a:t>(1.0)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53097" y="3800833"/>
            <a:ext cx="597484" cy="9525"/>
          </a:xfrm>
          <a:prstGeom prst="rect">
            <a:avLst/>
          </a:prstGeom>
          <a:solidFill>
            <a:srgbClr val="667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50582" y="2850833"/>
            <a:ext cx="760435" cy="950000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0582" y="2640833"/>
            <a:ext cx="1060435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E7D52"/>
                </a:solidFill>
                <a:latin typeface="Arial"/>
              </a:rPr>
              <a:t>+6.0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11017" y="2850833"/>
            <a:ext cx="597484" cy="9525"/>
          </a:xfrm>
          <a:prstGeom prst="rect">
            <a:avLst/>
          </a:prstGeom>
          <a:solidFill>
            <a:srgbClr val="667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08502" y="2850833"/>
            <a:ext cx="760435" cy="1599166"/>
          </a:xfrm>
          <a:prstGeom prst="rect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58502" y="2640833"/>
            <a:ext cx="1060435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62552"/>
                </a:solidFill>
                <a:latin typeface="Arial"/>
              </a:rPr>
              <a:t>60.1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4742" y="4520000"/>
            <a:ext cx="116043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6788A"/>
                </a:solidFill>
                <a:latin typeface="Arial"/>
              </a:rPr>
              <a:t>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2662" y="4520000"/>
            <a:ext cx="116043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6788A"/>
                </a:solidFill>
                <a:latin typeface="Arial"/>
              </a:rPr>
              <a:t>O&amp;M inflation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50582" y="4520000"/>
            <a:ext cx="116043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6788A"/>
                </a:solidFill>
                <a:latin typeface="Arial"/>
              </a:rPr>
              <a:t>Other income (NFE)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08502" y="4520000"/>
            <a:ext cx="116043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6788A"/>
                </a:solidFill>
                <a:latin typeface="Arial"/>
              </a:rPr>
              <a:t>Scenario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52880" y="4880000"/>
            <a:ext cx="640000" cy="170000"/>
          </a:xfrm>
          <a:prstGeom prst="roundRect">
            <a:avLst/>
          </a:prstGeom>
          <a:solidFill>
            <a:srgbClr val="F6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C00000"/>
                </a:solidFill>
                <a:latin typeface="Arial"/>
              </a:rPr>
              <a:t>RISK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50800" y="4880000"/>
            <a:ext cx="960000" cy="170000"/>
          </a:xfrm>
          <a:prstGeom prst="roundRect">
            <a:avLst/>
          </a:prstGeom>
          <a:solidFill>
            <a:srgbClr val="DD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E7D52"/>
                </a:solidFill>
                <a:latin typeface="Arial"/>
              </a:rPr>
              <a:t>OPPORTUNITY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000" y="5060000"/>
            <a:ext cx="543168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88A"/>
                </a:solidFill>
                <a:latin typeface="Arial"/>
              </a:rPr>
              <a:t>Axis starts at 50 to make the movements visible.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5400000"/>
            <a:ext cx="116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100" b="1">
                <a:solidFill>
                  <a:srgbClr val="062552"/>
                </a:solidFill>
                <a:latin typeface="Arial"/>
              </a:rPr>
              <a:t>O&amp;M risk </a:t>
            </a:r>
            <a:r>
              <a:rPr sz="1100" b="0">
                <a:solidFill>
                  <a:srgbClr val="1F1F1F"/>
                </a:solidFill>
                <a:latin typeface="Arial"/>
              </a:rPr>
              <a:t>of $1.5M to EBITDA ($1.0M to Net Income) from increased inflationary pressures.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100" b="1">
                <a:solidFill>
                  <a:srgbClr val="062552"/>
                </a:solidFill>
                <a:latin typeface="Arial"/>
              </a:rPr>
              <a:t>Other income opportunity </a:t>
            </a:r>
            <a:r>
              <a:rPr sz="1100" b="0">
                <a:solidFill>
                  <a:srgbClr val="1F1F1F"/>
                </a:solidFill>
                <a:latin typeface="Arial"/>
              </a:rPr>
              <a:t>of $9.0M (NFE) sits below EBITDA: no EBITDA impact, $6.0M to Net Income after tax.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231" y="6411345"/>
            <a:ext cx="6621379" cy="266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2552"/>
                </a:solidFill>
                <a:latin typeface="Arial"/>
              </a:rPr>
              <a:t>Jamaica Public Service | Sept 2026 Corporate Performance Report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6473" y="6413496"/>
            <a:ext cx="287140" cy="26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fld id="{B6F15528-21DE-4FAA-801E-634DDDAF4B2B}" type="slidenum">
              <a:rPr lang="en-US" sz="900" b="1">
                <a:solidFill>
                  <a:srgbClr val="062552"/>
                </a:solidFill>
                <a:latin typeface="Arial"/>
              </a:rPr>
              <a:t>13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2.xml><?xml version="1.0" encoding="utf-8"?>
<a:theme xmlns:a="http://schemas.openxmlformats.org/drawingml/2006/main" name="3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744B4A84E6C5409DBF05FF78BE7F0B" ma:contentTypeVersion="4" ma:contentTypeDescription="Create a new document." ma:contentTypeScope="" ma:versionID="b983b02e7cdb56be63a93b09d6b717ff">
  <xsd:schema xmlns:xsd="http://www.w3.org/2001/XMLSchema" xmlns:xs="http://www.w3.org/2001/XMLSchema" xmlns:p="http://schemas.microsoft.com/office/2006/metadata/properties" xmlns:ns2="9883ab80-12e9-41c2-bd94-a272ffd3ca7e" targetNamespace="http://schemas.microsoft.com/office/2006/metadata/properties" ma:root="true" ma:fieldsID="1e1105fb426fbd486b49c7c7b4a6f378" ns2:_="">
    <xsd:import namespace="9883ab80-12e9-41c2-bd94-a272ffd3ca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83ab80-12e9-41c2-bd94-a272ffd3ca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1D070C-532B-4F38-8F34-94EBA70592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83ab80-12e9-41c2-bd94-a272ffd3ca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A3CDE6-5B82-4249-A385-54374AE91900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9883ab80-12e9-41c2-bd94-a272ffd3ca7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63C8149-0B23-431D-B6D4-EB90E7BC0F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1757</TotalTime>
  <Words>7203</Words>
  <Application>Microsoft Office PowerPoint</Application>
  <PresentationFormat>Widescreen</PresentationFormat>
  <Paragraphs>1062</Paragraphs>
  <Slides>41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Links</vt:lpstr>
      </vt:variant>
      <vt:variant>
        <vt:i4>14</vt:i4>
      </vt:variant>
      <vt:variant>
        <vt:lpstr>Slide Titles</vt:lpstr>
      </vt:variant>
      <vt:variant>
        <vt:i4>41</vt:i4>
      </vt:variant>
    </vt:vector>
  </HeadingPairs>
  <TitlesOfParts>
    <vt:vector size="71" baseType="lpstr">
      <vt:lpstr>Aileron</vt:lpstr>
      <vt:lpstr>Aileron Bold</vt:lpstr>
      <vt:lpstr>Aptos</vt:lpstr>
      <vt:lpstr>Aptos Black</vt:lpstr>
      <vt:lpstr>Arial</vt:lpstr>
      <vt:lpstr>Arial Black</vt:lpstr>
      <vt:lpstr>Calibri</vt:lpstr>
      <vt:lpstr>Georgia</vt:lpstr>
      <vt:lpstr>Gotham</vt:lpstr>
      <vt:lpstr>Gotham Bold</vt:lpstr>
      <vt:lpstr>Gotham Book</vt:lpstr>
      <vt:lpstr>Gotham Heavy</vt:lpstr>
      <vt:lpstr>Montserrat</vt:lpstr>
      <vt:lpstr>Times New Roman</vt:lpstr>
      <vt:lpstr>2_Office Theme</vt:lpstr>
      <vt:lpstr>3_Office Theme</vt:lpstr>
      <vt:lpstr>file:///\\jps.net\orgshare\FinRptg2\2026\FinMod%202026\2026%20LE\09%20-%202026\Copy%20of%20Presentation%20PL%20-%20Sep%202026%20LE%20(v6).xlsx!Waterfall%20-%20NI%20%20(Stand%20alone)!R12C8:R26C26</vt:lpstr>
      <vt:lpstr>file:///\\jps.net\orgshare\FinRptg2\2026\FinMod%202026\2026%20NonFuel%20Variance\Non%20Fuel%20Variance%20September%202026.xlsx!Non%20Fuel%20Revenue!R37C6:R55C21</vt:lpstr>
      <vt:lpstr>file:///\\jps.net\orgshare\FinRptg2\2026\FinMod%202026\2026%20LE\09%20-%202026\Financial%20Summary%20-%20September%202026%20%20LE.xlsx!Fuel%20Summary!R5C3:R25C9</vt:lpstr>
      <vt:lpstr>file:///\\jps.net\orgshare\FinRptg2\2026\FinMod%202026\2026%20LE\09%20-%202026\Financial%20Summary%20-%20September%202026%20%20LE.xlsx!Bad%20Debt%20Provision!R4C1:R11C9</vt:lpstr>
      <vt:lpstr>file:///\\jps.net\orgshare\FinRptg2\2026\FinMod%202026\2026%20LE\09%20-%202026\Financial%20Summary%20-%20September%202026%20%20LE.xlsx!Presentation%20Balance%20Sheet!R4C1:R41C6</vt:lpstr>
      <vt:lpstr>file:///\\jps.net\orgshare\FinRptg2\2026\FinMod%202026\2026%20LE\09%20-%202026\Financial%20Summary%20-%20September%202026%20%20LE.xlsx!Presentation%20Cash%20Flow!R3C1:R24C9</vt:lpstr>
      <vt:lpstr>file:///\\jps.net\orgshare\FinRptg2\2026\FinMod%202026\2026%20LE\09%20-%202026\Financial%20Summary%20-%20September%202026%20%20LE.xlsx!Monhtly_FX%20Trend%20!%5bFinancial%20Summary%20-%20September%202026%20%20LE.xlsx%5dMonhtly_FX%20Trend%20%20Chart%207</vt:lpstr>
      <vt:lpstr>file:///\\jps.net\orgshare\FinRptg2\2026\FinMod%202026\2026%20Cash%20Flow\09.%20Cash%20Flow%20September%202026%20LE\Cash%20Flow%20-%20%20September%202026.xlsx!Base%20Case!R7C1:R46C30</vt:lpstr>
      <vt:lpstr>file:///\\jps.net\orgshare\FinRptg2\2026\FinMod%202026\2026%20LE\09%20-%202026\Financial%20Summary%20-%20September%202026%20%20LE_V2.xlsx!Dashboard%20(Standalone)!R4C1:R21C10</vt:lpstr>
      <vt:lpstr>file:///\\jps.net\orgshare\FinRptg2\2026\FinMod%202026\2026%20LE\09%20-%202026\Financial%20Summary%20-%20September%202026%20%20LE_V2.xlsx!FX%20Impact!R4C3:R27C17</vt:lpstr>
      <vt:lpstr>file:///\\jps.net\orgshare\FinRptg2\2026\FinMod%202026\2026%20LE\09%20-%202026\Financial%20Summary%20-%20September%202026%20%20LE_V2.xlsx!Presentation%20P&amp;L%20(Stand%20alone)!R75C1:R104C21</vt:lpstr>
      <vt:lpstr>file:///\\jps.net\orgshare\FinRptg2\2026\FinMod%202026\2026%20LE\09%20-%202026\Financial%20Summary%20-%20September%202026%20%20LE_V2.xlsx!Presentation%20P&amp;L%20(Stand%20alone)!R4C1:R47C21</vt:lpstr>
      <vt:lpstr>file:///\\jps.net\orgshare\FinRptg2\2026\FinMod%202026\2026%20LE\09%20-%202026\Financial%20Summary%20-%20September%202026%20%20LE_V2.xlsx!Other%20Operating%20Revenue!R2C2:R20C8</vt:lpstr>
      <vt:lpstr>file:///\\jps.net\orgshare\FinRptg2\2026\FinMod%202026\2026%20LE\09%20-%202026\Financial%20Summary%20-%20September%202026%20%20LE_V2.xlsx!Waterfall%20-%20NI%20%20(Stand%20alone)!R32C7:R75C23</vt:lpstr>
      <vt:lpstr>Corporate Performance Report</vt:lpstr>
      <vt:lpstr>PowerPoint Presentation</vt:lpstr>
      <vt:lpstr>PowerPoint Presentation</vt:lpstr>
      <vt:lpstr>Financial Highlights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Operational  Expenditure</vt:lpstr>
      <vt:lpstr>PowerPoint Presentation</vt:lpstr>
      <vt:lpstr>PowerPoint Presentation</vt:lpstr>
      <vt:lpstr>PowerPoint Presentation</vt:lpstr>
      <vt:lpstr>Capital  Expenditure</vt:lpstr>
      <vt:lpstr>PowerPoint Presentation</vt:lpstr>
      <vt:lpstr>PowerPoint Presentation</vt:lpstr>
      <vt:lpstr>Cash Flow and  Funding Outlook</vt:lpstr>
      <vt:lpstr>PowerPoint Presentation</vt:lpstr>
      <vt:lpstr>PowerPoint Presentation</vt:lpstr>
      <vt:lpstr>Business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Jamaica Public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Performance Report</dc:title>
  <dc:creator>Nickisha Chin</dc:creator>
  <cp:lastModifiedBy>Jordache Wilson</cp:lastModifiedBy>
  <cp:revision>33</cp:revision>
  <cp:lastPrinted>2026-07-16T19:03:44Z</cp:lastPrinted>
  <dcterms:created xsi:type="dcterms:W3CDTF">2026-06-04T14:47:53Z</dcterms:created>
  <dcterms:modified xsi:type="dcterms:W3CDTF">2026-10-14T22:20:04Z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0x01010098744B4A84E6C5409DBF05FF78BE7F0B</vt:lpwstr>
  </property>
</Properties>
</file>