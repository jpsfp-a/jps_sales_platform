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4"/>
    <p:sldMasterId id="2147483712" r:id="rId5"/>
  </p:sldMasterIdLst>
  <p:notesMasterIdLst>
    <p:notesMasterId r:id="rId47"/>
  </p:notesMasterIdLst>
  <p:sldIdLst>
    <p:sldId id="256" r:id="rId11"/>
    <p:sldId id="257" r:id="rId12"/>
    <p:sldId id="258" r:id="rId13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1000"/>
    <a:srgbClr val="0E4E95"/>
    <a:srgbClr val="009FDA"/>
    <a:srgbClr val="FFFFFF"/>
    <a:srgbClr val="062552"/>
    <a:srgbClr val="FFFDF8"/>
    <a:srgbClr val="FFF000"/>
    <a:srgbClr val="97CF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87011" autoAdjust="0"/>
  </p:normalViewPr>
  <p:slideViewPr>
    <p:cSldViewPr snapToGrid="0">
      <p:cViewPr varScale="1">
        <p:scale>
          <a:sx n="99" d="100"/>
          <a:sy n="99" d="100"/>
        </p:scale>
        <p:origin x="10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YTD</c:v>
                </c:pt>
              </c:strCache>
            </c:strRef>
          </c:tx>
          <c:spPr>
            <a:solidFill>
              <a:srgbClr val="062552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RT70</c:v>
                </c:pt>
                <c:pt idx="1">
                  <c:v>RT60</c:v>
                </c:pt>
                <c:pt idx="2">
                  <c:v>RT50</c:v>
                </c:pt>
                <c:pt idx="3">
                  <c:v>RT40</c:v>
                </c:pt>
                <c:pt idx="4">
                  <c:v>RT20</c:v>
                </c:pt>
                <c:pt idx="5">
                  <c:v>RT10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0.901079170329362</c:v>
                </c:pt>
                <c:pt idx="1">
                  <c:v>0.9842488177519098</c:v>
                </c:pt>
                <c:pt idx="2">
                  <c:v>0.9438949870737317</c:v>
                </c:pt>
                <c:pt idx="3">
                  <c:v>0.9734172038745663</c:v>
                </c:pt>
                <c:pt idx="4">
                  <c:v>0.9696150596306556</c:v>
                </c:pt>
                <c:pt idx="5">
                  <c:v>0.9671708960220983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Sept</c:v>
                </c:pt>
              </c:strCache>
            </c:strRef>
          </c:tx>
          <c:spPr>
            <a:solidFill>
              <a:srgbClr val="0E4E95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RT70</c:v>
                </c:pt>
                <c:pt idx="1">
                  <c:v>RT60</c:v>
                </c:pt>
                <c:pt idx="2">
                  <c:v>RT50</c:v>
                </c:pt>
                <c:pt idx="3">
                  <c:v>RT40</c:v>
                </c:pt>
                <c:pt idx="4">
                  <c:v>RT20</c:v>
                </c:pt>
                <c:pt idx="5">
                  <c:v>RT10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0.7734806629834254</c:v>
                </c:pt>
                <c:pt idx="1">
                  <c:v>0.970407266334603</c:v>
                </c:pt>
                <c:pt idx="2">
                  <c:v>0.8342313159025551</c:v>
                </c:pt>
                <c:pt idx="3">
                  <c:v>0.9105521964553652</c:v>
                </c:pt>
                <c:pt idx="4">
                  <c:v>0.9510211488336797</c:v>
                </c:pt>
                <c:pt idx="5">
                  <c:v>0.9150184173314945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Aug</c:v>
                </c:pt>
              </c:strCache>
            </c:strRef>
          </c:tx>
          <c:spPr>
            <a:solidFill>
              <a:srgbClr val="009FDA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RT70</c:v>
                </c:pt>
                <c:pt idx="1">
                  <c:v>RT60</c:v>
                </c:pt>
                <c:pt idx="2">
                  <c:v>RT50</c:v>
                </c:pt>
                <c:pt idx="3">
                  <c:v>RT40</c:v>
                </c:pt>
                <c:pt idx="4">
                  <c:v>RT20</c:v>
                </c:pt>
                <c:pt idx="5">
                  <c:v>RT10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0.8144915770245584</c:v>
                </c:pt>
                <c:pt idx="1">
                  <c:v>0.9888661002050982</c:v>
                </c:pt>
                <c:pt idx="2">
                  <c:v>0.8561462985298431</c:v>
                </c:pt>
                <c:pt idx="3">
                  <c:v>0.9938511191797782</c:v>
                </c:pt>
                <c:pt idx="4">
                  <c:v>0.9721498102623329</c:v>
                </c:pt>
                <c:pt idx="5">
                  <c:v>0.9701115822930033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8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E1F2"/>
            </a:solidFill>
          </a:ln>
        </c:spPr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5"/>
          <c:min val="0.0"/>
        </c:scaling>
        <c:delete val="0"/>
        <c:axPos val="b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JM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94F2353-5319-4B93-868E-90E661544A21}" type="datetimeFigureOut">
              <a:rPr lang="en-JM" smtClean="0"/>
              <a:t>14/10/2026</a:t>
            </a:fld>
            <a:endParaRPr lang="en-JM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JM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JM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4A6AFF9-10F2-4CAF-B65B-9235AF386E10}" type="slidenum">
              <a:rPr lang="en-JM" smtClean="0"/>
              <a:t>‹#›</a:t>
            </a:fld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1763846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Forecast = budget (jps_budget_class_month / jps_budget). Actuals: Sales Platform, customer billed = 1, September restated. Accuracy = 1 - |A-F|/A. YTD = Jan-Sep; the platform budget for Jan and Feb is set equal to actuals, so YTD accuracy is overstated by roughly 1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Industry from jps_industries (customer code to industry); 1,002 customers coded. Budget and actuals joined at account level (jps_budget, jps_actuals). Net accuracy = 1 - |A-F|/A on the industry total; account-level = 1 - sum|a_i - f_i| / sum a_i. Industry totals use customers with an industry code only; the remainder (including bucketed RT20) is shown as "No industry code".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Two-account share: Alcoa Mins Of Ja (Jamalco, RT70) -6.5 GWh and Caribbean Broilers (RT40, billing credit) -1.8 GWh against a commercial shortfall of 15.2 GWh in September. Account-level accuracy covers RT40-RT70. Recommendations are proposals for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owerPoint Cover 1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008ED-8DAD-3DDF-C241-E7D740AB3E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0112C-CAD0-ACAA-EF44-D38B25816E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 i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Here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24883C95-2656-864D-EFCC-2C3C6D7BC25C}"/>
              </a:ext>
            </a:extLst>
          </p:cNvPr>
          <p:cNvSpPr/>
          <p:nvPr userDrawn="1"/>
        </p:nvSpPr>
        <p:spPr>
          <a:xfrm>
            <a:off x="-132522" y="6033388"/>
            <a:ext cx="7389578" cy="629648"/>
          </a:xfrm>
          <a:custGeom>
            <a:avLst/>
            <a:gdLst/>
            <a:ahLst/>
            <a:cxnLst/>
            <a:rect l="l" t="t" r="r" b="b"/>
            <a:pathLst>
              <a:path w="10396075" h="885825">
                <a:moveTo>
                  <a:pt x="0" y="0"/>
                </a:moveTo>
                <a:lnTo>
                  <a:pt x="10396075" y="0"/>
                </a:lnTo>
                <a:lnTo>
                  <a:pt x="10396075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591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JM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23C6F31-8823-3A1C-B52A-8FE872C73897}"/>
              </a:ext>
            </a:extLst>
          </p:cNvPr>
          <p:cNvSpPr/>
          <p:nvPr userDrawn="1"/>
        </p:nvSpPr>
        <p:spPr>
          <a:xfrm>
            <a:off x="7336480" y="6197157"/>
            <a:ext cx="3483107" cy="302109"/>
          </a:xfrm>
          <a:custGeom>
            <a:avLst/>
            <a:gdLst/>
            <a:ahLst/>
            <a:cxnLst/>
            <a:rect l="l" t="t" r="r" b="b"/>
            <a:pathLst>
              <a:path w="4900239" h="425024">
                <a:moveTo>
                  <a:pt x="0" y="0"/>
                </a:moveTo>
                <a:lnTo>
                  <a:pt x="4900239" y="0"/>
                </a:lnTo>
                <a:lnTo>
                  <a:pt x="4900239" y="425024"/>
                </a:lnTo>
                <a:lnTo>
                  <a:pt x="0" y="425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JM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4794DDB2-EB20-4483-670B-29F286D1B57B}"/>
              </a:ext>
            </a:extLst>
          </p:cNvPr>
          <p:cNvSpPr/>
          <p:nvPr userDrawn="1"/>
        </p:nvSpPr>
        <p:spPr>
          <a:xfrm>
            <a:off x="10899011" y="6033388"/>
            <a:ext cx="1905088" cy="629649"/>
          </a:xfrm>
          <a:custGeom>
            <a:avLst/>
            <a:gdLst/>
            <a:ahLst/>
            <a:cxnLst/>
            <a:rect l="l" t="t" r="r" b="b"/>
            <a:pathLst>
              <a:path w="2680184" h="885825">
                <a:moveTo>
                  <a:pt x="0" y="0"/>
                </a:moveTo>
                <a:lnTo>
                  <a:pt x="2680184" y="0"/>
                </a:lnTo>
                <a:lnTo>
                  <a:pt x="2680184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234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717074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PowerPoint Cover 1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008ED-8DAD-3DDF-C241-E7D740AB3E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1264" y="753395"/>
            <a:ext cx="9144000" cy="722479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0112C-CAD0-ACAA-EF44-D38B25816E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1264" y="1660944"/>
            <a:ext cx="9144000" cy="629648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Here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24883C95-2656-864D-EFCC-2C3C6D7BC25C}"/>
              </a:ext>
            </a:extLst>
          </p:cNvPr>
          <p:cNvSpPr/>
          <p:nvPr userDrawn="1"/>
        </p:nvSpPr>
        <p:spPr>
          <a:xfrm>
            <a:off x="-132522" y="6033388"/>
            <a:ext cx="7389578" cy="629648"/>
          </a:xfrm>
          <a:custGeom>
            <a:avLst/>
            <a:gdLst/>
            <a:ahLst/>
            <a:cxnLst/>
            <a:rect l="l" t="t" r="r" b="b"/>
            <a:pathLst>
              <a:path w="10396075" h="885825">
                <a:moveTo>
                  <a:pt x="0" y="0"/>
                </a:moveTo>
                <a:lnTo>
                  <a:pt x="10396075" y="0"/>
                </a:lnTo>
                <a:lnTo>
                  <a:pt x="10396075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591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JM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23C6F31-8823-3A1C-B52A-8FE872C73897}"/>
              </a:ext>
            </a:extLst>
          </p:cNvPr>
          <p:cNvSpPr/>
          <p:nvPr userDrawn="1"/>
        </p:nvSpPr>
        <p:spPr>
          <a:xfrm>
            <a:off x="7336480" y="6197157"/>
            <a:ext cx="3483107" cy="302109"/>
          </a:xfrm>
          <a:custGeom>
            <a:avLst/>
            <a:gdLst/>
            <a:ahLst/>
            <a:cxnLst/>
            <a:rect l="l" t="t" r="r" b="b"/>
            <a:pathLst>
              <a:path w="4900239" h="425024">
                <a:moveTo>
                  <a:pt x="0" y="0"/>
                </a:moveTo>
                <a:lnTo>
                  <a:pt x="4900239" y="0"/>
                </a:lnTo>
                <a:lnTo>
                  <a:pt x="4900239" y="425024"/>
                </a:lnTo>
                <a:lnTo>
                  <a:pt x="0" y="425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JM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4794DDB2-EB20-4483-670B-29F286D1B57B}"/>
              </a:ext>
            </a:extLst>
          </p:cNvPr>
          <p:cNvSpPr/>
          <p:nvPr userDrawn="1"/>
        </p:nvSpPr>
        <p:spPr>
          <a:xfrm>
            <a:off x="10899011" y="6033388"/>
            <a:ext cx="1905088" cy="629649"/>
          </a:xfrm>
          <a:custGeom>
            <a:avLst/>
            <a:gdLst/>
            <a:ahLst/>
            <a:cxnLst/>
            <a:rect l="l" t="t" r="r" b="b"/>
            <a:pathLst>
              <a:path w="2680184" h="885825">
                <a:moveTo>
                  <a:pt x="0" y="0"/>
                </a:moveTo>
                <a:lnTo>
                  <a:pt x="2680184" y="0"/>
                </a:lnTo>
                <a:lnTo>
                  <a:pt x="2680184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234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2029475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Slide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DBFC8-12A5-8D51-8F48-E22A446424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6E6FB-C2B6-6443-F2D8-137E1E61904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/>
              <a:t>Content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4301E-F966-7C12-6F91-9890B2ADA6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49625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0E6A6-2064-40D0-F432-F19CE8676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543828D-1C57-47CD-71D6-DCDD0B47004B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977461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ransition Slide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8D68B-9D38-D375-0E0B-E71B45CF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002630"/>
            <a:ext cx="10515600" cy="2852737"/>
          </a:xfrm>
        </p:spPr>
        <p:txBody>
          <a:bodyPr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Separator Slide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AA4C5-586B-46CD-F4E4-A44AA15915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21858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21D76-F7F7-44F4-0928-16192EA5B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7EDF8654-4A5A-410F-70D5-0CB8DD014DC0}"/>
              </a:ext>
            </a:extLst>
          </p:cNvPr>
          <p:cNvSpPr/>
          <p:nvPr userDrawn="1"/>
        </p:nvSpPr>
        <p:spPr>
          <a:xfrm>
            <a:off x="418641" y="2002631"/>
            <a:ext cx="234787" cy="2852737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132012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t Slide 2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FCE64-907E-2DFA-F136-C1E5CDCA1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0894C-98E2-34B4-5B80-C191EDBE7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EF8B9-305F-D62C-1E11-AD8FA8B98E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B04DC9-7F3E-7532-D80E-543143058B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589295" cy="365125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9F5E3-F3CF-1106-B32E-82CAC701C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50033CA9-4BE9-FDD0-037D-C73A3E682E15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1277334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nt Compars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25E47-28A2-4DE1-91DD-68A71DB53F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642E3-70CD-6249-58A9-1483B2D1E2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Content Subhead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41965-2B63-7326-2D37-A044736B0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EFF09C-0629-E8E5-B98C-DDF722B4A9A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Content Subhead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3007F4-CD3B-4E37-791D-3B5449C5B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9335F6-EA20-37E5-0F8F-006B8D0DB6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332621" cy="365125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Presentation Title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EB4896-C432-D26C-F220-63E926D8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BC735769-813A-3295-ED20-E1F9D4AD47C0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3062962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Compars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">
            <a:extLst>
              <a:ext uri="{FF2B5EF4-FFF2-40B4-BE49-F238E27FC236}">
                <a16:creationId xmlns:a16="http://schemas.microsoft.com/office/drawing/2014/main" id="{A39AC746-0F8C-8731-3C35-4469604CC322}"/>
              </a:ext>
            </a:extLst>
          </p:cNvPr>
          <p:cNvGrpSpPr/>
          <p:nvPr userDrawn="1"/>
        </p:nvGrpSpPr>
        <p:grpSpPr>
          <a:xfrm>
            <a:off x="0" y="0"/>
            <a:ext cx="8021053" cy="6858000"/>
            <a:chOff x="0" y="0"/>
            <a:chExt cx="3694747" cy="2709333"/>
          </a:xfrm>
        </p:grpSpPr>
        <p:sp>
          <p:nvSpPr>
            <p:cNvPr id="11" name="Freeform 4">
              <a:extLst>
                <a:ext uri="{FF2B5EF4-FFF2-40B4-BE49-F238E27FC236}">
                  <a16:creationId xmlns:a16="http://schemas.microsoft.com/office/drawing/2014/main" id="{7BE17A93-7FBF-2E2F-8B58-82E731C41C76}"/>
                </a:ext>
              </a:extLst>
            </p:cNvPr>
            <p:cNvSpPr/>
            <p:nvPr/>
          </p:nvSpPr>
          <p:spPr>
            <a:xfrm>
              <a:off x="0" y="0"/>
              <a:ext cx="3694747" cy="2709333"/>
            </a:xfrm>
            <a:custGeom>
              <a:avLst/>
              <a:gdLst/>
              <a:ahLst/>
              <a:cxnLst/>
              <a:rect l="l" t="t" r="r" b="b"/>
              <a:pathLst>
                <a:path w="3694747" h="2709333">
                  <a:moveTo>
                    <a:pt x="0" y="0"/>
                  </a:moveTo>
                  <a:lnTo>
                    <a:pt x="3694747" y="0"/>
                  </a:lnTo>
                  <a:lnTo>
                    <a:pt x="3694747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1C60A4">
                    <a:alpha val="100000"/>
                  </a:srgbClr>
                </a:gs>
                <a:gs pos="100000">
                  <a:srgbClr val="062552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JM"/>
            </a:p>
          </p:txBody>
        </p:sp>
        <p:sp>
          <p:nvSpPr>
            <p:cNvPr id="12" name="TextBox 5">
              <a:extLst>
                <a:ext uri="{FF2B5EF4-FFF2-40B4-BE49-F238E27FC236}">
                  <a16:creationId xmlns:a16="http://schemas.microsoft.com/office/drawing/2014/main" id="{4F536023-7B7E-5E02-7BDB-8029957D9838}"/>
                </a:ext>
              </a:extLst>
            </p:cNvPr>
            <p:cNvSpPr txBox="1"/>
            <p:nvPr/>
          </p:nvSpPr>
          <p:spPr>
            <a:xfrm>
              <a:off x="0" y="-38100"/>
              <a:ext cx="3694747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0225E47-28A2-4DE1-91DD-68A71DB53F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642E3-70CD-6249-58A9-1483B2D1E2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Content Subhead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41965-2B63-7326-2D37-A044736B0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9335F6-EA20-37E5-0F8F-006B8D0DB6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33262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EB4896-C432-D26C-F220-63E926D8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BC735769-813A-3295-ED20-E1F9D4AD47C0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en-JM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110C61-80E7-54DA-AE45-FAD0695662ED}"/>
              </a:ext>
            </a:extLst>
          </p:cNvPr>
          <p:cNvSpPr/>
          <p:nvPr userDrawn="1"/>
        </p:nvSpPr>
        <p:spPr>
          <a:xfrm>
            <a:off x="5157281" y="6490721"/>
            <a:ext cx="187743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800" b="0" cap="none" spc="0">
                <a:ln w="0"/>
                <a:solidFill>
                  <a:schemeClr val="bg2">
                    <a:alpha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328836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mple Samp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21C56-D50C-E00F-A566-6510789F04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Timeline 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97EFC4-7E64-FCB0-691D-3FEA22FBDB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733249" cy="399264"/>
          </a:xfrm>
        </p:spPr>
        <p:txBody>
          <a:bodyPr/>
          <a:lstStyle>
            <a:lvl1pPr>
              <a:lnSpc>
                <a:spcPct val="100000"/>
              </a:lnSpc>
              <a:defRPr sz="11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B3FA75-D5B7-7721-506F-2C139D327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 sz="11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1DA6D51-0096-3EF2-8EA8-65807A921332}"/>
              </a:ext>
            </a:extLst>
          </p:cNvPr>
          <p:cNvGrpSpPr/>
          <p:nvPr userDrawn="1"/>
        </p:nvGrpSpPr>
        <p:grpSpPr>
          <a:xfrm>
            <a:off x="1202571" y="2143158"/>
            <a:ext cx="946844" cy="971454"/>
            <a:chOff x="0" y="-14473"/>
            <a:chExt cx="556826" cy="571299"/>
          </a:xfrm>
        </p:grpSpPr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8AAF412B-C6FB-58D8-CD2A-88EAEA032B0D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09FD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4">
              <a:extLst>
                <a:ext uri="{FF2B5EF4-FFF2-40B4-BE49-F238E27FC236}">
                  <a16:creationId xmlns:a16="http://schemas.microsoft.com/office/drawing/2014/main" id="{3ADC7E24-88FE-D365-A98D-C65B6F5E92A0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1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C868748-0B27-5CDD-AE5C-4800B2233183}"/>
              </a:ext>
            </a:extLst>
          </p:cNvPr>
          <p:cNvGrpSpPr/>
          <p:nvPr userDrawn="1"/>
        </p:nvGrpSpPr>
        <p:grpSpPr>
          <a:xfrm>
            <a:off x="8714997" y="4262647"/>
            <a:ext cx="2457578" cy="1530344"/>
            <a:chOff x="0" y="-28575"/>
            <a:chExt cx="3276771" cy="2040459"/>
          </a:xfrm>
        </p:grpSpPr>
        <p:sp>
          <p:nvSpPr>
            <p:cNvPr id="49" name="TextBox 6">
              <a:extLst>
                <a:ext uri="{FF2B5EF4-FFF2-40B4-BE49-F238E27FC236}">
                  <a16:creationId xmlns:a16="http://schemas.microsoft.com/office/drawing/2014/main" id="{4A229842-87A8-33EA-DE8E-2C0A9FB39D2E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2015</a:t>
              </a:r>
            </a:p>
          </p:txBody>
        </p:sp>
        <p:sp>
          <p:nvSpPr>
            <p:cNvPr id="50" name="TextBox 7">
              <a:extLst>
                <a:ext uri="{FF2B5EF4-FFF2-40B4-BE49-F238E27FC236}">
                  <a16:creationId xmlns:a16="http://schemas.microsoft.com/office/drawing/2014/main" id="{50297581-D24E-B736-C2E3-1E629C725569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313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Lorem ipsum dolor sit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amet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adipiscing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elit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.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Vivamus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odio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aliquam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20D0A38-4D5E-6B41-7A74-4C009A0B102E}"/>
              </a:ext>
            </a:extLst>
          </p:cNvPr>
          <p:cNvGrpSpPr/>
          <p:nvPr userDrawn="1"/>
        </p:nvGrpSpPr>
        <p:grpSpPr>
          <a:xfrm>
            <a:off x="451184" y="4262647"/>
            <a:ext cx="2457578" cy="1530344"/>
            <a:chOff x="0" y="-28575"/>
            <a:chExt cx="3276771" cy="2040459"/>
          </a:xfrm>
        </p:grpSpPr>
        <p:sp>
          <p:nvSpPr>
            <p:cNvPr id="47" name="TextBox 9">
              <a:extLst>
                <a:ext uri="{FF2B5EF4-FFF2-40B4-BE49-F238E27FC236}">
                  <a16:creationId xmlns:a16="http://schemas.microsoft.com/office/drawing/2014/main" id="{B335BCA9-845D-3C1C-61E6-EA2B82CF2181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1980</a:t>
              </a:r>
            </a:p>
          </p:txBody>
        </p:sp>
        <p:sp>
          <p:nvSpPr>
            <p:cNvPr id="48" name="TextBox 10">
              <a:extLst>
                <a:ext uri="{FF2B5EF4-FFF2-40B4-BE49-F238E27FC236}">
                  <a16:creationId xmlns:a16="http://schemas.microsoft.com/office/drawing/2014/main" id="{C400E550-EB0D-905B-3FC9-7AF480269C46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313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Lorem ipsum dolor sit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amet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adipiscing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elit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.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Vivamus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odio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aliquam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CF7EB83-DA75-A735-2374-55CEFCA42838}"/>
              </a:ext>
            </a:extLst>
          </p:cNvPr>
          <p:cNvGrpSpPr/>
          <p:nvPr userDrawn="1"/>
        </p:nvGrpSpPr>
        <p:grpSpPr>
          <a:xfrm>
            <a:off x="3205788" y="4262647"/>
            <a:ext cx="2457578" cy="1530344"/>
            <a:chOff x="0" y="-28575"/>
            <a:chExt cx="3276771" cy="2040459"/>
          </a:xfrm>
        </p:grpSpPr>
        <p:sp>
          <p:nvSpPr>
            <p:cNvPr id="45" name="TextBox 12">
              <a:extLst>
                <a:ext uri="{FF2B5EF4-FFF2-40B4-BE49-F238E27FC236}">
                  <a16:creationId xmlns:a16="http://schemas.microsoft.com/office/drawing/2014/main" id="{F2158044-E681-9E6D-315D-1E5F8C79133F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1981</a:t>
              </a:r>
            </a:p>
          </p:txBody>
        </p:sp>
        <p:sp>
          <p:nvSpPr>
            <p:cNvPr id="46" name="TextBox 13">
              <a:extLst>
                <a:ext uri="{FF2B5EF4-FFF2-40B4-BE49-F238E27FC236}">
                  <a16:creationId xmlns:a16="http://schemas.microsoft.com/office/drawing/2014/main" id="{7B544EC8-4E09-2AFA-C2AA-5438BD21479A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313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Lorem ipsum dolor sit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amet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adipiscing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elit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.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Vivamus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odio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aliquam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EBEFF6-F57A-9EE1-EE47-A067270E2CCC}"/>
              </a:ext>
            </a:extLst>
          </p:cNvPr>
          <p:cNvGrpSpPr/>
          <p:nvPr userDrawn="1"/>
        </p:nvGrpSpPr>
        <p:grpSpPr>
          <a:xfrm>
            <a:off x="5960393" y="4262647"/>
            <a:ext cx="2457578" cy="1530344"/>
            <a:chOff x="0" y="-28575"/>
            <a:chExt cx="3276771" cy="2040459"/>
          </a:xfrm>
        </p:grpSpPr>
        <p:sp>
          <p:nvSpPr>
            <p:cNvPr id="43" name="TextBox 15">
              <a:extLst>
                <a:ext uri="{FF2B5EF4-FFF2-40B4-BE49-F238E27FC236}">
                  <a16:creationId xmlns:a16="http://schemas.microsoft.com/office/drawing/2014/main" id="{F48B2A52-DA7A-B5F2-AE66-392C17119451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2011</a:t>
              </a:r>
            </a:p>
          </p:txBody>
        </p:sp>
        <p:sp>
          <p:nvSpPr>
            <p:cNvPr id="44" name="TextBox 16">
              <a:extLst>
                <a:ext uri="{FF2B5EF4-FFF2-40B4-BE49-F238E27FC236}">
                  <a16:creationId xmlns:a16="http://schemas.microsoft.com/office/drawing/2014/main" id="{FC7E0932-21D0-3824-DE1F-86208194ECDB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313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Lorem ipsum dolor sit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amet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adipiscing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elit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.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Vivamus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odio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aliquam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EB46210-36A3-661B-DC89-11523C75E9CB}"/>
              </a:ext>
            </a:extLst>
          </p:cNvPr>
          <p:cNvGrpSpPr/>
          <p:nvPr userDrawn="1"/>
        </p:nvGrpSpPr>
        <p:grpSpPr>
          <a:xfrm>
            <a:off x="4027070" y="2125884"/>
            <a:ext cx="946844" cy="971454"/>
            <a:chOff x="0" y="-14473"/>
            <a:chExt cx="556826" cy="571299"/>
          </a:xfrm>
        </p:grpSpPr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FF92C169-4533-35D8-F865-37BCE2C88335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E4E9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28">
              <a:extLst>
                <a:ext uri="{FF2B5EF4-FFF2-40B4-BE49-F238E27FC236}">
                  <a16:creationId xmlns:a16="http://schemas.microsoft.com/office/drawing/2014/main" id="{524C1F9B-974F-33AF-76B3-AD3A8BBC2D51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2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35EFC44-4732-467D-0BB9-9639FFAE5D5C}"/>
              </a:ext>
            </a:extLst>
          </p:cNvPr>
          <p:cNvGrpSpPr/>
          <p:nvPr userDrawn="1"/>
        </p:nvGrpSpPr>
        <p:grpSpPr>
          <a:xfrm>
            <a:off x="6713372" y="2143158"/>
            <a:ext cx="946844" cy="971454"/>
            <a:chOff x="0" y="-14473"/>
            <a:chExt cx="556826" cy="571299"/>
          </a:xfrm>
        </p:grpSpPr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F6FA1B7-7695-A8F9-9930-6ABC935139CF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6255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1">
              <a:extLst>
                <a:ext uri="{FF2B5EF4-FFF2-40B4-BE49-F238E27FC236}">
                  <a16:creationId xmlns:a16="http://schemas.microsoft.com/office/drawing/2014/main" id="{7B6E1EE0-FE91-8AD9-36A2-1EC012E34EFB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3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AFD45E0-CFEB-C722-3C2F-676614F9A6BD}"/>
              </a:ext>
            </a:extLst>
          </p:cNvPr>
          <p:cNvGrpSpPr/>
          <p:nvPr userDrawn="1"/>
        </p:nvGrpSpPr>
        <p:grpSpPr>
          <a:xfrm>
            <a:off x="9468772" y="2143158"/>
            <a:ext cx="946844" cy="971454"/>
            <a:chOff x="0" y="-14473"/>
            <a:chExt cx="556826" cy="571299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749AB401-36D5-BF2E-2A63-B11D712ABE32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09FD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4">
              <a:extLst>
                <a:ext uri="{FF2B5EF4-FFF2-40B4-BE49-F238E27FC236}">
                  <a16:creationId xmlns:a16="http://schemas.microsoft.com/office/drawing/2014/main" id="{37647DDC-735C-32A2-CE57-A46D0AE04D54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4</a:t>
              </a:r>
            </a:p>
          </p:txBody>
        </p:sp>
      </p:grpSp>
      <p:sp>
        <p:nvSpPr>
          <p:cNvPr id="18" name="AutoShape 38">
            <a:extLst>
              <a:ext uri="{FF2B5EF4-FFF2-40B4-BE49-F238E27FC236}">
                <a16:creationId xmlns:a16="http://schemas.microsoft.com/office/drawing/2014/main" id="{5B55CC53-4B0B-1F7A-E6CF-1D807C272B88}"/>
              </a:ext>
            </a:extLst>
          </p:cNvPr>
          <p:cNvSpPr/>
          <p:nvPr userDrawn="1"/>
        </p:nvSpPr>
        <p:spPr>
          <a:xfrm>
            <a:off x="1675993" y="3114613"/>
            <a:ext cx="0" cy="792119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39">
            <a:extLst>
              <a:ext uri="{FF2B5EF4-FFF2-40B4-BE49-F238E27FC236}">
                <a16:creationId xmlns:a16="http://schemas.microsoft.com/office/drawing/2014/main" id="{147CB15D-6D2B-85B2-EA0A-A2D72009459A}"/>
              </a:ext>
            </a:extLst>
          </p:cNvPr>
          <p:cNvSpPr/>
          <p:nvPr userDrawn="1"/>
        </p:nvSpPr>
        <p:spPr>
          <a:xfrm>
            <a:off x="4500492" y="3097338"/>
            <a:ext cx="0" cy="810133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40">
            <a:extLst>
              <a:ext uri="{FF2B5EF4-FFF2-40B4-BE49-F238E27FC236}">
                <a16:creationId xmlns:a16="http://schemas.microsoft.com/office/drawing/2014/main" id="{26EBBA74-6593-863D-9566-7B0F68E2231E}"/>
              </a:ext>
            </a:extLst>
          </p:cNvPr>
          <p:cNvSpPr/>
          <p:nvPr userDrawn="1"/>
        </p:nvSpPr>
        <p:spPr>
          <a:xfrm>
            <a:off x="7186794" y="3114613"/>
            <a:ext cx="0" cy="792119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1" name="AutoShape 41">
            <a:extLst>
              <a:ext uri="{FF2B5EF4-FFF2-40B4-BE49-F238E27FC236}">
                <a16:creationId xmlns:a16="http://schemas.microsoft.com/office/drawing/2014/main" id="{87B37EE5-3174-E60F-EB7F-28EAFCDB990B}"/>
              </a:ext>
            </a:extLst>
          </p:cNvPr>
          <p:cNvSpPr/>
          <p:nvPr userDrawn="1"/>
        </p:nvSpPr>
        <p:spPr>
          <a:xfrm>
            <a:off x="9942194" y="3114613"/>
            <a:ext cx="0" cy="792119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4" name="AutoShape 44">
            <a:extLst>
              <a:ext uri="{FF2B5EF4-FFF2-40B4-BE49-F238E27FC236}">
                <a16:creationId xmlns:a16="http://schemas.microsoft.com/office/drawing/2014/main" id="{B173C173-30D8-B176-A7DA-38D50DA243C0}"/>
              </a:ext>
            </a:extLst>
          </p:cNvPr>
          <p:cNvSpPr/>
          <p:nvPr userDrawn="1"/>
        </p:nvSpPr>
        <p:spPr>
          <a:xfrm flipV="1">
            <a:off x="2149415" y="2623916"/>
            <a:ext cx="1877655" cy="17275"/>
          </a:xfrm>
          <a:prstGeom prst="line">
            <a:avLst/>
          </a:prstGeom>
          <a:ln w="57150" cap="flat">
            <a:solidFill>
              <a:srgbClr val="009F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AutoShape 45">
            <a:extLst>
              <a:ext uri="{FF2B5EF4-FFF2-40B4-BE49-F238E27FC236}">
                <a16:creationId xmlns:a16="http://schemas.microsoft.com/office/drawing/2014/main" id="{683F0CD1-60C5-B175-6B13-F66EA667B0AD}"/>
              </a:ext>
            </a:extLst>
          </p:cNvPr>
          <p:cNvSpPr/>
          <p:nvPr userDrawn="1"/>
        </p:nvSpPr>
        <p:spPr>
          <a:xfrm>
            <a:off x="4973915" y="2623916"/>
            <a:ext cx="1739457" cy="17275"/>
          </a:xfrm>
          <a:prstGeom prst="line">
            <a:avLst/>
          </a:prstGeom>
          <a:ln w="57150" cap="flat">
            <a:solidFill>
              <a:srgbClr val="009F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" name="AutoShape 46">
            <a:extLst>
              <a:ext uri="{FF2B5EF4-FFF2-40B4-BE49-F238E27FC236}">
                <a16:creationId xmlns:a16="http://schemas.microsoft.com/office/drawing/2014/main" id="{F428AD71-9119-EE29-B4D0-C39466C2D067}"/>
              </a:ext>
            </a:extLst>
          </p:cNvPr>
          <p:cNvSpPr/>
          <p:nvPr userDrawn="1"/>
        </p:nvSpPr>
        <p:spPr>
          <a:xfrm>
            <a:off x="7660216" y="2641190"/>
            <a:ext cx="1808556" cy="0"/>
          </a:xfrm>
          <a:prstGeom prst="line">
            <a:avLst/>
          </a:prstGeom>
          <a:ln w="57150" cap="flat">
            <a:solidFill>
              <a:srgbClr val="009F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3" name="Freeform 5">
            <a:extLst>
              <a:ext uri="{FF2B5EF4-FFF2-40B4-BE49-F238E27FC236}">
                <a16:creationId xmlns:a16="http://schemas.microsoft.com/office/drawing/2014/main" id="{CCF2BEBE-A490-1991-D680-2F8AB220AA36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2435753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168157-1DC9-22D1-0001-75C67BEB22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65411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834C7-6070-455B-5757-8B2127252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8E30A04-BB51-F8B2-76A7-827154EB7D7F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en-JM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07245E5-5600-E311-777B-C0493CB9B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021ECB-6A16-32DF-45AB-AEA262BB34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070100"/>
            <a:ext cx="10631488" cy="3448050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Gotham Book" panose="0200060404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b="0" i="0">
                <a:latin typeface="Gotham Book" panose="02000604040000020004" pitchFamily="2" charset="0"/>
              </a:rPr>
              <a:t>Insert Paragraph Details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52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168157-1DC9-22D1-0001-75C67BEB22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6541168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834C7-6070-455B-5757-8B2127252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8E30A04-BB51-F8B2-76A7-827154EB7D7F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endParaRPr lang="en-JM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07245E5-5600-E311-777B-C0493CB9B0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Your Title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021ECB-6A16-32DF-45AB-AEA262BB34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070100"/>
            <a:ext cx="10631488" cy="3448050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b="0" i="0">
                <a:latin typeface="Gotham Book" panose="02000604040000020004" pitchFamily="2" charset="0"/>
              </a:rPr>
              <a:t>Insert Paragraph Details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92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9E393-2E9A-9983-45BF-77A29608D9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607995"/>
            <a:ext cx="3932237" cy="1172679"/>
          </a:xfrm>
        </p:spPr>
        <p:txBody>
          <a:bodyPr anchor="t"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Your Header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C9BD8-2B4F-4CEE-835C-9912AAF944D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  <a:lvl2pPr>
              <a:defRPr sz="2800">
                <a:solidFill>
                  <a:schemeClr val="accent1">
                    <a:lumMod val="50000"/>
                  </a:schemeClr>
                </a:solidFill>
              </a:defRPr>
            </a:lvl2pPr>
            <a:lvl3pPr>
              <a:defRPr sz="2400">
                <a:solidFill>
                  <a:schemeClr val="accent1">
                    <a:lumMod val="50000"/>
                  </a:schemeClr>
                </a:solidFill>
              </a:defRPr>
            </a:lvl3pPr>
            <a:lvl4pPr>
              <a:defRPr sz="2000">
                <a:solidFill>
                  <a:schemeClr val="accent1">
                    <a:lumMod val="50000"/>
                  </a:schemeClr>
                </a:solidFill>
              </a:defRPr>
            </a:lvl4pPr>
            <a:lvl5pPr>
              <a:defRPr sz="2000">
                <a:solidFill>
                  <a:schemeClr val="accent1">
                    <a:lumMod val="50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Insert Photo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D656C8-AD1A-1557-910F-A40E7EAEA079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Insert Summary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9FC0C9-500F-FE4D-7059-F06EBA9D9B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043863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480E6-F565-AA43-351F-D8B3E480C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BB0E02BF-5253-F5F0-3096-EB50B28B9845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42241523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PowerPoint Cover 1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008ED-8DAD-3DDF-C241-E7D740AB3E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0112C-CAD0-ACAA-EF44-D38B25816E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 i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Here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24883C95-2656-864D-EFCC-2C3C6D7BC25C}"/>
              </a:ext>
            </a:extLst>
          </p:cNvPr>
          <p:cNvSpPr/>
          <p:nvPr userDrawn="1"/>
        </p:nvSpPr>
        <p:spPr>
          <a:xfrm>
            <a:off x="-132522" y="6033388"/>
            <a:ext cx="7389578" cy="629648"/>
          </a:xfrm>
          <a:custGeom>
            <a:avLst/>
            <a:gdLst/>
            <a:ahLst/>
            <a:cxnLst/>
            <a:rect l="l" t="t" r="r" b="b"/>
            <a:pathLst>
              <a:path w="10396075" h="885825">
                <a:moveTo>
                  <a:pt x="0" y="0"/>
                </a:moveTo>
                <a:lnTo>
                  <a:pt x="10396075" y="0"/>
                </a:lnTo>
                <a:lnTo>
                  <a:pt x="10396075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591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JM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23C6F31-8823-3A1C-B52A-8FE872C73897}"/>
              </a:ext>
            </a:extLst>
          </p:cNvPr>
          <p:cNvSpPr/>
          <p:nvPr userDrawn="1"/>
        </p:nvSpPr>
        <p:spPr>
          <a:xfrm>
            <a:off x="7336480" y="6197157"/>
            <a:ext cx="3483107" cy="302109"/>
          </a:xfrm>
          <a:custGeom>
            <a:avLst/>
            <a:gdLst/>
            <a:ahLst/>
            <a:cxnLst/>
            <a:rect l="l" t="t" r="r" b="b"/>
            <a:pathLst>
              <a:path w="4900239" h="425024">
                <a:moveTo>
                  <a:pt x="0" y="0"/>
                </a:moveTo>
                <a:lnTo>
                  <a:pt x="4900239" y="0"/>
                </a:lnTo>
                <a:lnTo>
                  <a:pt x="4900239" y="425024"/>
                </a:lnTo>
                <a:lnTo>
                  <a:pt x="0" y="425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JM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4794DDB2-EB20-4483-670B-29F286D1B57B}"/>
              </a:ext>
            </a:extLst>
          </p:cNvPr>
          <p:cNvSpPr/>
          <p:nvPr userDrawn="1"/>
        </p:nvSpPr>
        <p:spPr>
          <a:xfrm>
            <a:off x="10899011" y="6033388"/>
            <a:ext cx="1905088" cy="629649"/>
          </a:xfrm>
          <a:custGeom>
            <a:avLst/>
            <a:gdLst/>
            <a:ahLst/>
            <a:cxnLst/>
            <a:rect l="l" t="t" r="r" b="b"/>
            <a:pathLst>
              <a:path w="2680184" h="885825">
                <a:moveTo>
                  <a:pt x="0" y="0"/>
                </a:moveTo>
                <a:lnTo>
                  <a:pt x="2680184" y="0"/>
                </a:lnTo>
                <a:lnTo>
                  <a:pt x="2680184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234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33102470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PowerPoint Cover 1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008ED-8DAD-3DDF-C241-E7D740AB3E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1264" y="753395"/>
            <a:ext cx="9144000" cy="722479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0112C-CAD0-ACAA-EF44-D38B25816E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1264" y="1660944"/>
            <a:ext cx="9144000" cy="629648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Here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24883C95-2656-864D-EFCC-2C3C6D7BC25C}"/>
              </a:ext>
            </a:extLst>
          </p:cNvPr>
          <p:cNvSpPr/>
          <p:nvPr userDrawn="1"/>
        </p:nvSpPr>
        <p:spPr>
          <a:xfrm>
            <a:off x="-132522" y="6033388"/>
            <a:ext cx="7389578" cy="629648"/>
          </a:xfrm>
          <a:custGeom>
            <a:avLst/>
            <a:gdLst/>
            <a:ahLst/>
            <a:cxnLst/>
            <a:rect l="l" t="t" r="r" b="b"/>
            <a:pathLst>
              <a:path w="10396075" h="885825">
                <a:moveTo>
                  <a:pt x="0" y="0"/>
                </a:moveTo>
                <a:lnTo>
                  <a:pt x="10396075" y="0"/>
                </a:lnTo>
                <a:lnTo>
                  <a:pt x="10396075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591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JM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23C6F31-8823-3A1C-B52A-8FE872C73897}"/>
              </a:ext>
            </a:extLst>
          </p:cNvPr>
          <p:cNvSpPr/>
          <p:nvPr userDrawn="1"/>
        </p:nvSpPr>
        <p:spPr>
          <a:xfrm>
            <a:off x="7336480" y="6197157"/>
            <a:ext cx="3483107" cy="302109"/>
          </a:xfrm>
          <a:custGeom>
            <a:avLst/>
            <a:gdLst/>
            <a:ahLst/>
            <a:cxnLst/>
            <a:rect l="l" t="t" r="r" b="b"/>
            <a:pathLst>
              <a:path w="4900239" h="425024">
                <a:moveTo>
                  <a:pt x="0" y="0"/>
                </a:moveTo>
                <a:lnTo>
                  <a:pt x="4900239" y="0"/>
                </a:lnTo>
                <a:lnTo>
                  <a:pt x="4900239" y="425024"/>
                </a:lnTo>
                <a:lnTo>
                  <a:pt x="0" y="425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JM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4794DDB2-EB20-4483-670B-29F286D1B57B}"/>
              </a:ext>
            </a:extLst>
          </p:cNvPr>
          <p:cNvSpPr/>
          <p:nvPr userDrawn="1"/>
        </p:nvSpPr>
        <p:spPr>
          <a:xfrm>
            <a:off x="10899011" y="6033388"/>
            <a:ext cx="1905088" cy="629649"/>
          </a:xfrm>
          <a:custGeom>
            <a:avLst/>
            <a:gdLst/>
            <a:ahLst/>
            <a:cxnLst/>
            <a:rect l="l" t="t" r="r" b="b"/>
            <a:pathLst>
              <a:path w="2680184" h="885825">
                <a:moveTo>
                  <a:pt x="0" y="0"/>
                </a:moveTo>
                <a:lnTo>
                  <a:pt x="2680184" y="0"/>
                </a:lnTo>
                <a:lnTo>
                  <a:pt x="2680184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234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39142138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Content Slide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DBFC8-12A5-8D51-8F48-E22A446424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6E6FB-C2B6-6443-F2D8-137E1E61904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/>
              <a:t>Content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4301E-F966-7C12-6F91-9890B2ADA6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49625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0E6A6-2064-40D0-F432-F19CE8676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543828D-1C57-47CD-71D6-DCDD0B47004B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42315543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ransition Slide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8D68B-9D38-D375-0E0B-E71B45CF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002630"/>
            <a:ext cx="10515600" cy="2852737"/>
          </a:xfrm>
        </p:spPr>
        <p:txBody>
          <a:bodyPr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Separator Slide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AA4C5-586B-46CD-F4E4-A44AA15915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21858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21D76-F7F7-44F4-0928-16192EA5B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7EDF8654-4A5A-410F-70D5-0CB8DD014DC0}"/>
              </a:ext>
            </a:extLst>
          </p:cNvPr>
          <p:cNvSpPr/>
          <p:nvPr userDrawn="1"/>
        </p:nvSpPr>
        <p:spPr>
          <a:xfrm>
            <a:off x="418641" y="2002631"/>
            <a:ext cx="234787" cy="2852737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25387884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Content Slide 2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FCE64-907E-2DFA-F136-C1E5CDCA1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0894C-98E2-34B4-5B80-C191EDBE7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EF8B9-305F-D62C-1E11-AD8FA8B98E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B04DC9-7F3E-7532-D80E-543143058B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589295" cy="365125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9F5E3-F3CF-1106-B32E-82CAC701C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50033CA9-4BE9-FDD0-037D-C73A3E682E15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37626492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_Content Compars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25E47-28A2-4DE1-91DD-68A71DB53F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642E3-70CD-6249-58A9-1483B2D1E2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Content Subhead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41965-2B63-7326-2D37-A044736B0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EFF09C-0629-E8E5-B98C-DDF722B4A9A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Content Subhead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3007F4-CD3B-4E37-791D-3B5449C5B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9335F6-EA20-37E5-0F8F-006B8D0DB6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332621" cy="365125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Presentation Title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EB4896-C432-D26C-F220-63E926D8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BC735769-813A-3295-ED20-E1F9D4AD47C0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2537015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Compars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">
            <a:extLst>
              <a:ext uri="{FF2B5EF4-FFF2-40B4-BE49-F238E27FC236}">
                <a16:creationId xmlns:a16="http://schemas.microsoft.com/office/drawing/2014/main" id="{A39AC746-0F8C-8731-3C35-4469604CC322}"/>
              </a:ext>
            </a:extLst>
          </p:cNvPr>
          <p:cNvGrpSpPr/>
          <p:nvPr userDrawn="1"/>
        </p:nvGrpSpPr>
        <p:grpSpPr>
          <a:xfrm>
            <a:off x="0" y="0"/>
            <a:ext cx="8021053" cy="6858000"/>
            <a:chOff x="0" y="0"/>
            <a:chExt cx="3694747" cy="2709333"/>
          </a:xfrm>
        </p:grpSpPr>
        <p:sp>
          <p:nvSpPr>
            <p:cNvPr id="11" name="Freeform 4">
              <a:extLst>
                <a:ext uri="{FF2B5EF4-FFF2-40B4-BE49-F238E27FC236}">
                  <a16:creationId xmlns:a16="http://schemas.microsoft.com/office/drawing/2014/main" id="{7BE17A93-7FBF-2E2F-8B58-82E731C41C76}"/>
                </a:ext>
              </a:extLst>
            </p:cNvPr>
            <p:cNvSpPr/>
            <p:nvPr/>
          </p:nvSpPr>
          <p:spPr>
            <a:xfrm>
              <a:off x="0" y="0"/>
              <a:ext cx="3694747" cy="2709333"/>
            </a:xfrm>
            <a:custGeom>
              <a:avLst/>
              <a:gdLst/>
              <a:ahLst/>
              <a:cxnLst/>
              <a:rect l="l" t="t" r="r" b="b"/>
              <a:pathLst>
                <a:path w="3694747" h="2709333">
                  <a:moveTo>
                    <a:pt x="0" y="0"/>
                  </a:moveTo>
                  <a:lnTo>
                    <a:pt x="3694747" y="0"/>
                  </a:lnTo>
                  <a:lnTo>
                    <a:pt x="3694747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1C60A4">
                    <a:alpha val="100000"/>
                  </a:srgbClr>
                </a:gs>
                <a:gs pos="100000">
                  <a:srgbClr val="062552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JM"/>
            </a:p>
          </p:txBody>
        </p:sp>
        <p:sp>
          <p:nvSpPr>
            <p:cNvPr id="12" name="TextBox 5">
              <a:extLst>
                <a:ext uri="{FF2B5EF4-FFF2-40B4-BE49-F238E27FC236}">
                  <a16:creationId xmlns:a16="http://schemas.microsoft.com/office/drawing/2014/main" id="{4F536023-7B7E-5E02-7BDB-8029957D9838}"/>
                </a:ext>
              </a:extLst>
            </p:cNvPr>
            <p:cNvSpPr txBox="1"/>
            <p:nvPr/>
          </p:nvSpPr>
          <p:spPr>
            <a:xfrm>
              <a:off x="0" y="-38100"/>
              <a:ext cx="3694747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0225E47-28A2-4DE1-91DD-68A71DB53F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642E3-70CD-6249-58A9-1483B2D1E2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Content Subhead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41965-2B63-7326-2D37-A044736B0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9335F6-EA20-37E5-0F8F-006B8D0DB6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33262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EB4896-C432-D26C-F220-63E926D8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BC735769-813A-3295-ED20-E1F9D4AD47C0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en-JM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110C61-80E7-54DA-AE45-FAD0695662ED}"/>
              </a:ext>
            </a:extLst>
          </p:cNvPr>
          <p:cNvSpPr/>
          <p:nvPr userDrawn="1"/>
        </p:nvSpPr>
        <p:spPr>
          <a:xfrm>
            <a:off x="5157281" y="6490721"/>
            <a:ext cx="187743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800" b="0" cap="none" spc="0">
                <a:ln w="0"/>
                <a:solidFill>
                  <a:schemeClr val="bg2">
                    <a:alpha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4429172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mple Samp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21C56-D50C-E00F-A566-6510789F04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Timeline 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97EFC4-7E64-FCB0-691D-3FEA22FBDB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733249" cy="399264"/>
          </a:xfrm>
        </p:spPr>
        <p:txBody>
          <a:bodyPr/>
          <a:lstStyle>
            <a:lvl1pPr>
              <a:lnSpc>
                <a:spcPct val="100000"/>
              </a:lnSpc>
              <a:defRPr sz="11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B3FA75-D5B7-7721-506F-2C139D327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 sz="11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1DA6D51-0096-3EF2-8EA8-65807A921332}"/>
              </a:ext>
            </a:extLst>
          </p:cNvPr>
          <p:cNvGrpSpPr/>
          <p:nvPr userDrawn="1"/>
        </p:nvGrpSpPr>
        <p:grpSpPr>
          <a:xfrm>
            <a:off x="1202571" y="2143158"/>
            <a:ext cx="946844" cy="971454"/>
            <a:chOff x="0" y="-14473"/>
            <a:chExt cx="556826" cy="571299"/>
          </a:xfrm>
        </p:grpSpPr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8AAF412B-C6FB-58D8-CD2A-88EAEA032B0D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09FDA"/>
            </a:solidFill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TextBox 4">
              <a:extLst>
                <a:ext uri="{FF2B5EF4-FFF2-40B4-BE49-F238E27FC236}">
                  <a16:creationId xmlns:a16="http://schemas.microsoft.com/office/drawing/2014/main" id="{3ADC7E24-88FE-D365-A98D-C65B6F5E92A0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Arial" panose="020B0604020202020204" pitchFamily="34" charset="0"/>
                  <a:ea typeface="Gotham Bold"/>
                  <a:cs typeface="Arial" panose="020B0604020202020204" pitchFamily="34" charset="0"/>
                  <a:sym typeface="Gotham Bold"/>
                </a:rPr>
                <a:t>1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C868748-0B27-5CDD-AE5C-4800B2233183}"/>
              </a:ext>
            </a:extLst>
          </p:cNvPr>
          <p:cNvGrpSpPr/>
          <p:nvPr userDrawn="1"/>
        </p:nvGrpSpPr>
        <p:grpSpPr>
          <a:xfrm>
            <a:off x="8714997" y="4262647"/>
            <a:ext cx="2457578" cy="1530344"/>
            <a:chOff x="0" y="-28575"/>
            <a:chExt cx="3276771" cy="2040459"/>
          </a:xfrm>
        </p:grpSpPr>
        <p:sp>
          <p:nvSpPr>
            <p:cNvPr id="49" name="TextBox 6">
              <a:extLst>
                <a:ext uri="{FF2B5EF4-FFF2-40B4-BE49-F238E27FC236}">
                  <a16:creationId xmlns:a16="http://schemas.microsoft.com/office/drawing/2014/main" id="{4A229842-87A8-33EA-DE8E-2C0A9FB39D2E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2015</a:t>
              </a:r>
            </a:p>
          </p:txBody>
        </p:sp>
        <p:sp>
          <p:nvSpPr>
            <p:cNvPr id="50" name="TextBox 7">
              <a:extLst>
                <a:ext uri="{FF2B5EF4-FFF2-40B4-BE49-F238E27FC236}">
                  <a16:creationId xmlns:a16="http://schemas.microsoft.com/office/drawing/2014/main" id="{50297581-D24E-B736-C2E3-1E629C725569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313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Lorem ipsum dolor sit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amet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adipiscing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elit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.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Vivamus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odio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aliquam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20D0A38-4D5E-6B41-7A74-4C009A0B102E}"/>
              </a:ext>
            </a:extLst>
          </p:cNvPr>
          <p:cNvGrpSpPr/>
          <p:nvPr userDrawn="1"/>
        </p:nvGrpSpPr>
        <p:grpSpPr>
          <a:xfrm>
            <a:off x="451184" y="4262647"/>
            <a:ext cx="2457578" cy="1530344"/>
            <a:chOff x="0" y="-28575"/>
            <a:chExt cx="3276771" cy="2040459"/>
          </a:xfrm>
        </p:grpSpPr>
        <p:sp>
          <p:nvSpPr>
            <p:cNvPr id="47" name="TextBox 9">
              <a:extLst>
                <a:ext uri="{FF2B5EF4-FFF2-40B4-BE49-F238E27FC236}">
                  <a16:creationId xmlns:a16="http://schemas.microsoft.com/office/drawing/2014/main" id="{B335BCA9-845D-3C1C-61E6-EA2B82CF2181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1980</a:t>
              </a:r>
            </a:p>
          </p:txBody>
        </p:sp>
        <p:sp>
          <p:nvSpPr>
            <p:cNvPr id="48" name="TextBox 10">
              <a:extLst>
                <a:ext uri="{FF2B5EF4-FFF2-40B4-BE49-F238E27FC236}">
                  <a16:creationId xmlns:a16="http://schemas.microsoft.com/office/drawing/2014/main" id="{C400E550-EB0D-905B-3FC9-7AF480269C46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313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Lorem ipsum dolor sit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amet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adipiscing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elit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.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Vivamus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odio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aliquam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CF7EB83-DA75-A735-2374-55CEFCA42838}"/>
              </a:ext>
            </a:extLst>
          </p:cNvPr>
          <p:cNvGrpSpPr/>
          <p:nvPr userDrawn="1"/>
        </p:nvGrpSpPr>
        <p:grpSpPr>
          <a:xfrm>
            <a:off x="3205788" y="4262647"/>
            <a:ext cx="2457578" cy="1530344"/>
            <a:chOff x="0" y="-28575"/>
            <a:chExt cx="3276771" cy="2040459"/>
          </a:xfrm>
        </p:grpSpPr>
        <p:sp>
          <p:nvSpPr>
            <p:cNvPr id="45" name="TextBox 12">
              <a:extLst>
                <a:ext uri="{FF2B5EF4-FFF2-40B4-BE49-F238E27FC236}">
                  <a16:creationId xmlns:a16="http://schemas.microsoft.com/office/drawing/2014/main" id="{F2158044-E681-9E6D-315D-1E5F8C79133F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1981</a:t>
              </a:r>
            </a:p>
          </p:txBody>
        </p:sp>
        <p:sp>
          <p:nvSpPr>
            <p:cNvPr id="46" name="TextBox 13">
              <a:extLst>
                <a:ext uri="{FF2B5EF4-FFF2-40B4-BE49-F238E27FC236}">
                  <a16:creationId xmlns:a16="http://schemas.microsoft.com/office/drawing/2014/main" id="{7B544EC8-4E09-2AFA-C2AA-5438BD21479A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313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Lorem ipsum dolor sit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amet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adipiscing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elit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.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Vivamus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odio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aliquam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EBEFF6-F57A-9EE1-EE47-A067270E2CCC}"/>
              </a:ext>
            </a:extLst>
          </p:cNvPr>
          <p:cNvGrpSpPr/>
          <p:nvPr userDrawn="1"/>
        </p:nvGrpSpPr>
        <p:grpSpPr>
          <a:xfrm>
            <a:off x="5960393" y="4262647"/>
            <a:ext cx="2457578" cy="1530344"/>
            <a:chOff x="0" y="-28575"/>
            <a:chExt cx="3276771" cy="2040459"/>
          </a:xfrm>
        </p:grpSpPr>
        <p:sp>
          <p:nvSpPr>
            <p:cNvPr id="43" name="TextBox 15">
              <a:extLst>
                <a:ext uri="{FF2B5EF4-FFF2-40B4-BE49-F238E27FC236}">
                  <a16:creationId xmlns:a16="http://schemas.microsoft.com/office/drawing/2014/main" id="{F48B2A52-DA7A-B5F2-AE66-392C17119451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2011</a:t>
              </a:r>
            </a:p>
          </p:txBody>
        </p:sp>
        <p:sp>
          <p:nvSpPr>
            <p:cNvPr id="44" name="TextBox 16">
              <a:extLst>
                <a:ext uri="{FF2B5EF4-FFF2-40B4-BE49-F238E27FC236}">
                  <a16:creationId xmlns:a16="http://schemas.microsoft.com/office/drawing/2014/main" id="{FC7E0932-21D0-3824-DE1F-86208194ECDB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313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Lorem ipsum dolor sit amet, consectetur adipiscing elit. Vivamus consectetur odio aliquam, 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EB46210-36A3-661B-DC89-11523C75E9CB}"/>
              </a:ext>
            </a:extLst>
          </p:cNvPr>
          <p:cNvGrpSpPr/>
          <p:nvPr userDrawn="1"/>
        </p:nvGrpSpPr>
        <p:grpSpPr>
          <a:xfrm>
            <a:off x="4027070" y="2125884"/>
            <a:ext cx="946844" cy="971454"/>
            <a:chOff x="0" y="-14473"/>
            <a:chExt cx="556826" cy="571299"/>
          </a:xfrm>
        </p:grpSpPr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FF92C169-4533-35D8-F865-37BCE2C88335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E4E95"/>
            </a:solidFill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TextBox 28">
              <a:extLst>
                <a:ext uri="{FF2B5EF4-FFF2-40B4-BE49-F238E27FC236}">
                  <a16:creationId xmlns:a16="http://schemas.microsoft.com/office/drawing/2014/main" id="{524C1F9B-974F-33AF-76B3-AD3A8BBC2D51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Arial" panose="020B0604020202020204" pitchFamily="34" charset="0"/>
                  <a:ea typeface="Gotham Bold"/>
                  <a:cs typeface="Arial" panose="020B0604020202020204" pitchFamily="34" charset="0"/>
                  <a:sym typeface="Gotham Bold"/>
                </a:rPr>
                <a:t>2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35EFC44-4732-467D-0BB9-9639FFAE5D5C}"/>
              </a:ext>
            </a:extLst>
          </p:cNvPr>
          <p:cNvGrpSpPr/>
          <p:nvPr userDrawn="1"/>
        </p:nvGrpSpPr>
        <p:grpSpPr>
          <a:xfrm>
            <a:off x="6713372" y="2143158"/>
            <a:ext cx="946844" cy="971454"/>
            <a:chOff x="0" y="-14473"/>
            <a:chExt cx="556826" cy="571299"/>
          </a:xfrm>
        </p:grpSpPr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F6FA1B7-7695-A8F9-9930-6ABC935139CF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62552"/>
            </a:solidFill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TextBox 31">
              <a:extLst>
                <a:ext uri="{FF2B5EF4-FFF2-40B4-BE49-F238E27FC236}">
                  <a16:creationId xmlns:a16="http://schemas.microsoft.com/office/drawing/2014/main" id="{7B6E1EE0-FE91-8AD9-36A2-1EC012E34EFB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Arial" panose="020B0604020202020204" pitchFamily="34" charset="0"/>
                  <a:ea typeface="Gotham Bold"/>
                  <a:cs typeface="Arial" panose="020B0604020202020204" pitchFamily="34" charset="0"/>
                  <a:sym typeface="Gotham Bold"/>
                </a:rPr>
                <a:t>3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AFD45E0-CFEB-C722-3C2F-676614F9A6BD}"/>
              </a:ext>
            </a:extLst>
          </p:cNvPr>
          <p:cNvGrpSpPr/>
          <p:nvPr userDrawn="1"/>
        </p:nvGrpSpPr>
        <p:grpSpPr>
          <a:xfrm>
            <a:off x="9468772" y="2143158"/>
            <a:ext cx="946844" cy="971454"/>
            <a:chOff x="0" y="-14473"/>
            <a:chExt cx="556826" cy="571299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749AB401-36D5-BF2E-2A63-B11D712ABE32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09FDA"/>
            </a:solidFill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TextBox 34">
              <a:extLst>
                <a:ext uri="{FF2B5EF4-FFF2-40B4-BE49-F238E27FC236}">
                  <a16:creationId xmlns:a16="http://schemas.microsoft.com/office/drawing/2014/main" id="{37647DDC-735C-32A2-CE57-A46D0AE04D54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Arial" panose="020B0604020202020204" pitchFamily="34" charset="0"/>
                  <a:ea typeface="Gotham Bold"/>
                  <a:cs typeface="Arial" panose="020B0604020202020204" pitchFamily="34" charset="0"/>
                  <a:sym typeface="Gotham Bold"/>
                </a:rPr>
                <a:t>4</a:t>
              </a:r>
            </a:p>
          </p:txBody>
        </p:sp>
      </p:grpSp>
      <p:sp>
        <p:nvSpPr>
          <p:cNvPr id="18" name="AutoShape 38">
            <a:extLst>
              <a:ext uri="{FF2B5EF4-FFF2-40B4-BE49-F238E27FC236}">
                <a16:creationId xmlns:a16="http://schemas.microsoft.com/office/drawing/2014/main" id="{5B55CC53-4B0B-1F7A-E6CF-1D807C272B88}"/>
              </a:ext>
            </a:extLst>
          </p:cNvPr>
          <p:cNvSpPr/>
          <p:nvPr userDrawn="1"/>
        </p:nvSpPr>
        <p:spPr>
          <a:xfrm>
            <a:off x="1675993" y="3114613"/>
            <a:ext cx="0" cy="792119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39">
            <a:extLst>
              <a:ext uri="{FF2B5EF4-FFF2-40B4-BE49-F238E27FC236}">
                <a16:creationId xmlns:a16="http://schemas.microsoft.com/office/drawing/2014/main" id="{147CB15D-6D2B-85B2-EA0A-A2D72009459A}"/>
              </a:ext>
            </a:extLst>
          </p:cNvPr>
          <p:cNvSpPr/>
          <p:nvPr userDrawn="1"/>
        </p:nvSpPr>
        <p:spPr>
          <a:xfrm>
            <a:off x="4500492" y="3097338"/>
            <a:ext cx="0" cy="810133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40">
            <a:extLst>
              <a:ext uri="{FF2B5EF4-FFF2-40B4-BE49-F238E27FC236}">
                <a16:creationId xmlns:a16="http://schemas.microsoft.com/office/drawing/2014/main" id="{26EBBA74-6593-863D-9566-7B0F68E2231E}"/>
              </a:ext>
            </a:extLst>
          </p:cNvPr>
          <p:cNvSpPr/>
          <p:nvPr userDrawn="1"/>
        </p:nvSpPr>
        <p:spPr>
          <a:xfrm>
            <a:off x="7186794" y="3114613"/>
            <a:ext cx="0" cy="792119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1" name="AutoShape 41">
            <a:extLst>
              <a:ext uri="{FF2B5EF4-FFF2-40B4-BE49-F238E27FC236}">
                <a16:creationId xmlns:a16="http://schemas.microsoft.com/office/drawing/2014/main" id="{87B37EE5-3174-E60F-EB7F-28EAFCDB990B}"/>
              </a:ext>
            </a:extLst>
          </p:cNvPr>
          <p:cNvSpPr/>
          <p:nvPr userDrawn="1"/>
        </p:nvSpPr>
        <p:spPr>
          <a:xfrm>
            <a:off x="9942194" y="3114613"/>
            <a:ext cx="0" cy="792119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4" name="AutoShape 44">
            <a:extLst>
              <a:ext uri="{FF2B5EF4-FFF2-40B4-BE49-F238E27FC236}">
                <a16:creationId xmlns:a16="http://schemas.microsoft.com/office/drawing/2014/main" id="{B173C173-30D8-B176-A7DA-38D50DA243C0}"/>
              </a:ext>
            </a:extLst>
          </p:cNvPr>
          <p:cNvSpPr/>
          <p:nvPr userDrawn="1"/>
        </p:nvSpPr>
        <p:spPr>
          <a:xfrm flipV="1">
            <a:off x="2149415" y="2623916"/>
            <a:ext cx="1877655" cy="17275"/>
          </a:xfrm>
          <a:prstGeom prst="line">
            <a:avLst/>
          </a:prstGeom>
          <a:ln w="57150" cap="flat">
            <a:solidFill>
              <a:srgbClr val="009F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AutoShape 45">
            <a:extLst>
              <a:ext uri="{FF2B5EF4-FFF2-40B4-BE49-F238E27FC236}">
                <a16:creationId xmlns:a16="http://schemas.microsoft.com/office/drawing/2014/main" id="{683F0CD1-60C5-B175-6B13-F66EA667B0AD}"/>
              </a:ext>
            </a:extLst>
          </p:cNvPr>
          <p:cNvSpPr/>
          <p:nvPr userDrawn="1"/>
        </p:nvSpPr>
        <p:spPr>
          <a:xfrm>
            <a:off x="4973915" y="2623916"/>
            <a:ext cx="1739457" cy="17275"/>
          </a:xfrm>
          <a:prstGeom prst="line">
            <a:avLst/>
          </a:prstGeom>
          <a:ln w="57150" cap="flat">
            <a:solidFill>
              <a:srgbClr val="009F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" name="AutoShape 46">
            <a:extLst>
              <a:ext uri="{FF2B5EF4-FFF2-40B4-BE49-F238E27FC236}">
                <a16:creationId xmlns:a16="http://schemas.microsoft.com/office/drawing/2014/main" id="{F428AD71-9119-EE29-B4D0-C39466C2D067}"/>
              </a:ext>
            </a:extLst>
          </p:cNvPr>
          <p:cNvSpPr/>
          <p:nvPr userDrawn="1"/>
        </p:nvSpPr>
        <p:spPr>
          <a:xfrm>
            <a:off x="7660216" y="2641190"/>
            <a:ext cx="1808556" cy="0"/>
          </a:xfrm>
          <a:prstGeom prst="line">
            <a:avLst/>
          </a:prstGeom>
          <a:ln w="57150" cap="flat">
            <a:solidFill>
              <a:srgbClr val="009F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3" name="Freeform 5">
            <a:extLst>
              <a:ext uri="{FF2B5EF4-FFF2-40B4-BE49-F238E27FC236}">
                <a16:creationId xmlns:a16="http://schemas.microsoft.com/office/drawing/2014/main" id="{CCF2BEBE-A490-1991-D680-2F8AB220AA36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19610926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168157-1DC9-22D1-0001-75C67BEB22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65411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834C7-6070-455B-5757-8B2127252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8E30A04-BB51-F8B2-76A7-827154EB7D7F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en-JM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07245E5-5600-E311-777B-C0493CB9B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021ECB-6A16-32DF-45AB-AEA262BB34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070100"/>
            <a:ext cx="10631488" cy="3448050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b="0" i="0">
                <a:latin typeface="Gotham Book" panose="02000604040000020004" pitchFamily="2" charset="0"/>
              </a:rPr>
              <a:t>Insert Paragraph Details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387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168157-1DC9-22D1-0001-75C67BEB22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6541168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834C7-6070-455B-5757-8B2127252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8E30A04-BB51-F8B2-76A7-827154EB7D7F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endParaRPr lang="en-JM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07245E5-5600-E311-777B-C0493CB9B0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Your Title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021ECB-6A16-32DF-45AB-AEA262BB34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070100"/>
            <a:ext cx="10631488" cy="3448050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b="0" i="0">
                <a:latin typeface="Gotham Book" panose="02000604040000020004" pitchFamily="2" charset="0"/>
              </a:rPr>
              <a:t>Insert Paragraph Details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1639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9E393-2E9A-9983-45BF-77A29608D9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607995"/>
            <a:ext cx="3932237" cy="1172679"/>
          </a:xfrm>
        </p:spPr>
        <p:txBody>
          <a:bodyPr anchor="t"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Your Header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C9BD8-2B4F-4CEE-835C-9912AAF944D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  <a:lvl2pPr>
              <a:defRPr sz="2800">
                <a:solidFill>
                  <a:schemeClr val="accent1">
                    <a:lumMod val="50000"/>
                  </a:schemeClr>
                </a:solidFill>
              </a:defRPr>
            </a:lvl2pPr>
            <a:lvl3pPr>
              <a:defRPr sz="2400">
                <a:solidFill>
                  <a:schemeClr val="accent1">
                    <a:lumMod val="50000"/>
                  </a:schemeClr>
                </a:solidFill>
              </a:defRPr>
            </a:lvl3pPr>
            <a:lvl4pPr>
              <a:defRPr sz="2000">
                <a:solidFill>
                  <a:schemeClr val="accent1">
                    <a:lumMod val="50000"/>
                  </a:schemeClr>
                </a:solidFill>
              </a:defRPr>
            </a:lvl4pPr>
            <a:lvl5pPr>
              <a:defRPr sz="2000">
                <a:solidFill>
                  <a:schemeClr val="accent1">
                    <a:lumMod val="50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Insert Photo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D656C8-AD1A-1557-910F-A40E7EAEA079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Insert Summary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9FC0C9-500F-FE4D-7059-F06EBA9D9B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043863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480E6-F565-AA43-351F-D8B3E480C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BB0E02BF-5253-F5F0-3096-EB50B28B9845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17382607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84295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owerPoint Cover 1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008ED-8DAD-3DDF-C241-E7D740AB3E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0112C-CAD0-ACAA-EF44-D38B25816E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 i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Here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24883C95-2656-864D-EFCC-2C3C6D7BC25C}"/>
              </a:ext>
            </a:extLst>
          </p:cNvPr>
          <p:cNvSpPr/>
          <p:nvPr userDrawn="1"/>
        </p:nvSpPr>
        <p:spPr>
          <a:xfrm>
            <a:off x="-132522" y="6033388"/>
            <a:ext cx="7389578" cy="629648"/>
          </a:xfrm>
          <a:custGeom>
            <a:avLst/>
            <a:gdLst/>
            <a:ahLst/>
            <a:cxnLst/>
            <a:rect l="l" t="t" r="r" b="b"/>
            <a:pathLst>
              <a:path w="10396075" h="885825">
                <a:moveTo>
                  <a:pt x="0" y="0"/>
                </a:moveTo>
                <a:lnTo>
                  <a:pt x="10396075" y="0"/>
                </a:lnTo>
                <a:lnTo>
                  <a:pt x="10396075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591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JM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23C6F31-8823-3A1C-B52A-8FE872C73897}"/>
              </a:ext>
            </a:extLst>
          </p:cNvPr>
          <p:cNvSpPr/>
          <p:nvPr userDrawn="1"/>
        </p:nvSpPr>
        <p:spPr>
          <a:xfrm>
            <a:off x="7336480" y="6197157"/>
            <a:ext cx="3483107" cy="302109"/>
          </a:xfrm>
          <a:custGeom>
            <a:avLst/>
            <a:gdLst/>
            <a:ahLst/>
            <a:cxnLst/>
            <a:rect l="l" t="t" r="r" b="b"/>
            <a:pathLst>
              <a:path w="4900239" h="425024">
                <a:moveTo>
                  <a:pt x="0" y="0"/>
                </a:moveTo>
                <a:lnTo>
                  <a:pt x="4900239" y="0"/>
                </a:lnTo>
                <a:lnTo>
                  <a:pt x="4900239" y="425024"/>
                </a:lnTo>
                <a:lnTo>
                  <a:pt x="0" y="425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JM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4794DDB2-EB20-4483-670B-29F286D1B57B}"/>
              </a:ext>
            </a:extLst>
          </p:cNvPr>
          <p:cNvSpPr/>
          <p:nvPr userDrawn="1"/>
        </p:nvSpPr>
        <p:spPr>
          <a:xfrm>
            <a:off x="10899011" y="6033388"/>
            <a:ext cx="1905088" cy="629649"/>
          </a:xfrm>
          <a:custGeom>
            <a:avLst/>
            <a:gdLst/>
            <a:ahLst/>
            <a:cxnLst/>
            <a:rect l="l" t="t" r="r" b="b"/>
            <a:pathLst>
              <a:path w="2680184" h="885825">
                <a:moveTo>
                  <a:pt x="0" y="0"/>
                </a:moveTo>
                <a:lnTo>
                  <a:pt x="2680184" y="0"/>
                </a:lnTo>
                <a:lnTo>
                  <a:pt x="2680184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234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27064612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PowerPoint Cover 1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008ED-8DAD-3DDF-C241-E7D740AB3E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1264" y="753395"/>
            <a:ext cx="9144000" cy="722479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0112C-CAD0-ACAA-EF44-D38B25816E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1264" y="1660944"/>
            <a:ext cx="9144000" cy="629648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Here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24883C95-2656-864D-EFCC-2C3C6D7BC25C}"/>
              </a:ext>
            </a:extLst>
          </p:cNvPr>
          <p:cNvSpPr/>
          <p:nvPr userDrawn="1"/>
        </p:nvSpPr>
        <p:spPr>
          <a:xfrm>
            <a:off x="-132522" y="6033388"/>
            <a:ext cx="7389578" cy="629648"/>
          </a:xfrm>
          <a:custGeom>
            <a:avLst/>
            <a:gdLst/>
            <a:ahLst/>
            <a:cxnLst/>
            <a:rect l="l" t="t" r="r" b="b"/>
            <a:pathLst>
              <a:path w="10396075" h="885825">
                <a:moveTo>
                  <a:pt x="0" y="0"/>
                </a:moveTo>
                <a:lnTo>
                  <a:pt x="10396075" y="0"/>
                </a:lnTo>
                <a:lnTo>
                  <a:pt x="10396075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591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JM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23C6F31-8823-3A1C-B52A-8FE872C73897}"/>
              </a:ext>
            </a:extLst>
          </p:cNvPr>
          <p:cNvSpPr/>
          <p:nvPr userDrawn="1"/>
        </p:nvSpPr>
        <p:spPr>
          <a:xfrm>
            <a:off x="7336480" y="6197157"/>
            <a:ext cx="3483107" cy="302109"/>
          </a:xfrm>
          <a:custGeom>
            <a:avLst/>
            <a:gdLst/>
            <a:ahLst/>
            <a:cxnLst/>
            <a:rect l="l" t="t" r="r" b="b"/>
            <a:pathLst>
              <a:path w="4900239" h="425024">
                <a:moveTo>
                  <a:pt x="0" y="0"/>
                </a:moveTo>
                <a:lnTo>
                  <a:pt x="4900239" y="0"/>
                </a:lnTo>
                <a:lnTo>
                  <a:pt x="4900239" y="425024"/>
                </a:lnTo>
                <a:lnTo>
                  <a:pt x="0" y="425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JM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4794DDB2-EB20-4483-670B-29F286D1B57B}"/>
              </a:ext>
            </a:extLst>
          </p:cNvPr>
          <p:cNvSpPr/>
          <p:nvPr userDrawn="1"/>
        </p:nvSpPr>
        <p:spPr>
          <a:xfrm>
            <a:off x="10899011" y="6033388"/>
            <a:ext cx="1905088" cy="629649"/>
          </a:xfrm>
          <a:custGeom>
            <a:avLst/>
            <a:gdLst/>
            <a:ahLst/>
            <a:cxnLst/>
            <a:rect l="l" t="t" r="r" b="b"/>
            <a:pathLst>
              <a:path w="2680184" h="885825">
                <a:moveTo>
                  <a:pt x="0" y="0"/>
                </a:moveTo>
                <a:lnTo>
                  <a:pt x="2680184" y="0"/>
                </a:lnTo>
                <a:lnTo>
                  <a:pt x="2680184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234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25787820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Slide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DBFC8-12A5-8D51-8F48-E22A446424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6E6FB-C2B6-6443-F2D8-137E1E61904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Content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4301E-F966-7C12-6F91-9890B2ADA6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49625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0E6A6-2064-40D0-F432-F19CE8676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543828D-1C57-47CD-71D6-DCDD0B47004B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32564249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ransition Slide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8D68B-9D38-D375-0E0B-E71B45CF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002630"/>
            <a:ext cx="10515600" cy="2852737"/>
          </a:xfrm>
        </p:spPr>
        <p:txBody>
          <a:bodyPr anchor="ctr"/>
          <a:lstStyle>
            <a:lvl1pPr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Separator Slide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AA4C5-586B-46CD-F4E4-A44AA15915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21858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21D76-F7F7-44F4-0928-16192EA5B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7EDF8654-4A5A-410F-70D5-0CB8DD014DC0}"/>
              </a:ext>
            </a:extLst>
          </p:cNvPr>
          <p:cNvSpPr/>
          <p:nvPr userDrawn="1"/>
        </p:nvSpPr>
        <p:spPr>
          <a:xfrm>
            <a:off x="418641" y="2002631"/>
            <a:ext cx="234787" cy="2852737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374381696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t Slide 2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FCE64-907E-2DFA-F136-C1E5CDCA1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0894C-98E2-34B4-5B80-C191EDBE7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EF8B9-305F-D62C-1E11-AD8FA8B98E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B04DC9-7F3E-7532-D80E-543143058B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589295" cy="365125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9F5E3-F3CF-1106-B32E-82CAC701C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50033CA9-4BE9-FDD0-037D-C73A3E682E15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8604315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nt Compars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25E47-28A2-4DE1-91DD-68A71DB53F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642E3-70CD-6249-58A9-1483B2D1E2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Content Subhead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41965-2B63-7326-2D37-A044736B0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EFF09C-0629-E8E5-B98C-DDF722B4A9A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Content Subhead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3007F4-CD3B-4E37-791D-3B5449C5B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9335F6-EA20-37E5-0F8F-006B8D0DB6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332621" cy="365125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Presentation Title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EB4896-C432-D26C-F220-63E926D8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BC735769-813A-3295-ED20-E1F9D4AD47C0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42070811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Compars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">
            <a:extLst>
              <a:ext uri="{FF2B5EF4-FFF2-40B4-BE49-F238E27FC236}">
                <a16:creationId xmlns:a16="http://schemas.microsoft.com/office/drawing/2014/main" id="{A39AC746-0F8C-8731-3C35-4469604CC322}"/>
              </a:ext>
            </a:extLst>
          </p:cNvPr>
          <p:cNvGrpSpPr/>
          <p:nvPr userDrawn="1"/>
        </p:nvGrpSpPr>
        <p:grpSpPr>
          <a:xfrm>
            <a:off x="0" y="0"/>
            <a:ext cx="8021053" cy="6858000"/>
            <a:chOff x="0" y="0"/>
            <a:chExt cx="3694747" cy="2709333"/>
          </a:xfrm>
        </p:grpSpPr>
        <p:sp>
          <p:nvSpPr>
            <p:cNvPr id="11" name="Freeform 4">
              <a:extLst>
                <a:ext uri="{FF2B5EF4-FFF2-40B4-BE49-F238E27FC236}">
                  <a16:creationId xmlns:a16="http://schemas.microsoft.com/office/drawing/2014/main" id="{7BE17A93-7FBF-2E2F-8B58-82E731C41C76}"/>
                </a:ext>
              </a:extLst>
            </p:cNvPr>
            <p:cNvSpPr/>
            <p:nvPr/>
          </p:nvSpPr>
          <p:spPr>
            <a:xfrm>
              <a:off x="0" y="0"/>
              <a:ext cx="3694747" cy="2709333"/>
            </a:xfrm>
            <a:custGeom>
              <a:avLst/>
              <a:gdLst/>
              <a:ahLst/>
              <a:cxnLst/>
              <a:rect l="l" t="t" r="r" b="b"/>
              <a:pathLst>
                <a:path w="3694747" h="2709333">
                  <a:moveTo>
                    <a:pt x="0" y="0"/>
                  </a:moveTo>
                  <a:lnTo>
                    <a:pt x="3694747" y="0"/>
                  </a:lnTo>
                  <a:lnTo>
                    <a:pt x="3694747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1C60A4">
                    <a:alpha val="100000"/>
                  </a:srgbClr>
                </a:gs>
                <a:gs pos="100000">
                  <a:srgbClr val="062552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JM"/>
            </a:p>
          </p:txBody>
        </p:sp>
        <p:sp>
          <p:nvSpPr>
            <p:cNvPr id="12" name="TextBox 5">
              <a:extLst>
                <a:ext uri="{FF2B5EF4-FFF2-40B4-BE49-F238E27FC236}">
                  <a16:creationId xmlns:a16="http://schemas.microsoft.com/office/drawing/2014/main" id="{4F536023-7B7E-5E02-7BDB-8029957D9838}"/>
                </a:ext>
              </a:extLst>
            </p:cNvPr>
            <p:cNvSpPr txBox="1"/>
            <p:nvPr/>
          </p:nvSpPr>
          <p:spPr>
            <a:xfrm>
              <a:off x="0" y="-38100"/>
              <a:ext cx="3694747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0225E47-28A2-4DE1-91DD-68A71DB53F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642E3-70CD-6249-58A9-1483B2D1E2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Content Subhead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41965-2B63-7326-2D37-A044736B0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9335F6-EA20-37E5-0F8F-006B8D0DB6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33262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EB4896-C432-D26C-F220-63E926D8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BC735769-813A-3295-ED20-E1F9D4AD47C0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en-JM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6C8BDA-BFA9-C52B-1EDA-99DDBA8DE60B}"/>
              </a:ext>
            </a:extLst>
          </p:cNvPr>
          <p:cNvSpPr/>
          <p:nvPr userDrawn="1"/>
        </p:nvSpPr>
        <p:spPr>
          <a:xfrm>
            <a:off x="5157281" y="6487156"/>
            <a:ext cx="187743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800" b="0" cap="none" spc="0">
                <a:ln w="0"/>
                <a:solidFill>
                  <a:schemeClr val="bg2">
                    <a:alpha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8968697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mple Samp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21C56-D50C-E00F-A566-6510789F04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Timeline 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97EFC4-7E64-FCB0-691D-3FEA22FBDB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733249" cy="399264"/>
          </a:xfrm>
        </p:spPr>
        <p:txBody>
          <a:bodyPr/>
          <a:lstStyle>
            <a:lvl1pPr>
              <a:lnSpc>
                <a:spcPct val="100000"/>
              </a:lnSpc>
              <a:defRPr sz="11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B3FA75-D5B7-7721-506F-2C139D327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 sz="11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1DA6D51-0096-3EF2-8EA8-65807A921332}"/>
              </a:ext>
            </a:extLst>
          </p:cNvPr>
          <p:cNvGrpSpPr/>
          <p:nvPr userDrawn="1"/>
        </p:nvGrpSpPr>
        <p:grpSpPr>
          <a:xfrm>
            <a:off x="1202571" y="2143158"/>
            <a:ext cx="946844" cy="971454"/>
            <a:chOff x="0" y="-14473"/>
            <a:chExt cx="556826" cy="571299"/>
          </a:xfrm>
        </p:grpSpPr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8AAF412B-C6FB-58D8-CD2A-88EAEA032B0D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09FDA"/>
            </a:solidFill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TextBox 4">
              <a:extLst>
                <a:ext uri="{FF2B5EF4-FFF2-40B4-BE49-F238E27FC236}">
                  <a16:creationId xmlns:a16="http://schemas.microsoft.com/office/drawing/2014/main" id="{3ADC7E24-88FE-D365-A98D-C65B6F5E92A0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Arial" panose="020B0604020202020204" pitchFamily="34" charset="0"/>
                  <a:ea typeface="Gotham Bold"/>
                  <a:cs typeface="Arial" panose="020B0604020202020204" pitchFamily="34" charset="0"/>
                  <a:sym typeface="Gotham Bold"/>
                </a:rPr>
                <a:t>1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C868748-0B27-5CDD-AE5C-4800B2233183}"/>
              </a:ext>
            </a:extLst>
          </p:cNvPr>
          <p:cNvGrpSpPr/>
          <p:nvPr userDrawn="1"/>
        </p:nvGrpSpPr>
        <p:grpSpPr>
          <a:xfrm>
            <a:off x="8714997" y="4262647"/>
            <a:ext cx="2457578" cy="1530344"/>
            <a:chOff x="0" y="-28575"/>
            <a:chExt cx="3276771" cy="2040459"/>
          </a:xfrm>
        </p:grpSpPr>
        <p:sp>
          <p:nvSpPr>
            <p:cNvPr id="49" name="TextBox 6">
              <a:extLst>
                <a:ext uri="{FF2B5EF4-FFF2-40B4-BE49-F238E27FC236}">
                  <a16:creationId xmlns:a16="http://schemas.microsoft.com/office/drawing/2014/main" id="{4A229842-87A8-33EA-DE8E-2C0A9FB39D2E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2015</a:t>
              </a:r>
            </a:p>
          </p:txBody>
        </p:sp>
        <p:sp>
          <p:nvSpPr>
            <p:cNvPr id="50" name="TextBox 7">
              <a:extLst>
                <a:ext uri="{FF2B5EF4-FFF2-40B4-BE49-F238E27FC236}">
                  <a16:creationId xmlns:a16="http://schemas.microsoft.com/office/drawing/2014/main" id="{50297581-D24E-B736-C2E3-1E629C725569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313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Lorem ipsum dolor sit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amet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adipiscing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elit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.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Vivamus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odio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aliquam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20D0A38-4D5E-6B41-7A74-4C009A0B102E}"/>
              </a:ext>
            </a:extLst>
          </p:cNvPr>
          <p:cNvGrpSpPr/>
          <p:nvPr userDrawn="1"/>
        </p:nvGrpSpPr>
        <p:grpSpPr>
          <a:xfrm>
            <a:off x="451184" y="4262647"/>
            <a:ext cx="2457578" cy="1530344"/>
            <a:chOff x="0" y="-28575"/>
            <a:chExt cx="3276771" cy="2040459"/>
          </a:xfrm>
        </p:grpSpPr>
        <p:sp>
          <p:nvSpPr>
            <p:cNvPr id="47" name="TextBox 9">
              <a:extLst>
                <a:ext uri="{FF2B5EF4-FFF2-40B4-BE49-F238E27FC236}">
                  <a16:creationId xmlns:a16="http://schemas.microsoft.com/office/drawing/2014/main" id="{B335BCA9-845D-3C1C-61E6-EA2B82CF2181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1980</a:t>
              </a:r>
            </a:p>
          </p:txBody>
        </p:sp>
        <p:sp>
          <p:nvSpPr>
            <p:cNvPr id="48" name="TextBox 10">
              <a:extLst>
                <a:ext uri="{FF2B5EF4-FFF2-40B4-BE49-F238E27FC236}">
                  <a16:creationId xmlns:a16="http://schemas.microsoft.com/office/drawing/2014/main" id="{C400E550-EB0D-905B-3FC9-7AF480269C46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313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Lorem ipsum dolor sit amet, consectetur adipiscing elit. Vivamus consectetur odio aliquam, 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CF7EB83-DA75-A735-2374-55CEFCA42838}"/>
              </a:ext>
            </a:extLst>
          </p:cNvPr>
          <p:cNvGrpSpPr/>
          <p:nvPr userDrawn="1"/>
        </p:nvGrpSpPr>
        <p:grpSpPr>
          <a:xfrm>
            <a:off x="3205788" y="4262647"/>
            <a:ext cx="2457578" cy="1530344"/>
            <a:chOff x="0" y="-28575"/>
            <a:chExt cx="3276771" cy="2040459"/>
          </a:xfrm>
        </p:grpSpPr>
        <p:sp>
          <p:nvSpPr>
            <p:cNvPr id="45" name="TextBox 12">
              <a:extLst>
                <a:ext uri="{FF2B5EF4-FFF2-40B4-BE49-F238E27FC236}">
                  <a16:creationId xmlns:a16="http://schemas.microsoft.com/office/drawing/2014/main" id="{F2158044-E681-9E6D-315D-1E5F8C79133F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1981</a:t>
              </a:r>
            </a:p>
          </p:txBody>
        </p:sp>
        <p:sp>
          <p:nvSpPr>
            <p:cNvPr id="46" name="TextBox 13">
              <a:extLst>
                <a:ext uri="{FF2B5EF4-FFF2-40B4-BE49-F238E27FC236}">
                  <a16:creationId xmlns:a16="http://schemas.microsoft.com/office/drawing/2014/main" id="{7B544EC8-4E09-2AFA-C2AA-5438BD21479A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313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Lorem ipsum dolor sit amet, consectetur adipiscing elit. Vivamus consectetur odio aliquam, 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EBEFF6-F57A-9EE1-EE47-A067270E2CCC}"/>
              </a:ext>
            </a:extLst>
          </p:cNvPr>
          <p:cNvGrpSpPr/>
          <p:nvPr userDrawn="1"/>
        </p:nvGrpSpPr>
        <p:grpSpPr>
          <a:xfrm>
            <a:off x="5960393" y="4262647"/>
            <a:ext cx="2457578" cy="1530344"/>
            <a:chOff x="0" y="-28575"/>
            <a:chExt cx="3276771" cy="2040459"/>
          </a:xfrm>
        </p:grpSpPr>
        <p:sp>
          <p:nvSpPr>
            <p:cNvPr id="43" name="TextBox 15">
              <a:extLst>
                <a:ext uri="{FF2B5EF4-FFF2-40B4-BE49-F238E27FC236}">
                  <a16:creationId xmlns:a16="http://schemas.microsoft.com/office/drawing/2014/main" id="{F48B2A52-DA7A-B5F2-AE66-392C17119451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2011</a:t>
              </a:r>
            </a:p>
          </p:txBody>
        </p:sp>
        <p:sp>
          <p:nvSpPr>
            <p:cNvPr id="44" name="TextBox 16">
              <a:extLst>
                <a:ext uri="{FF2B5EF4-FFF2-40B4-BE49-F238E27FC236}">
                  <a16:creationId xmlns:a16="http://schemas.microsoft.com/office/drawing/2014/main" id="{FC7E0932-21D0-3824-DE1F-86208194ECDB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313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Lorem ipsum dolor sit amet, consectetur adipiscing elit. Vivamus consectetur odio aliquam, 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EB46210-36A3-661B-DC89-11523C75E9CB}"/>
              </a:ext>
            </a:extLst>
          </p:cNvPr>
          <p:cNvGrpSpPr/>
          <p:nvPr userDrawn="1"/>
        </p:nvGrpSpPr>
        <p:grpSpPr>
          <a:xfrm>
            <a:off x="4027070" y="2125884"/>
            <a:ext cx="946844" cy="971454"/>
            <a:chOff x="0" y="-14473"/>
            <a:chExt cx="556826" cy="571299"/>
          </a:xfrm>
        </p:grpSpPr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FF92C169-4533-35D8-F865-37BCE2C88335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E4E95"/>
            </a:solidFill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TextBox 28">
              <a:extLst>
                <a:ext uri="{FF2B5EF4-FFF2-40B4-BE49-F238E27FC236}">
                  <a16:creationId xmlns:a16="http://schemas.microsoft.com/office/drawing/2014/main" id="{524C1F9B-974F-33AF-76B3-AD3A8BBC2D51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Arial" panose="020B0604020202020204" pitchFamily="34" charset="0"/>
                  <a:ea typeface="Gotham Bold"/>
                  <a:cs typeface="Arial" panose="020B0604020202020204" pitchFamily="34" charset="0"/>
                  <a:sym typeface="Gotham Bold"/>
                </a:rPr>
                <a:t>2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35EFC44-4732-467D-0BB9-9639FFAE5D5C}"/>
              </a:ext>
            </a:extLst>
          </p:cNvPr>
          <p:cNvGrpSpPr/>
          <p:nvPr userDrawn="1"/>
        </p:nvGrpSpPr>
        <p:grpSpPr>
          <a:xfrm>
            <a:off x="6713372" y="2143158"/>
            <a:ext cx="946844" cy="971454"/>
            <a:chOff x="0" y="-14473"/>
            <a:chExt cx="556826" cy="571299"/>
          </a:xfrm>
        </p:grpSpPr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F6FA1B7-7695-A8F9-9930-6ABC935139CF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62552"/>
            </a:solidFill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TextBox 31">
              <a:extLst>
                <a:ext uri="{FF2B5EF4-FFF2-40B4-BE49-F238E27FC236}">
                  <a16:creationId xmlns:a16="http://schemas.microsoft.com/office/drawing/2014/main" id="{7B6E1EE0-FE91-8AD9-36A2-1EC012E34EFB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Arial" panose="020B0604020202020204" pitchFamily="34" charset="0"/>
                  <a:ea typeface="Gotham Bold"/>
                  <a:cs typeface="Arial" panose="020B0604020202020204" pitchFamily="34" charset="0"/>
                  <a:sym typeface="Gotham Bold"/>
                </a:rPr>
                <a:t>3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AFD45E0-CFEB-C722-3C2F-676614F9A6BD}"/>
              </a:ext>
            </a:extLst>
          </p:cNvPr>
          <p:cNvGrpSpPr/>
          <p:nvPr userDrawn="1"/>
        </p:nvGrpSpPr>
        <p:grpSpPr>
          <a:xfrm>
            <a:off x="9468772" y="2143158"/>
            <a:ext cx="946844" cy="971454"/>
            <a:chOff x="0" y="-14473"/>
            <a:chExt cx="556826" cy="571299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749AB401-36D5-BF2E-2A63-B11D712ABE32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09FDA"/>
            </a:solidFill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TextBox 34">
              <a:extLst>
                <a:ext uri="{FF2B5EF4-FFF2-40B4-BE49-F238E27FC236}">
                  <a16:creationId xmlns:a16="http://schemas.microsoft.com/office/drawing/2014/main" id="{37647DDC-735C-32A2-CE57-A46D0AE04D54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Arial" panose="020B0604020202020204" pitchFamily="34" charset="0"/>
                  <a:ea typeface="Gotham Bold"/>
                  <a:cs typeface="Arial" panose="020B0604020202020204" pitchFamily="34" charset="0"/>
                  <a:sym typeface="Gotham Bold"/>
                </a:rPr>
                <a:t>4</a:t>
              </a:r>
            </a:p>
          </p:txBody>
        </p:sp>
      </p:grpSp>
      <p:sp>
        <p:nvSpPr>
          <p:cNvPr id="18" name="AutoShape 38">
            <a:extLst>
              <a:ext uri="{FF2B5EF4-FFF2-40B4-BE49-F238E27FC236}">
                <a16:creationId xmlns:a16="http://schemas.microsoft.com/office/drawing/2014/main" id="{5B55CC53-4B0B-1F7A-E6CF-1D807C272B88}"/>
              </a:ext>
            </a:extLst>
          </p:cNvPr>
          <p:cNvSpPr/>
          <p:nvPr userDrawn="1"/>
        </p:nvSpPr>
        <p:spPr>
          <a:xfrm>
            <a:off x="1675993" y="3114613"/>
            <a:ext cx="0" cy="792119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39">
            <a:extLst>
              <a:ext uri="{FF2B5EF4-FFF2-40B4-BE49-F238E27FC236}">
                <a16:creationId xmlns:a16="http://schemas.microsoft.com/office/drawing/2014/main" id="{147CB15D-6D2B-85B2-EA0A-A2D72009459A}"/>
              </a:ext>
            </a:extLst>
          </p:cNvPr>
          <p:cNvSpPr/>
          <p:nvPr userDrawn="1"/>
        </p:nvSpPr>
        <p:spPr>
          <a:xfrm>
            <a:off x="4500492" y="3097338"/>
            <a:ext cx="0" cy="810133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40">
            <a:extLst>
              <a:ext uri="{FF2B5EF4-FFF2-40B4-BE49-F238E27FC236}">
                <a16:creationId xmlns:a16="http://schemas.microsoft.com/office/drawing/2014/main" id="{26EBBA74-6593-863D-9566-7B0F68E2231E}"/>
              </a:ext>
            </a:extLst>
          </p:cNvPr>
          <p:cNvSpPr/>
          <p:nvPr userDrawn="1"/>
        </p:nvSpPr>
        <p:spPr>
          <a:xfrm>
            <a:off x="7186794" y="3114613"/>
            <a:ext cx="0" cy="792119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1" name="AutoShape 41">
            <a:extLst>
              <a:ext uri="{FF2B5EF4-FFF2-40B4-BE49-F238E27FC236}">
                <a16:creationId xmlns:a16="http://schemas.microsoft.com/office/drawing/2014/main" id="{87B37EE5-3174-E60F-EB7F-28EAFCDB990B}"/>
              </a:ext>
            </a:extLst>
          </p:cNvPr>
          <p:cNvSpPr/>
          <p:nvPr userDrawn="1"/>
        </p:nvSpPr>
        <p:spPr>
          <a:xfrm>
            <a:off x="9942194" y="3114613"/>
            <a:ext cx="0" cy="792119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4" name="AutoShape 44">
            <a:extLst>
              <a:ext uri="{FF2B5EF4-FFF2-40B4-BE49-F238E27FC236}">
                <a16:creationId xmlns:a16="http://schemas.microsoft.com/office/drawing/2014/main" id="{B173C173-30D8-B176-A7DA-38D50DA243C0}"/>
              </a:ext>
            </a:extLst>
          </p:cNvPr>
          <p:cNvSpPr/>
          <p:nvPr userDrawn="1"/>
        </p:nvSpPr>
        <p:spPr>
          <a:xfrm flipV="1">
            <a:off x="2149415" y="2623916"/>
            <a:ext cx="1877655" cy="17275"/>
          </a:xfrm>
          <a:prstGeom prst="line">
            <a:avLst/>
          </a:prstGeom>
          <a:ln w="57150" cap="flat">
            <a:solidFill>
              <a:srgbClr val="009F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AutoShape 45">
            <a:extLst>
              <a:ext uri="{FF2B5EF4-FFF2-40B4-BE49-F238E27FC236}">
                <a16:creationId xmlns:a16="http://schemas.microsoft.com/office/drawing/2014/main" id="{683F0CD1-60C5-B175-6B13-F66EA667B0AD}"/>
              </a:ext>
            </a:extLst>
          </p:cNvPr>
          <p:cNvSpPr/>
          <p:nvPr userDrawn="1"/>
        </p:nvSpPr>
        <p:spPr>
          <a:xfrm>
            <a:off x="4973915" y="2623916"/>
            <a:ext cx="1739457" cy="17275"/>
          </a:xfrm>
          <a:prstGeom prst="line">
            <a:avLst/>
          </a:prstGeom>
          <a:ln w="57150" cap="flat">
            <a:solidFill>
              <a:srgbClr val="009F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" name="AutoShape 46">
            <a:extLst>
              <a:ext uri="{FF2B5EF4-FFF2-40B4-BE49-F238E27FC236}">
                <a16:creationId xmlns:a16="http://schemas.microsoft.com/office/drawing/2014/main" id="{F428AD71-9119-EE29-B4D0-C39466C2D067}"/>
              </a:ext>
            </a:extLst>
          </p:cNvPr>
          <p:cNvSpPr/>
          <p:nvPr userDrawn="1"/>
        </p:nvSpPr>
        <p:spPr>
          <a:xfrm>
            <a:off x="7660216" y="2641190"/>
            <a:ext cx="1808556" cy="0"/>
          </a:xfrm>
          <a:prstGeom prst="line">
            <a:avLst/>
          </a:prstGeom>
          <a:ln w="57150" cap="flat">
            <a:solidFill>
              <a:srgbClr val="009F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3" name="Freeform 5">
            <a:extLst>
              <a:ext uri="{FF2B5EF4-FFF2-40B4-BE49-F238E27FC236}">
                <a16:creationId xmlns:a16="http://schemas.microsoft.com/office/drawing/2014/main" id="{CCF2BEBE-A490-1991-D680-2F8AB220AA36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11330465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168157-1DC9-22D1-0001-75C67BEB22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65411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834C7-6070-455B-5757-8B2127252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8E30A04-BB51-F8B2-76A7-827154EB7D7F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en-JM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07245E5-5600-E311-777B-C0493CB9B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021ECB-6A16-32DF-45AB-AEA262BB34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070100"/>
            <a:ext cx="10631488" cy="3448050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b="0" i="0">
                <a:latin typeface="Gotham Book" panose="02000604040000020004" pitchFamily="2" charset="0"/>
              </a:rPr>
              <a:t>Insert Paragraph Details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5536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168157-1DC9-22D1-0001-75C67BEB22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6541168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834C7-6070-455B-5757-8B2127252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8E30A04-BB51-F8B2-76A7-827154EB7D7F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endParaRPr lang="en-JM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07245E5-5600-E311-777B-C0493CB9B0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Your Title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021ECB-6A16-32DF-45AB-AEA262BB34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070100"/>
            <a:ext cx="10631488" cy="3448050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b="0" i="0">
                <a:latin typeface="Gotham Book" panose="02000604040000020004" pitchFamily="2" charset="0"/>
              </a:rPr>
              <a:t>Insert Paragraph Details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6177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9E393-2E9A-9983-45BF-77A29608D9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607995"/>
            <a:ext cx="3932237" cy="1172679"/>
          </a:xfrm>
        </p:spPr>
        <p:txBody>
          <a:bodyPr anchor="t"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Your Header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C9BD8-2B4F-4CEE-835C-9912AAF944D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800">
                <a:solidFill>
                  <a:schemeClr val="accent1">
                    <a:lumMod val="50000"/>
                  </a:schemeClr>
                </a:solidFill>
              </a:defRPr>
            </a:lvl2pPr>
            <a:lvl3pPr>
              <a:defRPr sz="2400">
                <a:solidFill>
                  <a:schemeClr val="accent1">
                    <a:lumMod val="50000"/>
                  </a:schemeClr>
                </a:solidFill>
              </a:defRPr>
            </a:lvl3pPr>
            <a:lvl4pPr>
              <a:defRPr sz="2000">
                <a:solidFill>
                  <a:schemeClr val="accent1">
                    <a:lumMod val="50000"/>
                  </a:schemeClr>
                </a:solidFill>
              </a:defRPr>
            </a:lvl4pPr>
            <a:lvl5pPr>
              <a:defRPr sz="2000">
                <a:solidFill>
                  <a:schemeClr val="accent1">
                    <a:lumMod val="50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Insert Photo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D656C8-AD1A-1557-910F-A40E7EAEA079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Insert Summary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9FC0C9-500F-FE4D-7059-F06EBA9D9B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043863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480E6-F565-AA43-351F-D8B3E480C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BB0E02BF-5253-F5F0-3096-EB50B28B9845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5793076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286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theme" Target="../theme/theme2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F0A751-1161-B5E5-857A-F6D2DD78D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1548A-6721-D520-895E-CB2ECA019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626EA-AB8E-FC2B-091F-C087201288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B40F0A-320E-6442-A923-5A57A6A8D9C5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13154-829B-3A43-2A1A-A6A0418908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00FEF-A83D-8D73-E4C2-319D8E164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5752760B-33EF-16A0-4C1A-D5DA671FA413}"/>
              </a:ext>
            </a:extLst>
          </p:cNvPr>
          <p:cNvSpPr/>
          <p:nvPr userDrawn="1"/>
        </p:nvSpPr>
        <p:spPr>
          <a:xfrm>
            <a:off x="11138841" y="365125"/>
            <a:ext cx="814370" cy="276441"/>
          </a:xfrm>
          <a:custGeom>
            <a:avLst/>
            <a:gdLst/>
            <a:ahLst/>
            <a:cxnLst/>
            <a:rect l="l" t="t" r="r" b="b"/>
            <a:pathLst>
              <a:path w="3746416" h="1271736">
                <a:moveTo>
                  <a:pt x="0" y="0"/>
                </a:moveTo>
                <a:lnTo>
                  <a:pt x="3746416" y="0"/>
                </a:lnTo>
                <a:lnTo>
                  <a:pt x="3746416" y="1271737"/>
                </a:lnTo>
                <a:lnTo>
                  <a:pt x="0" y="1271737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lstStyle/>
          <a:p>
            <a:endParaRPr lang="en-JM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8AD4AA-68AC-5F26-D7F6-6F73C00A5B9F}"/>
              </a:ext>
            </a:extLst>
          </p:cNvPr>
          <p:cNvSpPr/>
          <p:nvPr userDrawn="1"/>
        </p:nvSpPr>
        <p:spPr>
          <a:xfrm>
            <a:off x="5157281" y="6491422"/>
            <a:ext cx="187743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800" b="0" cap="none" spc="0">
                <a:ln w="0"/>
                <a:solidFill>
                  <a:schemeClr val="bg2">
                    <a:alpha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413315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52" r:id="rId12"/>
    <p:sldLayoutId id="2147483753" r:id="rId13"/>
    <p:sldLayoutId id="2147483754" r:id="rId14"/>
    <p:sldLayoutId id="2147483755" r:id="rId15"/>
    <p:sldLayoutId id="2147483756" r:id="rId16"/>
    <p:sldLayoutId id="2147483757" r:id="rId17"/>
    <p:sldLayoutId id="2147483758" r:id="rId18"/>
    <p:sldLayoutId id="2147483759" r:id="rId19"/>
    <p:sldLayoutId id="2147483760" r:id="rId20"/>
    <p:sldLayoutId id="2147483761" r:id="rId21"/>
    <p:sldLayoutId id="2147483762" r:id="rId22"/>
    <p:sldLayoutId id="2147483777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F0A751-1161-B5E5-857A-F6D2DD78D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1548A-6721-D520-895E-CB2ECA019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626EA-AB8E-FC2B-091F-C087201288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18B40F0A-320E-6442-A923-5A57A6A8D9C5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13154-829B-3A43-2A1A-A6A0418908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00FEF-A83D-8D73-E4C2-319D8E164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5752760B-33EF-16A0-4C1A-D5DA671FA413}"/>
              </a:ext>
            </a:extLst>
          </p:cNvPr>
          <p:cNvSpPr/>
          <p:nvPr userDrawn="1"/>
        </p:nvSpPr>
        <p:spPr>
          <a:xfrm>
            <a:off x="11138841" y="365125"/>
            <a:ext cx="814370" cy="276441"/>
          </a:xfrm>
          <a:custGeom>
            <a:avLst/>
            <a:gdLst/>
            <a:ahLst/>
            <a:cxnLst/>
            <a:rect l="l" t="t" r="r" b="b"/>
            <a:pathLst>
              <a:path w="3746416" h="1271736">
                <a:moveTo>
                  <a:pt x="0" y="0"/>
                </a:moveTo>
                <a:lnTo>
                  <a:pt x="3746416" y="0"/>
                </a:lnTo>
                <a:lnTo>
                  <a:pt x="3746416" y="1271737"/>
                </a:lnTo>
                <a:lnTo>
                  <a:pt x="0" y="127173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JM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F8D44C-0D43-B0FF-AFB1-0A9B210C970E}"/>
              </a:ext>
            </a:extLst>
          </p:cNvPr>
          <p:cNvSpPr/>
          <p:nvPr userDrawn="1"/>
        </p:nvSpPr>
        <p:spPr>
          <a:xfrm>
            <a:off x="5157281" y="6492876"/>
            <a:ext cx="187743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800" b="0" cap="none" spc="0">
                <a:ln w="0"/>
                <a:solidFill>
                  <a:schemeClr val="bg2">
                    <a:alpha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571557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Aptos Black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812" y="493325"/>
            <a:ext cx="11000000" cy="52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62552"/>
                </a:solidFill>
                <a:latin typeface="Arial"/>
              </a:rPr>
              <a:t>Forecast Accuracy by Rate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5243" y="1079336"/>
            <a:ext cx="1120000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E4E95"/>
                </a:solidFill>
                <a:latin typeface="Arial"/>
              </a:rPr>
              <a:t>Total sales were forecast within 1.5%, but RT50 and RT70 missed by 14–23% in August and September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5243" y="1500000"/>
            <a:ext cx="11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788A"/>
                </a:solidFill>
                <a:latin typeface="Arial"/>
              </a:rPr>
              <a:t>Forecast = budget. Accuracy = 1 − |actual − forecast| ÷ actual, by month and for January–September. Volume in GWh, customer-billed basis.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9231" y="6411345"/>
            <a:ext cx="6621379" cy="2666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62552"/>
                </a:solidFill>
                <a:latin typeface="Arial"/>
              </a:rPr>
              <a:t>Jamaica Public Service | Forecast Accuracy – August and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473" y="6413496"/>
            <a:ext cx="287140" cy="26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62552"/>
                </a:solidFill>
                <a:latin typeface="Arial"/>
              </a:rPr>
              <a:t>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2000000"/>
          <a:ext cx="7649997" cy="3020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2812"/>
                <a:gridCol w="796875"/>
                <a:gridCol w="836718"/>
                <a:gridCol w="836718"/>
                <a:gridCol w="637500"/>
                <a:gridCol w="637500"/>
                <a:gridCol w="637500"/>
                <a:gridCol w="717187"/>
                <a:gridCol w="717187"/>
              </a:tblGrid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000" marR="54000" marT="18000" marB="18000" anchor="ctr">
                    <a:solidFill>
                      <a:srgbClr val="06255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September volume (GWh)</a:t>
                      </a:r>
                    </a:p>
                  </a:txBody>
                  <a:tcPr marL="54000" marR="54000" marT="18000" marB="18000" anchor="ctr">
                    <a:solidFill>
                      <a:srgbClr val="062552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Net accuracy</a:t>
                      </a:r>
                    </a:p>
                  </a:txBody>
                  <a:tcPr marL="54000" marR="54000" marT="18000" marB="18000" anchor="ctr">
                    <a:solidFill>
                      <a:srgbClr val="062552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Account-level accuracy</a:t>
                      </a:r>
                    </a:p>
                  </a:txBody>
                  <a:tcPr marL="54000" marR="54000" marT="18000" marB="18000" anchor="ctr">
                    <a:solidFill>
                      <a:srgbClr val="062552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Rate class</a:t>
                      </a:r>
                    </a:p>
                  </a:txBody>
                  <a:tcPr marL="54000" marR="54000" marT="18000" marB="18000" anchor="ctr">
                    <a:solidFill>
                      <a:srgbClr val="0E4E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Actual</a:t>
                      </a:r>
                    </a:p>
                  </a:txBody>
                  <a:tcPr marL="54000" marR="54000" marT="18000" marB="18000" anchor="ctr">
                    <a:solidFill>
                      <a:srgbClr val="0E4E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Forecast</a:t>
                      </a:r>
                    </a:p>
                  </a:txBody>
                  <a:tcPr marL="54000" marR="54000" marT="18000" marB="18000" anchor="ctr">
                    <a:solidFill>
                      <a:srgbClr val="0E4E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Variance</a:t>
                      </a:r>
                    </a:p>
                  </a:txBody>
                  <a:tcPr marL="54000" marR="54000" marT="18000" marB="18000" anchor="ctr">
                    <a:solidFill>
                      <a:srgbClr val="0E4E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Aug</a:t>
                      </a:r>
                    </a:p>
                  </a:txBody>
                  <a:tcPr marL="54000" marR="54000" marT="18000" marB="18000" anchor="ctr">
                    <a:solidFill>
                      <a:srgbClr val="0E4E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Sept</a:t>
                      </a:r>
                    </a:p>
                  </a:txBody>
                  <a:tcPr marL="54000" marR="54000" marT="18000" marB="18000" anchor="ctr">
                    <a:solidFill>
                      <a:srgbClr val="0E4E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YTD</a:t>
                      </a:r>
                    </a:p>
                  </a:txBody>
                  <a:tcPr marL="54000" marR="54000" marT="18000" marB="18000" anchor="ctr">
                    <a:solidFill>
                      <a:srgbClr val="0E4E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Sept</a:t>
                      </a:r>
                    </a:p>
                  </a:txBody>
                  <a:tcPr marL="54000" marR="54000" marT="18000" marB="18000" anchor="ctr">
                    <a:solidFill>
                      <a:srgbClr val="0E4E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YTD</a:t>
                      </a:r>
                    </a:p>
                  </a:txBody>
                  <a:tcPr marL="54000" marR="54000" marT="18000" marB="18000" anchor="ctr">
                    <a:solidFill>
                      <a:srgbClr val="0E4E95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62552"/>
                          </a:solidFill>
                          <a:latin typeface="Arial"/>
                        </a:rPr>
                        <a:t>RT10 Residential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114.6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104.8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E4E95"/>
                          </a:solidFill>
                          <a:latin typeface="Arial"/>
                        </a:rPr>
                        <a:t>+9.7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  <a:latin typeface="Arial"/>
                        </a:rPr>
                        <a:t>97%</a:t>
                      </a:r>
                    </a:p>
                  </a:txBody>
                  <a:tcPr marL="54000" marR="54000" marT="18000" marB="18000" anchor="ctr">
                    <a:solidFill>
                      <a:srgbClr val="DDEF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 marL="54000" marR="54000" marT="18000" marB="18000" anchor="ctr">
                    <a:solidFill>
                      <a:srgbClr val="FFF0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  <a:latin typeface="Arial"/>
                        </a:rPr>
                        <a:t>97%</a:t>
                      </a:r>
                    </a:p>
                  </a:txBody>
                  <a:tcPr marL="54000" marR="54000" marT="18000" marB="18000" anchor="ctr">
                    <a:solidFill>
                      <a:srgbClr val="DDEF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66788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66788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62552"/>
                          </a:solidFill>
                          <a:latin typeface="Arial"/>
                        </a:rPr>
                        <a:t>RT20 Small commercial</a:t>
                      </a:r>
                    </a:p>
                  </a:txBody>
                  <a:tcPr marL="54000" marR="54000" marT="18000" marB="180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60.6</a:t>
                      </a:r>
                    </a:p>
                  </a:txBody>
                  <a:tcPr marL="54000" marR="54000" marT="18000" marB="180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57.6</a:t>
                      </a:r>
                    </a:p>
                  </a:txBody>
                  <a:tcPr marL="54000" marR="54000" marT="18000" marB="180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E4E95"/>
                          </a:solidFill>
                          <a:latin typeface="Arial"/>
                        </a:rPr>
                        <a:t>+3.0</a:t>
                      </a:r>
                    </a:p>
                  </a:txBody>
                  <a:tcPr marL="54000" marR="54000" marT="18000" marB="180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  <a:latin typeface="Arial"/>
                        </a:rPr>
                        <a:t>97%</a:t>
                      </a:r>
                    </a:p>
                  </a:txBody>
                  <a:tcPr marL="54000" marR="54000" marT="18000" marB="18000" anchor="ctr">
                    <a:solidFill>
                      <a:srgbClr val="DDEF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  <a:latin typeface="Arial"/>
                        </a:rPr>
                        <a:t>95%</a:t>
                      </a:r>
                    </a:p>
                  </a:txBody>
                  <a:tcPr marL="54000" marR="54000" marT="18000" marB="18000" anchor="ctr">
                    <a:solidFill>
                      <a:srgbClr val="DDEF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  <a:latin typeface="Arial"/>
                        </a:rPr>
                        <a:t>97%</a:t>
                      </a:r>
                    </a:p>
                  </a:txBody>
                  <a:tcPr marL="54000" marR="54000" marT="18000" marB="18000" anchor="ctr">
                    <a:solidFill>
                      <a:srgbClr val="DDEF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66788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66788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62552"/>
                          </a:solidFill>
                          <a:latin typeface="Arial"/>
                        </a:rPr>
                        <a:t>RT40 Commercial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67.3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73.3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C00000"/>
                          </a:solidFill>
                          <a:latin typeface="Arial"/>
                        </a:rPr>
                        <a:t>−6.0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  <a:latin typeface="Arial"/>
                        </a:rPr>
                        <a:t>99%</a:t>
                      </a:r>
                    </a:p>
                  </a:txBody>
                  <a:tcPr marL="54000" marR="54000" marT="18000" marB="18000" anchor="ctr">
                    <a:solidFill>
                      <a:srgbClr val="DDEF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  <a:latin typeface="Arial"/>
                        </a:rPr>
                        <a:t>91%</a:t>
                      </a:r>
                    </a:p>
                  </a:txBody>
                  <a:tcPr marL="54000" marR="54000" marT="18000" marB="18000" anchor="ctr">
                    <a:solidFill>
                      <a:srgbClr val="FFF0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  <a:latin typeface="Arial"/>
                        </a:rPr>
                        <a:t>97%</a:t>
                      </a:r>
                    </a:p>
                  </a:txBody>
                  <a:tcPr marL="54000" marR="54000" marT="18000" marB="18000" anchor="ctr">
                    <a:solidFill>
                      <a:srgbClr val="DDEF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  <a:latin typeface="Arial"/>
                        </a:rPr>
                        <a:t>66%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  <a:latin typeface="Arial"/>
                        </a:rPr>
                        <a:t>81%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62552"/>
                          </a:solidFill>
                          <a:latin typeface="Arial"/>
                        </a:rPr>
                        <a:t>RT50 Large commercial</a:t>
                      </a:r>
                    </a:p>
                  </a:txBody>
                  <a:tcPr marL="54000" marR="54000" marT="18000" marB="180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30.3</a:t>
                      </a:r>
                    </a:p>
                  </a:txBody>
                  <a:tcPr marL="54000" marR="54000" marT="18000" marB="180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35.3</a:t>
                      </a:r>
                    </a:p>
                  </a:txBody>
                  <a:tcPr marL="54000" marR="54000" marT="18000" marB="180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C00000"/>
                          </a:solidFill>
                          <a:latin typeface="Arial"/>
                        </a:rPr>
                        <a:t>−5.0</a:t>
                      </a:r>
                    </a:p>
                  </a:txBody>
                  <a:tcPr marL="54000" marR="54000" marT="18000" marB="180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  <a:latin typeface="Arial"/>
                        </a:rPr>
                        <a:t>86%</a:t>
                      </a:r>
                    </a:p>
                  </a:txBody>
                  <a:tcPr marL="54000" marR="54000" marT="18000" marB="18000" anchor="ctr">
                    <a:solidFill>
                      <a:srgbClr val="FFF0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  <a:latin typeface="Arial"/>
                        </a:rPr>
                        <a:t>94%</a:t>
                      </a:r>
                    </a:p>
                  </a:txBody>
                  <a:tcPr marL="54000" marR="54000" marT="18000" marB="18000" anchor="ctr">
                    <a:solidFill>
                      <a:srgbClr val="FFF0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62552"/>
                          </a:solidFill>
                          <a:latin typeface="Arial"/>
                        </a:rPr>
                        <a:t>RT60 Street lighting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3.4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3.3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E4E95"/>
                          </a:solidFill>
                          <a:latin typeface="Arial"/>
                        </a:rPr>
                        <a:t>+0.1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  <a:latin typeface="Arial"/>
                        </a:rPr>
                        <a:t>99%</a:t>
                      </a:r>
                    </a:p>
                  </a:txBody>
                  <a:tcPr marL="54000" marR="54000" marT="18000" marB="18000" anchor="ctr">
                    <a:solidFill>
                      <a:srgbClr val="DDEF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  <a:latin typeface="Arial"/>
                        </a:rPr>
                        <a:t>97%</a:t>
                      </a:r>
                    </a:p>
                  </a:txBody>
                  <a:tcPr marL="54000" marR="54000" marT="18000" marB="18000" anchor="ctr">
                    <a:solidFill>
                      <a:srgbClr val="DDEF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  <a:latin typeface="Arial"/>
                        </a:rPr>
                        <a:t>98%</a:t>
                      </a:r>
                    </a:p>
                  </a:txBody>
                  <a:tcPr marL="54000" marR="54000" marT="18000" marB="18000" anchor="ctr">
                    <a:solidFill>
                      <a:srgbClr val="DDEF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  <a:latin typeface="Arial"/>
                        </a:rPr>
                        <a:t>96%</a:t>
                      </a:r>
                    </a:p>
                  </a:txBody>
                  <a:tcPr marL="54000" marR="54000" marT="18000" marB="18000" anchor="ctr">
                    <a:solidFill>
                      <a:srgbClr val="DDEF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  <a:latin typeface="Arial"/>
                        </a:rPr>
                        <a:t>97%</a:t>
                      </a:r>
                    </a:p>
                  </a:txBody>
                  <a:tcPr marL="54000" marR="54000" marT="18000" marB="18000" anchor="ctr">
                    <a:solidFill>
                      <a:srgbClr val="DDEFDF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62552"/>
                          </a:solidFill>
                          <a:latin typeface="Arial"/>
                        </a:rPr>
                        <a:t>RT70 Industrial</a:t>
                      </a:r>
                    </a:p>
                  </a:txBody>
                  <a:tcPr marL="54000" marR="54000" marT="18000" marB="180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18.6</a:t>
                      </a:r>
                    </a:p>
                  </a:txBody>
                  <a:tcPr marL="54000" marR="54000" marT="18000" marB="180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22.9</a:t>
                      </a:r>
                    </a:p>
                  </a:txBody>
                  <a:tcPr marL="54000" marR="54000" marT="18000" marB="180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C00000"/>
                          </a:solidFill>
                          <a:latin typeface="Arial"/>
                        </a:rPr>
                        <a:t>−4.2</a:t>
                      </a:r>
                    </a:p>
                  </a:txBody>
                  <a:tcPr marL="54000" marR="54000" marT="18000" marB="180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  <a:latin typeface="Arial"/>
                        </a:rPr>
                        <a:t>81%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 marL="54000" marR="54000" marT="18000" marB="18000" anchor="ctr">
                    <a:solidFill>
                      <a:srgbClr val="FFF0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  <a:latin typeface="Arial"/>
                        </a:rPr>
                        <a:t>79%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 system</a:t>
                      </a:r>
                    </a:p>
                  </a:txBody>
                  <a:tcPr marL="54000" marR="54000" marT="18000" marB="18000" anchor="ctr">
                    <a:solidFill>
                      <a:srgbClr val="0625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294.8</a:t>
                      </a:r>
                    </a:p>
                  </a:txBody>
                  <a:tcPr marL="54000" marR="54000" marT="18000" marB="18000" anchor="ctr">
                    <a:solidFill>
                      <a:srgbClr val="0625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297.3</a:t>
                      </a:r>
                    </a:p>
                  </a:txBody>
                  <a:tcPr marL="54000" marR="54000" marT="18000" marB="18000" anchor="ctr">
                    <a:solidFill>
                      <a:srgbClr val="0625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−2.5</a:t>
                      </a:r>
                    </a:p>
                  </a:txBody>
                  <a:tcPr marL="54000" marR="54000" marT="18000" marB="18000" anchor="ctr">
                    <a:solidFill>
                      <a:srgbClr val="0625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98.9%</a:t>
                      </a:r>
                    </a:p>
                  </a:txBody>
                  <a:tcPr marL="54000" marR="54000" marT="18000" marB="18000" anchor="ctr">
                    <a:solidFill>
                      <a:srgbClr val="0625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99.2%</a:t>
                      </a:r>
                    </a:p>
                  </a:txBody>
                  <a:tcPr marL="54000" marR="54000" marT="18000" marB="18000" anchor="ctr">
                    <a:solidFill>
                      <a:srgbClr val="0625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98.5%</a:t>
                      </a:r>
                    </a:p>
                  </a:txBody>
                  <a:tcPr marL="54000" marR="54000" marT="18000" marB="18000" anchor="ctr">
                    <a:solidFill>
                      <a:srgbClr val="0625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60.4%</a:t>
                      </a:r>
                    </a:p>
                  </a:txBody>
                  <a:tcPr marL="54000" marR="54000" marT="18000" marB="18000" anchor="ctr">
                    <a:solidFill>
                      <a:srgbClr val="0625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80.1%</a:t>
                      </a:r>
                    </a:p>
                  </a:txBody>
                  <a:tcPr marL="54000" marR="54000" marT="18000" marB="18000" anchor="ctr">
                    <a:solidFill>
                      <a:srgbClr val="06255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5090000"/>
            <a:ext cx="765000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6788A"/>
                </a:solidFill>
                <a:latin typeface="Arial"/>
              </a:rPr>
              <a:t>Account-level accuracy = 1 − Σ|account actual − account forecast| ÷ Σ actual, for RT40–RT70 (accounts with an account-level budget); the total row covers those four classes. RT10 and RT20 are forecast in consumption buckets, so there is no account-level view.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0000" y="1960000"/>
            <a:ext cx="3960000" cy="3230000"/>
          </a:xfrm>
          <a:prstGeom prst="rect">
            <a:avLst/>
          </a:prstGeom>
          <a:noFill/>
          <a:ln w="1143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90000" y="1960000"/>
            <a:ext cx="3960000" cy="45719"/>
          </a:xfrm>
          <a:prstGeom prst="rect">
            <a:avLst/>
          </a:prstGeom>
          <a:solidFill>
            <a:srgbClr val="0E4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70000" y="2040000"/>
            <a:ext cx="38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6788A"/>
                </a:solidFill>
                <a:latin typeface="Arial"/>
              </a:rPr>
              <a:t>NET FORECAST ACCURACY BY RATE CLASS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8170000" y="2260000"/>
          <a:ext cx="3800000" cy="287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Rectangle 12"/>
          <p:cNvSpPr/>
          <p:nvPr/>
        </p:nvSpPr>
        <p:spPr>
          <a:xfrm>
            <a:off x="274320" y="5560000"/>
            <a:ext cx="11700000" cy="64000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5560000"/>
            <a:ext cx="54000" cy="640000"/>
          </a:xfrm>
          <a:prstGeom prst="rect">
            <a:avLst/>
          </a:prstGeom>
          <a:solidFill>
            <a:srgbClr val="0E4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20" y="5630000"/>
            <a:ext cx="112000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62552"/>
                </a:solidFill>
                <a:latin typeface="Arial"/>
              </a:rPr>
              <a:t>What it means: </a:t>
            </a:r>
            <a:r>
              <a:rPr sz="1050" b="0" i="0">
                <a:solidFill>
                  <a:srgbClr val="1F1F1F"/>
                </a:solidFill>
                <a:latin typeface="Arial"/>
              </a:rPr>
              <a:t>system volume is forecast well (September 99.2%), partly because the errors offset: RT10 and RT20 ran above forecast while RT40, RT50 and RT70 ran below. Much of the shortfall sits in a small number of large accounts. YTD accuracy is flattered: the platform budget for January and February equals actuals.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812" y="493325"/>
            <a:ext cx="11000000" cy="52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62552"/>
                </a:solidFill>
                <a:latin typeface="Arial"/>
              </a:rPr>
              <a:t>Forecast Accuracy by Industry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5243" y="1079336"/>
            <a:ext cx="1120000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E4E95"/>
                </a:solidFill>
                <a:latin typeface="Arial"/>
              </a:rPr>
              <a:t>Industry totals look reasonable, but account-level accuracy in September was 62%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5243" y="1500000"/>
            <a:ext cx="11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788A"/>
                </a:solidFill>
                <a:latin typeface="Arial"/>
              </a:rPr>
              <a:t>Commercial customers with an industry code (RT20–RT70). Forecast = account-level budget. Largest 13 industries by January–September volume.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9231" y="6411345"/>
            <a:ext cx="6621379" cy="2666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62552"/>
                </a:solidFill>
                <a:latin typeface="Arial"/>
              </a:rPr>
              <a:t>Jamaica Public Service | Forecast Accuracy – August and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473" y="6413496"/>
            <a:ext cx="287140" cy="26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62552"/>
                </a:solidFill>
                <a:latin typeface="Arial"/>
              </a:rPr>
              <a:t>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950000"/>
          <a:ext cx="8049997" cy="4014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978034"/>
                <a:gridCol w="884104"/>
                <a:gridCol w="884104"/>
                <a:gridCol w="604913"/>
                <a:gridCol w="604913"/>
                <a:gridCol w="604913"/>
                <a:gridCol w="744508"/>
                <a:gridCol w="744508"/>
              </a:tblGrid>
              <a:tr h="240000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000" marR="54000" marT="18000" marB="18000" anchor="ctr">
                    <a:solidFill>
                      <a:srgbClr val="062552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Net accuracy</a:t>
                      </a:r>
                    </a:p>
                  </a:txBody>
                  <a:tcPr marL="54000" marR="54000" marT="18000" marB="18000" anchor="ctr">
                    <a:solidFill>
                      <a:srgbClr val="062552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Account-level accuracy</a:t>
                      </a:r>
                    </a:p>
                  </a:txBody>
                  <a:tcPr marL="54000" marR="54000" marT="18000" marB="18000" anchor="ctr">
                    <a:solidFill>
                      <a:srgbClr val="062552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22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Industry</a:t>
                      </a:r>
                    </a:p>
                  </a:txBody>
                  <a:tcPr marL="54000" marR="54000" marT="18000" marB="18000" anchor="ctr">
                    <a:solidFill>
                      <a:srgbClr val="0E4E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Sept actual</a:t>
                      </a:r>
                    </a:p>
                  </a:txBody>
                  <a:tcPr marL="54000" marR="54000" marT="18000" marB="18000" anchor="ctr">
                    <a:solidFill>
                      <a:srgbClr val="0E4E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Sept variance</a:t>
                      </a:r>
                    </a:p>
                  </a:txBody>
                  <a:tcPr marL="54000" marR="54000" marT="18000" marB="18000" anchor="ctr">
                    <a:solidFill>
                      <a:srgbClr val="0E4E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Aug</a:t>
                      </a:r>
                    </a:p>
                  </a:txBody>
                  <a:tcPr marL="54000" marR="54000" marT="18000" marB="18000" anchor="ctr">
                    <a:solidFill>
                      <a:srgbClr val="0E4E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Sept</a:t>
                      </a:r>
                    </a:p>
                  </a:txBody>
                  <a:tcPr marL="54000" marR="54000" marT="18000" marB="18000" anchor="ctr">
                    <a:solidFill>
                      <a:srgbClr val="0E4E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YTD</a:t>
                      </a:r>
                    </a:p>
                  </a:txBody>
                  <a:tcPr marL="54000" marR="54000" marT="18000" marB="18000" anchor="ctr">
                    <a:solidFill>
                      <a:srgbClr val="0E4E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Sept</a:t>
                      </a:r>
                    </a:p>
                  </a:txBody>
                  <a:tcPr marL="54000" marR="54000" marT="18000" marB="18000" anchor="ctr">
                    <a:solidFill>
                      <a:srgbClr val="0E4E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YTD</a:t>
                      </a:r>
                    </a:p>
                  </a:txBody>
                  <a:tcPr marL="54000" marR="54000" marT="18000" marB="18000" anchor="ctr">
                    <a:solidFill>
                      <a:srgbClr val="0E4E95"/>
                    </a:solidFill>
                  </a:tcPr>
                </a:tc>
              </a:tr>
              <a:tr h="2220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Water Supply &amp; Irrigation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18.6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00000"/>
                          </a:solidFill>
                          <a:latin typeface="Arial"/>
                        </a:rPr>
                        <a:t>−2.4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 marL="54000" marR="54000" marT="18000" marB="18000" anchor="ctr">
                    <a:solidFill>
                      <a:srgbClr val="FFF0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87%</a:t>
                      </a:r>
                    </a:p>
                  </a:txBody>
                  <a:tcPr marL="54000" marR="54000" marT="18000" marB="18000" anchor="ctr">
                    <a:solidFill>
                      <a:srgbClr val="FFF0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95%</a:t>
                      </a:r>
                    </a:p>
                  </a:txBody>
                  <a:tcPr marL="54000" marR="54000" marT="18000" marB="18000" anchor="ctr">
                    <a:solidFill>
                      <a:srgbClr val="FFF0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53%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74%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</a:tr>
              <a:tr h="2220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Hotels &amp; Motels</a:t>
                      </a:r>
                    </a:p>
                  </a:txBody>
                  <a:tcPr marL="54000" marR="54000" marT="18000" marB="180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17.2</a:t>
                      </a:r>
                    </a:p>
                  </a:txBody>
                  <a:tcPr marL="54000" marR="54000" marT="18000" marB="180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00000"/>
                          </a:solidFill>
                          <a:latin typeface="Arial"/>
                        </a:rPr>
                        <a:t>−3.7</a:t>
                      </a:r>
                    </a:p>
                  </a:txBody>
                  <a:tcPr marL="54000" marR="54000" marT="18000" marB="180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85%</a:t>
                      </a:r>
                    </a:p>
                  </a:txBody>
                  <a:tcPr marL="54000" marR="54000" marT="18000" marB="18000" anchor="ctr">
                    <a:solidFill>
                      <a:srgbClr val="FFF0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 marL="54000" marR="54000" marT="18000" marB="18000" anchor="ctr">
                    <a:solidFill>
                      <a:srgbClr val="FFF0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71%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</a:tr>
              <a:tr h="2220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Cement Manufacturing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9.2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E4E95"/>
                          </a:solidFill>
                          <a:latin typeface="Arial"/>
                        </a:rPr>
                        <a:t>+0.4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99%</a:t>
                      </a:r>
                    </a:p>
                  </a:txBody>
                  <a:tcPr marL="54000" marR="54000" marT="18000" marB="18000" anchor="ctr">
                    <a:solidFill>
                      <a:srgbClr val="DDEF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95%</a:t>
                      </a:r>
                    </a:p>
                  </a:txBody>
                  <a:tcPr marL="54000" marR="54000" marT="18000" marB="18000" anchor="ctr">
                    <a:solidFill>
                      <a:srgbClr val="DDEF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91%</a:t>
                      </a:r>
                    </a:p>
                  </a:txBody>
                  <a:tcPr marL="54000" marR="54000" marT="18000" marB="18000" anchor="ctr">
                    <a:solidFill>
                      <a:srgbClr val="FFF0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95%</a:t>
                      </a:r>
                    </a:p>
                  </a:txBody>
                  <a:tcPr marL="54000" marR="54000" marT="18000" marB="18000" anchor="ctr">
                    <a:solidFill>
                      <a:srgbClr val="DDEF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91%</a:t>
                      </a:r>
                    </a:p>
                  </a:txBody>
                  <a:tcPr marL="54000" marR="54000" marT="18000" marB="18000" anchor="ctr">
                    <a:solidFill>
                      <a:srgbClr val="FFF0C8"/>
                    </a:solidFill>
                  </a:tcPr>
                </a:tc>
              </a:tr>
              <a:tr h="2220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Other Metal Ore Mining (incl. Jamalco)</a:t>
                      </a:r>
                    </a:p>
                  </a:txBody>
                  <a:tcPr marL="54000" marR="54000" marT="18000" marB="180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3.0</a:t>
                      </a:r>
                    </a:p>
                  </a:txBody>
                  <a:tcPr marL="54000" marR="54000" marT="18000" marB="180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00000"/>
                          </a:solidFill>
                          <a:latin typeface="Arial"/>
                        </a:rPr>
                        <a:t>−7.2</a:t>
                      </a:r>
                    </a:p>
                  </a:txBody>
                  <a:tcPr marL="54000" marR="54000" marT="18000" marB="180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96%</a:t>
                      </a:r>
                    </a:p>
                  </a:txBody>
                  <a:tcPr marL="54000" marR="54000" marT="18000" marB="18000" anchor="ctr">
                    <a:solidFill>
                      <a:srgbClr val="DDEF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93%</a:t>
                      </a:r>
                    </a:p>
                  </a:txBody>
                  <a:tcPr marL="54000" marR="54000" marT="18000" marB="18000" anchor="ctr">
                    <a:solidFill>
                      <a:srgbClr val="FFF0C8"/>
                    </a:solidFill>
                  </a:tcPr>
                </a:tc>
              </a:tr>
              <a:tr h="2220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Telecommunications Carriers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7.0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00000"/>
                          </a:solidFill>
                          <a:latin typeface="Arial"/>
                        </a:rPr>
                        <a:t>−1.2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86%</a:t>
                      </a:r>
                    </a:p>
                  </a:txBody>
                  <a:tcPr marL="54000" marR="54000" marT="18000" marB="18000" anchor="ctr">
                    <a:solidFill>
                      <a:srgbClr val="FFF0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 marL="54000" marR="54000" marT="18000" marB="18000" anchor="ctr">
                    <a:solidFill>
                      <a:srgbClr val="FFF0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68%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</a:tr>
              <a:tr h="2220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Executive Offices</a:t>
                      </a:r>
                    </a:p>
                  </a:txBody>
                  <a:tcPr marL="54000" marR="54000" marT="18000" marB="180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5.9</a:t>
                      </a:r>
                    </a:p>
                  </a:txBody>
                  <a:tcPr marL="54000" marR="54000" marT="18000" marB="180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E4E95"/>
                          </a:solidFill>
                          <a:latin typeface="Arial"/>
                        </a:rPr>
                        <a:t>+0.1</a:t>
                      </a:r>
                    </a:p>
                  </a:txBody>
                  <a:tcPr marL="54000" marR="54000" marT="18000" marB="180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96%</a:t>
                      </a:r>
                    </a:p>
                  </a:txBody>
                  <a:tcPr marL="54000" marR="54000" marT="18000" marB="18000" anchor="ctr">
                    <a:solidFill>
                      <a:srgbClr val="DDEF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98%</a:t>
                      </a:r>
                    </a:p>
                  </a:txBody>
                  <a:tcPr marL="54000" marR="54000" marT="18000" marB="18000" anchor="ctr">
                    <a:solidFill>
                      <a:srgbClr val="DDEF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98%</a:t>
                      </a:r>
                    </a:p>
                  </a:txBody>
                  <a:tcPr marL="54000" marR="54000" marT="18000" marB="18000" anchor="ctr">
                    <a:solidFill>
                      <a:srgbClr val="DDEF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76%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85%</a:t>
                      </a:r>
                    </a:p>
                  </a:txBody>
                  <a:tcPr marL="54000" marR="54000" marT="18000" marB="18000" anchor="ctr">
                    <a:solidFill>
                      <a:srgbClr val="FFF0C8"/>
                    </a:solidFill>
                  </a:tcPr>
                </a:tc>
              </a:tr>
              <a:tr h="2220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Full-Service Restaurants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5.1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00000"/>
                          </a:solidFill>
                          <a:latin typeface="Arial"/>
                        </a:rPr>
                        <a:t>−0.2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97%</a:t>
                      </a:r>
                    </a:p>
                  </a:txBody>
                  <a:tcPr marL="54000" marR="54000" marT="18000" marB="18000" anchor="ctr">
                    <a:solidFill>
                      <a:srgbClr val="DDEF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97%</a:t>
                      </a:r>
                    </a:p>
                  </a:txBody>
                  <a:tcPr marL="54000" marR="54000" marT="18000" marB="18000" anchor="ctr">
                    <a:solidFill>
                      <a:srgbClr val="DDEF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54000" marR="54000" marT="18000" marB="18000" anchor="ctr">
                    <a:solidFill>
                      <a:srgbClr val="DDEF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81%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89%</a:t>
                      </a:r>
                    </a:p>
                  </a:txBody>
                  <a:tcPr marL="54000" marR="54000" marT="18000" marB="18000" anchor="ctr">
                    <a:solidFill>
                      <a:srgbClr val="FFF0C8"/>
                    </a:solidFill>
                  </a:tcPr>
                </a:tc>
              </a:tr>
              <a:tr h="2220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Banking, Insurance &amp; Investments</a:t>
                      </a:r>
                    </a:p>
                  </a:txBody>
                  <a:tcPr marL="54000" marR="54000" marT="18000" marB="180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4.8</a:t>
                      </a:r>
                    </a:p>
                  </a:txBody>
                  <a:tcPr marL="54000" marR="54000" marT="18000" marB="180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E4E95"/>
                          </a:solidFill>
                          <a:latin typeface="Arial"/>
                        </a:rPr>
                        <a:t>+0.1</a:t>
                      </a:r>
                    </a:p>
                  </a:txBody>
                  <a:tcPr marL="54000" marR="54000" marT="18000" marB="180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96%</a:t>
                      </a:r>
                    </a:p>
                  </a:txBody>
                  <a:tcPr marL="54000" marR="54000" marT="18000" marB="18000" anchor="ctr">
                    <a:solidFill>
                      <a:srgbClr val="DDEF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99%</a:t>
                      </a:r>
                    </a:p>
                  </a:txBody>
                  <a:tcPr marL="54000" marR="54000" marT="18000" marB="18000" anchor="ctr">
                    <a:solidFill>
                      <a:srgbClr val="DDEF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99%</a:t>
                      </a:r>
                    </a:p>
                  </a:txBody>
                  <a:tcPr marL="54000" marR="54000" marT="18000" marB="18000" anchor="ctr">
                    <a:solidFill>
                      <a:srgbClr val="DDEF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85%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91%</a:t>
                      </a:r>
                    </a:p>
                  </a:txBody>
                  <a:tcPr marL="54000" marR="54000" marT="18000" marB="18000" anchor="ctr">
                    <a:solidFill>
                      <a:srgbClr val="FFF0C8"/>
                    </a:solidFill>
                  </a:tcPr>
                </a:tc>
              </a:tr>
              <a:tr h="2220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Food Manufacturing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4.4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E4E95"/>
                          </a:solidFill>
                          <a:latin typeface="Arial"/>
                        </a:rPr>
                        <a:t>+0.8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 marL="54000" marR="54000" marT="18000" marB="18000" anchor="ctr">
                    <a:solidFill>
                      <a:srgbClr val="FFF0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87%</a:t>
                      </a:r>
                    </a:p>
                  </a:txBody>
                  <a:tcPr marL="54000" marR="54000" marT="18000" marB="18000" anchor="ctr">
                    <a:solidFill>
                      <a:srgbClr val="FFF0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66%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</a:tr>
              <a:tr h="2220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Supermarkets &amp; Grocery Retail</a:t>
                      </a:r>
                    </a:p>
                  </a:txBody>
                  <a:tcPr marL="54000" marR="54000" marT="18000" marB="180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4.0</a:t>
                      </a:r>
                    </a:p>
                  </a:txBody>
                  <a:tcPr marL="54000" marR="54000" marT="18000" marB="180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00000"/>
                          </a:solidFill>
                          <a:latin typeface="Arial"/>
                        </a:rPr>
                        <a:t>−0.1</a:t>
                      </a:r>
                    </a:p>
                  </a:txBody>
                  <a:tcPr marL="54000" marR="54000" marT="18000" marB="180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98%</a:t>
                      </a:r>
                    </a:p>
                  </a:txBody>
                  <a:tcPr marL="54000" marR="54000" marT="18000" marB="18000" anchor="ctr">
                    <a:solidFill>
                      <a:srgbClr val="DDEF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99%</a:t>
                      </a:r>
                    </a:p>
                  </a:txBody>
                  <a:tcPr marL="54000" marR="54000" marT="18000" marB="18000" anchor="ctr">
                    <a:solidFill>
                      <a:srgbClr val="DDEF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96%</a:t>
                      </a:r>
                    </a:p>
                  </a:txBody>
                  <a:tcPr marL="54000" marR="54000" marT="18000" marB="18000" anchor="ctr">
                    <a:solidFill>
                      <a:srgbClr val="DDEF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88%</a:t>
                      </a:r>
                    </a:p>
                  </a:txBody>
                  <a:tcPr marL="54000" marR="54000" marT="18000" marB="18000" anchor="ctr">
                    <a:solidFill>
                      <a:srgbClr val="FFF0C8"/>
                    </a:solidFill>
                  </a:tcPr>
                </a:tc>
              </a:tr>
              <a:tr h="2220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General Hospitals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4.4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E4E95"/>
                          </a:solidFill>
                          <a:latin typeface="Arial"/>
                        </a:rPr>
                        <a:t>+0.7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89%</a:t>
                      </a:r>
                    </a:p>
                  </a:txBody>
                  <a:tcPr marL="54000" marR="54000" marT="18000" marB="18000" anchor="ctr">
                    <a:solidFill>
                      <a:srgbClr val="FFF0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76%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85%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</a:tr>
              <a:tr h="2220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Poultry Hatcheries</a:t>
                      </a:r>
                    </a:p>
                  </a:txBody>
                  <a:tcPr marL="54000" marR="54000" marT="18000" marB="180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2.0</a:t>
                      </a:r>
                    </a:p>
                  </a:txBody>
                  <a:tcPr marL="54000" marR="54000" marT="18000" marB="180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00000"/>
                          </a:solidFill>
                          <a:latin typeface="Arial"/>
                        </a:rPr>
                        <a:t>−2.1</a:t>
                      </a:r>
                    </a:p>
                  </a:txBody>
                  <a:tcPr marL="54000" marR="54000" marT="18000" marB="180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76%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91%</a:t>
                      </a:r>
                    </a:p>
                  </a:txBody>
                  <a:tcPr marL="54000" marR="54000" marT="18000" marB="18000" anchor="ctr">
                    <a:solidFill>
                      <a:srgbClr val="FFF0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 marL="54000" marR="54000" marT="18000" marB="18000" anchor="ctr">
                    <a:solidFill>
                      <a:srgbClr val="FFF0C8"/>
                    </a:solidFill>
                  </a:tcPr>
                </a:tc>
              </a:tr>
              <a:tr h="2220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Distilleries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3.5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E4E95"/>
                          </a:solidFill>
                          <a:latin typeface="Arial"/>
                        </a:rPr>
                        <a:t>+0.9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76%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75%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81%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65%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75%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</a:tr>
              <a:tr h="2220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All other industries</a:t>
                      </a:r>
                    </a:p>
                  </a:txBody>
                  <a:tcPr marL="54000" marR="54000" marT="18000" marB="180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42.9</a:t>
                      </a:r>
                    </a:p>
                  </a:txBody>
                  <a:tcPr marL="54000" marR="54000" marT="18000" marB="180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00000"/>
                          </a:solidFill>
                          <a:latin typeface="Arial"/>
                        </a:rPr>
                        <a:t>−0.6</a:t>
                      </a:r>
                    </a:p>
                  </a:txBody>
                  <a:tcPr marL="54000" marR="54000" marT="18000" marB="180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98%</a:t>
                      </a:r>
                    </a:p>
                  </a:txBody>
                  <a:tcPr marL="54000" marR="54000" marT="18000" marB="18000" anchor="ctr">
                    <a:solidFill>
                      <a:srgbClr val="DDEF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99%</a:t>
                      </a:r>
                    </a:p>
                  </a:txBody>
                  <a:tcPr marL="54000" marR="54000" marT="18000" marB="18000" anchor="ctr">
                    <a:solidFill>
                      <a:srgbClr val="DDEF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98%</a:t>
                      </a:r>
                    </a:p>
                  </a:txBody>
                  <a:tcPr marL="54000" marR="54000" marT="18000" marB="18000" anchor="ctr">
                    <a:solidFill>
                      <a:srgbClr val="DDEF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69%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 marL="54000" marR="54000" marT="18000" marB="18000" anchor="ctr">
                    <a:solidFill>
                      <a:srgbClr val="F6D3D6"/>
                    </a:solidFill>
                  </a:tcPr>
                </a:tc>
              </a:tr>
              <a:tr h="2220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No industry code (incl. small RT20)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48.1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E4E95"/>
                          </a:solidFill>
                          <a:latin typeface="Arial"/>
                        </a:rPr>
                        <a:t>+2.3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97%</a:t>
                      </a:r>
                    </a:p>
                  </a:txBody>
                  <a:tcPr marL="54000" marR="54000" marT="18000" marB="18000" anchor="ctr">
                    <a:solidFill>
                      <a:srgbClr val="DDEF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95%</a:t>
                      </a:r>
                    </a:p>
                  </a:txBody>
                  <a:tcPr marL="54000" marR="54000" marT="18000" marB="18000" anchor="ctr">
                    <a:solidFill>
                      <a:srgbClr val="DDEF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98%</a:t>
                      </a:r>
                    </a:p>
                  </a:txBody>
                  <a:tcPr marL="54000" marR="54000" marT="18000" marB="18000" anchor="ctr">
                    <a:solidFill>
                      <a:srgbClr val="DDEF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66788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66788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54000" marR="54000" marT="18000" marB="18000" anchor="ctr">
                    <a:noFill/>
                  </a:tcPr>
                </a:tc>
              </a:tr>
              <a:tr h="2220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Commercial total (RT20–RT70)</a:t>
                      </a:r>
                    </a:p>
                  </a:txBody>
                  <a:tcPr marL="54000" marR="54000" marT="18000" marB="18000" anchor="ctr">
                    <a:solidFill>
                      <a:srgbClr val="0625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180.2</a:t>
                      </a:r>
                    </a:p>
                  </a:txBody>
                  <a:tcPr marL="54000" marR="54000" marT="18000" marB="18000" anchor="ctr">
                    <a:solidFill>
                      <a:srgbClr val="0625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−12.2</a:t>
                      </a:r>
                    </a:p>
                  </a:txBody>
                  <a:tcPr marL="54000" marR="54000" marT="18000" marB="18000" anchor="ctr">
                    <a:solidFill>
                      <a:srgbClr val="0625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96.4%</a:t>
                      </a:r>
                    </a:p>
                  </a:txBody>
                  <a:tcPr marL="54000" marR="54000" marT="18000" marB="18000" anchor="ctr">
                    <a:solidFill>
                      <a:srgbClr val="0625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93.2%</a:t>
                      </a:r>
                    </a:p>
                  </a:txBody>
                  <a:tcPr marL="54000" marR="54000" marT="18000" marB="18000" anchor="ctr">
                    <a:solidFill>
                      <a:srgbClr val="0625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99.6%</a:t>
                      </a:r>
                    </a:p>
                  </a:txBody>
                  <a:tcPr marL="54000" marR="54000" marT="18000" marB="18000" anchor="ctr">
                    <a:solidFill>
                      <a:srgbClr val="0625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000" marR="54000" marT="18000" marB="18000" anchor="ctr">
                    <a:solidFill>
                      <a:srgbClr val="0625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000" marR="54000" marT="18000" marB="18000" anchor="ctr">
                    <a:solidFill>
                      <a:srgbClr val="06255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650000" y="1950000"/>
            <a:ext cx="3420000" cy="4180000"/>
          </a:xfrm>
          <a:prstGeom prst="rect">
            <a:avLst/>
          </a:prstGeom>
          <a:noFill/>
          <a:ln w="1143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0000" y="1950000"/>
            <a:ext cx="3420000" cy="45719"/>
          </a:xfrm>
          <a:prstGeom prst="rect">
            <a:avLst/>
          </a:prstGeom>
          <a:solidFill>
            <a:srgbClr val="009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80000" y="2060000"/>
            <a:ext cx="316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6788A"/>
                </a:solidFill>
                <a:latin typeface="Arial"/>
              </a:rPr>
              <a:t>WHAT STANDS OUT</a:t>
            </a:r>
          </a:p>
        </p:txBody>
      </p:sp>
      <p:sp>
        <p:nvSpPr>
          <p:cNvPr id="11" name="Oval 10"/>
          <p:cNvSpPr/>
          <p:nvPr/>
        </p:nvSpPr>
        <p:spPr>
          <a:xfrm>
            <a:off x="8780000" y="2330000"/>
            <a:ext cx="250000" cy="250000"/>
          </a:xfrm>
          <a:prstGeom prst="ellipse">
            <a:avLst/>
          </a:prstGeom>
          <a:solidFill>
            <a:srgbClr val="0E4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20000" y="2320000"/>
            <a:ext cx="282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62552"/>
                </a:solidFill>
                <a:latin typeface="Arial"/>
              </a:rPr>
              <a:t>Net hides the account misses</a:t>
            </a:r>
          </a:p>
          <a:p>
            <a:pPr algn="l"/>
            <a:r>
              <a:rPr sz="950" b="0" i="0">
                <a:solidFill>
                  <a:srgbClr val="1F1F1F"/>
                </a:solidFill>
                <a:latin typeface="Arial"/>
              </a:rPr>
              <a:t>Water supply is 95% accurate YTD in total, but 74% account by account.</a:t>
            </a:r>
          </a:p>
        </p:txBody>
      </p:sp>
      <p:sp>
        <p:nvSpPr>
          <p:cNvPr id="13" name="Oval 12"/>
          <p:cNvSpPr/>
          <p:nvPr/>
        </p:nvSpPr>
        <p:spPr>
          <a:xfrm>
            <a:off x="8780000" y="3260000"/>
            <a:ext cx="250000" cy="250000"/>
          </a:xfrm>
          <a:prstGeom prst="ellipse">
            <a:avLst/>
          </a:prstGeom>
          <a:solidFill>
            <a:srgbClr val="0E4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0000" y="3250000"/>
            <a:ext cx="282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62552"/>
                </a:solidFill>
                <a:latin typeface="Arial"/>
              </a:rPr>
              <a:t>Hotels running below plan</a:t>
            </a:r>
          </a:p>
          <a:p>
            <a:pPr algn="l"/>
            <a:r>
              <a:rPr sz="950" b="0" i="0">
                <a:solidFill>
                  <a:srgbClr val="1F1F1F"/>
                </a:solidFill>
                <a:latin typeface="Arial"/>
              </a:rPr>
              <a:t>−3.7 GWh in September (78% accurate); recovery after Hurricane Melissa is the likely cause.</a:t>
            </a:r>
          </a:p>
        </p:txBody>
      </p:sp>
      <p:sp>
        <p:nvSpPr>
          <p:cNvPr id="15" name="Oval 14"/>
          <p:cNvSpPr/>
          <p:nvPr/>
        </p:nvSpPr>
        <p:spPr>
          <a:xfrm>
            <a:off x="8780000" y="4190000"/>
            <a:ext cx="250000" cy="250000"/>
          </a:xfrm>
          <a:prstGeom prst="ellipse">
            <a:avLst/>
          </a:prstGeom>
          <a:solidFill>
            <a:srgbClr val="0E4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0000" y="4180000"/>
            <a:ext cx="282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62552"/>
                </a:solidFill>
                <a:latin typeface="Arial"/>
              </a:rPr>
              <a:t>Two accounts, one-off events</a:t>
            </a:r>
          </a:p>
          <a:p>
            <a:pPr algn="l"/>
            <a:r>
              <a:rPr sz="950" b="0" i="0">
                <a:solidFill>
                  <a:srgbClr val="1F1F1F"/>
                </a:solidFill>
                <a:latin typeface="Arial"/>
              </a:rPr>
              <a:t>Jamalco self-generation (−6.5 GWh) and a Caribbean Broilers billing credit (−1.8 GWh) drive mining and poultry.</a:t>
            </a:r>
          </a:p>
        </p:txBody>
      </p:sp>
      <p:sp>
        <p:nvSpPr>
          <p:cNvPr id="17" name="Oval 16"/>
          <p:cNvSpPr/>
          <p:nvPr/>
        </p:nvSpPr>
        <p:spPr>
          <a:xfrm>
            <a:off x="8780000" y="5120000"/>
            <a:ext cx="250000" cy="250000"/>
          </a:xfrm>
          <a:prstGeom prst="ellipse">
            <a:avLst/>
          </a:prstGeom>
          <a:solidFill>
            <a:srgbClr val="0E4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0000" y="5110000"/>
            <a:ext cx="282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62552"/>
                </a:solidFill>
                <a:latin typeface="Arial"/>
              </a:rPr>
              <a:t>Well forecast</a:t>
            </a:r>
          </a:p>
          <a:p>
            <a:pPr algn="l"/>
            <a:r>
              <a:rPr sz="950" b="0" i="0">
                <a:solidFill>
                  <a:srgbClr val="1F1F1F"/>
                </a:solidFill>
                <a:latin typeface="Arial"/>
              </a:rPr>
              <a:t>Restaurants, banking, executive offices and supermarkets are 96–100% accurate YTD.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80000" y="5660000"/>
            <a:ext cx="150000" cy="150000"/>
          </a:xfrm>
          <a:prstGeom prst="rect">
            <a:avLst/>
          </a:prstGeom>
          <a:solidFill>
            <a:srgbClr val="DDEFDF"/>
          </a:solidFill>
          <a:ln w="635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80000" y="5650000"/>
            <a:ext cx="850000" cy="1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6788A"/>
                </a:solidFill>
                <a:latin typeface="Arial"/>
              </a:rPr>
              <a:t>95% or better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30000" y="5660000"/>
            <a:ext cx="150000" cy="150000"/>
          </a:xfrm>
          <a:prstGeom prst="rect">
            <a:avLst/>
          </a:prstGeom>
          <a:solidFill>
            <a:srgbClr val="FFF0C8"/>
          </a:solidFill>
          <a:ln w="635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30000" y="5650000"/>
            <a:ext cx="850000" cy="1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6788A"/>
                </a:solidFill>
                <a:latin typeface="Arial"/>
              </a:rPr>
              <a:t>85–95%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880000" y="5660000"/>
            <a:ext cx="150000" cy="150000"/>
          </a:xfrm>
          <a:prstGeom prst="rect">
            <a:avLst/>
          </a:prstGeom>
          <a:solidFill>
            <a:srgbClr val="F6D3D6"/>
          </a:solidFill>
          <a:ln w="635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80000" y="5650000"/>
            <a:ext cx="850000" cy="1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6788A"/>
                </a:solidFill>
                <a:latin typeface="Arial"/>
              </a:rPr>
              <a:t>below 85%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0000" y="5870000"/>
            <a:ext cx="316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6788A"/>
                </a:solidFill>
                <a:latin typeface="Arial"/>
              </a:rPr>
              <a:t>Net = industry total vs forecast; account-level adds errors account by account. 0% = forecast more than double the actual.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812" y="493325"/>
            <a:ext cx="11000000" cy="52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62552"/>
                </a:solidFill>
                <a:latin typeface="Arial"/>
              </a:rPr>
              <a:t>What This Means for Customer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5243" y="1079336"/>
            <a:ext cx="1120000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E4E95"/>
                </a:solidFill>
                <a:latin typeface="Arial"/>
              </a:rPr>
              <a:t>Misses sit in a few large accounts and in hospitality; account-level engagement is the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5243" y="1500000"/>
            <a:ext cx="11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788A"/>
                </a:solidFill>
                <a:latin typeface="Arial"/>
              </a:rPr>
              <a:t>September 2026. Forecast = budget; commercial = RT40, RT50, RT60 and RT70.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9231" y="6411345"/>
            <a:ext cx="6621379" cy="2666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62552"/>
                </a:solidFill>
                <a:latin typeface="Arial"/>
              </a:rPr>
              <a:t>Jamaica Public Service | Forecast Accuracy – August and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473" y="6413496"/>
            <a:ext cx="287140" cy="26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62552"/>
                </a:solidFill>
                <a:latin typeface="Arial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50000"/>
            <a:ext cx="3830000" cy="1200000"/>
          </a:xfrm>
          <a:prstGeom prst="rect">
            <a:avLst/>
          </a:prstGeom>
          <a:noFill/>
          <a:ln w="1143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950000"/>
            <a:ext cx="3830000" cy="45719"/>
          </a:xfrm>
          <a:prstGeom prst="rect">
            <a:avLst/>
          </a:prstGeom>
          <a:solidFill>
            <a:srgbClr val="0E4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4320" y="2060000"/>
            <a:ext cx="3570000" cy="1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66788A"/>
                </a:solidFill>
                <a:latin typeface="Arial"/>
              </a:rPr>
              <a:t>SYSTEM SALES, SEPTEMBER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4320" y="2280000"/>
            <a:ext cx="357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62552"/>
                </a:solidFill>
                <a:latin typeface="Arial"/>
              </a:rPr>
              <a:t>99%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320" y="2790000"/>
            <a:ext cx="357000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1F1F"/>
                </a:solidFill>
                <a:latin typeface="Arial"/>
              </a:rPr>
              <a:t>forecast accuracy, net (−2.5 GWh vs forecast)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4320" y="1950000"/>
            <a:ext cx="3830000" cy="1200000"/>
          </a:xfrm>
          <a:prstGeom prst="rect">
            <a:avLst/>
          </a:prstGeom>
          <a:noFill/>
          <a:ln w="1143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4320" y="1950000"/>
            <a:ext cx="3830000" cy="45719"/>
          </a:xfrm>
          <a:prstGeom prst="rect">
            <a:avLst/>
          </a:prstGeom>
          <a:solidFill>
            <a:srgbClr val="0E4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4320" y="2060000"/>
            <a:ext cx="3570000" cy="1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66788A"/>
                </a:solidFill>
                <a:latin typeface="Arial"/>
              </a:rPr>
              <a:t>LARGE-ACCOUNT FORECAST, SEPTEMBER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4320" y="2280000"/>
            <a:ext cx="357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62552"/>
                </a:solidFill>
                <a:latin typeface="Arial"/>
              </a:rPr>
              <a:t>60%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4320" y="2790000"/>
            <a:ext cx="357000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1F1F"/>
                </a:solidFill>
                <a:latin typeface="Arial"/>
              </a:rPr>
              <a:t>account-level accuracy, RT40–RT70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34320" y="1950000"/>
            <a:ext cx="3830000" cy="1200000"/>
          </a:xfrm>
          <a:prstGeom prst="rect">
            <a:avLst/>
          </a:prstGeom>
          <a:noFill/>
          <a:ln w="1143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34320" y="1950000"/>
            <a:ext cx="3830000" cy="45719"/>
          </a:xfrm>
          <a:prstGeom prst="rect">
            <a:avLst/>
          </a:prstGeom>
          <a:solidFill>
            <a:srgbClr val="0E4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4320" y="2060000"/>
            <a:ext cx="3570000" cy="1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66788A"/>
                </a:solidFill>
                <a:latin typeface="Arial"/>
              </a:rPr>
              <a:t>OF THE COMMERCIAL SHORTFALL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4320" y="2280000"/>
            <a:ext cx="357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62552"/>
                </a:solidFill>
                <a:latin typeface="Arial"/>
              </a:rPr>
              <a:t>55%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4320" y="2790000"/>
            <a:ext cx="357000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1F1F"/>
                </a:solidFill>
                <a:latin typeface="Arial"/>
              </a:rPr>
              <a:t>came from two accounts: Jamalco and Caribbean Broilers (−15.2 GWh in total)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330000"/>
            <a:ext cx="5820000" cy="2850000"/>
          </a:xfrm>
          <a:prstGeom prst="rect">
            <a:avLst/>
          </a:prstGeom>
          <a:noFill/>
          <a:ln w="1143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330000"/>
            <a:ext cx="5820000" cy="45719"/>
          </a:xfrm>
          <a:prstGeom prst="rect">
            <a:avLst/>
          </a:prstGeom>
          <a:solidFill>
            <a:srgbClr val="0E4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4320" y="3430000"/>
            <a:ext cx="5560000" cy="1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6788A"/>
                </a:solidFill>
                <a:latin typeface="Arial"/>
              </a:rPr>
              <a:t>WHAT IS DRIVING THE MISSES</a:t>
            </a:r>
          </a:p>
        </p:txBody>
      </p:sp>
      <p:sp>
        <p:nvSpPr>
          <p:cNvPr id="25" name="Oval 24"/>
          <p:cNvSpPr/>
          <p:nvPr/>
        </p:nvSpPr>
        <p:spPr>
          <a:xfrm>
            <a:off x="404320" y="3690000"/>
            <a:ext cx="240000" cy="240000"/>
          </a:xfrm>
          <a:prstGeom prst="ellipse">
            <a:avLst/>
          </a:prstGeom>
          <a:solidFill>
            <a:srgbClr val="0E4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20" y="3680000"/>
            <a:ext cx="520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62552"/>
                </a:solidFill>
                <a:latin typeface="Arial"/>
              </a:rPr>
              <a:t>Customers changed what they use</a:t>
            </a:r>
          </a:p>
          <a:p>
            <a:pPr algn="l"/>
            <a:r>
              <a:rPr sz="1050" b="0" i="0">
                <a:solidFill>
                  <a:srgbClr val="1F1F1F"/>
                </a:solidFill>
                <a:latin typeface="Arial"/>
              </a:rPr>
              <a:t>Jamalco moved to self-generation (0.8 GWh in September against about 9 GWh a month before), 6.5 GWh below forecast on one account.</a:t>
            </a:r>
          </a:p>
        </p:txBody>
      </p:sp>
      <p:sp>
        <p:nvSpPr>
          <p:cNvPr id="27" name="Oval 26"/>
          <p:cNvSpPr/>
          <p:nvPr/>
        </p:nvSpPr>
        <p:spPr>
          <a:xfrm>
            <a:off x="404320" y="4500000"/>
            <a:ext cx="240000" cy="240000"/>
          </a:xfrm>
          <a:prstGeom prst="ellipse">
            <a:avLst/>
          </a:prstGeom>
          <a:solidFill>
            <a:srgbClr val="0E4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20" y="4490000"/>
            <a:ext cx="520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62552"/>
                </a:solidFill>
                <a:latin typeface="Arial"/>
              </a:rPr>
              <a:t>Hospitality is below plan</a:t>
            </a:r>
          </a:p>
          <a:p>
            <a:pPr algn="l"/>
            <a:r>
              <a:rPr sz="1050" b="0" i="0">
                <a:solidFill>
                  <a:srgbClr val="1F1F1F"/>
                </a:solidFill>
                <a:latin typeface="Arial"/>
              </a:rPr>
              <a:t>Hotels were 3.7 GWh below forecast in September; Half Moon Bay and Bush Cay West alone are 1.7 GWh of it.</a:t>
            </a:r>
          </a:p>
        </p:txBody>
      </p:sp>
      <p:sp>
        <p:nvSpPr>
          <p:cNvPr id="29" name="Oval 28"/>
          <p:cNvSpPr/>
          <p:nvPr/>
        </p:nvSpPr>
        <p:spPr>
          <a:xfrm>
            <a:off x="404320" y="5310000"/>
            <a:ext cx="240000" cy="240000"/>
          </a:xfrm>
          <a:prstGeom prst="ellipse">
            <a:avLst/>
          </a:prstGeom>
          <a:solidFill>
            <a:srgbClr val="0E4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20" y="5300000"/>
            <a:ext cx="520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62552"/>
                </a:solidFill>
                <a:latin typeface="Arial"/>
              </a:rPr>
              <a:t>Residential demand is above plan</a:t>
            </a:r>
          </a:p>
          <a:p>
            <a:pPr algn="l"/>
            <a:r>
              <a:rPr sz="1050" b="0" i="0">
                <a:solidFill>
                  <a:srgbClr val="1F1F1F"/>
                </a:solidFill>
                <a:latin typeface="Arial"/>
              </a:rPr>
              <a:t>RT10 was +9.7 GWh (9%) above forecast in September and RT20 +3.0 GWh.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44320" y="3330000"/>
            <a:ext cx="5820000" cy="2850000"/>
          </a:xfrm>
          <a:prstGeom prst="rect">
            <a:avLst/>
          </a:prstGeom>
          <a:noFill/>
          <a:ln w="1143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44320" y="3330000"/>
            <a:ext cx="5820000" cy="45719"/>
          </a:xfrm>
          <a:prstGeom prst="rect">
            <a:avLst/>
          </a:prstGeom>
          <a:solidFill>
            <a:srgbClr val="009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4320" y="3430000"/>
            <a:ext cx="5560000" cy="1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6788A"/>
                </a:solidFill>
                <a:latin typeface="Arial"/>
              </a:rPr>
              <a:t>WHERE CUSTOMER EXPERIENCE CAN HELP</a:t>
            </a:r>
          </a:p>
        </p:txBody>
      </p:sp>
      <p:sp>
        <p:nvSpPr>
          <p:cNvPr id="34" name="Oval 33"/>
          <p:cNvSpPr/>
          <p:nvPr/>
        </p:nvSpPr>
        <p:spPr>
          <a:xfrm>
            <a:off x="6374320" y="3690000"/>
            <a:ext cx="240000" cy="240000"/>
          </a:xfrm>
          <a:prstGeom prst="ellipse">
            <a:avLst/>
          </a:prstGeom>
          <a:solidFill>
            <a:srgbClr val="009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4320" y="3680000"/>
            <a:ext cx="520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62552"/>
                </a:solidFill>
                <a:latin typeface="Arial"/>
              </a:rPr>
              <a:t>Keep the large-account forecast current</a:t>
            </a:r>
          </a:p>
          <a:p>
            <a:pPr algn="l"/>
            <a:r>
              <a:rPr sz="1050" b="0" i="0">
                <a:solidFill>
                  <a:srgbClr val="1F1F1F"/>
                </a:solidFill>
                <a:latin typeface="Arial"/>
              </a:rPr>
              <a:t>Ask key account managers to update the outlook for the 25 largest accounts when a change is known: self-generation, outage, expansion or a billing correction.</a:t>
            </a:r>
          </a:p>
        </p:txBody>
      </p:sp>
      <p:sp>
        <p:nvSpPr>
          <p:cNvPr id="36" name="Oval 35"/>
          <p:cNvSpPr/>
          <p:nvPr/>
        </p:nvSpPr>
        <p:spPr>
          <a:xfrm>
            <a:off x="6374320" y="4500000"/>
            <a:ext cx="240000" cy="240000"/>
          </a:xfrm>
          <a:prstGeom prst="ellipse">
            <a:avLst/>
          </a:prstGeom>
          <a:solidFill>
            <a:srgbClr val="009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4320" y="4490000"/>
            <a:ext cx="520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62552"/>
                </a:solidFill>
                <a:latin typeface="Arial"/>
              </a:rPr>
              <a:t>Engage hotels and water supply early</a:t>
            </a:r>
          </a:p>
          <a:p>
            <a:pPr algn="l"/>
            <a:r>
              <a:rPr sz="1050" b="0" i="0">
                <a:solidFill>
                  <a:srgbClr val="1F1F1F"/>
                </a:solidFill>
                <a:latin typeface="Arial"/>
              </a:rPr>
              <a:t>Plan conversations with the largest accounts in these two industries: they are the largest by volume and ran at about 50% account-level accuracy in September.</a:t>
            </a:r>
          </a:p>
        </p:txBody>
      </p:sp>
      <p:sp>
        <p:nvSpPr>
          <p:cNvPr id="38" name="Oval 37"/>
          <p:cNvSpPr/>
          <p:nvPr/>
        </p:nvSpPr>
        <p:spPr>
          <a:xfrm>
            <a:off x="6374320" y="5310000"/>
            <a:ext cx="240000" cy="240000"/>
          </a:xfrm>
          <a:prstGeom prst="ellipse">
            <a:avLst/>
          </a:prstGeom>
          <a:solidFill>
            <a:srgbClr val="009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4320" y="5300000"/>
            <a:ext cx="520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62552"/>
                </a:solidFill>
                <a:latin typeface="Arial"/>
              </a:rPr>
              <a:t>Flag billing credits before they land</a:t>
            </a:r>
          </a:p>
          <a:p>
            <a:pPr algn="l"/>
            <a:r>
              <a:rPr sz="1050" b="0" i="0">
                <a:solidFill>
                  <a:srgbClr val="1F1F1F"/>
                </a:solidFill>
                <a:latin typeface="Arial"/>
              </a:rPr>
              <a:t>One billing credit took Caribbean Broilers to 0.1 GWh against 1.9 GWh forecast; share expected credits with planning.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JPS Brand Template">
      <a:dk1>
        <a:srgbClr val="000000"/>
      </a:dk1>
      <a:lt1>
        <a:srgbClr val="FFFFFF"/>
      </a:lt1>
      <a:dk2>
        <a:srgbClr val="44546A"/>
      </a:dk2>
      <a:lt2>
        <a:srgbClr val="F1F1F1"/>
      </a:lt2>
      <a:accent1>
        <a:srgbClr val="0C4D94"/>
      </a:accent1>
      <a:accent2>
        <a:srgbClr val="052351"/>
      </a:accent2>
      <a:accent3>
        <a:srgbClr val="FFFFFF"/>
      </a:accent3>
      <a:accent4>
        <a:srgbClr val="FFEF00"/>
      </a:accent4>
      <a:accent5>
        <a:srgbClr val="009ED9"/>
      </a:accent5>
      <a:accent6>
        <a:srgbClr val="96CF59"/>
      </a:accent6>
      <a:hlink>
        <a:srgbClr val="0563C1"/>
      </a:hlink>
      <a:folHlink>
        <a:srgbClr val="0E71D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6 Brand Refresh Template" id="{7C8E15AC-222E-724A-A53D-B2E92DA2A17C}" vid="{C57CD149-FEBD-8948-BAE4-30C91AE6FBA9}"/>
    </a:ext>
  </a:extLst>
</a:theme>
</file>

<file path=ppt/theme/theme2.xml><?xml version="1.0" encoding="utf-8"?>
<a:theme xmlns:a="http://schemas.openxmlformats.org/drawingml/2006/main" name="3_Office Theme">
  <a:themeElements>
    <a:clrScheme name="JPS Brand Template">
      <a:dk1>
        <a:srgbClr val="000000"/>
      </a:dk1>
      <a:lt1>
        <a:srgbClr val="FFFFFF"/>
      </a:lt1>
      <a:dk2>
        <a:srgbClr val="44546A"/>
      </a:dk2>
      <a:lt2>
        <a:srgbClr val="F1F1F1"/>
      </a:lt2>
      <a:accent1>
        <a:srgbClr val="0C4D94"/>
      </a:accent1>
      <a:accent2>
        <a:srgbClr val="052351"/>
      </a:accent2>
      <a:accent3>
        <a:srgbClr val="FFFFFF"/>
      </a:accent3>
      <a:accent4>
        <a:srgbClr val="FFEF00"/>
      </a:accent4>
      <a:accent5>
        <a:srgbClr val="009ED9"/>
      </a:accent5>
      <a:accent6>
        <a:srgbClr val="96CF59"/>
      </a:accent6>
      <a:hlink>
        <a:srgbClr val="0563C1"/>
      </a:hlink>
      <a:folHlink>
        <a:srgbClr val="0E71D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6 Brand Refresh Template" id="{7C8E15AC-222E-724A-A53D-B2E92DA2A17C}" vid="{C57CD149-FEBD-8948-BAE4-30C91AE6FBA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744B4A84E6C5409DBF05FF78BE7F0B" ma:contentTypeVersion="4" ma:contentTypeDescription="Create a new document." ma:contentTypeScope="" ma:versionID="b983b02e7cdb56be63a93b09d6b717ff">
  <xsd:schema xmlns:xsd="http://www.w3.org/2001/XMLSchema" xmlns:xs="http://www.w3.org/2001/XMLSchema" xmlns:p="http://schemas.microsoft.com/office/2006/metadata/properties" xmlns:ns2="9883ab80-12e9-41c2-bd94-a272ffd3ca7e" targetNamespace="http://schemas.microsoft.com/office/2006/metadata/properties" ma:root="true" ma:fieldsID="1e1105fb426fbd486b49c7c7b4a6f378" ns2:_="">
    <xsd:import namespace="9883ab80-12e9-41c2-bd94-a272ffd3ca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83ab80-12e9-41c2-bd94-a272ffd3ca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41D070C-532B-4F38-8F34-94EBA705920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83ab80-12e9-41c2-bd94-a272ffd3ca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0A3CDE6-5B82-4249-A385-54374AE91900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purl.org/dc/terms/"/>
    <ds:schemaRef ds:uri="9883ab80-12e9-41c2-bd94-a272ffd3ca7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63C8149-0B23-431D-B6D4-EB90E7BC0FD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1757</TotalTime>
  <Words>7203</Words>
  <Application>Microsoft Office PowerPoint</Application>
  <PresentationFormat>Widescreen</PresentationFormat>
  <Paragraphs>1062</Paragraphs>
  <Slides>41</Slides>
  <Notes>26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Links</vt:lpstr>
      </vt:variant>
      <vt:variant>
        <vt:i4>14</vt:i4>
      </vt:variant>
      <vt:variant>
        <vt:lpstr>Slide Titles</vt:lpstr>
      </vt:variant>
      <vt:variant>
        <vt:i4>41</vt:i4>
      </vt:variant>
    </vt:vector>
  </HeadingPairs>
  <TitlesOfParts>
    <vt:vector size="71" baseType="lpstr">
      <vt:lpstr>Aileron</vt:lpstr>
      <vt:lpstr>Aileron Bold</vt:lpstr>
      <vt:lpstr>Aptos</vt:lpstr>
      <vt:lpstr>Aptos Black</vt:lpstr>
      <vt:lpstr>Arial</vt:lpstr>
      <vt:lpstr>Arial Black</vt:lpstr>
      <vt:lpstr>Calibri</vt:lpstr>
      <vt:lpstr>Georgia</vt:lpstr>
      <vt:lpstr>Gotham</vt:lpstr>
      <vt:lpstr>Gotham Bold</vt:lpstr>
      <vt:lpstr>Gotham Book</vt:lpstr>
      <vt:lpstr>Gotham Heavy</vt:lpstr>
      <vt:lpstr>Montserrat</vt:lpstr>
      <vt:lpstr>Times New Roman</vt:lpstr>
      <vt:lpstr>2_Office Theme</vt:lpstr>
      <vt:lpstr>3_Office Theme</vt:lpstr>
      <vt:lpstr>file:///\\jps.net\orgshare\FinRptg2\2026\FinMod%202026\2026%20LE\09%20-%202026\Copy%20of%20Presentation%20PL%20-%20Sep%202026%20LE%20(v6).xlsx!Waterfall%20-%20NI%20%20(Stand%20alone)!R12C8:R26C26</vt:lpstr>
      <vt:lpstr>file:///\\jps.net\orgshare\FinRptg2\2026\FinMod%202026\2026%20NonFuel%20Variance\Non%20Fuel%20Variance%20September%202026.xlsx!Non%20Fuel%20Revenue!R37C6:R55C21</vt:lpstr>
      <vt:lpstr>file:///\\jps.net\orgshare\FinRptg2\2026\FinMod%202026\2026%20LE\09%20-%202026\Financial%20Summary%20-%20September%202026%20%20LE.xlsx!Fuel%20Summary!R5C3:R25C9</vt:lpstr>
      <vt:lpstr>file:///\\jps.net\orgshare\FinRptg2\2026\FinMod%202026\2026%20LE\09%20-%202026\Financial%20Summary%20-%20September%202026%20%20LE.xlsx!Bad%20Debt%20Provision!R4C1:R11C9</vt:lpstr>
      <vt:lpstr>file:///\\jps.net\orgshare\FinRptg2\2026\FinMod%202026\2026%20LE\09%20-%202026\Financial%20Summary%20-%20September%202026%20%20LE.xlsx!Presentation%20Balance%20Sheet!R4C1:R41C6</vt:lpstr>
      <vt:lpstr>file:///\\jps.net\orgshare\FinRptg2\2026\FinMod%202026\2026%20LE\09%20-%202026\Financial%20Summary%20-%20September%202026%20%20LE.xlsx!Presentation%20Cash%20Flow!R3C1:R24C9</vt:lpstr>
      <vt:lpstr>file:///\\jps.net\orgshare\FinRptg2\2026\FinMod%202026\2026%20LE\09%20-%202026\Financial%20Summary%20-%20September%202026%20%20LE.xlsx!Monhtly_FX%20Trend%20!%5bFinancial%20Summary%20-%20September%202026%20%20LE.xlsx%5dMonhtly_FX%20Trend%20%20Chart%207</vt:lpstr>
      <vt:lpstr>file:///\\jps.net\orgshare\FinRptg2\2026\FinMod%202026\2026%20Cash%20Flow\09.%20Cash%20Flow%20September%202026%20LE\Cash%20Flow%20-%20%20September%202026.xlsx!Base%20Case!R7C1:R46C30</vt:lpstr>
      <vt:lpstr>file:///\\jps.net\orgshare\FinRptg2\2026\FinMod%202026\2026%20LE\09%20-%202026\Financial%20Summary%20-%20September%202026%20%20LE_V2.xlsx!Dashboard%20(Standalone)!R4C1:R21C10</vt:lpstr>
      <vt:lpstr>file:///\\jps.net\orgshare\FinRptg2\2026\FinMod%202026\2026%20LE\09%20-%202026\Financial%20Summary%20-%20September%202026%20%20LE_V2.xlsx!FX%20Impact!R4C3:R27C17</vt:lpstr>
      <vt:lpstr>file:///\\jps.net\orgshare\FinRptg2\2026\FinMod%202026\2026%20LE\09%20-%202026\Financial%20Summary%20-%20September%202026%20%20LE_V2.xlsx!Presentation%20P&amp;L%20(Stand%20alone)!R75C1:R104C21</vt:lpstr>
      <vt:lpstr>file:///\\jps.net\orgshare\FinRptg2\2026\FinMod%202026\2026%20LE\09%20-%202026\Financial%20Summary%20-%20September%202026%20%20LE_V2.xlsx!Presentation%20P&amp;L%20(Stand%20alone)!R4C1:R47C21</vt:lpstr>
      <vt:lpstr>file:///\\jps.net\orgshare\FinRptg2\2026\FinMod%202026\2026%20LE\09%20-%202026\Financial%20Summary%20-%20September%202026%20%20LE_V2.xlsx!Other%20Operating%20Revenue!R2C2:R20C8</vt:lpstr>
      <vt:lpstr>file:///\\jps.net\orgshare\FinRptg2\2026\FinMod%202026\2026%20LE\09%20-%202026\Financial%20Summary%20-%20September%202026%20%20LE_V2.xlsx!Waterfall%20-%20NI%20%20(Stand%20alone)!R32C7:R75C23</vt:lpstr>
      <vt:lpstr>Corporate Performance Report</vt:lpstr>
      <vt:lpstr>PowerPoint Presentation</vt:lpstr>
      <vt:lpstr>PowerPoint Presentation</vt:lpstr>
      <vt:lpstr>Financial Highlights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Operational  Expenditure</vt:lpstr>
      <vt:lpstr>PowerPoint Presentation</vt:lpstr>
      <vt:lpstr>PowerPoint Presentation</vt:lpstr>
      <vt:lpstr>PowerPoint Presentation</vt:lpstr>
      <vt:lpstr>Capital  Expenditure</vt:lpstr>
      <vt:lpstr>PowerPoint Presentation</vt:lpstr>
      <vt:lpstr>PowerPoint Presentation</vt:lpstr>
      <vt:lpstr>Cash Flow and  Funding Outlook</vt:lpstr>
      <vt:lpstr>PowerPoint Presentation</vt:lpstr>
      <vt:lpstr>PowerPoint Presentation</vt:lpstr>
      <vt:lpstr>Business Performance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Appendices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Jamaica Public Service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Performance Report</dc:title>
  <dc:creator>Nickisha Chin</dc:creator>
  <cp:lastModifiedBy>Jordache Wilson</cp:lastModifiedBy>
  <cp:revision>33</cp:revision>
  <cp:lastPrinted>2026-07-16T19:03:44Z</cp:lastPrinted>
  <dcterms:created xsi:type="dcterms:W3CDTF">2026-06-04T14:47:53Z</dcterms:created>
  <dcterms:modified xsi:type="dcterms:W3CDTF">2026-10-14T22:20:04Z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0x01010098744B4A84E6C5409DBF05FF78BE7F0B</vt:lpwstr>
  </property>
</Properties>
</file>