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Ex1.xml" ContentType="application/vnd.ms-office.chartex+xml"/>
  <Override PartName="/ppt/charts/colors1.xml" ContentType="application/vnd.ms-office.chartcolorstyle+xml"/>
  <Override PartName="/ppt/charts/style1.xml" ContentType="application/vnd.ms-office.chartstyle+xml"/>
  <Override PartName="/ppt/drawings/vmlDrawing1.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notesMasterIdLst>
    <p:notesMasterId r:id="rId9"/>
  </p:notesMasterIdLst>
  <p:sldIdLst>
    <p:sldId id="5383" r:id="rId5"/>
    <p:sldId id="5453" r:id="rId6"/>
    <p:sldId id="5452" r:id="rId7"/>
    <p:sldId id="5393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000"/>
    <a:srgbClr val="0E4E95"/>
    <a:srgbClr val="009FDA"/>
    <a:srgbClr val="FFFFFF"/>
    <a:srgbClr val="062552"/>
    <a:srgbClr val="FFFDF8"/>
    <a:srgbClr val="FFF000"/>
    <a:srgbClr val="97C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011" autoAdjust="0"/>
  </p:normalViewPr>
  <p:slideViewPr>
    <p:cSldViewPr snapToGrid="0">
      <p:cViewPr varScale="1">
        <p:scale>
          <a:sx n="99" d="100"/>
          <a:sy n="99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C00000"/>
            </a:solidFill>
            <a:ln w="0">
              <a:solidFill>
                <a:srgbClr val="C00000"/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invertIfNegative val="1"/>
          <c:dPt>
            <c:idx val="0"/>
            <c:invertIfNegative val="0"/>
            <c:bubble3D val="0"/>
            <c:spPr>
              <a:solidFill>
                <a:srgbClr val="009FDA"/>
              </a:solidFill>
              <a:ln w="0">
                <a:solidFill>
                  <a:srgbClr val="009FDA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F69-41D1-AE98-7E222C5D7003}"/>
              </c:ext>
            </c:extLst>
          </c:dPt>
          <c:dPt>
            <c:idx val="1"/>
            <c:invertIfNegative val="0"/>
            <c:bubble3D val="0"/>
            <c:spPr>
              <a:solidFill>
                <a:srgbClr val="009FDA"/>
              </a:solidFill>
              <a:ln w="0">
                <a:solidFill>
                  <a:srgbClr val="009FDA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F69-41D1-AE98-7E222C5D7003}"/>
              </c:ext>
            </c:extLst>
          </c:dPt>
          <c:dPt>
            <c:idx val="2"/>
            <c:invertIfNegative val="0"/>
            <c:bubble3D val="0"/>
            <c:spPr>
              <a:solidFill>
                <a:srgbClr val="0E4E95"/>
              </a:solidFill>
              <a:ln w="0">
                <a:solidFill>
                  <a:srgbClr val="0E4E95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F69-41D1-AE98-7E222C5D7002}"/>
              </c:ext>
            </c:extLst>
          </c:dPt>
          <c:dPt>
            <c:idx val="3"/>
            <c:invertIfNegative val="0"/>
            <c:bubble3D val="0"/>
            <c:spPr>
              <a:solidFill>
                <a:srgbClr val="0E4E95"/>
              </a:solidFill>
              <a:ln w="0">
                <a:solidFill>
                  <a:srgbClr val="0E4E95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CF69-41D1-AE98-7E222C5D7003}"/>
              </c:ext>
            </c:extLst>
          </c:dPt>
          <c:dPt>
            <c:idx val="4"/>
            <c:invertIfNegative val="0"/>
            <c:bubble3D val="0"/>
            <c:spPr>
              <a:solidFill>
                <a:srgbClr val="009FDA"/>
              </a:solidFill>
              <a:ln w="0">
                <a:solidFill>
                  <a:srgbClr val="009FDA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F69-41D1-AE98-7E222C5D7003}"/>
              </c:ext>
            </c:extLst>
          </c:dPt>
          <c:dPt>
            <c:idx val="5"/>
            <c:invertIfNegative val="0"/>
            <c:bubble3D val="0"/>
            <c:spPr>
              <a:solidFill>
                <a:srgbClr val="0E4E95"/>
              </a:solidFill>
              <a:ln w="0">
                <a:solidFill>
                  <a:srgbClr val="0E4E95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F69-41D1-AE98-7E222C5D7003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en-US" sz="900" b="1" i="0" u="none" strike="noStrike" kern="1200" baseline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50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RT10</c:v>
                </c:pt>
                <c:pt idx="1">
                  <c:v>RT20</c:v>
                </c:pt>
                <c:pt idx="2">
                  <c:v>RT40</c:v>
                </c:pt>
                <c:pt idx="3">
                  <c:v>RT50</c:v>
                </c:pt>
                <c:pt idx="4">
                  <c:v>RT60</c:v>
                </c:pt>
                <c:pt idx="5">
                  <c:v>RT70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9.736461730000004</c:v>
                </c:pt>
                <c:pt idx="1">
                  <c:v>2.9686308399999963</c:v>
                </c:pt>
                <c:pt idx="2">
                  <c:v>-6.0211479200000015</c:v>
                </c:pt>
                <c:pt idx="3">
                  <c:v>-5.015004990000002</c:v>
                </c:pt>
                <c:pt idx="4">
                  <c:v>0.10121302000000001</c:v>
                </c:pt>
                <c:pt idx="5">
                  <c:v>-4.223748010000001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C00000"/>
                    </a:solidFill>
                    <a:prstDash val="solid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c14:spPr>
              </c14:invertSolidFillFmt>
            </c:ext>
            <c:ext xmlns:c16="http://schemas.microsoft.com/office/drawing/2014/chart" uri="{C3380CC4-5D6E-409C-BE32-E72D297353CC}">
              <c16:uniqueId val="{0000000A-CF69-41D1-AE98-7E222C5D70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crossAx val="48672768"/>
        <c:crosses val="autoZero"/>
        <c:auto val="0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t"/>
        <c:numFmt formatCode="_(* #,##0.00_);_(* \(#,##0.00\);_(* &quot;-&quot;??_);_(@_)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chemeClr val="bg1"/>
        </a:solidFill>
      </c:spPr>
    </c:plotArea>
    <c:plotVisOnly val="1"/>
    <c:dispBlanksAs val="zero"/>
    <c:showDLblsOverMax val="1"/>
  </c:chart>
  <c:txPr>
    <a:bodyPr/>
    <a:lstStyle/>
    <a:p>
      <a:pPr>
        <a:defRPr sz="900">
          <a:solidFill>
            <a:schemeClr val="bg2">
              <a:lumMod val="50000"/>
            </a:schemeClr>
          </a:solidFill>
          <a:latin typeface="Montserrat" panose="00000500000000000000" pitchFamily="50" charset="0"/>
        </a:defRPr>
      </a:pPr>
      <a:endParaRPr lang="en-US"/>
    </a:p>
  </c:tx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Sheet1!$A$2:$A$6</cx:f>
        <cx:lvl ptCount="5">
          <cx:pt idx="0">2026 Budget</cx:pt>
          <cx:pt idx="1">Residential</cx:pt>
          <cx:pt idx="2">SME</cx:pt>
          <cx:pt idx="3">Commercial</cx:pt>
          <cx:pt idx="4">2026 Actual</cx:pt>
        </cx:lvl>
      </cx:strDim>
      <cx:numDim type="val">
        <cx:f>Sheet1!$B$2:$B$6</cx:f>
        <cx:lvl ptCount="5" formatCode="#,##0.00,,">
          <cx:pt idx="0">297258609.72</cx:pt>
          <cx:pt idx="1">9736461.730000004</cx:pt>
          <cx:pt idx="2">2968630.839999996</cx:pt>
          <cx:pt idx="3">-15158687.900000006</cx:pt>
          <cx:pt idx="4">294805014.39</cx:pt>
        </cx:lvl>
      </cx:numDim>
    </cx:data>
  </cx:chartData>
  <cx:chart>
    <cx:plotArea>
      <cx:plotAreaRegion>
        <cx:series layoutId="waterfall" uniqueId="{CE3D2AA8-0D30-4EEB-A1A5-CE336A7B754F}">
          <cx:tx>
            <cx:txData>
              <cx:f>Sheet1!$B$1</cx:f>
              <cx:v>Series1</cx:v>
            </cx:txData>
          </cx:tx>
          <cx:spPr>
            <a:solidFill>
              <a:srgbClr val="062552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x:spPr>
          <cx:dataPt idx="0">
            <cx:spPr>
              <a:solidFill>
                <a:srgbClr val="062552"/>
              </a:solidFill>
              <a:ln>
                <a:solidFill>
                  <a:srgbClr val="062552"/>
                </a:solidFill>
              </a:ln>
            </cx:spPr>
          </cx:dataPt>
          <cx:dataPt idx="1">
            <cx:spPr>
              <a:solidFill>
                <a:srgbClr val="009FDA"/>
              </a:solidFill>
              <a:ln>
                <a:solidFill>
                  <a:srgbClr val="009FDA"/>
                </a:solidFill>
              </a:ln>
            </cx:spPr>
          </cx:dataPt>
          <cx:dataPt idx="2">
            <cx:spPr>
              <a:solidFill>
                <a:srgbClr val="009FDA"/>
              </a:solidFill>
              <a:ln>
                <a:solidFill>
                  <a:srgbClr val="009FDA"/>
                </a:solidFill>
              </a:ln>
            </cx:spPr>
          </cx:dataPt>
          <cx:dataPt idx="3">
            <cx:spPr>
              <a:solidFill>
                <a:srgbClr val="0E4E95"/>
              </a:solidFill>
              <a:ln>
                <a:solidFill>
                  <a:srgbClr val="0E4E95"/>
                </a:solidFill>
              </a:ln>
            </cx:spPr>
          </cx:dataPt>
          <cx:dataPt idx="4">
            <cx:spPr>
              <a:solidFill>
                <a:srgbClr val="062552"/>
              </a:solidFill>
              <a:ln>
                <a:solidFill>
                  <a:srgbClr val="062552"/>
                </a:solidFill>
              </a:ln>
            </cx:spPr>
          </cx:dataPt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lang="en-US" sz="1000" b="1" i="0" u="none" strike="noStrike" kern="1200" baseline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" panose="00000500000000000000" pitchFamily="50" charset="0"/>
                    <a:ea typeface="Montserrat" panose="00000500000000000000" pitchFamily="50" charset="0"/>
                    <a:cs typeface="Montserrat" panose="00000500000000000000" pitchFamily="50" charset="0"/>
                  </a:defRPr>
                </a:pPr>
                <a:endParaRPr lang="en-US"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50" charset="0"/>
                  <a:ea typeface="+mn-ea"/>
                  <a:cs typeface="Arial" panose="020B0604020202020204" pitchFamily="34" charset="0"/>
                </a:endParaRPr>
              </a:p>
            </cx:txPr>
            <cx:visibility seriesName="0" categoryName="0" value="1"/>
            <cx:separator>, </cx:separator>
            <cx:dataLabel idx="0" pos="ctr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900" b="1">
                      <a:solidFill>
                        <a:schemeClr val="bg1"/>
                      </a:solidFill>
                    </a:defRPr>
                  </a:pPr>
                  <a:r>
                    <a:rPr lang="en-US" sz="900" b="1" i="0" u="none" strike="noStrike" baseline="0">
                      <a:solidFill>
                        <a:schemeClr val="bg1"/>
                      </a:solidFill>
                      <a:latin typeface="Montserrat" panose="00000500000000000000" pitchFamily="50" charset="0"/>
                      <a:cs typeface="Arial" panose="020B0604020202020204" pitchFamily="34" charset="0"/>
                    </a:rPr>
                    <a:t>297.26</a:t>
                  </a:r>
                </a:p>
              </cx:txPr>
              <cx:visibility seriesName="0" categoryName="0" value="1"/>
              <cx:separator>, </cx:separator>
            </cx:dataLabel>
            <cx:dataLabel idx="1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9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Montserrat" panose="00000500000000000000" pitchFamily="50" charset="0"/>
                      <a:ea typeface="+mn-ea"/>
                      <a:cs typeface="Arial" panose="020B0604020202020204" pitchFamily="34" charset="0"/>
                    </a:rPr>
                    <a:t>9.74</a:t>
                  </a:r>
                </a:p>
              </cx:txPr>
              <cx:visibility seriesName="0" categoryName="0" value="1"/>
              <cx:separator>, </cx:separator>
            </cx:dataLabel>
            <cx:dataLabel idx="2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9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Montserrat" panose="00000500000000000000" pitchFamily="50" charset="0"/>
                      <a:ea typeface="+mn-ea"/>
                      <a:cs typeface="Arial" panose="020B0604020202020204" pitchFamily="34" charset="0"/>
                    </a:rPr>
                    <a:t>2.97</a:t>
                  </a:r>
                </a:p>
              </cx:txPr>
              <cx:visibility seriesName="0" categoryName="0" value="1"/>
              <cx:separator>, </cx:separator>
            </cx:dataLabel>
            <cx:dataLabel idx="3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/>
                  </a:pPr>
                  <a:r>
                    <a:rPr lang="en-US" sz="9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Montserrat" panose="00000500000000000000" pitchFamily="50" charset="0"/>
                      <a:ea typeface="+mn-ea"/>
                      <a:cs typeface="Arial" panose="020B0604020202020204" pitchFamily="34" charset="0"/>
                    </a:rPr>
                    <a:t>-15.16</a:t>
                  </a:r>
                </a:p>
              </cx:txPr>
              <cx:visibility seriesName="0" categoryName="0" value="1"/>
              <cx:separator>, </cx:separator>
            </cx:dataLabel>
            <cx:dataLabel idx="4" pos="ctr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900" b="1">
                      <a:solidFill>
                        <a:schemeClr val="bg1"/>
                      </a:solidFill>
                    </a:defRPr>
                  </a:pPr>
                  <a:r>
                    <a:rPr lang="en-US" sz="900" b="1" i="0" u="none" strike="noStrike" baseline="0">
                      <a:solidFill>
                        <a:schemeClr val="bg1"/>
                      </a:solidFill>
                      <a:latin typeface="Montserrat" panose="00000500000000000000" pitchFamily="50" charset="0"/>
                      <a:cs typeface="Arial" panose="020B0604020202020204" pitchFamily="34" charset="0"/>
                    </a:rPr>
                    <a:t>294.81</a:t>
                  </a:r>
                </a:p>
              </cx:txPr>
              <cx:visibility seriesName="0" categoryName="0" value="1"/>
              <cx:separator>, </cx:separator>
            </cx:dataLabel>
          </cx:dataLabels>
          <cx:dataId val="0"/>
          <cx:layoutPr>
            <cx:visibility connectorLines="0"/>
            <cx:subtotals>
              <cx:idx val="4"/>
            </cx:subtotals>
          </cx:layoutPr>
        </cx:series>
      </cx:plotAreaRegion>
      <cx:axis id="0">
        <cx:catScaling gapWidth="0.400000006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lang="en-US" sz="800" b="0" i="0" u="none" strike="noStrike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50" charset="0"/>
                <a:ea typeface="Montserrat" panose="00000500000000000000" pitchFamily="50" charset="0"/>
                <a:cs typeface="Montserrat" panose="00000500000000000000" pitchFamily="50" charset="0"/>
              </a:defRPr>
            </a:pPr>
            <a:endPara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50" charset="0"/>
              <a:ea typeface="+mn-ea"/>
              <a:cs typeface="Arial" panose="020B0604020202020204" pitchFamily="34" charset="0"/>
            </a:endParaRPr>
          </a:p>
        </cx:txPr>
      </cx:axis>
      <cx:axis id="1" hidden="1">
        <cx:valScaling min="280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lang="en-US" sz="900" b="0" i="0" u="none" strike="noStrike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cx:txPr>
      </cx:axis>
    </cx:plotArea>
  </cx:chart>
  <cx:spPr>
    <a:noFill/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9">
  <cs:axisTitle>
    <cs:lnRef idx="0"/>
    <cs:fillRef idx="0"/>
    <cs:effectRef idx="0"/>
    <cs:fontRef idx="minor">
      <a:schemeClr val="tx2"/>
    </cs:fontRef>
    <cs:defRPr sz="9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tx2"/>
    </cs:fontRef>
    <cs:defRPr sz="9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2"/>
    </cs:fontRef>
    <cs:spPr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2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2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2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2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15000"/>
            <a:lumOff val="8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2"/>
    </cs:fontRef>
    <cs:defRPr sz="9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2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2"/>
    </cs:fontRef>
    <cs:defRPr sz="1600" b="1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/>
  </cs:valueAxis>
  <cs:wall>
    <cs:lnRef idx="0"/>
    <cs:fillRef idx="0"/>
    <cs:effectRef idx="0"/>
    <cs:fontRef idx="minor">
      <a:schemeClr val="tx2"/>
    </cs:fontRef>
  </cs:wall>
</cs:chartStyl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J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94F2353-5319-4B93-868E-90E661544A21}" type="datetimeFigureOut">
              <a:rPr lang="en-JM" smtClean="0"/>
              <a:t>14/10/2026</a:t>
            </a:fld>
            <a:endParaRPr lang="en-J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J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J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4A6AFF9-10F2-4CAF-B65B-9235AF386E10}" type="slidenum">
              <a:rPr lang="en-JM" smtClean="0"/>
              <a:t>‹#›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76384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B7636-D581-BB02-FFEA-29A489589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4D591-C77C-BA85-0AB1-FA67DA455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J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7D5D6-8DC4-93A5-0C61-0A7EBB616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359B0-E5B2-0B99-2B1C-7947A4BD2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AFF9-10F2-4CAF-B65B-9235AF386E10}" type="slidenum">
              <a:rPr lang="en-JM" smtClean="0"/>
              <a:t>1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734400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9184D-A052-A30E-A5BF-8076EC1EA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EDE8D-A22C-8CFC-8DF5-34EC482B3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J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26D3B-4DC6-EC96-9A41-C4A23C3B6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AEA88-E8EE-51EC-4DBA-25AC8361E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A6AFF9-10F2-4CAF-B65B-9235AF386E10}" type="slidenum">
              <a:rPr kumimoji="0" lang="en-JM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JM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8923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E7E5-8AA4-5ADD-348C-C693E1C9A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D1AF7-F428-B15D-4CE5-785843468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JM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4A62F-AE73-F93C-73AA-66210546A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D3C66-4033-9175-B603-BEF9ACDA9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54A6AFF9-10F2-4CAF-B65B-9235AF386E10}" type="slidenum">
              <a:rPr lang="en-JM">
                <a:solidFill>
                  <a:prstClr val="black"/>
                </a:solidFill>
                <a:latin typeface="Aptos" panose="02110004020202020204"/>
              </a:rPr>
              <a:pPr defTabSz="931774">
                <a:defRPr/>
              </a:pPr>
              <a:t>4</a:t>
            </a:fld>
            <a:endParaRPr lang="en-JM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7624355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71707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64" y="753395"/>
            <a:ext cx="9144000" cy="72247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264" y="1660944"/>
            <a:ext cx="9144000" cy="62964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02947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977461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ransition Slide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D68B-9D38-D375-0E0B-E71B45CF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0"/>
            <a:ext cx="10515600" cy="285273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Separator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A4C5-586B-46CD-F4E4-A44AA15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2185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D76-F7F7-44F4-0928-16192EA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DF8654-4A5A-410F-70D5-0CB8DD014DC0}"/>
              </a:ext>
            </a:extLst>
          </p:cNvPr>
          <p:cNvSpPr/>
          <p:nvPr userDrawn="1"/>
        </p:nvSpPr>
        <p:spPr>
          <a:xfrm>
            <a:off x="418641" y="2002631"/>
            <a:ext cx="234787" cy="2852737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3201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Slid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E64-907E-2DFA-F136-C1E5CDC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894C-98E2-34B4-5B80-C191EDBE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F8B9-305F-D62C-1E11-AD8FA8B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4DC9-7F3E-7532-D80E-54314305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589295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F5E3-F3CF-1106-B32E-82CAC70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0033CA9-4BE9-FDD0-037D-C73A3E682E1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27733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06296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A39AC746-0F8C-8731-3C35-4469604CC322}"/>
              </a:ext>
            </a:extLst>
          </p:cNvPr>
          <p:cNvGrpSpPr/>
          <p:nvPr userDrawn="1"/>
        </p:nvGrpSpPr>
        <p:grpSpPr>
          <a:xfrm>
            <a:off x="0" y="0"/>
            <a:ext cx="8021053" cy="6858000"/>
            <a:chOff x="0" y="0"/>
            <a:chExt cx="3694747" cy="270933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7BE17A93-7FBF-2E2F-8B58-82E731C41C76}"/>
                </a:ext>
              </a:extLst>
            </p:cNvPr>
            <p:cNvSpPr/>
            <p:nvPr/>
          </p:nvSpPr>
          <p:spPr>
            <a:xfrm>
              <a:off x="0" y="0"/>
              <a:ext cx="3694747" cy="2709333"/>
            </a:xfrm>
            <a:custGeom>
              <a:avLst/>
              <a:gdLst/>
              <a:ahLst/>
              <a:cxnLst/>
              <a:rect l="l" t="t" r="r" b="b"/>
              <a:pathLst>
                <a:path w="3694747" h="2709333">
                  <a:moveTo>
                    <a:pt x="0" y="0"/>
                  </a:moveTo>
                  <a:lnTo>
                    <a:pt x="3694747" y="0"/>
                  </a:lnTo>
                  <a:lnTo>
                    <a:pt x="369474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C60A4">
                    <a:alpha val="100000"/>
                  </a:srgbClr>
                </a:gs>
                <a:gs pos="100000">
                  <a:srgbClr val="06255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JM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4F536023-7B7E-5E02-7BDB-8029957D9838}"/>
                </a:ext>
              </a:extLst>
            </p:cNvPr>
            <p:cNvSpPr txBox="1"/>
            <p:nvPr/>
          </p:nvSpPr>
          <p:spPr>
            <a:xfrm>
              <a:off x="0" y="-38100"/>
              <a:ext cx="369474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10C61-80E7-54DA-AE45-FAD0695662ED}"/>
              </a:ext>
            </a:extLst>
          </p:cNvPr>
          <p:cNvSpPr/>
          <p:nvPr userDrawn="1"/>
        </p:nvSpPr>
        <p:spPr>
          <a:xfrm>
            <a:off x="5157281" y="6490721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32883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ple Samp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1C56-D50C-E00F-A566-6510789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Timeline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7EFC4-7E64-FCB0-691D-3FEA22FB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733249" cy="399264"/>
          </a:xfrm>
        </p:spPr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3FA75-D5B7-7721-506F-2C139D3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DA6D51-0096-3EF2-8EA8-65807A921332}"/>
              </a:ext>
            </a:extLst>
          </p:cNvPr>
          <p:cNvGrpSpPr/>
          <p:nvPr userDrawn="1"/>
        </p:nvGrpSpPr>
        <p:grpSpPr>
          <a:xfrm>
            <a:off x="1202571" y="2143158"/>
            <a:ext cx="946844" cy="971454"/>
            <a:chOff x="0" y="-14473"/>
            <a:chExt cx="556826" cy="571299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AAF412B-C6FB-58D8-CD2A-88EAEA032B0D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3ADC7E24-88FE-D365-A98D-C65B6F5E92A0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868748-0B27-5CDD-AE5C-4800B2233183}"/>
              </a:ext>
            </a:extLst>
          </p:cNvPr>
          <p:cNvGrpSpPr/>
          <p:nvPr userDrawn="1"/>
        </p:nvGrpSpPr>
        <p:grpSpPr>
          <a:xfrm>
            <a:off x="8714997" y="4262647"/>
            <a:ext cx="2457578" cy="1530344"/>
            <a:chOff x="0" y="-28575"/>
            <a:chExt cx="3276771" cy="2040459"/>
          </a:xfrm>
        </p:grpSpPr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4A229842-87A8-33EA-DE8E-2C0A9FB39D2E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2015</a:t>
              </a:r>
            </a:p>
          </p:txBody>
        </p: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50297581-D24E-B736-C2E3-1E629C725569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0D0A38-4D5E-6B41-7A74-4C009A0B102E}"/>
              </a:ext>
            </a:extLst>
          </p:cNvPr>
          <p:cNvGrpSpPr/>
          <p:nvPr userDrawn="1"/>
        </p:nvGrpSpPr>
        <p:grpSpPr>
          <a:xfrm>
            <a:off x="451184" y="4262647"/>
            <a:ext cx="2457578" cy="1530344"/>
            <a:chOff x="0" y="-28575"/>
            <a:chExt cx="3276771" cy="2040459"/>
          </a:xfrm>
        </p:grpSpPr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335BCA9-845D-3C1C-61E6-EA2B82CF218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1980</a:t>
              </a:r>
            </a:p>
          </p:txBody>
        </p:sp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C400E550-EB0D-905B-3FC9-7AF480269C46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7EB83-DA75-A735-2374-55CEFCA42838}"/>
              </a:ext>
            </a:extLst>
          </p:cNvPr>
          <p:cNvGrpSpPr/>
          <p:nvPr userDrawn="1"/>
        </p:nvGrpSpPr>
        <p:grpSpPr>
          <a:xfrm>
            <a:off x="3205788" y="4262647"/>
            <a:ext cx="2457578" cy="1530344"/>
            <a:chOff x="0" y="-28575"/>
            <a:chExt cx="3276771" cy="2040459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158044-E681-9E6D-315D-1E5F8C79133F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1981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7B544EC8-4E09-2AFA-C2AA-5438BD21479A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EBEFF6-F57A-9EE1-EE47-A067270E2CCC}"/>
              </a:ext>
            </a:extLst>
          </p:cNvPr>
          <p:cNvGrpSpPr/>
          <p:nvPr userDrawn="1"/>
        </p:nvGrpSpPr>
        <p:grpSpPr>
          <a:xfrm>
            <a:off x="5960393" y="4262647"/>
            <a:ext cx="2457578" cy="1530344"/>
            <a:chOff x="0" y="-28575"/>
            <a:chExt cx="3276771" cy="2040459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48B2A52-DA7A-B5F2-AE66-392C1711945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2011</a:t>
              </a: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FC7E0932-21D0-3824-DE1F-86208194ECDB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46210-36A3-661B-DC89-11523C75E9CB}"/>
              </a:ext>
            </a:extLst>
          </p:cNvPr>
          <p:cNvGrpSpPr/>
          <p:nvPr userDrawn="1"/>
        </p:nvGrpSpPr>
        <p:grpSpPr>
          <a:xfrm>
            <a:off x="4027070" y="2125884"/>
            <a:ext cx="946844" cy="971454"/>
            <a:chOff x="0" y="-14473"/>
            <a:chExt cx="556826" cy="571299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92C169-4533-35D8-F865-37BCE2C88335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E4E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524C1F9B-974F-33AF-76B3-AD3A8BBC2D51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5EFC44-4732-467D-0BB9-9639FFAE5D5C}"/>
              </a:ext>
            </a:extLst>
          </p:cNvPr>
          <p:cNvGrpSpPr/>
          <p:nvPr userDrawn="1"/>
        </p:nvGrpSpPr>
        <p:grpSpPr>
          <a:xfrm>
            <a:off x="6713372" y="2143158"/>
            <a:ext cx="946844" cy="971454"/>
            <a:chOff x="0" y="-14473"/>
            <a:chExt cx="556826" cy="57129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F6FA1B7-7695-A8F9-9930-6ABC935139CF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6255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7B6E1EE0-FE91-8AD9-36A2-1EC012E34EFB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FD45E0-CFEB-C722-3C2F-676614F9A6BD}"/>
              </a:ext>
            </a:extLst>
          </p:cNvPr>
          <p:cNvGrpSpPr/>
          <p:nvPr userDrawn="1"/>
        </p:nvGrpSpPr>
        <p:grpSpPr>
          <a:xfrm>
            <a:off x="9468772" y="2143158"/>
            <a:ext cx="946844" cy="971454"/>
            <a:chOff x="0" y="-14473"/>
            <a:chExt cx="556826" cy="57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49AB401-36D5-BF2E-2A63-B11D712ABE32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37647DDC-735C-32A2-CE57-A46D0AE04D54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4</a:t>
              </a:r>
            </a:p>
          </p:txBody>
        </p:sp>
      </p:grpSp>
      <p:sp>
        <p:nvSpPr>
          <p:cNvPr id="18" name="AutoShape 38">
            <a:extLst>
              <a:ext uri="{FF2B5EF4-FFF2-40B4-BE49-F238E27FC236}">
                <a16:creationId xmlns:a16="http://schemas.microsoft.com/office/drawing/2014/main" id="{5B55CC53-4B0B-1F7A-E6CF-1D807C272B88}"/>
              </a:ext>
            </a:extLst>
          </p:cNvPr>
          <p:cNvSpPr/>
          <p:nvPr userDrawn="1"/>
        </p:nvSpPr>
        <p:spPr>
          <a:xfrm>
            <a:off x="1675993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147CB15D-6D2B-85B2-EA0A-A2D72009459A}"/>
              </a:ext>
            </a:extLst>
          </p:cNvPr>
          <p:cNvSpPr/>
          <p:nvPr userDrawn="1"/>
        </p:nvSpPr>
        <p:spPr>
          <a:xfrm>
            <a:off x="4500492" y="3097338"/>
            <a:ext cx="0" cy="810133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40">
            <a:extLst>
              <a:ext uri="{FF2B5EF4-FFF2-40B4-BE49-F238E27FC236}">
                <a16:creationId xmlns:a16="http://schemas.microsoft.com/office/drawing/2014/main" id="{26EBBA74-6593-863D-9566-7B0F68E2231E}"/>
              </a:ext>
            </a:extLst>
          </p:cNvPr>
          <p:cNvSpPr/>
          <p:nvPr userDrawn="1"/>
        </p:nvSpPr>
        <p:spPr>
          <a:xfrm>
            <a:off x="71867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41">
            <a:extLst>
              <a:ext uri="{FF2B5EF4-FFF2-40B4-BE49-F238E27FC236}">
                <a16:creationId xmlns:a16="http://schemas.microsoft.com/office/drawing/2014/main" id="{87B37EE5-3174-E60F-EB7F-28EAFCDB990B}"/>
              </a:ext>
            </a:extLst>
          </p:cNvPr>
          <p:cNvSpPr/>
          <p:nvPr userDrawn="1"/>
        </p:nvSpPr>
        <p:spPr>
          <a:xfrm>
            <a:off x="99421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44">
            <a:extLst>
              <a:ext uri="{FF2B5EF4-FFF2-40B4-BE49-F238E27FC236}">
                <a16:creationId xmlns:a16="http://schemas.microsoft.com/office/drawing/2014/main" id="{B173C173-30D8-B176-A7DA-38D50DA243C0}"/>
              </a:ext>
            </a:extLst>
          </p:cNvPr>
          <p:cNvSpPr/>
          <p:nvPr userDrawn="1"/>
        </p:nvSpPr>
        <p:spPr>
          <a:xfrm flipV="1">
            <a:off x="2149415" y="2623916"/>
            <a:ext cx="1877655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45">
            <a:extLst>
              <a:ext uri="{FF2B5EF4-FFF2-40B4-BE49-F238E27FC236}">
                <a16:creationId xmlns:a16="http://schemas.microsoft.com/office/drawing/2014/main" id="{683F0CD1-60C5-B175-6B13-F66EA667B0AD}"/>
              </a:ext>
            </a:extLst>
          </p:cNvPr>
          <p:cNvSpPr/>
          <p:nvPr userDrawn="1"/>
        </p:nvSpPr>
        <p:spPr>
          <a:xfrm>
            <a:off x="4973915" y="2623916"/>
            <a:ext cx="1739457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F428AD71-9119-EE29-B4D0-C39466C2D067}"/>
              </a:ext>
            </a:extLst>
          </p:cNvPr>
          <p:cNvSpPr/>
          <p:nvPr userDrawn="1"/>
        </p:nvSpPr>
        <p:spPr>
          <a:xfrm>
            <a:off x="7660216" y="2641190"/>
            <a:ext cx="1808556" cy="0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CCF2BEBE-A490-1991-D680-2F8AB220AA36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43575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Gotham Book" panose="0200060404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5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9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E393-2E9A-9983-45BF-77A29608D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07995"/>
            <a:ext cx="3932237" cy="1172679"/>
          </a:xfrm>
        </p:spPr>
        <p:txBody>
          <a:bodyPr anchor="t"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Header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9BD8-2B4F-4CEE-835C-9912AAF944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Insert Photo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56C8-AD1A-1557-910F-A40E7EAEA0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Insert Summary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C0C9-500F-FE4D-7059-F06EBA9D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0438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80E6-F565-AA43-351F-D8B3E480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B0E02BF-5253-F5F0-3096-EB50B28B984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224152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310247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64" y="753395"/>
            <a:ext cx="9144000" cy="72247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264" y="1660944"/>
            <a:ext cx="9144000" cy="62964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914213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231554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ransition Slide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D68B-9D38-D375-0E0B-E71B45CF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0"/>
            <a:ext cx="10515600" cy="285273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Separator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A4C5-586B-46CD-F4E4-A44AA15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2185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D76-F7F7-44F4-0928-16192EA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DF8654-4A5A-410F-70D5-0CB8DD014DC0}"/>
              </a:ext>
            </a:extLst>
          </p:cNvPr>
          <p:cNvSpPr/>
          <p:nvPr userDrawn="1"/>
        </p:nvSpPr>
        <p:spPr>
          <a:xfrm>
            <a:off x="418641" y="2002631"/>
            <a:ext cx="234787" cy="2852737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538788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Content Slid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E64-907E-2DFA-F136-C1E5CDC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894C-98E2-34B4-5B80-C191EDBE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F8B9-305F-D62C-1E11-AD8FA8B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4DC9-7F3E-7532-D80E-54314305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589295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F5E3-F3CF-1106-B32E-82CAC70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0033CA9-4BE9-FDD0-037D-C73A3E682E1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762649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53701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A39AC746-0F8C-8731-3C35-4469604CC322}"/>
              </a:ext>
            </a:extLst>
          </p:cNvPr>
          <p:cNvGrpSpPr/>
          <p:nvPr userDrawn="1"/>
        </p:nvGrpSpPr>
        <p:grpSpPr>
          <a:xfrm>
            <a:off x="0" y="0"/>
            <a:ext cx="8021053" cy="6858000"/>
            <a:chOff x="0" y="0"/>
            <a:chExt cx="3694747" cy="270933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7BE17A93-7FBF-2E2F-8B58-82E731C41C76}"/>
                </a:ext>
              </a:extLst>
            </p:cNvPr>
            <p:cNvSpPr/>
            <p:nvPr/>
          </p:nvSpPr>
          <p:spPr>
            <a:xfrm>
              <a:off x="0" y="0"/>
              <a:ext cx="3694747" cy="2709333"/>
            </a:xfrm>
            <a:custGeom>
              <a:avLst/>
              <a:gdLst/>
              <a:ahLst/>
              <a:cxnLst/>
              <a:rect l="l" t="t" r="r" b="b"/>
              <a:pathLst>
                <a:path w="3694747" h="2709333">
                  <a:moveTo>
                    <a:pt x="0" y="0"/>
                  </a:moveTo>
                  <a:lnTo>
                    <a:pt x="3694747" y="0"/>
                  </a:lnTo>
                  <a:lnTo>
                    <a:pt x="369474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C60A4">
                    <a:alpha val="100000"/>
                  </a:srgbClr>
                </a:gs>
                <a:gs pos="100000">
                  <a:srgbClr val="06255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JM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4F536023-7B7E-5E02-7BDB-8029957D9838}"/>
                </a:ext>
              </a:extLst>
            </p:cNvPr>
            <p:cNvSpPr txBox="1"/>
            <p:nvPr/>
          </p:nvSpPr>
          <p:spPr>
            <a:xfrm>
              <a:off x="0" y="-38100"/>
              <a:ext cx="369474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10C61-80E7-54DA-AE45-FAD0695662ED}"/>
              </a:ext>
            </a:extLst>
          </p:cNvPr>
          <p:cNvSpPr/>
          <p:nvPr userDrawn="1"/>
        </p:nvSpPr>
        <p:spPr>
          <a:xfrm>
            <a:off x="5157281" y="6490721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2917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mple Samp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1C56-D50C-E00F-A566-6510789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Timeline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7EFC4-7E64-FCB0-691D-3FEA22FB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733249" cy="399264"/>
          </a:xfrm>
        </p:spPr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3FA75-D5B7-7721-506F-2C139D3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DA6D51-0096-3EF2-8EA8-65807A921332}"/>
              </a:ext>
            </a:extLst>
          </p:cNvPr>
          <p:cNvGrpSpPr/>
          <p:nvPr userDrawn="1"/>
        </p:nvGrpSpPr>
        <p:grpSpPr>
          <a:xfrm>
            <a:off x="1202571" y="2143158"/>
            <a:ext cx="946844" cy="971454"/>
            <a:chOff x="0" y="-14473"/>
            <a:chExt cx="556826" cy="571299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AAF412B-C6FB-58D8-CD2A-88EAEA032B0D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3ADC7E24-88FE-D365-A98D-C65B6F5E92A0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868748-0B27-5CDD-AE5C-4800B2233183}"/>
              </a:ext>
            </a:extLst>
          </p:cNvPr>
          <p:cNvGrpSpPr/>
          <p:nvPr userDrawn="1"/>
        </p:nvGrpSpPr>
        <p:grpSpPr>
          <a:xfrm>
            <a:off x="8714997" y="4262647"/>
            <a:ext cx="2457578" cy="1530344"/>
            <a:chOff x="0" y="-28575"/>
            <a:chExt cx="3276771" cy="2040459"/>
          </a:xfrm>
        </p:grpSpPr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4A229842-87A8-33EA-DE8E-2C0A9FB39D2E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2015</a:t>
              </a:r>
            </a:p>
          </p:txBody>
        </p: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50297581-D24E-B736-C2E3-1E629C725569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0D0A38-4D5E-6B41-7A74-4C009A0B102E}"/>
              </a:ext>
            </a:extLst>
          </p:cNvPr>
          <p:cNvGrpSpPr/>
          <p:nvPr userDrawn="1"/>
        </p:nvGrpSpPr>
        <p:grpSpPr>
          <a:xfrm>
            <a:off x="451184" y="4262647"/>
            <a:ext cx="2457578" cy="1530344"/>
            <a:chOff x="0" y="-28575"/>
            <a:chExt cx="3276771" cy="2040459"/>
          </a:xfrm>
        </p:grpSpPr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335BCA9-845D-3C1C-61E6-EA2B82CF218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1980</a:t>
              </a:r>
            </a:p>
          </p:txBody>
        </p:sp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C400E550-EB0D-905B-3FC9-7AF480269C46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7EB83-DA75-A735-2374-55CEFCA42838}"/>
              </a:ext>
            </a:extLst>
          </p:cNvPr>
          <p:cNvGrpSpPr/>
          <p:nvPr userDrawn="1"/>
        </p:nvGrpSpPr>
        <p:grpSpPr>
          <a:xfrm>
            <a:off x="3205788" y="4262647"/>
            <a:ext cx="2457578" cy="1530344"/>
            <a:chOff x="0" y="-28575"/>
            <a:chExt cx="3276771" cy="2040459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158044-E681-9E6D-315D-1E5F8C79133F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1981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7B544EC8-4E09-2AFA-C2AA-5438BD21479A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,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EBEFF6-F57A-9EE1-EE47-A067270E2CCC}"/>
              </a:ext>
            </a:extLst>
          </p:cNvPr>
          <p:cNvGrpSpPr/>
          <p:nvPr userDrawn="1"/>
        </p:nvGrpSpPr>
        <p:grpSpPr>
          <a:xfrm>
            <a:off x="5960393" y="4262647"/>
            <a:ext cx="2457578" cy="1530344"/>
            <a:chOff x="0" y="-28575"/>
            <a:chExt cx="3276771" cy="2040459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48B2A52-DA7A-B5F2-AE66-392C1711945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2011</a:t>
              </a: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FC7E0932-21D0-3824-DE1F-86208194ECDB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313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46210-36A3-661B-DC89-11523C75E9CB}"/>
              </a:ext>
            </a:extLst>
          </p:cNvPr>
          <p:cNvGrpSpPr/>
          <p:nvPr userDrawn="1"/>
        </p:nvGrpSpPr>
        <p:grpSpPr>
          <a:xfrm>
            <a:off x="4027070" y="2125884"/>
            <a:ext cx="946844" cy="971454"/>
            <a:chOff x="0" y="-14473"/>
            <a:chExt cx="556826" cy="571299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92C169-4533-35D8-F865-37BCE2C88335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E4E95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524C1F9B-974F-33AF-76B3-AD3A8BBC2D51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5EFC44-4732-467D-0BB9-9639FFAE5D5C}"/>
              </a:ext>
            </a:extLst>
          </p:cNvPr>
          <p:cNvGrpSpPr/>
          <p:nvPr userDrawn="1"/>
        </p:nvGrpSpPr>
        <p:grpSpPr>
          <a:xfrm>
            <a:off x="6713372" y="2143158"/>
            <a:ext cx="946844" cy="971454"/>
            <a:chOff x="0" y="-14473"/>
            <a:chExt cx="556826" cy="57129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F6FA1B7-7695-A8F9-9930-6ABC935139CF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62552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7B6E1EE0-FE91-8AD9-36A2-1EC012E34EFB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FD45E0-CFEB-C722-3C2F-676614F9A6BD}"/>
              </a:ext>
            </a:extLst>
          </p:cNvPr>
          <p:cNvGrpSpPr/>
          <p:nvPr userDrawn="1"/>
        </p:nvGrpSpPr>
        <p:grpSpPr>
          <a:xfrm>
            <a:off x="9468772" y="2143158"/>
            <a:ext cx="946844" cy="971454"/>
            <a:chOff x="0" y="-14473"/>
            <a:chExt cx="556826" cy="57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49AB401-36D5-BF2E-2A63-B11D712ABE32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37647DDC-735C-32A2-CE57-A46D0AE04D54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" panose="020B0604020202020204" pitchFamily="34" charset="0"/>
                  <a:ea typeface="Gotham Bold"/>
                  <a:cs typeface="Arial" panose="020B0604020202020204" pitchFamily="34" charset="0"/>
                  <a:sym typeface="Gotham Bold"/>
                </a:rPr>
                <a:t>4</a:t>
              </a:r>
            </a:p>
          </p:txBody>
        </p:sp>
      </p:grpSp>
      <p:sp>
        <p:nvSpPr>
          <p:cNvPr id="18" name="AutoShape 38">
            <a:extLst>
              <a:ext uri="{FF2B5EF4-FFF2-40B4-BE49-F238E27FC236}">
                <a16:creationId xmlns:a16="http://schemas.microsoft.com/office/drawing/2014/main" id="{5B55CC53-4B0B-1F7A-E6CF-1D807C272B88}"/>
              </a:ext>
            </a:extLst>
          </p:cNvPr>
          <p:cNvSpPr/>
          <p:nvPr userDrawn="1"/>
        </p:nvSpPr>
        <p:spPr>
          <a:xfrm>
            <a:off x="1675993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147CB15D-6D2B-85B2-EA0A-A2D72009459A}"/>
              </a:ext>
            </a:extLst>
          </p:cNvPr>
          <p:cNvSpPr/>
          <p:nvPr userDrawn="1"/>
        </p:nvSpPr>
        <p:spPr>
          <a:xfrm>
            <a:off x="4500492" y="3097338"/>
            <a:ext cx="0" cy="810133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40">
            <a:extLst>
              <a:ext uri="{FF2B5EF4-FFF2-40B4-BE49-F238E27FC236}">
                <a16:creationId xmlns:a16="http://schemas.microsoft.com/office/drawing/2014/main" id="{26EBBA74-6593-863D-9566-7B0F68E2231E}"/>
              </a:ext>
            </a:extLst>
          </p:cNvPr>
          <p:cNvSpPr/>
          <p:nvPr userDrawn="1"/>
        </p:nvSpPr>
        <p:spPr>
          <a:xfrm>
            <a:off x="71867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41">
            <a:extLst>
              <a:ext uri="{FF2B5EF4-FFF2-40B4-BE49-F238E27FC236}">
                <a16:creationId xmlns:a16="http://schemas.microsoft.com/office/drawing/2014/main" id="{87B37EE5-3174-E60F-EB7F-28EAFCDB990B}"/>
              </a:ext>
            </a:extLst>
          </p:cNvPr>
          <p:cNvSpPr/>
          <p:nvPr userDrawn="1"/>
        </p:nvSpPr>
        <p:spPr>
          <a:xfrm>
            <a:off x="99421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44">
            <a:extLst>
              <a:ext uri="{FF2B5EF4-FFF2-40B4-BE49-F238E27FC236}">
                <a16:creationId xmlns:a16="http://schemas.microsoft.com/office/drawing/2014/main" id="{B173C173-30D8-B176-A7DA-38D50DA243C0}"/>
              </a:ext>
            </a:extLst>
          </p:cNvPr>
          <p:cNvSpPr/>
          <p:nvPr userDrawn="1"/>
        </p:nvSpPr>
        <p:spPr>
          <a:xfrm flipV="1">
            <a:off x="2149415" y="2623916"/>
            <a:ext cx="1877655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45">
            <a:extLst>
              <a:ext uri="{FF2B5EF4-FFF2-40B4-BE49-F238E27FC236}">
                <a16:creationId xmlns:a16="http://schemas.microsoft.com/office/drawing/2014/main" id="{683F0CD1-60C5-B175-6B13-F66EA667B0AD}"/>
              </a:ext>
            </a:extLst>
          </p:cNvPr>
          <p:cNvSpPr/>
          <p:nvPr userDrawn="1"/>
        </p:nvSpPr>
        <p:spPr>
          <a:xfrm>
            <a:off x="4973915" y="2623916"/>
            <a:ext cx="1739457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F428AD71-9119-EE29-B4D0-C39466C2D067}"/>
              </a:ext>
            </a:extLst>
          </p:cNvPr>
          <p:cNvSpPr/>
          <p:nvPr userDrawn="1"/>
        </p:nvSpPr>
        <p:spPr>
          <a:xfrm>
            <a:off x="7660216" y="2641190"/>
            <a:ext cx="1808556" cy="0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CCF2BEBE-A490-1991-D680-2F8AB220AA36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961092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87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en-JM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63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E393-2E9A-9983-45BF-77A29608D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07995"/>
            <a:ext cx="3932237" cy="1172679"/>
          </a:xfrm>
        </p:spPr>
        <p:txBody>
          <a:bodyPr anchor="t"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Header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9BD8-2B4F-4CEE-835C-9912AAF944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Insert Photo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56C8-AD1A-1557-910F-A40E7EAEA0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Insert Summary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C0C9-500F-FE4D-7059-F06EBA9D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0438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80E6-F565-AA43-351F-D8B3E480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B0E02BF-5253-F5F0-3096-EB50B28B984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738260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B40F0A-320E-6442-A923-5A57A6A8D9C5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JM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8AD4AA-68AC-5F26-D7F6-6F73C00A5B9F}"/>
              </a:ext>
            </a:extLst>
          </p:cNvPr>
          <p:cNvSpPr/>
          <p:nvPr userDrawn="1"/>
        </p:nvSpPr>
        <p:spPr>
          <a:xfrm>
            <a:off x="5157281" y="6491422"/>
            <a:ext cx="18774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800" b="0" cap="none" spc="0">
                <a:ln w="0"/>
                <a:solidFill>
                  <a:schemeClr val="bg2"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1331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  <p:sldLayoutId id="2147483758" r:id="rId18"/>
    <p:sldLayoutId id="2147483759" r:id="rId19"/>
    <p:sldLayoutId id="2147483760" r:id="rId20"/>
    <p:sldLayoutId id="2147483761" r:id="rId21"/>
    <p:sldLayoutId id="214748376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Relationship Id="rId4" Type="http://schemas.openxmlformats.org/officeDocument/2006/relationships/oleObject" Target="file:///\\jps.net\orgshare\FinRptg2\2026\FinMod%202026\2026%20LE\09%20-%202026\Copy%20of%20Presentation%20PL%20-%20Sep%202026%20LE%20(v6).xlsx!Dashboard%20(Standalone)!R4C1:R21C10" TargetMode="External"/><Relationship Id="rId5" Type="http://schemas.openxmlformats.org/officeDocument/2006/relationships/image" Target="../media/image4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microsoft.com/office/2014/relationships/chartEx" Target="../charts/chartEx1.xml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BB541-8295-A9AD-7E1D-E1D37607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F55288F-7588-37A1-02F5-6BE9D8867811}"/>
              </a:ext>
            </a:extLst>
          </p:cNvPr>
          <p:cNvSpPr txBox="1"/>
          <p:nvPr/>
        </p:nvSpPr>
        <p:spPr>
          <a:xfrm>
            <a:off x="711812" y="753929"/>
            <a:ext cx="99248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5F5F6332-CEF7-ABFF-A2CE-9D43E2CAB19C}"/>
              </a:ext>
            </a:extLst>
          </p:cNvPr>
          <p:cNvSpPr txBox="1"/>
          <p:nvPr/>
        </p:nvSpPr>
        <p:spPr>
          <a:xfrm>
            <a:off x="186473" y="6413496"/>
            <a:ext cx="287140" cy="265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4C8AD3-AC55-4ACD-8E78-EBF7D8219C55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1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62552"/>
              </a:solidFill>
              <a:effectLst/>
              <a:uLnTx/>
              <a:uFillTx/>
              <a:latin typeface="Arial" panose="020B0604020202020204" pitchFamily="34" charset="0"/>
              <a:ea typeface="Gotham Bold"/>
              <a:cs typeface="Gotham Bold"/>
              <a:sym typeface="Gotham Bold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7AD64-0FC7-0DAA-9C8C-C2326A5DF4AE}"/>
              </a:ext>
            </a:extLst>
          </p:cNvPr>
          <p:cNvSpPr txBox="1">
            <a:spLocks/>
          </p:cNvSpPr>
          <p:nvPr/>
        </p:nvSpPr>
        <p:spPr>
          <a:xfrm>
            <a:off x="931069" y="1305834"/>
            <a:ext cx="10329862" cy="50768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360" b="1" dirty="0">
                <a:latin typeface="Arial" panose="020B0604020202020204" pitchFamily="34" charset="0"/>
                <a:cs typeface="Arial" panose="020B0604020202020204" pitchFamily="34" charset="0"/>
              </a:rPr>
              <a:t>Sales: </a:t>
            </a:r>
            <a:r>
              <a:rPr lang="en-US" sz="1360" dirty="0">
                <a:latin typeface="Arial" panose="020B0604020202020204" pitchFamily="34" charset="0"/>
                <a:cs typeface="Arial" panose="020B0604020202020204" pitchFamily="34" charset="0"/>
              </a:rPr>
              <a:t>September billed sales were 294.8 GWh, 2.5 GWh (−0.8%) below budget and 6.9 GWh (−2.3%) below prior year, as lower RT40, RT50 and RT70 demand, including Jamalco self-generation, outweighed higher Residential and RT20/SME sales.</a:t>
            </a:r>
          </a:p>
          <a:p>
            <a:pPr marL="0" indent="0" algn="just">
              <a:buNone/>
            </a:pPr>
            <a:r>
              <a:rPr lang="en-US" sz="1360" dirty="0">
                <a:latin typeface="Arial" panose="020B0604020202020204" pitchFamily="34" charset="0"/>
                <a:cs typeface="Arial" panose="020B0604020202020204" pitchFamily="34" charset="0"/>
              </a:rPr>
              <a:t>YTD sales of 2,429.0 GWh remain 35.3 GWh (+1.5%) above budget but 120.9 GWh (−4.7%) below prior year. Residential (+29.0 GWh), RT20/SME (+14.5 GWh) and RT70 (+21.2 GWh, narrowing as Jamalco moves to self-generation) remain favorable to plan, while RT40 (−15.1 GWh) and RT50 (−14.6 GWh) are below budget, with RT50 affected by lower hotel demand.</a:t>
            </a:r>
          </a:p>
          <a:p>
            <a:pPr marL="0" indent="0" algn="just">
              <a:buNone/>
            </a:pPr>
            <a:r>
              <a:rPr lang="en-US" sz="1360" b="1" dirty="0">
                <a:latin typeface="Arial" panose="020B0604020202020204" pitchFamily="34" charset="0"/>
                <a:cs typeface="Arial" panose="020B0604020202020204" pitchFamily="34" charset="0"/>
              </a:rPr>
              <a:t>Non-fuel Revenue:</a:t>
            </a:r>
            <a:r>
              <a:rPr lang="en-US" sz="1360" dirty="0">
                <a:latin typeface="Arial" panose="020B0604020202020204" pitchFamily="34" charset="0"/>
                <a:cs typeface="Arial" panose="020B0604020202020204" pitchFamily="34" charset="0"/>
              </a:rPr>
              <a:t> September non-fuel revenue was US$31.3M, US$1.2M (+3.9%) favorable to budget, supported by a favorable sales mix, with higher-yield Residential and SME volumes above plan despite total sales 0.8% below budget.</a:t>
            </a:r>
          </a:p>
          <a:p>
            <a:pPr marL="0" indent="0" algn="just">
              <a:buNone/>
            </a:pPr>
            <a:r>
              <a:rPr lang="en-US" sz="136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Full-year non-fuel revenue is forecast at US$354.0M, US$13.5M above budget, based on sales approximately 49.2 GWh (+1.5%) above plan, led by Residential and SME demand. </a:t>
            </a:r>
          </a:p>
          <a:p>
            <a:pPr marL="0" indent="0" algn="just">
              <a:buNone/>
            </a:pPr>
            <a:r>
              <a:rPr lang="en-US" sz="1360" b="1" dirty="0">
                <a:latin typeface="Arial" panose="020B0604020202020204" pitchFamily="34" charset="0"/>
                <a:cs typeface="Arial" panose="020B0604020202020204" pitchFamily="34" charset="0"/>
              </a:rPr>
              <a:t>EBITDA:</a:t>
            </a:r>
            <a:r>
              <a:rPr lang="en-US" sz="1360" dirty="0">
                <a:latin typeface="Arial" panose="020B0604020202020204" pitchFamily="34" charset="0"/>
                <a:cs typeface="Arial" panose="020B0604020202020204" pitchFamily="34" charset="0"/>
              </a:rPr>
              <a:t> September EBITDA was US$25.7M, exceeding budget by US$4.5M (+21.5%), driven by the reversal of post-Hurricane Melissa heat rate losses following approval of the force majeure application, along with favorable non-fuel and other operating revenue, partially offset by higher O&amp;M expenses.</a:t>
            </a:r>
          </a:p>
          <a:p>
            <a:pPr marL="0" indent="0" algn="just">
              <a:buNone/>
            </a:pPr>
            <a:r>
              <a:rPr lang="en-US" sz="1360" dirty="0">
                <a:solidFill>
                  <a:srgbClr val="FF0000"/>
                </a:solidFill>
                <a:latin typeface="Arial" panose="020B0604020202020204" pitchFamily="34" charset="0"/>
                <a:cs typeface="Arial"/>
              </a:rPr>
              <a:t>Full-year EBITDA is projected at US$244.2M, US$1.3M (+0.5%) favorable to budget, with higher non-fuel revenue and Q4 heat-rate and Guaranteed Standards recoveries expected to offset O&amp;M pressures from parametric insurance, lower </a:t>
            </a:r>
            <a:r>
              <a:rPr lang="en-US" sz="1360" dirty="0" err="1">
                <a:solidFill>
                  <a:srgbClr val="FF0000"/>
                </a:solidFill>
                <a:latin typeface="Arial" panose="020B0604020202020204" pitchFamily="34" charset="0"/>
                <a:cs typeface="Arial"/>
              </a:rPr>
              <a:t>labour</a:t>
            </a:r>
            <a:r>
              <a:rPr lang="en-US" sz="1360" dirty="0">
                <a:solidFill>
                  <a:srgbClr val="FF0000"/>
                </a:solidFill>
                <a:latin typeface="Arial" panose="020B0604020202020204" pitchFamily="34" charset="0"/>
                <a:cs typeface="Arial"/>
              </a:rPr>
              <a:t> capitalization and FX impacts.</a:t>
            </a:r>
          </a:p>
          <a:p>
            <a:pPr marL="0" indent="0" algn="just">
              <a:buNone/>
            </a:pPr>
            <a:r>
              <a:rPr lang="en-US" sz="1360" b="1" dirty="0">
                <a:latin typeface="Arial" panose="020B0604020202020204" pitchFamily="34" charset="0"/>
                <a:cs typeface="Arial" panose="020B0604020202020204" pitchFamily="34" charset="0"/>
              </a:rPr>
              <a:t>Net Income:</a:t>
            </a:r>
            <a:r>
              <a:rPr lang="en-US" sz="1360" dirty="0">
                <a:latin typeface="Arial" panose="020B0604020202020204" pitchFamily="34" charset="0"/>
                <a:cs typeface="Arial" panose="020B0604020202020204" pitchFamily="34" charset="0"/>
              </a:rPr>
              <a:t> September net income was US$9.1M, exceeding budget by US$5.4M, driven by higher EBITDA (+US$4.5M), lower depreciation (+US$2.0M), lower net financing costs (+US$1.2M), and higher other income (+US$0.6M), partially offset by higher taxation (−US$3.0M).</a:t>
            </a:r>
          </a:p>
          <a:p>
            <a:pPr marL="0" indent="0" algn="just">
              <a:buNone/>
            </a:pPr>
            <a:r>
              <a:rPr lang="en-US" sz="1360" dirty="0">
                <a:solidFill>
                  <a:srgbClr val="FF0000"/>
                </a:solidFill>
                <a:latin typeface="Arial" panose="020B0604020202020204" pitchFamily="34" charset="0"/>
                <a:cs typeface="Arial"/>
              </a:rPr>
              <a:t>Full-year net income is projected to be $52.3M, $7.1M above budget, driven primarily by higher Other Income from increased Hurricane Melissa insurance proceeds (+$6.2M), lower depreciation (+$4.8M), favorable EBITDA (+$1.3M) and lower financing costs (+$0.8M), partly offset by higher taxation (−$6.0M).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5C16F6-49F2-4498-B0DF-0B163C8D3927}"/>
              </a:ext>
            </a:extLst>
          </p:cNvPr>
          <p:cNvSpPr txBox="1"/>
          <p:nvPr/>
        </p:nvSpPr>
        <p:spPr>
          <a:xfrm>
            <a:off x="3742441" y="471340"/>
            <a:ext cx="159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FF1000"/>
                </a:highlight>
              </a:rPr>
              <a:t>To be updated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DFA50DB-8A64-4A12-9F51-55D41B84AFDC}"/>
              </a:ext>
            </a:extLst>
          </p:cNvPr>
          <p:cNvSpPr txBox="1"/>
          <p:nvPr/>
        </p:nvSpPr>
        <p:spPr>
          <a:xfrm>
            <a:off x="469231" y="6411345"/>
            <a:ext cx="6621379" cy="266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Jamaica Public Service | </a:t>
            </a:r>
            <a:r>
              <a:rPr lang="en-US" sz="900" b="1" dirty="0">
                <a:solidFill>
                  <a:srgbClr val="062552"/>
                </a:solidFill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Sept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 2026 Corporate Performance Report</a:t>
            </a:r>
          </a:p>
        </p:txBody>
      </p:sp>
    </p:spTree>
    <p:extLst>
      <p:ext uri="{BB962C8B-B14F-4D97-AF65-F5344CB8AC3E}">
        <p14:creationId xmlns:p14="http://schemas.microsoft.com/office/powerpoint/2010/main" val="239298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E1DD4-7A4E-7A8A-1B45-508391DD3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73FC019-55FC-4A4A-46A5-5C76C0F24759}"/>
              </a:ext>
            </a:extLst>
          </p:cNvPr>
          <p:cNvSpPr txBox="1"/>
          <p:nvPr/>
        </p:nvSpPr>
        <p:spPr>
          <a:xfrm>
            <a:off x="706165" y="760077"/>
            <a:ext cx="99248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Financial Overview (JPS Standalone) 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A36662A1-6BE9-069D-CF03-B9ECA1A5030D}"/>
              </a:ext>
            </a:extLst>
          </p:cNvPr>
          <p:cNvSpPr txBox="1"/>
          <p:nvPr/>
        </p:nvSpPr>
        <p:spPr>
          <a:xfrm>
            <a:off x="186473" y="6413496"/>
            <a:ext cx="287140" cy="265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4C8AD3-AC55-4ACD-8E78-EBF7D8219C55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pPr marL="0" marR="0" lvl="0" indent="0" algn="ctr" defTabSz="914400" rtl="0" eaLnBrk="1" fontAlgn="auto" latinLnBrk="0" hangingPunct="1">
                <a:lnSpc>
                  <a:spcPts val="25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62552"/>
              </a:solidFill>
              <a:effectLst/>
              <a:uLnTx/>
              <a:uFillTx/>
              <a:latin typeface="Arial" panose="020B0604020202020204" pitchFamily="34" charset="0"/>
              <a:ea typeface="Gotham Bold"/>
              <a:cs typeface="Gotham Bold"/>
              <a:sym typeface="Gotham Bold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BAA7BB-4C61-CF1D-46AD-94C501EBD834}"/>
              </a:ext>
            </a:extLst>
          </p:cNvPr>
          <p:cNvSpPr txBox="1">
            <a:spLocks/>
          </p:cNvSpPr>
          <p:nvPr/>
        </p:nvSpPr>
        <p:spPr>
          <a:xfrm>
            <a:off x="672168" y="4286885"/>
            <a:ext cx="10847660" cy="2245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Net income YTD was US$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44.9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M, US$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10.7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 above budget, driven primarily by: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Lower depreciation of US$9.6M,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reflecting project delays, lower capital expenditure and the timing of amortization of Hurricane Melissa-related expenditure.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other income of US$6.9M, mainly from Hurricane Melissa insurance settlement proceeds, inventory sales and rental income from transmitter sites.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Lower net financing costs of US$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1.6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M, primarily from favorable FX movements.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Partly offset by higher income taxes of US$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7.3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M, largely due to insurance proceeds above budget.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Full-year net income is projected at US$52.3M, US$7.1M above budget, supported by favorable insurance proceeds and lower depreciation, partly offset by higher income taxes.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014C6B1-7F03-4F62-8511-7B028F4724F7}"/>
              </a:ext>
            </a:extLst>
          </p:cNvPr>
          <p:cNvSpPr txBox="1"/>
          <p:nvPr/>
        </p:nvSpPr>
        <p:spPr>
          <a:xfrm>
            <a:off x="469231" y="6411345"/>
            <a:ext cx="6621379" cy="266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Jamaica Public Service | </a:t>
            </a:r>
            <a:r>
              <a:rPr lang="en-US" sz="900" b="1" dirty="0">
                <a:solidFill>
                  <a:srgbClr val="062552"/>
                </a:solidFill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Sept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 2026 Corporate Performance Report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1107EB2-291D-4C5F-B75B-110D7AF4D4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133686"/>
              </p:ext>
            </p:extLst>
          </p:nvPr>
        </p:nvGraphicFramePr>
        <p:xfrm>
          <a:off x="706165" y="1319462"/>
          <a:ext cx="11275303" cy="2931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Worksheet" r:id="rId4" imgW="13540775" imgH="2781434" progId="Excel.Sheet.12">
                  <p:link updateAutomatic="1"/>
                </p:oleObj>
              </mc:Choice>
              <mc:Fallback>
                <p:oleObj name="Worksheet" r:id="rId4" imgW="13540775" imgH="2781434" progId="Excel.Sheet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1107EB2-291D-4C5F-B75B-110D7AF4D4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6165" y="1319462"/>
                        <a:ext cx="11275303" cy="29312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6271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3">
            <a:extLst>
              <a:ext uri="{FF2B5EF4-FFF2-40B4-BE49-F238E27FC236}">
                <a16:creationId xmlns:a16="http://schemas.microsoft.com/office/drawing/2014/main" id="{3A43FF9B-0C44-22F7-6AD7-87146610F7D8}"/>
              </a:ext>
            </a:extLst>
          </p:cNvPr>
          <p:cNvSpPr/>
          <p:nvPr/>
        </p:nvSpPr>
        <p:spPr>
          <a:xfrm>
            <a:off x="815243" y="1079336"/>
            <a:ext cx="11124341" cy="2795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September sales below plan as RT40, RT50 and RT70 demand fell; YTD remains above budget.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9C9A7084-1A05-33CB-67F6-6EACF8D0C94C}"/>
              </a:ext>
            </a:extLst>
          </p:cNvPr>
          <p:cNvSpPr/>
          <p:nvPr/>
        </p:nvSpPr>
        <p:spPr>
          <a:xfrm>
            <a:off x="809625" y="1423085"/>
            <a:ext cx="11124341" cy="364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Residential and SME gains partly offset lower commercial sales, with RT40, RT50 and RT70 driving the monthly variance.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458075-8203-9400-F2D2-341A69BAAA24}"/>
              </a:ext>
            </a:extLst>
          </p:cNvPr>
          <p:cNvSpPr txBox="1"/>
          <p:nvPr/>
        </p:nvSpPr>
        <p:spPr>
          <a:xfrm>
            <a:off x="711812" y="493325"/>
            <a:ext cx="99248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Sales Performance – September 2026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3519D6-4E83-45B3-319F-E518327B8BBA}"/>
              </a:ext>
            </a:extLst>
          </p:cNvPr>
          <p:cNvSpPr>
            <a:spLocks noGrp="1"/>
          </p:cNvSpPr>
          <p:nvPr/>
        </p:nvSpPr>
        <p:spPr>
          <a:xfrm>
            <a:off x="255552" y="2097597"/>
            <a:ext cx="2717471" cy="1163855"/>
          </a:xfrm>
          <a:prstGeom prst="rect">
            <a:avLst/>
          </a:prstGeom>
          <a:solidFill>
            <a:schemeClr val="bg1"/>
          </a:solidFill>
          <a:ln w="11430">
            <a:solidFill>
              <a:srgbClr val="D9E1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5B8453-A8EC-3AE8-FB77-C5F075073D0B}"/>
              </a:ext>
            </a:extLst>
          </p:cNvPr>
          <p:cNvSpPr>
            <a:spLocks noGrp="1"/>
          </p:cNvSpPr>
          <p:nvPr/>
        </p:nvSpPr>
        <p:spPr>
          <a:xfrm>
            <a:off x="312702" y="2122549"/>
            <a:ext cx="2095500" cy="15526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66788A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FULL MONTH BILLED SALES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7E05B6-14DF-1287-900D-61C2D5737BA5}"/>
              </a:ext>
            </a:extLst>
          </p:cNvPr>
          <p:cNvSpPr>
            <a:spLocks noGrp="1"/>
          </p:cNvSpPr>
          <p:nvPr/>
        </p:nvSpPr>
        <p:spPr>
          <a:xfrm>
            <a:off x="312702" y="2315909"/>
            <a:ext cx="2095500" cy="3429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lvl="0">
              <a:defRPr/>
            </a:pPr>
            <a:r>
              <a:rPr lang="en-JM" sz="2250" b="1" dirty="0">
                <a:latin typeface="Arial" panose="020B0604020202020204" pitchFamily="34" charset="0"/>
                <a:cs typeface="Arial" panose="020B0604020202020204" pitchFamily="34" charset="0"/>
              </a:rPr>
              <a:t>294.8 GWh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034727-810D-1B99-5007-8ECB764E2B43}"/>
              </a:ext>
            </a:extLst>
          </p:cNvPr>
          <p:cNvSpPr>
            <a:spLocks noGrp="1"/>
          </p:cNvSpPr>
          <p:nvPr/>
        </p:nvSpPr>
        <p:spPr>
          <a:xfrm>
            <a:off x="312702" y="2773011"/>
            <a:ext cx="1905000" cy="1714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M" sz="92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−2.5 GWh vs Budget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F3E2F8C-A951-E287-B8DD-24D170F17C0B}"/>
              </a:ext>
            </a:extLst>
          </p:cNvPr>
          <p:cNvSpPr>
            <a:spLocks noGrp="1"/>
          </p:cNvSpPr>
          <p:nvPr/>
        </p:nvSpPr>
        <p:spPr>
          <a:xfrm>
            <a:off x="2217702" y="2734911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0E4E95">
              <a:alpha val="10000"/>
            </a:srgbClr>
          </a:solidFill>
          <a:ln w="7620">
            <a:solidFill>
              <a:srgbClr val="0E4E95"/>
            </a:solidFill>
            <a:prstDash val="solid"/>
          </a:ln>
        </p:spPr>
        <p:txBody>
          <a:bodyPr lIns="38100" tIns="19050" rIns="38100" bIns="1905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M" sz="975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−0.8%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F79A28-41CB-2A3B-E073-09536B81A7A8}"/>
              </a:ext>
            </a:extLst>
          </p:cNvPr>
          <p:cNvSpPr>
            <a:spLocks noGrp="1"/>
          </p:cNvSpPr>
          <p:nvPr/>
        </p:nvSpPr>
        <p:spPr>
          <a:xfrm>
            <a:off x="312702" y="3020661"/>
            <a:ext cx="1905000" cy="1714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−6.9 GWh vs September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3F4B252-C690-E94F-7931-6C3AB650D54B}"/>
              </a:ext>
            </a:extLst>
          </p:cNvPr>
          <p:cNvSpPr>
            <a:spLocks noGrp="1"/>
          </p:cNvSpPr>
          <p:nvPr/>
        </p:nvSpPr>
        <p:spPr>
          <a:xfrm>
            <a:off x="2217702" y="2982561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0E4E95">
              <a:alpha val="10000"/>
            </a:srgbClr>
          </a:solidFill>
          <a:ln w="7620">
            <a:solidFill>
              <a:srgbClr val="0E4E95"/>
            </a:solidFill>
            <a:prstDash val="solid"/>
          </a:ln>
        </p:spPr>
        <p:txBody>
          <a:bodyPr lIns="38100" tIns="19050" rIns="38100" bIns="1905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−2.3%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C54FE6-6032-AF3D-ADD6-4B2A7090BEE4}"/>
              </a:ext>
            </a:extLst>
          </p:cNvPr>
          <p:cNvSpPr>
            <a:spLocks noGrp="1"/>
          </p:cNvSpPr>
          <p:nvPr/>
        </p:nvSpPr>
        <p:spPr>
          <a:xfrm>
            <a:off x="3029313" y="2087567"/>
            <a:ext cx="2717471" cy="1173886"/>
          </a:xfrm>
          <a:prstGeom prst="rect">
            <a:avLst/>
          </a:prstGeom>
          <a:solidFill>
            <a:schemeClr val="bg1"/>
          </a:solidFill>
          <a:ln w="11430">
            <a:solidFill>
              <a:srgbClr val="D9E1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71B85E-784C-0CF5-2774-60D44C5E26A1}"/>
              </a:ext>
            </a:extLst>
          </p:cNvPr>
          <p:cNvSpPr>
            <a:spLocks noGrp="1"/>
          </p:cNvSpPr>
          <p:nvPr/>
        </p:nvSpPr>
        <p:spPr>
          <a:xfrm>
            <a:off x="3067413" y="2135103"/>
            <a:ext cx="1714500" cy="1714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66788A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COMMERCIAL SALES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F53770-0E08-F031-6F68-FD61596FD762}"/>
              </a:ext>
            </a:extLst>
          </p:cNvPr>
          <p:cNvSpPr>
            <a:spLocks noGrp="1"/>
          </p:cNvSpPr>
          <p:nvPr/>
        </p:nvSpPr>
        <p:spPr>
          <a:xfrm>
            <a:off x="3067413" y="2328463"/>
            <a:ext cx="2095500" cy="3429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M" sz="225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119.6 GWh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C1D9BD-020C-424E-64B7-19D8A98FA87B}"/>
              </a:ext>
            </a:extLst>
          </p:cNvPr>
          <p:cNvSpPr>
            <a:spLocks noGrp="1"/>
          </p:cNvSpPr>
          <p:nvPr/>
        </p:nvSpPr>
        <p:spPr>
          <a:xfrm>
            <a:off x="3067413" y="2785565"/>
            <a:ext cx="1905000" cy="1714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M" sz="92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−15.2 GWh vs Budget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4699F16-ED5E-2CFE-F570-35E9CE6B453C}"/>
              </a:ext>
            </a:extLst>
          </p:cNvPr>
          <p:cNvSpPr>
            <a:spLocks noGrp="1"/>
          </p:cNvSpPr>
          <p:nvPr/>
        </p:nvSpPr>
        <p:spPr>
          <a:xfrm>
            <a:off x="4972413" y="2747465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0E4E95">
              <a:alpha val="10000"/>
            </a:srgbClr>
          </a:solidFill>
          <a:ln w="7620">
            <a:solidFill>
              <a:srgbClr val="0E4E95"/>
            </a:solidFill>
            <a:prstDash val="solid"/>
          </a:ln>
        </p:spPr>
        <p:txBody>
          <a:bodyPr lIns="38100" tIns="19050" rIns="38100" bIns="1905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M" sz="975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−11.2%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99CA09E-FECC-2510-B44E-C51D3B771259}"/>
              </a:ext>
            </a:extLst>
          </p:cNvPr>
          <p:cNvSpPr>
            <a:spLocks noGrp="1"/>
          </p:cNvSpPr>
          <p:nvPr/>
        </p:nvSpPr>
        <p:spPr>
          <a:xfrm>
            <a:off x="3067413" y="3033215"/>
            <a:ext cx="1905000" cy="1714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2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−13.5 GWh vs September 2025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342B6E0-7482-BADA-D2F6-75D3620662CB}"/>
              </a:ext>
            </a:extLst>
          </p:cNvPr>
          <p:cNvSpPr>
            <a:spLocks noGrp="1"/>
          </p:cNvSpPr>
          <p:nvPr/>
        </p:nvSpPr>
        <p:spPr>
          <a:xfrm>
            <a:off x="4972413" y="2995115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0E4E95">
              <a:alpha val="10000"/>
            </a:srgbClr>
          </a:solidFill>
          <a:ln w="7620">
            <a:solidFill>
              <a:srgbClr val="0E4E95"/>
            </a:solidFill>
            <a:prstDash val="solid"/>
          </a:ln>
        </p:spPr>
        <p:txBody>
          <a:bodyPr lIns="38100" tIns="19050" rIns="38100" bIns="1905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−10.2%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67194A4-862C-F18F-F40C-A4323187BC16}"/>
              </a:ext>
            </a:extLst>
          </p:cNvPr>
          <p:cNvSpPr>
            <a:spLocks noGrp="1"/>
          </p:cNvSpPr>
          <p:nvPr/>
        </p:nvSpPr>
        <p:spPr>
          <a:xfrm>
            <a:off x="5803074" y="2093405"/>
            <a:ext cx="2714225" cy="1163855"/>
          </a:xfrm>
          <a:prstGeom prst="rect">
            <a:avLst/>
          </a:prstGeom>
          <a:solidFill>
            <a:schemeClr val="bg1"/>
          </a:solidFill>
          <a:ln w="11430">
            <a:solidFill>
              <a:srgbClr val="D9E1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4DEC6F-9F7F-CF25-0ADC-7BB4C498C08A}"/>
              </a:ext>
            </a:extLst>
          </p:cNvPr>
          <p:cNvSpPr>
            <a:spLocks noGrp="1"/>
          </p:cNvSpPr>
          <p:nvPr/>
        </p:nvSpPr>
        <p:spPr>
          <a:xfrm>
            <a:off x="5831649" y="2118357"/>
            <a:ext cx="1714500" cy="1714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66788A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YTD SALES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2E49BB-DF8D-50F6-AA2E-3753239A5767}"/>
              </a:ext>
            </a:extLst>
          </p:cNvPr>
          <p:cNvSpPr>
            <a:spLocks noGrp="1"/>
          </p:cNvSpPr>
          <p:nvPr/>
        </p:nvSpPr>
        <p:spPr>
          <a:xfrm>
            <a:off x="5831649" y="2311717"/>
            <a:ext cx="2095500" cy="34290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 lIns="91440" tIns="45720" rIns="91440" bIns="4572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M" sz="225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2,429.0 GWh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CF16FDB-235B-0E7B-4D91-25FAF75E84D6}"/>
              </a:ext>
            </a:extLst>
          </p:cNvPr>
          <p:cNvSpPr>
            <a:spLocks noGrp="1"/>
          </p:cNvSpPr>
          <p:nvPr/>
        </p:nvSpPr>
        <p:spPr>
          <a:xfrm>
            <a:off x="5831649" y="2768819"/>
            <a:ext cx="1905000" cy="1714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M" sz="92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+35.3 GWh vs Budget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C98C90F-4BB6-8F85-2216-244244DED26B}"/>
              </a:ext>
            </a:extLst>
          </p:cNvPr>
          <p:cNvSpPr>
            <a:spLocks noGrp="1"/>
          </p:cNvSpPr>
          <p:nvPr/>
        </p:nvSpPr>
        <p:spPr>
          <a:xfrm>
            <a:off x="7736649" y="2730719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009FDA">
              <a:alpha val="10000"/>
            </a:srgbClr>
          </a:solidFill>
          <a:ln w="7620">
            <a:solidFill>
              <a:srgbClr val="009FDA"/>
            </a:solidFill>
            <a:prstDash val="solid"/>
          </a:ln>
        </p:spPr>
        <p:txBody>
          <a:bodyPr lIns="38100" tIns="19050" rIns="38100" bIns="1905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M" sz="975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+1.5%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208EF96-0B52-C35C-5B75-BA9B3CCB786C}"/>
              </a:ext>
            </a:extLst>
          </p:cNvPr>
          <p:cNvSpPr>
            <a:spLocks noGrp="1"/>
          </p:cNvSpPr>
          <p:nvPr/>
        </p:nvSpPr>
        <p:spPr>
          <a:xfrm>
            <a:off x="5831649" y="3016469"/>
            <a:ext cx="1905000" cy="1714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92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−120.9 GWh vs Jan-Sep 2025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AA9AA48-CC08-A30E-D09D-09CEB1C35C37}"/>
              </a:ext>
            </a:extLst>
          </p:cNvPr>
          <p:cNvSpPr>
            <a:spLocks noGrp="1"/>
          </p:cNvSpPr>
          <p:nvPr/>
        </p:nvSpPr>
        <p:spPr>
          <a:xfrm>
            <a:off x="7736649" y="2978369"/>
            <a:ext cx="685800" cy="228600"/>
          </a:xfrm>
          <a:prstGeom prst="roundRect">
            <a:avLst>
              <a:gd name="adj" fmla="val 24000"/>
            </a:avLst>
          </a:prstGeom>
          <a:solidFill>
            <a:srgbClr val="0E4E95">
              <a:alpha val="10000"/>
            </a:srgbClr>
          </a:solidFill>
          <a:ln w="7620">
            <a:solidFill>
              <a:srgbClr val="0E4E95"/>
            </a:solidFill>
            <a:prstDash val="solid"/>
          </a:ln>
        </p:spPr>
        <p:txBody>
          <a:bodyPr lIns="38100" tIns="19050" rIns="38100" bIns="1905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−4.7%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A9B8A2E-8A0B-F8A1-5463-B1B6967BDCB5}"/>
              </a:ext>
            </a:extLst>
          </p:cNvPr>
          <p:cNvSpPr>
            <a:spLocks noGrp="1"/>
          </p:cNvSpPr>
          <p:nvPr/>
        </p:nvSpPr>
        <p:spPr>
          <a:xfrm>
            <a:off x="255125" y="3729053"/>
            <a:ext cx="3859097" cy="2362200"/>
          </a:xfrm>
          <a:prstGeom prst="rect">
            <a:avLst/>
          </a:prstGeom>
          <a:solidFill>
            <a:schemeClr val="bg1"/>
          </a:solidFill>
          <a:ln w="11430">
            <a:solidFill>
              <a:srgbClr val="D9E1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DA64D23-6430-6109-19FA-0B19F76C4E3A}"/>
              </a:ext>
            </a:extLst>
          </p:cNvPr>
          <p:cNvSpPr>
            <a:spLocks noGrp="1"/>
          </p:cNvSpPr>
          <p:nvPr/>
        </p:nvSpPr>
        <p:spPr>
          <a:xfrm>
            <a:off x="312276" y="3850507"/>
            <a:ext cx="2476500" cy="1714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SEPTEMBER SALES BRIDGE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7D49D27-3D24-1738-4560-F4A4D35DB3A3}"/>
              </a:ext>
            </a:extLst>
          </p:cNvPr>
          <p:cNvSpPr>
            <a:spLocks noGrp="1"/>
          </p:cNvSpPr>
          <p:nvPr/>
        </p:nvSpPr>
        <p:spPr>
          <a:xfrm>
            <a:off x="312276" y="4004812"/>
            <a:ext cx="1714500" cy="17145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Actual vs Budget (GWh)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71EBBAA-7366-0F23-3504-64CDD1946143}"/>
              </a:ext>
            </a:extLst>
          </p:cNvPr>
          <p:cNvSpPr>
            <a:spLocks noGrp="1"/>
          </p:cNvSpPr>
          <p:nvPr/>
        </p:nvSpPr>
        <p:spPr>
          <a:xfrm>
            <a:off x="4912903" y="3732155"/>
            <a:ext cx="3608883" cy="2362200"/>
          </a:xfrm>
          <a:prstGeom prst="rect">
            <a:avLst/>
          </a:prstGeom>
          <a:solidFill>
            <a:schemeClr val="bg1"/>
          </a:solidFill>
          <a:ln w="11430">
            <a:solidFill>
              <a:srgbClr val="D9E1F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AA5B329-EDFF-FC20-32E8-AE9C204BBB76}"/>
              </a:ext>
            </a:extLst>
          </p:cNvPr>
          <p:cNvSpPr>
            <a:spLocks noGrp="1"/>
          </p:cNvSpPr>
          <p:nvPr/>
        </p:nvSpPr>
        <p:spPr>
          <a:xfrm>
            <a:off x="4990580" y="3852042"/>
            <a:ext cx="2650000" cy="171450"/>
          </a:xfrm>
          <a:prstGeom prst="rect">
            <a:avLst/>
          </a:prstGeom>
          <a:ln w="0">
            <a:solidFill>
              <a:srgbClr val="FFFFFF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SEPTEMBER RATE-CLASS VARIANCE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73EFF3E-2797-93CC-6425-B6424BC82937}"/>
              </a:ext>
            </a:extLst>
          </p:cNvPr>
          <p:cNvSpPr>
            <a:spLocks noGrp="1"/>
          </p:cNvSpPr>
          <p:nvPr/>
        </p:nvSpPr>
        <p:spPr>
          <a:xfrm>
            <a:off x="4990580" y="4004442"/>
            <a:ext cx="1714500" cy="17145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Variance to Budget (GWh)</a:t>
            </a:r>
          </a:p>
        </p:txBody>
      </p:sp>
      <p:graphicFrame>
        <p:nvGraphicFramePr>
          <p:cNvPr id="74" name="Chart">
            <a:extLst>
              <a:ext uri="{FF2B5EF4-FFF2-40B4-BE49-F238E27FC236}">
                <a16:creationId xmlns:a16="http://schemas.microsoft.com/office/drawing/2014/main" id="{7012D18A-3718-323E-3D9A-C29910664006}"/>
              </a:ext>
            </a:extLst>
          </p:cNvPr>
          <p:cNvGraphicFramePr/>
          <p:nvPr/>
        </p:nvGraphicFramePr>
        <p:xfrm>
          <a:off x="4911661" y="4201313"/>
          <a:ext cx="3614086" cy="1893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B64A83B7-005B-2AA6-EEAA-9C33EAFD628D}"/>
              </a:ext>
            </a:extLst>
          </p:cNvPr>
          <p:cNvSpPr>
            <a:spLocks noGrp="1"/>
          </p:cNvSpPr>
          <p:nvPr/>
        </p:nvSpPr>
        <p:spPr>
          <a:xfrm>
            <a:off x="8595669" y="1775731"/>
            <a:ext cx="3366872" cy="4768719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M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SEPTEMBER PERFORMANCE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September sales were 2.5 GWh (−0.8%) below budget and 6.9 GWh (−2.3%) below prior year, as lower RT40, RT50 and RT70 demand outweighed Residential and SME gains.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Residential and SME were 12.7 GWh above budget combined, while Commercial was 15.2 GWh (−11.2%) below plan.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2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Jamalco</a:t>
            </a: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grid consumption was 0.8 GWh in September, against approximately 9.1 GWh in July, as self-generation came fully online, leaving RT70 4.2 GWh below budget and 8.6 GWh below prior year.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6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JM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HIGHLIGHTS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95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YTD sales remain 35.3 GWh (+1.5%) above budget but 120.9 GWh (−4.7%) below prior year. Eleven months after Hurricane Melissa, the prior-year gap remains, although September performance is also being shaped by Jamalco’s move to self-generation.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RT70 remains 21.2 GWh above budget YTD (25.4 GWh at August), but the shift in Jamalco demand is expected to reduce this favorable position over the remainder of the year.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2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2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RT40 and RT50 remain below plan YTD by 15.1 GWh and 14.6 GWh, respectively, with RT50 affected by lower hotel demand. September RT40 includes a billing credit of about 1.6 GWh on one account, which is a timing item.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0" name="Chart 79">
                <a:extLst>
                  <a:ext uri="{FF2B5EF4-FFF2-40B4-BE49-F238E27FC236}">
                    <a16:creationId xmlns:a16="http://schemas.microsoft.com/office/drawing/2014/main" id="{4E722ED4-9332-7FEF-A16A-0C6BDDACCED4}"/>
                  </a:ext>
                </a:extLst>
              </p:cNvPr>
              <p:cNvGraphicFramePr/>
              <p:nvPr/>
            </p:nvGraphicFramePr>
            <p:xfrm>
              <a:off x="321827" y="4257637"/>
              <a:ext cx="3716725" cy="165464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80" name="Chart 79">
                <a:extLst>
                  <a:ext uri="{FF2B5EF4-FFF2-40B4-BE49-F238E27FC236}">
                    <a16:creationId xmlns:a16="http://schemas.microsoft.com/office/drawing/2014/main" id="{4E722ED4-9332-7FEF-A16A-0C6BDDACCE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827" y="4257637"/>
                <a:ext cx="3716725" cy="1654649"/>
              </a:xfrm>
              <a:prstGeom prst="rect">
                <a:avLst/>
              </a:prstGeom>
            </p:spPr>
          </p:pic>
        </mc:Fallback>
      </mc:AlternateContent>
      <p:sp>
        <p:nvSpPr>
          <p:cNvPr id="82" name="Shape 10">
            <a:extLst>
              <a:ext uri="{FF2B5EF4-FFF2-40B4-BE49-F238E27FC236}">
                <a16:creationId xmlns:a16="http://schemas.microsoft.com/office/drawing/2014/main" id="{336AA58C-8AFA-A1F9-6158-48819D5D77CF}"/>
              </a:ext>
            </a:extLst>
          </p:cNvPr>
          <p:cNvSpPr/>
          <p:nvPr/>
        </p:nvSpPr>
        <p:spPr>
          <a:xfrm>
            <a:off x="254692" y="2092566"/>
            <a:ext cx="2717471" cy="45719"/>
          </a:xfrm>
          <a:prstGeom prst="rect">
            <a:avLst/>
          </a:prstGeom>
          <a:solidFill>
            <a:srgbClr val="0E4E95"/>
          </a:solidFill>
          <a:ln w="12700">
            <a:solidFill>
              <a:srgbClr val="0E4E9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Shape 10">
            <a:extLst>
              <a:ext uri="{FF2B5EF4-FFF2-40B4-BE49-F238E27FC236}">
                <a16:creationId xmlns:a16="http://schemas.microsoft.com/office/drawing/2014/main" id="{B83A9499-CE33-8F95-CD10-2277F30530B3}"/>
              </a:ext>
            </a:extLst>
          </p:cNvPr>
          <p:cNvSpPr/>
          <p:nvPr/>
        </p:nvSpPr>
        <p:spPr>
          <a:xfrm>
            <a:off x="254692" y="3711171"/>
            <a:ext cx="3859097" cy="53952"/>
          </a:xfrm>
          <a:prstGeom prst="rect">
            <a:avLst/>
          </a:prstGeom>
          <a:solidFill>
            <a:srgbClr val="0E4E95"/>
          </a:solidFill>
          <a:ln w="12700">
            <a:solidFill>
              <a:srgbClr val="0E4E9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Shape 10">
            <a:extLst>
              <a:ext uri="{FF2B5EF4-FFF2-40B4-BE49-F238E27FC236}">
                <a16:creationId xmlns:a16="http://schemas.microsoft.com/office/drawing/2014/main" id="{C84275EE-5FE7-5F7A-4CCB-A9E4A6F4F048}"/>
              </a:ext>
            </a:extLst>
          </p:cNvPr>
          <p:cNvSpPr/>
          <p:nvPr/>
        </p:nvSpPr>
        <p:spPr>
          <a:xfrm>
            <a:off x="4911661" y="3711171"/>
            <a:ext cx="3608884" cy="53952"/>
          </a:xfrm>
          <a:prstGeom prst="rect">
            <a:avLst/>
          </a:prstGeom>
          <a:solidFill>
            <a:srgbClr val="0E4E95"/>
          </a:solidFill>
          <a:ln w="12700">
            <a:solidFill>
              <a:srgbClr val="0E4E9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Shape 10">
            <a:extLst>
              <a:ext uri="{FF2B5EF4-FFF2-40B4-BE49-F238E27FC236}">
                <a16:creationId xmlns:a16="http://schemas.microsoft.com/office/drawing/2014/main" id="{E5675F81-45B7-1C52-EE95-E5E46090E957}"/>
              </a:ext>
            </a:extLst>
          </p:cNvPr>
          <p:cNvSpPr/>
          <p:nvPr/>
        </p:nvSpPr>
        <p:spPr>
          <a:xfrm>
            <a:off x="8595669" y="1984698"/>
            <a:ext cx="3366872" cy="45719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E318135E-3BAA-8899-136D-3ABAB8BA2126}"/>
              </a:ext>
            </a:extLst>
          </p:cNvPr>
          <p:cNvSpPr txBox="1"/>
          <p:nvPr/>
        </p:nvSpPr>
        <p:spPr>
          <a:xfrm>
            <a:off x="186473" y="6413496"/>
            <a:ext cx="287140" cy="265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4C8AD3-AC55-4ACD-8E78-EBF7D8219C55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pPr marL="0" marR="0" lvl="0" indent="0" algn="ctr" defTabSz="914400" rtl="0" eaLnBrk="1" fontAlgn="auto" latinLnBrk="0" hangingPunct="1">
                <a:lnSpc>
                  <a:spcPts val="25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62552"/>
              </a:solidFill>
              <a:effectLst/>
              <a:uLnTx/>
              <a:uFillTx/>
              <a:latin typeface="Arial" panose="020B0604020202020204" pitchFamily="34" charset="0"/>
              <a:ea typeface="Gotham Bold"/>
              <a:cs typeface="Gotham Bold"/>
              <a:sym typeface="Gotham Bold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71E7BF0A-62AA-0C19-C707-1FD2AEF51B7C}"/>
              </a:ext>
            </a:extLst>
          </p:cNvPr>
          <p:cNvSpPr/>
          <p:nvPr/>
        </p:nvSpPr>
        <p:spPr>
          <a:xfrm>
            <a:off x="8599630" y="4097402"/>
            <a:ext cx="3362911" cy="45719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0">
            <a:extLst>
              <a:ext uri="{FF2B5EF4-FFF2-40B4-BE49-F238E27FC236}">
                <a16:creationId xmlns:a16="http://schemas.microsoft.com/office/drawing/2014/main" id="{3BADD4DE-1B4B-5310-4062-1639A8499549}"/>
              </a:ext>
            </a:extLst>
          </p:cNvPr>
          <p:cNvSpPr/>
          <p:nvPr/>
        </p:nvSpPr>
        <p:spPr>
          <a:xfrm>
            <a:off x="3027690" y="2092566"/>
            <a:ext cx="2717471" cy="45719"/>
          </a:xfrm>
          <a:prstGeom prst="rect">
            <a:avLst/>
          </a:prstGeom>
          <a:solidFill>
            <a:srgbClr val="0E4E95"/>
          </a:solidFill>
          <a:ln w="12700">
            <a:solidFill>
              <a:srgbClr val="0E4E9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757961E9-AD5E-82D8-40D9-CF8C25AE2DBA}"/>
              </a:ext>
            </a:extLst>
          </p:cNvPr>
          <p:cNvSpPr/>
          <p:nvPr/>
        </p:nvSpPr>
        <p:spPr>
          <a:xfrm>
            <a:off x="5799828" y="2092566"/>
            <a:ext cx="2717471" cy="45719"/>
          </a:xfrm>
          <a:prstGeom prst="rect">
            <a:avLst/>
          </a:prstGeom>
          <a:solidFill>
            <a:srgbClr val="0E4E95"/>
          </a:solidFill>
          <a:ln w="12700">
            <a:solidFill>
              <a:srgbClr val="0E4E95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JM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8">
            <a:extLst>
              <a:ext uri="{FF2B5EF4-FFF2-40B4-BE49-F238E27FC236}">
                <a16:creationId xmlns:a16="http://schemas.microsoft.com/office/drawing/2014/main" id="{EF21CCC7-F522-4FA3-916D-73F826FF92B1}"/>
              </a:ext>
            </a:extLst>
          </p:cNvPr>
          <p:cNvSpPr txBox="1"/>
          <p:nvPr/>
        </p:nvSpPr>
        <p:spPr>
          <a:xfrm>
            <a:off x="469231" y="6411345"/>
            <a:ext cx="6621379" cy="266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Jamaica Public Service | </a:t>
            </a:r>
            <a:r>
              <a:rPr lang="en-US" sz="900" b="1" dirty="0">
                <a:solidFill>
                  <a:srgbClr val="062552"/>
                </a:solidFill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Sept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 2026 Corporate Performance Report</a:t>
            </a:r>
          </a:p>
        </p:txBody>
      </p:sp>
    </p:spTree>
    <p:extLst>
      <p:ext uri="{BB962C8B-B14F-4D97-AF65-F5344CB8AC3E}">
        <p14:creationId xmlns:p14="http://schemas.microsoft.com/office/powerpoint/2010/main" val="354287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1325E-B830-3F4A-0963-6DC13984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E8586D0-C61D-68EE-6AD1-E66D5C8E2CCA}"/>
              </a:ext>
            </a:extLst>
          </p:cNvPr>
          <p:cNvSpPr txBox="1"/>
          <p:nvPr/>
        </p:nvSpPr>
        <p:spPr>
          <a:xfrm>
            <a:off x="711812" y="752989"/>
            <a:ext cx="103524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Cash Flow </a:t>
            </a:r>
            <a:r>
              <a:rPr kumimoji="0" lang="fr-FR" sz="2800" b="1" i="0" u="none" strike="noStrike" kern="1200" cap="none" spc="0" normalizeH="0" baseline="0" noProof="0" err="1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Forecast</a:t>
            </a:r>
            <a:r>
              <a:rPr kumimoji="0" lang="fr-FR" sz="2800" b="1" i="0" u="none" strike="noStrike" kern="1200" cap="none" spc="0" normalizeH="0" baseline="0" noProof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(2/2)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062552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56477A9B-D89F-7598-15A2-4FAF0643AC88}"/>
              </a:ext>
            </a:extLst>
          </p:cNvPr>
          <p:cNvSpPr txBox="1"/>
          <p:nvPr/>
        </p:nvSpPr>
        <p:spPr>
          <a:xfrm>
            <a:off x="186473" y="6413496"/>
            <a:ext cx="287140" cy="265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4C8AD3-AC55-4ACD-8E78-EBF7D8219C55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pPr marL="0" marR="0" lvl="0" indent="0" algn="ctr" defTabSz="914400" rtl="0" eaLnBrk="1" fontAlgn="auto" latinLnBrk="0" hangingPunct="1">
                <a:lnSpc>
                  <a:spcPts val="25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62552"/>
              </a:solidFill>
              <a:effectLst/>
              <a:uLnTx/>
              <a:uFillTx/>
              <a:latin typeface="Arial" panose="020B0604020202020204" pitchFamily="34" charset="0"/>
              <a:ea typeface="Gotham Bold"/>
              <a:cs typeface="Gotham Bold"/>
              <a:sym typeface="Gotham Bold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50AFA92-BE37-FC8A-522E-45509FDF91BB}"/>
              </a:ext>
            </a:extLst>
          </p:cNvPr>
          <p:cNvSpPr txBox="1">
            <a:spLocks/>
          </p:cNvSpPr>
          <p:nvPr/>
        </p:nvSpPr>
        <p:spPr>
          <a:xfrm>
            <a:off x="886406" y="1511278"/>
            <a:ext cx="10419188" cy="44197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 algn="just">
              <a:lnSpc>
                <a:spcPct val="100000"/>
              </a:lnSpc>
              <a:spcBef>
                <a:spcPts val="0"/>
              </a:spcBef>
              <a:tabLst>
                <a:tab pos="5205413" algn="l"/>
              </a:tabLst>
            </a:pPr>
            <a:r>
              <a:rPr lang="en-US" sz="128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Unrestricted cash is forecast to close December 2026 at approximately $48.1M, supported by $9.4M in dividend income, $7.8M in GCT reimbursements, $17.3M in Hurricane Melissa insurance proceeds and $50.0M in external financing anticipated across October to December.</a:t>
            </a:r>
          </a:p>
          <a:p>
            <a:pPr marL="285750" lvl="1" indent="-285750" algn="just">
              <a:lnSpc>
                <a:spcPct val="100000"/>
              </a:lnSpc>
              <a:spcBef>
                <a:spcPts val="0"/>
              </a:spcBef>
              <a:tabLst>
                <a:tab pos="5205413" algn="l"/>
              </a:tabLst>
            </a:pP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00000"/>
              </a:lnSpc>
              <a:spcBef>
                <a:spcPts val="0"/>
              </a:spcBef>
              <a:tabLst>
                <a:tab pos="5205413" algn="l"/>
              </a:tabLst>
            </a:pPr>
            <a:r>
              <a:rPr lang="en-US" sz="1280" dirty="0">
                <a:latin typeface="Arial" panose="020B0604020202020204" pitchFamily="34" charset="0"/>
                <a:cs typeface="Arial" panose="020B0604020202020204" pitchFamily="34" charset="0"/>
              </a:rPr>
              <a:t>September receipts exceeded forecast by US$14.9M, mainly because the forecast excluded GCT. Future forecasts now include GCT.</a:t>
            </a:r>
          </a:p>
          <a:p>
            <a:pPr marL="285750" lvl="1" indent="-285750" algn="just">
              <a:lnSpc>
                <a:spcPct val="100000"/>
              </a:lnSpc>
              <a:spcBef>
                <a:spcPts val="0"/>
              </a:spcBef>
              <a:tabLst>
                <a:tab pos="5205413" algn="l"/>
              </a:tabLst>
            </a:pPr>
            <a:endParaRPr lang="en-US" sz="128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00000"/>
              </a:lnSpc>
              <a:spcBef>
                <a:spcPts val="0"/>
              </a:spcBef>
              <a:tabLst>
                <a:tab pos="5205413" algn="l"/>
              </a:tabLst>
            </a:pPr>
            <a:r>
              <a:rPr lang="en-US" sz="1280" dirty="0">
                <a:latin typeface="Arial" panose="020B0604020202020204" pitchFamily="34" charset="0"/>
                <a:cs typeface="Arial" panose="020B0604020202020204" pitchFamily="34" charset="0"/>
              </a:rPr>
              <a:t>Fuel disbursements were US$5.6M above forecast, mainly due to higher </a:t>
            </a:r>
            <a:r>
              <a:rPr lang="en-US" sz="1280" dirty="0" err="1">
                <a:latin typeface="Arial" panose="020B0604020202020204" pitchFamily="34" charset="0"/>
                <a:cs typeface="Arial" panose="020B0604020202020204" pitchFamily="34" charset="0"/>
              </a:rPr>
              <a:t>Petrojam</a:t>
            </a:r>
            <a:r>
              <a:rPr lang="en-US" sz="1280" dirty="0">
                <a:latin typeface="Arial" panose="020B0604020202020204" pitchFamily="34" charset="0"/>
                <a:cs typeface="Arial" panose="020B0604020202020204" pitchFamily="34" charset="0"/>
              </a:rPr>
              <a:t> fuel prices.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5205413" algn="l"/>
              </a:tabLst>
            </a:pP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00000"/>
              </a:lnSpc>
              <a:spcBef>
                <a:spcPts val="0"/>
              </a:spcBef>
              <a:tabLst>
                <a:tab pos="5205413" algn="l"/>
              </a:tabLst>
            </a:pPr>
            <a:r>
              <a:rPr lang="en-US" sz="1280" dirty="0">
                <a:latin typeface="Arial" panose="020B0604020202020204" pitchFamily="34" charset="0"/>
                <a:cs typeface="Arial" panose="020B0604020202020204" pitchFamily="34" charset="0"/>
              </a:rPr>
              <a:t>IPP disbursements were US$12.7M above forecast, mainly due to catch-up payment to NFE under the contractual five-day payment terms.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5205413" algn="l"/>
              </a:tabLst>
            </a:pP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00000"/>
              </a:lnSpc>
              <a:spcBef>
                <a:spcPts val="0"/>
              </a:spcBef>
              <a:tabLst>
                <a:tab pos="5205413" algn="l"/>
              </a:tabLst>
            </a:pPr>
            <a:r>
              <a:rPr lang="en-US" sz="1250" dirty="0">
                <a:latin typeface="Arial" panose="020B0604020202020204" pitchFamily="34" charset="0"/>
                <a:cs typeface="Arial"/>
              </a:rPr>
              <a:t>Payroll and related cash payments were US$0.5M below forecast, mainly due to lower remittances of employee deductions.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5205413" algn="l"/>
              </a:tabLst>
            </a:pP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00000"/>
              </a:lnSpc>
              <a:spcBef>
                <a:spcPts val="0"/>
              </a:spcBef>
              <a:tabLst>
                <a:tab pos="5205413" algn="l"/>
              </a:tabLst>
            </a:pPr>
            <a:r>
              <a:rPr lang="en-US" sz="1280" dirty="0">
                <a:latin typeface="Arial" panose="020B0604020202020204" pitchFamily="34" charset="0"/>
                <a:cs typeface="Arial" panose="020B0604020202020204" pitchFamily="34" charset="0"/>
              </a:rPr>
              <a:t>Supplier and contractor payments were US$3.3M below forecast due to deferred settlements.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5205413" algn="l"/>
              </a:tabLst>
            </a:pP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00000"/>
              </a:lnSpc>
              <a:spcBef>
                <a:spcPts val="0"/>
              </a:spcBef>
              <a:tabLst>
                <a:tab pos="5205413" algn="l"/>
              </a:tabLst>
            </a:pPr>
            <a:r>
              <a:rPr lang="en-US" sz="1280" dirty="0">
                <a:latin typeface="Arial" panose="020B0604020202020204" pitchFamily="34" charset="0"/>
                <a:cs typeface="Arial" panose="020B0604020202020204" pitchFamily="34" charset="0"/>
              </a:rPr>
              <a:t>Insurance payments were US$0.9M above forecast due to earlier-than-forecast settlements.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  <a:tabLst>
                <a:tab pos="5205413" algn="l"/>
              </a:tabLst>
            </a:pPr>
            <a:endParaRPr lang="en-US" sz="12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just">
              <a:lnSpc>
                <a:spcPct val="100000"/>
              </a:lnSpc>
              <a:spcBef>
                <a:spcPts val="0"/>
              </a:spcBef>
              <a:tabLst>
                <a:tab pos="5205413" algn="l"/>
              </a:tabLst>
            </a:pPr>
            <a:r>
              <a:rPr lang="en-US" sz="1280" dirty="0">
                <a:latin typeface="Arial" panose="020B0604020202020204" pitchFamily="34" charset="0"/>
                <a:cs typeface="Arial" panose="020B0604020202020204" pitchFamily="34" charset="0"/>
              </a:rPr>
              <a:t>July and August EDF movements include payment of the EDF-funded portion of the annual parametric insurance premium, net of regular monthly contributions</a:t>
            </a:r>
            <a:r>
              <a:rPr lang="en-US" sz="1280" dirty="0">
                <a:solidFill>
                  <a:srgbClr val="0E4E9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141A655-0B00-4ABE-B839-AA9A5A61E639}"/>
              </a:ext>
            </a:extLst>
          </p:cNvPr>
          <p:cNvSpPr txBox="1"/>
          <p:nvPr/>
        </p:nvSpPr>
        <p:spPr>
          <a:xfrm>
            <a:off x="469231" y="6411345"/>
            <a:ext cx="6621379" cy="266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Jamaica Public Service | </a:t>
            </a:r>
            <a:r>
              <a:rPr lang="en-US" sz="900" b="1" dirty="0">
                <a:solidFill>
                  <a:srgbClr val="062552"/>
                </a:solidFill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Sept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62552"/>
                </a:solidFill>
                <a:effectLst/>
                <a:uLnTx/>
                <a:uFillTx/>
                <a:latin typeface="Arial" panose="020B0604020202020204" pitchFamily="34" charset="0"/>
                <a:ea typeface="Gotham Bold"/>
                <a:cs typeface="Gotham Bold"/>
                <a:sym typeface="Gotham Bold"/>
              </a:rPr>
              <a:t> 2026 Corporate Performance Report</a:t>
            </a:r>
          </a:p>
        </p:txBody>
      </p:sp>
    </p:spTree>
    <p:extLst>
      <p:ext uri="{BB962C8B-B14F-4D97-AF65-F5344CB8AC3E}">
        <p14:creationId xmlns:p14="http://schemas.microsoft.com/office/powerpoint/2010/main" val="312863280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744B4A84E6C5409DBF05FF78BE7F0B" ma:contentTypeVersion="4" ma:contentTypeDescription="Create a new document." ma:contentTypeScope="" ma:versionID="b983b02e7cdb56be63a93b09d6b717ff">
  <xsd:schema xmlns:xsd="http://www.w3.org/2001/XMLSchema" xmlns:xs="http://www.w3.org/2001/XMLSchema" xmlns:p="http://schemas.microsoft.com/office/2006/metadata/properties" xmlns:ns2="9883ab80-12e9-41c2-bd94-a272ffd3ca7e" targetNamespace="http://schemas.microsoft.com/office/2006/metadata/properties" ma:root="true" ma:fieldsID="1e1105fb426fbd486b49c7c7b4a6f378" ns2:_="">
    <xsd:import namespace="9883ab80-12e9-41c2-bd94-a272ffd3ca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83ab80-12e9-41c2-bd94-a272ffd3ca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63C8149-0B23-431D-B6D4-EB90E7BC0F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1D070C-532B-4F38-8F34-94EBA70592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83ab80-12e9-41c2-bd94-a272ffd3ca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A3CDE6-5B82-4249-A385-54374AE91900}">
  <ds:schemaRefs>
    <ds:schemaRef ds:uri="http://purl.org/dc/terms/"/>
    <ds:schemaRef ds:uri="9883ab80-12e9-41c2-bd94-a272ffd3ca7e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1081</Words>
  <Application>Microsoft Office PowerPoint</Application>
  <PresentationFormat>Widescreen</PresentationFormat>
  <Paragraphs>87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Aileron</vt:lpstr>
      <vt:lpstr>Aileron Bold</vt:lpstr>
      <vt:lpstr>Aptos</vt:lpstr>
      <vt:lpstr>Arial</vt:lpstr>
      <vt:lpstr>Calibri</vt:lpstr>
      <vt:lpstr>Georgia</vt:lpstr>
      <vt:lpstr>Gotham Bold</vt:lpstr>
      <vt:lpstr>Gotham Book</vt:lpstr>
      <vt:lpstr>2_Office Theme</vt:lpstr>
      <vt:lpstr>file:///\\jps.net\orgshare\FinRptg2\2026\FinMod%202026\2026%20LE\09%20-%202026\Copy%20of%20Presentation%20PL%20-%20Sep%202026%20LE%20(v6).xlsx!Dashboard%20(Standalone)!R4C1:R21C10</vt:lpstr>
      <vt:lpstr>PowerPoint Presentation</vt:lpstr>
      <vt:lpstr>PowerPoint Presentation</vt:lpstr>
      <vt:lpstr>PowerPoint Presentation</vt:lpstr>
      <vt:lpstr>PowerPoint Presentation</vt:lpstr>
    </vt:vector>
  </TitlesOfParts>
  <Company>Jamaica Public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Performance Report</dc:title>
  <dc:creator>Nickisha Chin</dc:creator>
  <cp:lastModifiedBy>Jordache Wilson</cp:lastModifiedBy>
  <cp:revision>30</cp:revision>
  <cp:lastPrinted>2026-07-16T19:03:44Z</cp:lastPrinted>
  <dcterms:created xsi:type="dcterms:W3CDTF">2026-06-04T14:47:53Z</dcterms:created>
  <dcterms:modified xsi:type="dcterms:W3CDTF">2026-10-14T20:41:01Z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0x01010098744B4A84E6C5409DBF05FF78BE7F0B</vt:lpwstr>
  </property>
</Properties>
</file>